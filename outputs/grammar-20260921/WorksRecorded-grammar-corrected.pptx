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75" r:id="rId6"/>
    <p:sldId id="260" r:id="rId7"/>
    <p:sldId id="261" r:id="rId8"/>
    <p:sldId id="262" r:id="rId9"/>
    <p:sldId id="263" r:id="rId10"/>
    <p:sldId id="264" r:id="rId11"/>
    <p:sldId id="265" r:id="rId12"/>
    <p:sldId id="267" r:id="rId13"/>
    <p:sldId id="268" r:id="rId14"/>
    <p:sldId id="269" r:id="rId15"/>
    <p:sldId id="270" r:id="rId16"/>
    <p:sldId id="271" r:id="rId17"/>
    <p:sldId id="274" r:id="rId18"/>
  </p:sldIdLst>
  <p:sldSz cx="12192000" cy="6858000"/>
  <p:notesSz cx="6858000" cy="9144000"/>
  <p:defaultTextStyle>
    <a:defPPr>
      <a:defRPr lang="lv-L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2B2EE-F28F-EBE7-C3C8-9C0412212A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D20B94-313B-60C6-822B-526F7E4BEF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3517A1-42B0-4816-5708-2FBB8F23BC6B}"/>
              </a:ext>
            </a:extLst>
          </p:cNvPr>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a:extLst>
              <a:ext uri="{FF2B5EF4-FFF2-40B4-BE49-F238E27FC236}">
                <a16:creationId xmlns:a16="http://schemas.microsoft.com/office/drawing/2014/main" id="{D212FD3D-95BE-56A8-DCDD-1FFE5C5551B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26063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input and output, not a customer case study or product screenshot. Arithmetic: 4 people × 8 hours = 32 labour-hours; 32 / 20 panels = 1.6 labour-hours per panel. No delay cost or cost saving is inferred.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Market sizing, researched 21 September 2026. Specialty trade construction firms/enterprises in the 10–49 employment band. This is a top-down segment opportunity at full adoption, not a sales forecast. EUR150/company/month is the founder's requested average revenue assumption, not a new pricing commitment. EUR1800 annual revenue per company. National pricing and demand remain unvalidated.</a:t>
            </a:r>
          </a:p>
          <a:p>
            <a:endParaRPr/>
          </a:p>
          <a:p>
            <a:r>
              <a:t>EU-27: Eurostat SBS_SC_OVW, ENT_NR, NACE Rev.2 F43, 2023. Size 10–19: 101914. Size 20–49: 40000, flagged estimated. Total 141914. Potential EUR255445200/year. Sweden: same dataset, year, industry and bands, 2825 + 1410 = 4235. Potential EUR7623000/year. Sweden is already included in the EU-27 figure and is not added again. Enterprises were economically active during the reference year. People employed include working proprietors, so this is not strictly paid employees.</a:t>
            </a:r>
          </a:p>
          <a:p>
            <a:r>
              <a:t>Source: https://ec.europa.eu/eurostat/api/dissemination/statistics/1.0/data/sbs_sc_ovw?geo=EU27_2020&amp;geo=SE&amp;nace_r2=F43&amp;indic_sbs=ENT_NR&amp;time=2023&amp;size_emp=10-19&amp;size_emp=20-49</a:t>
            </a:r>
          </a:p>
          <a:p>
            <a:r>
              <a:t>Metadata: https://ec.europa.eu/eurostat/cache/metadata/en/sbs_esms.htm</a:t>
            </a:r>
          </a:p>
          <a:p>
            <a:endParaRPr/>
          </a:p>
          <a:p>
            <a:r>
              <a:t>UK: ONS UK business: activity, size and location, 2025, Table 3, SIC 2007 division 43. UK VAT and/or PAYE registered enterprises at 14 March 2025. 10–19 employment = 8120, 20–49 = 3605. Total 11725. Counts are rounded to base 5. Potential EUR21105000/year. UK includes Northern Ireland. Great Britain alone = 7905 + 3505 = 11410. Measures registered enterprises, not local business units. Employment and enterprise definitions differ somewhat across national systems.</a:t>
            </a:r>
          </a:p>
          <a:p>
            <a:r>
              <a:t>Source: https://www.ons.gov.uk/businessindustryandtrade/business/activitysizeandlocation/datasets/ukbusinessactivitysizeandlocation/2025</a:t>
            </a:r>
          </a:p>
          <a:p>
            <a:r>
              <a:t>Workbook: https://www.ons.gov.uk/file?uri=%2Fbusinessindustryandtrade%2Fbusiness%2Factivitysizeandlocation%2Fdatasets%2Fukbusinessactivitysizeandlocation%2F2025%2Fukbusinessworkbook2025new.xlsx</a:t>
            </a:r>
          </a:p>
          <a:p>
            <a:endParaRPr/>
          </a:p>
          <a:p>
            <a:r>
              <a:t>EU-27 + UK = 141914 + 11725 = 153639 enterprises. At EUR1800/year: EUR276550200, rounded EUR276.6M. These are different reference years and contain estimated/rounded components. Latvia is also inside the EU-27 total.</a:t>
            </a:r>
          </a:p>
          <a:p>
            <a:endParaRPr/>
          </a:p>
          <a:p>
            <a:r>
              <a:t>USA is an additional proposed expansion market. Intended scope: NAICS 238 Specialty Trade Contractors, employer firms with 10–49 employees. A verified comparable firm count is pending and no US count or US revenue potential is included in the headline total. Do not substitute establishment/location counts or all-size totals. Census SUSB 2022 detailed employment table is the appropriate source to complete this estimate: https://www.census.gov/data/tables/2022/econ/susb/2022-susb-annual.html . NAICS 238 and NACE/SIC 43 have broadly similar specialty trade scope but are not identical classifications.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Founder describes current average company revenue as EUR150/month, rounded. Existing five listed subscriptions sum to EUR780 MRR and EUR156 exact mean. Keep actual total rather than replacing with 5*150. Annualised recurring revenue EUR9360, not annual revenue collected. Current customers have only 1–2 months of payment history per original deck, while total outreach spans approximately one year. Five current paying, one former payer churned, one free pilot and one active trial. Target EUR300/company/month is not yet achieved.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DEPROM/DEPRMO spelling differs in source materials, so pilot name omitted. Latvijas Energoceltnieks churned after three months.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Founder instructions: EUR50 per paying user per month, sometimes discounts and paid custom functions. Use EUR150/company/month as the average revenue assumption, equivalent to EUR1800/year. No EUR300 target is assumed. Only recurring fees belong in MRR. One-off custom work is separate. Exact user counts and custom-fee splits are not inferred from monthly company bills.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Founder-supplied acquisition history: over approximately one year, around 100 companies approached. Five currently paying, one former paying customer churned. One free pilot, one active trial. Mix of direct outreach and Facebook advertising. Reliable channel-level CAC unavailable. Calculations: 5/100~5% currently paying, (5+1)/100~6% ever paid. Approximate cumulative ratios are not cohort conversion rates, annual/monthly churn rates or channel-specific conversion. Deduplication and channel attribution of the ~100 denominator have not been independently verified. Do not treat the former payer as an annual churn estimate.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GTM experiments. Latvia remains the initial outbound market. Sweden, Great Britain and the USA are candidate expansion markets for small pilot cohorts. Track each country separately and compare paid conversion, retention and support effort before increasing spending. Expansion demand remains to be validated. Facebook should be a separately measured channel.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founder-supplied acquisition evidence already in the deck. This update changes only the revenue assumption to EUR150/month, EUR1800/year per company, consistent with the founder instruction to remove the EUR300 target. Track acquisition, retention and servicing effort by country and channel. Expansion demand remains to be validated.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Original deck: 2h onboarding +1h AI adjustment, ongoing &lt;1h/week/client, USD80 monthly software. Facebook spend ambiguous: EUR150/month with wording spend to date. Omit until reconciled. Founder/developer compensation and labour cost not supplied. Runway and margin not established.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details supplied by the founder. Vjaceslavs Gromatovics: BEng in Civil Engineering, five years as a construction site manager and five years as a project manager, working full-time on WorksRecorded, 80% ownership. Deivids Berkolds: BEng in Computer Science, senior JavaScript developer, 20% ownership. The supplied abbreviation Bent has been interpreted as BEng.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investor ask, not agreed transaction terms or an independent valuation. Raise EUR30,000 through a new equity investment for 10% post-money ownership. Implied post-money valuation: EUR300,000. Implied pre-money valuation: EUR270,000. Six-month budget: founder/company cost EUR3,000/month = EUR18,000; product/onboarding EUR1,000/month = EUR6,000; acquisition EUR500/month = EUR3,000; software/administration EUR250/month = EUR1,500; contingency EUR1,500. Total: EUR30,000. These are planning allocations, not confirmed compensation or vendor quotes. Founder cost is the total company cost, not a promised net salary. Revenue is not deducted from the funding requirement or assumed to be guaranteed. Continued revenue would provide an additional buffer. Targets: 15 paying companies in total, up from the current 5; approximately EUR2,250 MRR at EUR150 average monthly revenue per company; at least 80% retention after 8 weeks among new paying cohorts old enough to measure; average ongoing support of no more than 30 minutes per paying client per week. Neither the targets nor the acquisition rates are guaranteed. The existing sample of 80 contacts includes 5 current paying customers and 6 who have paid at some point. At the 6.25% snapshot ratio, 10 additional paying customers could require roughly 160 additional comparable contacts before future churn. This is a workload illustration, not a validated forecast. The valuation and investment terms are an opening proposal, subject to agreement.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C3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E5FC32-0DEE-4A21-B9C0-577B454F2882}"/>
              </a:ext>
            </a:extLst>
          </p:cNvPr>
          <p:cNvSpPr>
            <a:spLocks noGrp="1"/>
          </p:cNvSpPr>
          <p:nvPr/>
        </p:nvSpPr>
        <p:spPr>
          <a:xfrm>
            <a:off x="685800" y="904875"/>
            <a:ext cx="10477500" cy="1047750"/>
          </a:xfrm>
          <a:prstGeom prst="rect">
            <a:avLst/>
          </a:prstGeom>
          <a:noFill/>
          <a:ln w="0">
            <a:noFill/>
          </a:ln>
        </p:spPr>
        <p:txBody>
          <a:bodyPr>
            <a:noAutofit/>
          </a:bodyPr>
          <a:lstStyle/>
          <a:p>
            <a:pPr>
              <a:buNone/>
              <a:defRPr sz="5700" b="1">
                <a:solidFill>
                  <a:srgbClr val="FFFFFF"/>
                </a:solidFill>
                <a:latin typeface="Bitstream Charter"/>
                <a:ea typeface="Bitstream Charter"/>
                <a:cs typeface="Bitstream Charter"/>
              </a:defRPr>
            </a:pPr>
            <a:r>
              <a:rPr sz="5700" b="1">
                <a:solidFill>
                  <a:srgbClr val="FFFFFF"/>
                </a:solidFill>
                <a:latin typeface="Bitstream Charter"/>
                <a:ea typeface="Bitstream Charter"/>
                <a:cs typeface="Bitstream Charter"/>
              </a:rPr>
              <a:t>WorksRecorded</a:t>
            </a:r>
          </a:p>
        </p:txBody>
      </p:sp>
      <p:sp>
        <p:nvSpPr>
          <p:cNvPr id="3" name="Rectangle 2">
            <a:extLst>
              <a:ext uri="{FF2B5EF4-FFF2-40B4-BE49-F238E27FC236}">
                <a16:creationId xmlns:a16="http://schemas.microsoft.com/office/drawing/2014/main" id="{3C6033E0-0B5D-472C-810C-0F7D39581D1C}"/>
              </a:ext>
            </a:extLst>
          </p:cNvPr>
          <p:cNvSpPr>
            <a:spLocks noGrp="1"/>
          </p:cNvSpPr>
          <p:nvPr/>
        </p:nvSpPr>
        <p:spPr>
          <a:xfrm>
            <a:off x="685800" y="2619375"/>
            <a:ext cx="10191750" cy="1714500"/>
          </a:xfrm>
          <a:prstGeom prst="rect">
            <a:avLst/>
          </a:prstGeom>
          <a:noFill/>
          <a:ln w="0">
            <a:noFill/>
          </a:ln>
        </p:spPr>
        <p:txBody>
          <a:bodyPr>
            <a:noAutofit/>
          </a:bodyPr>
          <a:lstStyle/>
          <a:p>
            <a:pPr>
              <a:buNone/>
              <a:defRPr sz="4350" b="1">
                <a:solidFill>
                  <a:srgbClr val="FFFFFF"/>
                </a:solidFill>
                <a:latin typeface="Bitstream Charter"/>
                <a:ea typeface="Bitstream Charter"/>
                <a:cs typeface="Bitstream Charter"/>
              </a:defRPr>
            </a:pPr>
            <a:r>
              <a:rPr sz="4350" b="1">
                <a:solidFill>
                  <a:srgbClr val="FFFFFF"/>
                </a:solidFill>
                <a:latin typeface="Bitstream Charter"/>
                <a:ea typeface="Bitstream Charter"/>
                <a:cs typeface="Bitstream Charter"/>
              </a:rPr>
              <a:t>Construction site data analytics</a:t>
            </a:r>
          </a:p>
        </p:txBody>
      </p:sp>
      <p:sp>
        <p:nvSpPr>
          <p:cNvPr id="4" name="Rectangle 3">
            <a:extLst>
              <a:ext uri="{FF2B5EF4-FFF2-40B4-BE49-F238E27FC236}">
                <a16:creationId xmlns:a16="http://schemas.microsoft.com/office/drawing/2014/main" id="{C5C52780-E57C-4F40-984A-4BD187FD2111}"/>
              </a:ext>
            </a:extLst>
          </p:cNvPr>
          <p:cNvSpPr>
            <a:spLocks noGrp="1"/>
          </p:cNvSpPr>
          <p:nvPr/>
        </p:nvSpPr>
        <p:spPr>
          <a:xfrm>
            <a:off x="723900" y="5095875"/>
            <a:ext cx="9048750" cy="523875"/>
          </a:xfrm>
          <a:prstGeom prst="rect">
            <a:avLst/>
          </a:prstGeom>
          <a:noFill/>
          <a:ln w="0">
            <a:noFill/>
          </a:ln>
        </p:spPr>
        <p:txBody>
          <a:bodyPr>
            <a:noAutofit/>
          </a:bodyPr>
          <a:lstStyle/>
          <a:p>
            <a:pPr>
              <a:buNone/>
              <a:defRPr sz="2100" b="0">
                <a:solidFill>
                  <a:srgbClr val="B9DCD5"/>
                </a:solidFill>
                <a:latin typeface="Bitstream Charter"/>
                <a:ea typeface="Bitstream Charter"/>
                <a:cs typeface="Bitstream Charter"/>
              </a:defRPr>
            </a:pPr>
            <a:r>
              <a:rPr sz="2100" b="0">
                <a:solidFill>
                  <a:srgbClr val="B9DCD5"/>
                </a:solidFill>
                <a:latin typeface="Bitstream Charter"/>
                <a:ea typeface="Bitstream Charter"/>
                <a:cs typeface="Bitstream Charter"/>
              </a:rPr>
              <a:t>For construction contractors</a:t>
            </a:r>
          </a:p>
        </p:txBody>
      </p:sp>
      <p:sp>
        <p:nvSpPr>
          <p:cNvPr id="5" name="Rectangle 4">
            <a:extLst>
              <a:ext uri="{FF2B5EF4-FFF2-40B4-BE49-F238E27FC236}">
                <a16:creationId xmlns:a16="http://schemas.microsoft.com/office/drawing/2014/main" id="{C2FCABF3-F45B-4F20-8BD7-8C945E0A4605}"/>
              </a:ext>
            </a:extLst>
          </p:cNvPr>
          <p:cNvSpPr>
            <a:spLocks noGrp="1"/>
          </p:cNvSpPr>
          <p:nvPr/>
        </p:nvSpPr>
        <p:spPr>
          <a:xfrm>
            <a:off x="723900" y="6143625"/>
            <a:ext cx="9048750" cy="333375"/>
          </a:xfrm>
          <a:prstGeom prst="rect">
            <a:avLst/>
          </a:prstGeom>
          <a:noFill/>
          <a:ln w="0">
            <a:noFill/>
          </a:ln>
        </p:spPr>
        <p:txBody>
          <a:bodyPr>
            <a:noAutofit/>
          </a:bodyPr>
          <a:lstStyle/>
          <a:p>
            <a:pPr>
              <a:buNone/>
              <a:defRPr sz="1350" b="0">
                <a:solidFill>
                  <a:srgbClr val="B9DCD5"/>
                </a:solidFill>
                <a:latin typeface="Bitstream Charter"/>
                <a:ea typeface="Bitstream Charter"/>
                <a:cs typeface="Bitstream Charter"/>
              </a:defRPr>
            </a:pPr>
            <a:r>
              <a:rPr sz="1350" b="0">
                <a:solidFill>
                  <a:srgbClr val="B9DCD5"/>
                </a:solidFill>
                <a:latin typeface="Bitstream Charter"/>
                <a:ea typeface="Bitstream Charter"/>
                <a:cs typeface="Bitstream Charter"/>
              </a:rPr>
              <a:t>Investor presentation | September 2026</a:t>
            </a:r>
            <a:r>
              <a:rPr sz="1350">
                <a:solidFill>
                  <a:srgbClr val="B9DCD5"/>
                </a:solidFill>
                <a:latin typeface="Bitstream Charter"/>
                <a:ea typeface="Bitstream Charter"/>
                <a:cs typeface="Bitstream Charter"/>
              </a:rPr>
              <a:t> |  https://www.worksrecorded.com/</a:t>
            </a:r>
            <a:endParaRPr sz="1350" b="0">
              <a:solidFill>
                <a:srgbClr val="B9DCD5"/>
              </a:solidFill>
              <a:latin typeface="Bitstream Charter"/>
              <a:ea typeface="Bitstream Charter"/>
              <a:cs typeface="Bitstream Charter"/>
            </a:endParaRPr>
          </a:p>
        </p:txBody>
      </p:sp>
      <p:sp>
        <p:nvSpPr>
          <p:cNvPr id="6" name="Rectangle 5">
            <a:extLst>
              <a:ext uri="{FF2B5EF4-FFF2-40B4-BE49-F238E27FC236}">
                <a16:creationId xmlns:a16="http://schemas.microsoft.com/office/drawing/2014/main" id="{056B9B50-45BB-4165-9D52-E87F2BF27035}"/>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AEC2C5"/>
                </a:solidFill>
                <a:latin typeface="Calibri"/>
                <a:ea typeface="Calibri"/>
                <a:cs typeface="Calibri"/>
              </a:defRPr>
            </a:pPr>
            <a:r>
              <a:rPr sz="1200" b="0">
                <a:solidFill>
                  <a:srgbClr val="AEC2C5"/>
                </a:solidFill>
                <a:latin typeface="Calibri"/>
                <a:ea typeface="Calibri"/>
                <a:cs typeface="Calibri"/>
              </a:rPr>
              <a:t>01</a:t>
            </a:r>
          </a:p>
        </p:txBody>
      </p:sp>
    </p:spTree>
    <p:extLst>
      <p:ext uri="{BB962C8B-B14F-4D97-AF65-F5344CB8AC3E}">
        <p14:creationId xmlns:p14="http://schemas.microsoft.com/office/powerpoint/2010/main" val="1148562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C0778ED-BCB2-4B42-8D42-E530CCAADE3A}"/>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Problem: collecting and analysing site data takes time</a:t>
            </a:r>
            <a:endParaRPr sz="3600" b="1">
              <a:solidFill>
                <a:srgbClr val="122C32"/>
              </a:solidFill>
              <a:highlight>
                <a:srgbClr val="FFFF00"/>
              </a:highlight>
              <a:latin typeface="Bitstream Charter"/>
              <a:ea typeface="Bitstream Charter"/>
              <a:cs typeface="Bitstream Charter"/>
            </a:endParaRPr>
          </a:p>
        </p:txBody>
      </p:sp>
      <p:sp>
        <p:nvSpPr>
          <p:cNvPr id="3" name="Rectangle 2">
            <a:extLst>
              <a:ext uri="{FF2B5EF4-FFF2-40B4-BE49-F238E27FC236}">
                <a16:creationId xmlns:a16="http://schemas.microsoft.com/office/drawing/2014/main" id="{B0BDDCAD-D72E-4831-A6AD-FC36049E0588}"/>
              </a:ext>
            </a:extLst>
          </p:cNvPr>
          <p:cNvSpPr>
            <a:spLocks noGrp="1"/>
          </p:cNvSpPr>
          <p:nvPr/>
        </p:nvSpPr>
        <p:spPr>
          <a:xfrm>
            <a:off x="995362" y="2057400"/>
            <a:ext cx="10668000" cy="952500"/>
          </a:xfrm>
          <a:prstGeom prst="rect">
            <a:avLst/>
          </a:prstGeom>
          <a:noFill/>
          <a:ln w="0">
            <a:noFill/>
          </a:ln>
        </p:spPr>
        <p:txBody>
          <a:bodyPr>
            <a:noAutofit/>
          </a:bodyPr>
          <a:lstStyle/>
          <a:p>
            <a:pPr>
              <a:buNone/>
              <a:defRPr sz="2400" b="0">
                <a:solidFill>
                  <a:srgbClr val="122C32"/>
                </a:solidFill>
                <a:latin typeface="Bitstream Charter"/>
                <a:ea typeface="Bitstream Charter"/>
                <a:cs typeface="Bitstream Charter"/>
              </a:defRPr>
            </a:pPr>
            <a:r>
              <a:rPr sz="2400">
                <a:solidFill>
                  <a:srgbClr val="122C32"/>
                </a:solidFill>
                <a:latin typeface="Bitstream Charter"/>
                <a:ea typeface="Bitstream Charter"/>
                <a:cs typeface="Bitstream Charter"/>
              </a:rPr>
              <a:t>WorksRecorded helps project managers save time by collecting and analysing site data for them.</a:t>
            </a:r>
            <a:endParaRPr sz="2400" b="0">
              <a:solidFill>
                <a:srgbClr val="122C32"/>
              </a:solidFill>
              <a:latin typeface="Bitstream Charter"/>
              <a:ea typeface="Bitstream Charter"/>
              <a:cs typeface="Bitstream Charter"/>
            </a:endParaRPr>
          </a:p>
        </p:txBody>
      </p:sp>
      <p:sp>
        <p:nvSpPr>
          <p:cNvPr id="4" name="Rectangle 3">
            <a:extLst>
              <a:ext uri="{FF2B5EF4-FFF2-40B4-BE49-F238E27FC236}">
                <a16:creationId xmlns:a16="http://schemas.microsoft.com/office/drawing/2014/main" id="{DF9F14C3-3F94-4553-9594-7AE3726B09A3}"/>
              </a:ext>
            </a:extLst>
          </p:cNvPr>
          <p:cNvSpPr>
            <a:spLocks noGrp="1"/>
          </p:cNvSpPr>
          <p:nvPr/>
        </p:nvSpPr>
        <p:spPr>
          <a:xfrm>
            <a:off x="685800" y="3143250"/>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5" name="Rectangle 4">
            <a:extLst>
              <a:ext uri="{FF2B5EF4-FFF2-40B4-BE49-F238E27FC236}">
                <a16:creationId xmlns:a16="http://schemas.microsoft.com/office/drawing/2014/main" id="{4D940AC5-04DA-4D32-80C5-7AAEDD3311FE}"/>
              </a:ext>
            </a:extLst>
          </p:cNvPr>
          <p:cNvSpPr>
            <a:spLocks noGrp="1"/>
          </p:cNvSpPr>
          <p:nvPr/>
        </p:nvSpPr>
        <p:spPr>
          <a:xfrm>
            <a:off x="1524000" y="3143250"/>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Direct losses</a:t>
            </a:r>
            <a:endParaRPr sz="2250" b="1">
              <a:solidFill>
                <a:srgbClr val="122C32"/>
              </a:solidFill>
              <a:latin typeface="Bitstream Charter"/>
              <a:ea typeface="Bitstream Charter"/>
              <a:cs typeface="Bitstream Charter"/>
            </a:endParaRPr>
          </a:p>
        </p:txBody>
      </p:sp>
      <p:sp>
        <p:nvSpPr>
          <p:cNvPr id="6" name="Rectangle 5">
            <a:extLst>
              <a:ext uri="{FF2B5EF4-FFF2-40B4-BE49-F238E27FC236}">
                <a16:creationId xmlns:a16="http://schemas.microsoft.com/office/drawing/2014/main" id="{77C495F6-8883-43A7-BE1F-B21C1D694BB7}"/>
              </a:ext>
            </a:extLst>
          </p:cNvPr>
          <p:cNvSpPr>
            <a:spLocks noGrp="1"/>
          </p:cNvSpPr>
          <p:nvPr/>
        </p:nvSpPr>
        <p:spPr>
          <a:xfrm>
            <a:off x="1524000" y="3667125"/>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Collecting field data for a medium-sized project (10–15 workers) takes around 30 minutes a day, plus half a day a month for analysis = 15 hours a week.</a:t>
            </a:r>
            <a:endParaRPr sz="1875" b="0">
              <a:solidFill>
                <a:srgbClr val="52686B"/>
              </a:solidFill>
              <a:latin typeface="Bitstream Charter"/>
              <a:ea typeface="Bitstream Charter"/>
              <a:cs typeface="Bitstream Charter"/>
            </a:endParaRPr>
          </a:p>
        </p:txBody>
      </p:sp>
      <p:sp>
        <p:nvSpPr>
          <p:cNvPr id="7" name="Rectangle 6">
            <a:extLst>
              <a:ext uri="{FF2B5EF4-FFF2-40B4-BE49-F238E27FC236}">
                <a16:creationId xmlns:a16="http://schemas.microsoft.com/office/drawing/2014/main" id="{2E0EB585-E9C5-402A-A012-3AAF584131CF}"/>
              </a:ext>
            </a:extLst>
          </p:cNvPr>
          <p:cNvSpPr>
            <a:spLocks noGrp="1"/>
          </p:cNvSpPr>
          <p:nvPr/>
        </p:nvSpPr>
        <p:spPr>
          <a:xfrm>
            <a:off x="685800" y="469582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8" name="Rectangle 7">
            <a:extLst>
              <a:ext uri="{FF2B5EF4-FFF2-40B4-BE49-F238E27FC236}">
                <a16:creationId xmlns:a16="http://schemas.microsoft.com/office/drawing/2014/main" id="{5461938E-ED1C-4B79-89A4-1A63F100F5BB}"/>
              </a:ext>
            </a:extLst>
          </p:cNvPr>
          <p:cNvSpPr>
            <a:spLocks noGrp="1"/>
          </p:cNvSpPr>
          <p:nvPr/>
        </p:nvSpPr>
        <p:spPr>
          <a:xfrm>
            <a:off x="1524000" y="469582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lv-LV" sz="2250" b="1" dirty="0">
                <a:solidFill>
                  <a:srgbClr val="122C32"/>
                </a:solidFill>
                <a:latin typeface="Bitstream Charter"/>
                <a:ea typeface="Bitstream Charter"/>
                <a:cs typeface="Bitstream Charter"/>
              </a:rPr>
              <a:t>Indirect losses</a:t>
            </a:r>
            <a:endParaRPr sz="2250" b="1" dirty="0">
              <a:solidFill>
                <a:srgbClr val="122C32"/>
              </a:solidFill>
              <a:latin typeface="Bitstream Charter"/>
              <a:ea typeface="Bitstream Charter"/>
              <a:cs typeface="Bitstream Charter"/>
            </a:endParaRPr>
          </a:p>
        </p:txBody>
      </p:sp>
      <p:sp>
        <p:nvSpPr>
          <p:cNvPr id="9" name="Rectangle 8">
            <a:extLst>
              <a:ext uri="{FF2B5EF4-FFF2-40B4-BE49-F238E27FC236}">
                <a16:creationId xmlns:a16="http://schemas.microsoft.com/office/drawing/2014/main" id="{AE14D021-5633-4CA7-B7BD-ADD9E092A521}"/>
              </a:ext>
            </a:extLst>
          </p:cNvPr>
          <p:cNvSpPr>
            <a:spLocks noGrp="1"/>
          </p:cNvSpPr>
          <p:nvPr/>
        </p:nvSpPr>
        <p:spPr>
          <a:xfrm>
            <a:off x="1524000" y="521970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a:solidFill>
                  <a:srgbClr val="52686B"/>
                </a:solidFill>
                <a:latin typeface="Bitstream Charter"/>
                <a:ea typeface="Bitstream Charter"/>
                <a:cs typeface="Bitstream Charter"/>
              </a:rPr>
              <a:t>When management is overloaded, data analysis is often skipped. This affects planning and leads to rework, delays and additional work.</a:t>
            </a:r>
            <a:endParaRPr sz="1875" b="0">
              <a:solidFill>
                <a:srgbClr val="52686B"/>
              </a:solidFill>
              <a:latin typeface="Bitstream Charter"/>
              <a:ea typeface="Bitstream Charter"/>
              <a:cs typeface="Bitstream Charter"/>
            </a:endParaRPr>
          </a:p>
        </p:txBody>
      </p:sp>
      <p:sp>
        <p:nvSpPr>
          <p:cNvPr id="11" name="Rectangle 10">
            <a:extLst>
              <a:ext uri="{FF2B5EF4-FFF2-40B4-BE49-F238E27FC236}">
                <a16:creationId xmlns:a16="http://schemas.microsoft.com/office/drawing/2014/main" id="{610D82F2-5E24-46A2-8063-9369D3AB2FAF}"/>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02</a:t>
            </a:r>
          </a:p>
        </p:txBody>
      </p:sp>
    </p:spTree>
    <p:extLst>
      <p:ext uri="{BB962C8B-B14F-4D97-AF65-F5344CB8AC3E}">
        <p14:creationId xmlns:p14="http://schemas.microsoft.com/office/powerpoint/2010/main" val="1464692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F514FA7-0554-4316-91E5-30FDDE89B4EB}"/>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Why don’t contractors use data?</a:t>
            </a:r>
          </a:p>
        </p:txBody>
      </p:sp>
      <p:sp>
        <p:nvSpPr>
          <p:cNvPr id="3" name="Rectangle 2">
            <a:extLst>
              <a:ext uri="{FF2B5EF4-FFF2-40B4-BE49-F238E27FC236}">
                <a16:creationId xmlns:a16="http://schemas.microsoft.com/office/drawing/2014/main" id="{766CF1E1-1D5C-4E3E-83B0-4C3E4D57E753}"/>
              </a:ext>
            </a:extLst>
          </p:cNvPr>
          <p:cNvSpPr>
            <a:spLocks noGrp="1"/>
          </p:cNvSpPr>
          <p:nvPr/>
        </p:nvSpPr>
        <p:spPr>
          <a:xfrm>
            <a:off x="685800" y="185737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a:ext uri="{FF2B5EF4-FFF2-40B4-BE49-F238E27FC236}">
                <a16:creationId xmlns:a16="http://schemas.microsoft.com/office/drawing/2014/main" id="{A2A7A93A-5549-496F-A374-F394A6EC4CA1}"/>
              </a:ext>
            </a:extLst>
          </p:cNvPr>
          <p:cNvSpPr>
            <a:spLocks noGrp="1"/>
          </p:cNvSpPr>
          <p:nvPr/>
        </p:nvSpPr>
        <p:spPr>
          <a:xfrm>
            <a:off x="1524000" y="185737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collect</a:t>
            </a:r>
          </a:p>
        </p:txBody>
      </p:sp>
      <p:sp>
        <p:nvSpPr>
          <p:cNvPr id="5" name="Rectangle 4">
            <a:extLst>
              <a:ext uri="{FF2B5EF4-FFF2-40B4-BE49-F238E27FC236}">
                <a16:creationId xmlns:a16="http://schemas.microsoft.com/office/drawing/2014/main" id="{33BCD30B-329D-4DCC-B4E1-0CE203F80E24}"/>
              </a:ext>
            </a:extLst>
          </p:cNvPr>
          <p:cNvSpPr>
            <a:spLocks noGrp="1"/>
          </p:cNvSpPr>
          <p:nvPr/>
        </p:nvSpPr>
        <p:spPr>
          <a:xfrm>
            <a:off x="1524000" y="238125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a:solidFill>
                  <a:srgbClr val="52686B"/>
                </a:solidFill>
                <a:latin typeface="Bitstream Charter"/>
                <a:ea typeface="Bitstream Charter"/>
                <a:cs typeface="Bitstream Charter"/>
              </a:rPr>
              <a:t>How do you track what 20 workers do during the day?</a:t>
            </a:r>
          </a:p>
        </p:txBody>
      </p:sp>
      <p:sp>
        <p:nvSpPr>
          <p:cNvPr id="6" name="Rectangle 5">
            <a:extLst>
              <a:ext uri="{FF2B5EF4-FFF2-40B4-BE49-F238E27FC236}">
                <a16:creationId xmlns:a16="http://schemas.microsoft.com/office/drawing/2014/main" id="{A0C3026F-41DF-4EE6-953C-D66B620F47E0}"/>
              </a:ext>
            </a:extLst>
          </p:cNvPr>
          <p:cNvSpPr>
            <a:spLocks noGrp="1"/>
          </p:cNvSpPr>
          <p:nvPr/>
        </p:nvSpPr>
        <p:spPr>
          <a:xfrm>
            <a:off x="685800" y="3333750"/>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a:ext uri="{FF2B5EF4-FFF2-40B4-BE49-F238E27FC236}">
                <a16:creationId xmlns:a16="http://schemas.microsoft.com/office/drawing/2014/main" id="{72657F94-172D-49F9-9A94-8B8DEA8B55B7}"/>
              </a:ext>
            </a:extLst>
          </p:cNvPr>
          <p:cNvSpPr>
            <a:spLocks noGrp="1"/>
          </p:cNvSpPr>
          <p:nvPr/>
        </p:nvSpPr>
        <p:spPr>
          <a:xfrm>
            <a:off x="1524000" y="3333750"/>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dirty="0">
                <a:solidFill>
                  <a:srgbClr val="122C32"/>
                </a:solidFill>
                <a:latin typeface="Bitstream Charter"/>
                <a:ea typeface="Bitstream Charter"/>
                <a:cs typeface="Bitstream Charter"/>
              </a:rPr>
              <a:t>Hard to structure</a:t>
            </a:r>
          </a:p>
        </p:txBody>
      </p:sp>
      <p:sp>
        <p:nvSpPr>
          <p:cNvPr id="8" name="Rectangle 7">
            <a:extLst>
              <a:ext uri="{FF2B5EF4-FFF2-40B4-BE49-F238E27FC236}">
                <a16:creationId xmlns:a16="http://schemas.microsoft.com/office/drawing/2014/main" id="{5CE9F297-D90B-4F83-B221-FC09E6E71972}"/>
              </a:ext>
            </a:extLst>
          </p:cNvPr>
          <p:cNvSpPr>
            <a:spLocks noGrp="1"/>
          </p:cNvSpPr>
          <p:nvPr/>
        </p:nvSpPr>
        <p:spPr>
          <a:xfrm>
            <a:off x="1524000" y="3857625"/>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dirty="0">
                <a:solidFill>
                  <a:srgbClr val="52686B"/>
                </a:solidFill>
                <a:latin typeface="Bitstream Charter"/>
                <a:ea typeface="Bitstream Charter"/>
                <a:cs typeface="Bitstream Charter"/>
              </a:rPr>
              <a:t>What do you record, and how?</a:t>
            </a:r>
          </a:p>
        </p:txBody>
      </p:sp>
      <p:sp>
        <p:nvSpPr>
          <p:cNvPr id="9" name="Rectangle 8">
            <a:extLst>
              <a:ext uri="{FF2B5EF4-FFF2-40B4-BE49-F238E27FC236}">
                <a16:creationId xmlns:a16="http://schemas.microsoft.com/office/drawing/2014/main" id="{94A69771-EE8C-48B2-B62E-7FDE26F9F693}"/>
              </a:ext>
            </a:extLst>
          </p:cNvPr>
          <p:cNvSpPr>
            <a:spLocks noGrp="1"/>
          </p:cNvSpPr>
          <p:nvPr/>
        </p:nvSpPr>
        <p:spPr>
          <a:xfrm>
            <a:off x="685800" y="481012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a:ext uri="{FF2B5EF4-FFF2-40B4-BE49-F238E27FC236}">
                <a16:creationId xmlns:a16="http://schemas.microsoft.com/office/drawing/2014/main" id="{466E4A16-E5C9-48D9-976B-203573C4AE29}"/>
              </a:ext>
            </a:extLst>
          </p:cNvPr>
          <p:cNvSpPr>
            <a:spLocks noGrp="1"/>
          </p:cNvSpPr>
          <p:nvPr/>
        </p:nvSpPr>
        <p:spPr>
          <a:xfrm>
            <a:off x="1524000" y="481012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analyse</a:t>
            </a:r>
          </a:p>
        </p:txBody>
      </p:sp>
      <p:sp>
        <p:nvSpPr>
          <p:cNvPr id="11" name="Rectangle 10">
            <a:extLst>
              <a:ext uri="{FF2B5EF4-FFF2-40B4-BE49-F238E27FC236}">
                <a16:creationId xmlns:a16="http://schemas.microsoft.com/office/drawing/2014/main" id="{A8AE9124-B3BD-463C-8E00-230CE3CFD146}"/>
              </a:ext>
            </a:extLst>
          </p:cNvPr>
          <p:cNvSpPr>
            <a:spLocks noGrp="1"/>
          </p:cNvSpPr>
          <p:nvPr/>
        </p:nvSpPr>
        <p:spPr>
          <a:xfrm>
            <a:off x="1524000" y="533400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dirty="0">
                <a:solidFill>
                  <a:srgbClr val="52686B"/>
                </a:solidFill>
                <a:latin typeface="Bitstream Charter"/>
                <a:ea typeface="Bitstream Charter"/>
                <a:cs typeface="Bitstream Charter"/>
              </a:rPr>
              <a:t>What do you do with 2,000 Excel rows after a year-long construction project?</a:t>
            </a:r>
          </a:p>
        </p:txBody>
      </p:sp>
      <p:sp>
        <p:nvSpPr>
          <p:cNvPr id="13" name="Rectangle 12">
            <a:extLst>
              <a:ext uri="{FF2B5EF4-FFF2-40B4-BE49-F238E27FC236}">
                <a16:creationId xmlns:a16="http://schemas.microsoft.com/office/drawing/2014/main" id="{037EEB29-8E5F-4284-BB51-4C741FE5734C}"/>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03</a:t>
            </a:r>
          </a:p>
        </p:txBody>
      </p:sp>
    </p:spTree>
    <p:extLst>
      <p:ext uri="{BB962C8B-B14F-4D97-AF65-F5344CB8AC3E}">
        <p14:creationId xmlns:p14="http://schemas.microsoft.com/office/powerpoint/2010/main" val="2011982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A645D17-DC3B-CD19-1A56-49C34E0154A6}"/>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How we help</a:t>
            </a:r>
          </a:p>
        </p:txBody>
      </p:sp>
      <p:sp>
        <p:nvSpPr>
          <p:cNvPr id="3" name="Rectangle 2">
            <a:extLst>
              <a:ext uri="{FF2B5EF4-FFF2-40B4-BE49-F238E27FC236}">
                <a16:creationId xmlns:a16="http://schemas.microsoft.com/office/drawing/2014/main" id="{D8D09C23-A343-119D-0640-E09AAE2702C9}"/>
              </a:ext>
            </a:extLst>
          </p:cNvPr>
          <p:cNvSpPr>
            <a:spLocks noGrp="1"/>
          </p:cNvSpPr>
          <p:nvPr/>
        </p:nvSpPr>
        <p:spPr>
          <a:xfrm>
            <a:off x="685800" y="185737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a:ext uri="{FF2B5EF4-FFF2-40B4-BE49-F238E27FC236}">
                <a16:creationId xmlns:a16="http://schemas.microsoft.com/office/drawing/2014/main" id="{361D22E2-D781-3AC0-19FC-AF18102F03C4}"/>
              </a:ext>
            </a:extLst>
          </p:cNvPr>
          <p:cNvSpPr>
            <a:spLocks noGrp="1"/>
          </p:cNvSpPr>
          <p:nvPr/>
        </p:nvSpPr>
        <p:spPr>
          <a:xfrm>
            <a:off x="1524000" y="185737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We provide a data collection tool through WhatsApp automation</a:t>
            </a:r>
          </a:p>
        </p:txBody>
      </p:sp>
      <p:sp>
        <p:nvSpPr>
          <p:cNvPr id="5" name="Rectangle 4">
            <a:extLst>
              <a:ext uri="{FF2B5EF4-FFF2-40B4-BE49-F238E27FC236}">
                <a16:creationId xmlns:a16="http://schemas.microsoft.com/office/drawing/2014/main" id="{ADF20A53-2AD3-4CA3-6B21-D35FC07ED6D9}"/>
              </a:ext>
            </a:extLst>
          </p:cNvPr>
          <p:cNvSpPr>
            <a:spLocks noGrp="1"/>
          </p:cNvSpPr>
          <p:nvPr/>
        </p:nvSpPr>
        <p:spPr>
          <a:xfrm>
            <a:off x="1524000" y="2381250"/>
            <a:ext cx="9429750" cy="714375"/>
          </a:xfrm>
          <a:prstGeom prst="rect">
            <a:avLst/>
          </a:prstGeom>
          <a:noFill/>
          <a:ln w="0">
            <a:noFill/>
          </a:ln>
        </p:spPr>
        <p:txBody>
          <a:bodyPr>
            <a:noAutofit/>
          </a:bodyPr>
          <a:lstStyle/>
          <a:p>
            <a:r>
              <a:rPr sz="1875">
                <a:solidFill>
                  <a:srgbClr val="52686B"/>
                </a:solidFill>
                <a:latin typeface="Bitstream Charter"/>
                <a:ea typeface="Bitstream Charter"/>
                <a:cs typeface="Bitstream Charter"/>
              </a:rPr>
              <a:t>The site manager sends a WhatsApp voice message describing the day’s work.</a:t>
            </a:r>
          </a:p>
        </p:txBody>
      </p:sp>
      <p:sp>
        <p:nvSpPr>
          <p:cNvPr id="6" name="Rectangle 5">
            <a:extLst>
              <a:ext uri="{FF2B5EF4-FFF2-40B4-BE49-F238E27FC236}">
                <a16:creationId xmlns:a16="http://schemas.microsoft.com/office/drawing/2014/main" id="{65EE6F05-0976-85CC-862D-D4FBA490DFEF}"/>
              </a:ext>
            </a:extLst>
          </p:cNvPr>
          <p:cNvSpPr>
            <a:spLocks noGrp="1"/>
          </p:cNvSpPr>
          <p:nvPr/>
        </p:nvSpPr>
        <p:spPr>
          <a:xfrm>
            <a:off x="685800" y="3333750"/>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a:ext uri="{FF2B5EF4-FFF2-40B4-BE49-F238E27FC236}">
                <a16:creationId xmlns:a16="http://schemas.microsoft.com/office/drawing/2014/main" id="{345F904B-50CB-29E8-96FB-0F3139356CF2}"/>
              </a:ext>
            </a:extLst>
          </p:cNvPr>
          <p:cNvSpPr>
            <a:spLocks noGrp="1"/>
          </p:cNvSpPr>
          <p:nvPr/>
        </p:nvSpPr>
        <p:spPr>
          <a:xfrm>
            <a:off x="1524000" y="3333750"/>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WorksRecorded analyses and structures messages</a:t>
            </a:r>
          </a:p>
        </p:txBody>
      </p:sp>
      <p:sp>
        <p:nvSpPr>
          <p:cNvPr id="8" name="Rectangle 7">
            <a:extLst>
              <a:ext uri="{FF2B5EF4-FFF2-40B4-BE49-F238E27FC236}">
                <a16:creationId xmlns:a16="http://schemas.microsoft.com/office/drawing/2014/main" id="{00971A1E-9BC9-44EF-1A19-CBD10E29D59E}"/>
              </a:ext>
            </a:extLst>
          </p:cNvPr>
          <p:cNvSpPr>
            <a:spLocks noGrp="1"/>
          </p:cNvSpPr>
          <p:nvPr/>
        </p:nvSpPr>
        <p:spPr>
          <a:xfrm>
            <a:off x="1524000" y="3857625"/>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WorksRecorded turns messages into structured records and tracks costs against the budget.</a:t>
            </a:r>
          </a:p>
        </p:txBody>
      </p:sp>
      <p:sp>
        <p:nvSpPr>
          <p:cNvPr id="9" name="Rectangle 8">
            <a:extLst>
              <a:ext uri="{FF2B5EF4-FFF2-40B4-BE49-F238E27FC236}">
                <a16:creationId xmlns:a16="http://schemas.microsoft.com/office/drawing/2014/main" id="{49388B51-3B61-CACC-AC9B-480F0BB88D15}"/>
              </a:ext>
            </a:extLst>
          </p:cNvPr>
          <p:cNvSpPr>
            <a:spLocks noGrp="1"/>
          </p:cNvSpPr>
          <p:nvPr/>
        </p:nvSpPr>
        <p:spPr>
          <a:xfrm>
            <a:off x="685800" y="481012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a:ext uri="{FF2B5EF4-FFF2-40B4-BE49-F238E27FC236}">
                <a16:creationId xmlns:a16="http://schemas.microsoft.com/office/drawing/2014/main" id="{9BE9775C-1FDF-9F7C-68A7-1AC278BF4F5C}"/>
              </a:ext>
            </a:extLst>
          </p:cNvPr>
          <p:cNvSpPr>
            <a:spLocks noGrp="1"/>
          </p:cNvSpPr>
          <p:nvPr/>
        </p:nvSpPr>
        <p:spPr>
          <a:xfrm>
            <a:off x="1524000" y="481012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The project manager or owner receives analytics</a:t>
            </a:r>
          </a:p>
        </p:txBody>
      </p:sp>
      <p:sp>
        <p:nvSpPr>
          <p:cNvPr id="11" name="Rectangle 10">
            <a:extLst>
              <a:ext uri="{FF2B5EF4-FFF2-40B4-BE49-F238E27FC236}">
                <a16:creationId xmlns:a16="http://schemas.microsoft.com/office/drawing/2014/main" id="{21E616BF-B03A-854C-AB20-527C08EE5D24}"/>
              </a:ext>
            </a:extLst>
          </p:cNvPr>
          <p:cNvSpPr>
            <a:spLocks noGrp="1"/>
          </p:cNvSpPr>
          <p:nvPr/>
        </p:nvSpPr>
        <p:spPr>
          <a:xfrm>
            <a:off x="1524000" y="533400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Spending breakdowns, delays, additional work and progress reports – everything needed to make decisions based on data.</a:t>
            </a:r>
          </a:p>
        </p:txBody>
      </p:sp>
      <p:sp>
        <p:nvSpPr>
          <p:cNvPr id="13" name="Rectangle 12">
            <a:extLst>
              <a:ext uri="{FF2B5EF4-FFF2-40B4-BE49-F238E27FC236}">
                <a16:creationId xmlns:a16="http://schemas.microsoft.com/office/drawing/2014/main" id="{B99F35EB-7035-4015-BD9F-9D86C82538C4}"/>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04</a:t>
            </a:r>
          </a:p>
        </p:txBody>
      </p:sp>
    </p:spTree>
    <p:extLst>
      <p:ext uri="{BB962C8B-B14F-4D97-AF65-F5344CB8AC3E}">
        <p14:creationId xmlns:p14="http://schemas.microsoft.com/office/powerpoint/2010/main" val="4206997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a:extLst>
            <a:ext uri="{FF2B5EF4-FFF2-40B4-BE49-F238E27FC236}">
              <a16:creationId xmlns:a16="http://schemas.microsoft.com/office/drawing/2014/main" id="{DFE438CB-1EB2-A8FB-7DEA-5CDECF3D1CD6}"/>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E9C1972E-2A37-44EB-4C78-2116FD17AE85}"/>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Why do customers stay?</a:t>
            </a:r>
            <a:endParaRPr sz="3600" b="1">
              <a:solidFill>
                <a:srgbClr val="122C32"/>
              </a:solidFill>
              <a:latin typeface="Bitstream Charter"/>
              <a:ea typeface="Bitstream Charter"/>
              <a:cs typeface="Bitstream Charter"/>
            </a:endParaRPr>
          </a:p>
        </p:txBody>
      </p:sp>
      <p:sp>
        <p:nvSpPr>
          <p:cNvPr id="3" name="Rectangle 2">
            <a:extLst>
              <a:ext uri="{FF2B5EF4-FFF2-40B4-BE49-F238E27FC236}">
                <a16:creationId xmlns:a16="http://schemas.microsoft.com/office/drawing/2014/main" id="{4F7B2265-5A4D-194B-3263-D3160C3B492D}"/>
              </a:ext>
            </a:extLst>
          </p:cNvPr>
          <p:cNvSpPr>
            <a:spLocks noGrp="1"/>
          </p:cNvSpPr>
          <p:nvPr/>
        </p:nvSpPr>
        <p:spPr>
          <a:xfrm>
            <a:off x="685800" y="185737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a:ext uri="{FF2B5EF4-FFF2-40B4-BE49-F238E27FC236}">
                <a16:creationId xmlns:a16="http://schemas.microsoft.com/office/drawing/2014/main" id="{400B3647-875A-5206-BC58-0C51EF7E1F96}"/>
              </a:ext>
            </a:extLst>
          </p:cNvPr>
          <p:cNvSpPr>
            <a:spLocks noGrp="1"/>
          </p:cNvSpPr>
          <p:nvPr/>
        </p:nvSpPr>
        <p:spPr>
          <a:xfrm>
            <a:off x="1524000" y="185737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lv-LV" sz="2250" b="1" dirty="0">
                <a:solidFill>
                  <a:srgbClr val="122C32"/>
                </a:solidFill>
                <a:latin typeface="Bitstream Charter"/>
                <a:ea typeface="Bitstream Charter"/>
                <a:cs typeface="Bitstream Charter"/>
              </a:rPr>
              <a:t>Custom development</a:t>
            </a:r>
            <a:endParaRPr sz="2250" b="1" dirty="0">
              <a:solidFill>
                <a:srgbClr val="122C32"/>
              </a:solidFill>
              <a:latin typeface="Bitstream Charter"/>
              <a:ea typeface="Bitstream Charter"/>
              <a:cs typeface="Bitstream Charter"/>
            </a:endParaRPr>
          </a:p>
        </p:txBody>
      </p:sp>
      <p:sp>
        <p:nvSpPr>
          <p:cNvPr id="5" name="Rectangle 4">
            <a:extLst>
              <a:ext uri="{FF2B5EF4-FFF2-40B4-BE49-F238E27FC236}">
                <a16:creationId xmlns:a16="http://schemas.microsoft.com/office/drawing/2014/main" id="{CCDED8A0-AB21-ED5B-971D-E24062988BDC}"/>
              </a:ext>
            </a:extLst>
          </p:cNvPr>
          <p:cNvSpPr>
            <a:spLocks noGrp="1"/>
          </p:cNvSpPr>
          <p:nvPr/>
        </p:nvSpPr>
        <p:spPr>
          <a:xfrm>
            <a:off x="1524000" y="2381250"/>
            <a:ext cx="9429750" cy="714375"/>
          </a:xfrm>
          <a:prstGeom prst="rect">
            <a:avLst/>
          </a:prstGeom>
          <a:noFill/>
          <a:ln w="0">
            <a:noFill/>
          </a:ln>
        </p:spPr>
        <p:txBody>
          <a:bodyPr>
            <a:noAutofit/>
          </a:bodyPr>
          <a:lstStyle/>
          <a:p>
            <a:r>
              <a:rPr sz="1875">
                <a:solidFill>
                  <a:srgbClr val="52686B"/>
                </a:solidFill>
                <a:latin typeface="Bitstream Charter"/>
                <a:ea typeface="Bitstream Charter"/>
                <a:cs typeface="Bitstream Charter"/>
              </a:rPr>
              <a:t>We sign a one-year contract and offer free development as an incentive. We customise the solution to each client’s needs, making it harder to switch.</a:t>
            </a:r>
            <a:endParaRPr sz="1875">
              <a:solidFill>
                <a:srgbClr val="52686B"/>
              </a:solidFill>
              <a:latin typeface="Bitstream Charter"/>
              <a:ea typeface="Bitstream Charter"/>
              <a:cs typeface="Bitstream Charter"/>
            </a:endParaRPr>
          </a:p>
        </p:txBody>
      </p:sp>
      <p:sp>
        <p:nvSpPr>
          <p:cNvPr id="6" name="Rectangle 5">
            <a:extLst>
              <a:ext uri="{FF2B5EF4-FFF2-40B4-BE49-F238E27FC236}">
                <a16:creationId xmlns:a16="http://schemas.microsoft.com/office/drawing/2014/main" id="{40188201-042A-AFD8-E3E9-95B97D64753A}"/>
              </a:ext>
            </a:extLst>
          </p:cNvPr>
          <p:cNvSpPr>
            <a:spLocks noGrp="1"/>
          </p:cNvSpPr>
          <p:nvPr/>
        </p:nvSpPr>
        <p:spPr>
          <a:xfrm>
            <a:off x="685800" y="3333750"/>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a:ext uri="{FF2B5EF4-FFF2-40B4-BE49-F238E27FC236}">
                <a16:creationId xmlns:a16="http://schemas.microsoft.com/office/drawing/2014/main" id="{8E39BBF1-1AE1-601B-E710-B1B5AD76D0E0}"/>
              </a:ext>
            </a:extLst>
          </p:cNvPr>
          <p:cNvSpPr>
            <a:spLocks noGrp="1"/>
          </p:cNvSpPr>
          <p:nvPr/>
        </p:nvSpPr>
        <p:spPr>
          <a:xfrm>
            <a:off x="1524000" y="3333750"/>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en-US" sz="2250" b="1" dirty="0">
                <a:solidFill>
                  <a:srgbClr val="122C32"/>
                </a:solidFill>
                <a:latin typeface="Bitstream Charter"/>
                <a:ea typeface="Bitstream Charter"/>
                <a:cs typeface="Bitstream Charter"/>
              </a:rPr>
              <a:t>Data accumulation</a:t>
            </a:r>
            <a:endParaRPr sz="2250" b="1" dirty="0">
              <a:solidFill>
                <a:srgbClr val="122C32"/>
              </a:solidFill>
              <a:latin typeface="Bitstream Charter"/>
              <a:ea typeface="Bitstream Charter"/>
              <a:cs typeface="Bitstream Charter"/>
            </a:endParaRPr>
          </a:p>
        </p:txBody>
      </p:sp>
      <p:sp>
        <p:nvSpPr>
          <p:cNvPr id="8" name="Rectangle 7">
            <a:extLst>
              <a:ext uri="{FF2B5EF4-FFF2-40B4-BE49-F238E27FC236}">
                <a16:creationId xmlns:a16="http://schemas.microsoft.com/office/drawing/2014/main" id="{C385260F-1F00-15E5-D7C2-3733824DB786}"/>
              </a:ext>
            </a:extLst>
          </p:cNvPr>
          <p:cNvSpPr>
            <a:spLocks noGrp="1"/>
          </p:cNvSpPr>
          <p:nvPr/>
        </p:nvSpPr>
        <p:spPr>
          <a:xfrm>
            <a:off x="1524000" y="3857625"/>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As clients use our solution, data accumulates in WorksRecorded, making it more difficult to switch.</a:t>
            </a:r>
            <a:endParaRPr sz="1875" b="0">
              <a:solidFill>
                <a:srgbClr val="52686B"/>
              </a:solidFill>
              <a:latin typeface="Bitstream Charter"/>
              <a:ea typeface="Bitstream Charter"/>
              <a:cs typeface="Bitstream Charter"/>
            </a:endParaRPr>
          </a:p>
        </p:txBody>
      </p:sp>
      <p:sp>
        <p:nvSpPr>
          <p:cNvPr id="9" name="Rectangle 8">
            <a:extLst>
              <a:ext uri="{FF2B5EF4-FFF2-40B4-BE49-F238E27FC236}">
                <a16:creationId xmlns:a16="http://schemas.microsoft.com/office/drawing/2014/main" id="{127C9896-980A-E4E2-BA01-25C77D49A7BA}"/>
              </a:ext>
            </a:extLst>
          </p:cNvPr>
          <p:cNvSpPr>
            <a:spLocks noGrp="1"/>
          </p:cNvSpPr>
          <p:nvPr/>
        </p:nvSpPr>
        <p:spPr>
          <a:xfrm>
            <a:off x="685800" y="481012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dirty="0">
                <a:solidFill>
                  <a:srgbClr val="007F73"/>
                </a:solidFill>
                <a:latin typeface="Bitstream Charter"/>
                <a:ea typeface="Bitstream Charter"/>
                <a:cs typeface="Bitstream Charter"/>
              </a:rPr>
              <a:t>03</a:t>
            </a:r>
          </a:p>
        </p:txBody>
      </p:sp>
      <p:sp>
        <p:nvSpPr>
          <p:cNvPr id="10" name="Rectangle 9">
            <a:extLst>
              <a:ext uri="{FF2B5EF4-FFF2-40B4-BE49-F238E27FC236}">
                <a16:creationId xmlns:a16="http://schemas.microsoft.com/office/drawing/2014/main" id="{8154F0B1-A459-7B82-740A-8F065DF06065}"/>
              </a:ext>
            </a:extLst>
          </p:cNvPr>
          <p:cNvSpPr>
            <a:spLocks noGrp="1"/>
          </p:cNvSpPr>
          <p:nvPr/>
        </p:nvSpPr>
        <p:spPr>
          <a:xfrm>
            <a:off x="1524000" y="481012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en-US" sz="2250" b="1" dirty="0">
                <a:solidFill>
                  <a:srgbClr val="122C32"/>
                </a:solidFill>
                <a:latin typeface="Bitstream Charter"/>
                <a:ea typeface="Bitstream Charter"/>
                <a:cs typeface="Bitstream Charter"/>
              </a:rPr>
              <a:t>AI mapping</a:t>
            </a:r>
            <a:endParaRPr sz="2250" b="1" dirty="0">
              <a:solidFill>
                <a:srgbClr val="122C32"/>
              </a:solidFill>
              <a:latin typeface="Bitstream Charter"/>
              <a:ea typeface="Bitstream Charter"/>
              <a:cs typeface="Bitstream Charter"/>
            </a:endParaRPr>
          </a:p>
        </p:txBody>
      </p:sp>
      <p:sp>
        <p:nvSpPr>
          <p:cNvPr id="11" name="Rectangle 10">
            <a:extLst>
              <a:ext uri="{FF2B5EF4-FFF2-40B4-BE49-F238E27FC236}">
                <a16:creationId xmlns:a16="http://schemas.microsoft.com/office/drawing/2014/main" id="{405B4002-EEF3-9CE4-00D2-057FD1FBC829}"/>
              </a:ext>
            </a:extLst>
          </p:cNvPr>
          <p:cNvSpPr>
            <a:spLocks noGrp="1"/>
          </p:cNvSpPr>
          <p:nvPr/>
        </p:nvSpPr>
        <p:spPr>
          <a:xfrm>
            <a:off x="1524000" y="533400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We develop custom AI mapping for each client. For example, for Limeni.lv, we calculate material consumption from drawings and workers’ reports to flag overconsumption.</a:t>
            </a:r>
            <a:endParaRPr sz="1875" b="0">
              <a:solidFill>
                <a:srgbClr val="52686B"/>
              </a:solidFill>
              <a:latin typeface="Bitstream Charter"/>
              <a:ea typeface="Bitstream Charter"/>
              <a:cs typeface="Bitstream Charter"/>
            </a:endParaRPr>
          </a:p>
        </p:txBody>
      </p:sp>
      <p:sp>
        <p:nvSpPr>
          <p:cNvPr id="13" name="Rectangle 12">
            <a:extLst>
              <a:ext uri="{FF2B5EF4-FFF2-40B4-BE49-F238E27FC236}">
                <a16:creationId xmlns:a16="http://schemas.microsoft.com/office/drawing/2014/main" id="{A1BE075B-2A81-D858-DCB0-D37110AE7968}"/>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04</a:t>
            </a:r>
          </a:p>
        </p:txBody>
      </p:sp>
    </p:spTree>
    <p:extLst>
      <p:ext uri="{BB962C8B-B14F-4D97-AF65-F5344CB8AC3E}">
        <p14:creationId xmlns:p14="http://schemas.microsoft.com/office/powerpoint/2010/main" val="3081508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A645D17-DC3B-CD19-1A56-49C34E0154A6}"/>
              </a:ext>
            </a:extLst>
          </p:cNvPr>
          <p:cNvSpPr>
            <a:spLocks noGrp="1"/>
          </p:cNvSpPr>
          <p:nvPr/>
        </p:nvSpPr>
        <p:spPr>
          <a:xfrm>
            <a:off x="685800" y="571500"/>
            <a:ext cx="10820400" cy="952500"/>
          </a:xfrm>
          <a:prstGeom prst="rect">
            <a:avLst/>
          </a:prstGeom>
          <a:noFill/>
          <a:ln w="0">
            <a:noFill/>
          </a:ln>
        </p:spPr>
        <p:txBody>
          <a:bodyPr>
            <a:noAutofit/>
          </a:bodyPr>
          <a:lstStyle/>
          <a:p>
            <a:pPr marL="0" marR="0" lvl="0" indent="0" algn="l" defTabSz="914400">
              <a:lnSpc>
                <a:spcPct val="100000"/>
              </a:lnSpc>
              <a:spcBef>
                <a:spcPts val="0"/>
              </a:spcBef>
              <a:spcAft>
                <a:spcPts val="0"/>
              </a:spcAft>
              <a:buClrTx/>
              <a:buSzTx/>
              <a:buFontTx/>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Client example: Stone and Tree</a:t>
            </a:r>
            <a:endParaRPr sz="3600" b="1" i="0" u="none" kern="1200" cap="none" spc="0" baseline="0">
              <a:ln>
                <a:noFill/>
              </a:ln>
              <a:solidFill>
                <a:srgbClr val="122C32"/>
              </a:solidFill>
              <a:latin typeface="Bitstream Charter"/>
              <a:ea typeface="Bitstream Charter"/>
              <a:cs typeface="Bitstream Charter"/>
            </a:endParaRPr>
          </a:p>
        </p:txBody>
      </p:sp>
      <p:sp>
        <p:nvSpPr>
          <p:cNvPr id="3" name="Rectangle 2">
            <a:extLst>
              <a:ext uri="{FF2B5EF4-FFF2-40B4-BE49-F238E27FC236}">
                <a16:creationId xmlns:a16="http://schemas.microsoft.com/office/drawing/2014/main" id="{D8D09C23-A343-119D-0640-E09AAE2702C9}"/>
              </a:ext>
            </a:extLst>
          </p:cNvPr>
          <p:cNvSpPr>
            <a:spLocks noGrp="1"/>
          </p:cNvSpPr>
          <p:nvPr/>
        </p:nvSpPr>
        <p:spPr>
          <a:xfrm>
            <a:off x="685800" y="1628013"/>
            <a:ext cx="10477500" cy="333375"/>
          </a:xfrm>
          <a:prstGeom prst="rect">
            <a:avLst/>
          </a:prstGeom>
          <a:noFill/>
          <a:ln w="0">
            <a:noFill/>
          </a:ln>
        </p:spPr>
        <p:txBody>
          <a:bodyPr>
            <a:noAutofit/>
          </a:bodyPr>
          <a:lstStyle/>
          <a:p>
            <a:pPr marL="0" marR="0" lvl="0" indent="0" algn="l" defTabSz="914400">
              <a:lnSpc>
                <a:spcPct val="100000"/>
              </a:lnSpc>
              <a:spcBef>
                <a:spcPts val="0"/>
              </a:spcBef>
              <a:spcAft>
                <a:spcPts val="0"/>
              </a:spcAft>
              <a:buClrTx/>
              <a:buSzTx/>
              <a:buFontTx/>
              <a:buNone/>
              <a:defRPr sz="1350" b="1">
                <a:solidFill>
                  <a:srgbClr val="008B80"/>
                </a:solidFill>
                <a:latin typeface="Bitstream Charter"/>
                <a:ea typeface="Bitstream Charter"/>
                <a:cs typeface="Bitstream Charter"/>
              </a:defRPr>
            </a:pPr>
            <a:endParaRPr sz="1350" b="1" i="0" u="none" cap="none" spc="0">
              <a:ln>
                <a:noFill/>
              </a:ln>
              <a:solidFill>
                <a:srgbClr val="008B80"/>
              </a:solidFill>
              <a:latin typeface="Bitstream Charter"/>
              <a:ea typeface="Bitstream Charter"/>
              <a:cs typeface="Bitstream Charter"/>
            </a:endParaRPr>
          </a:p>
        </p:txBody>
      </p:sp>
      <p:pic>
        <p:nvPicPr>
          <p:cNvPr id="18" name="Picture 9"/>
          <p:cNvPicPr>
            <a:picLocks noChangeAspect="1"/>
          </p:cNvPicPr>
          <p:nvPr/>
        </p:nvPicPr>
        <p:blipFill>
          <a:blip r:embed="rId3"/>
          <a:stretch>
            <a:fillRect/>
          </a:stretch>
        </p:blipFill>
        <p:spPr>
          <a:xfrm>
            <a:off x="1511046" y="1628013"/>
            <a:ext cx="8827008" cy="4413504"/>
          </a:xfrm>
          <a:prstGeom prst="rect">
            <a:avLst/>
          </a:prstGeom>
        </p:spPr>
      </p:pic>
      <p:sp>
        <p:nvSpPr>
          <p:cNvPr id="14" name="Rectangle 13">
            <a:extLst>
              <a:ext uri="{FF2B5EF4-FFF2-40B4-BE49-F238E27FC236}">
                <a16:creationId xmlns:a16="http://schemas.microsoft.com/office/drawing/2014/main" id="{E69786E7-9BD7-49E1-8E00-D7DF88C0869A}"/>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05</a:t>
            </a:r>
          </a:p>
        </p:txBody>
      </p:sp>
    </p:spTree>
    <p:extLst>
      <p:ext uri="{BB962C8B-B14F-4D97-AF65-F5344CB8AC3E}">
        <p14:creationId xmlns:p14="http://schemas.microsoft.com/office/powerpoint/2010/main" val="1904699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78C0D80-D5DE-467F-A114-569B00F59906}"/>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ICP - specialty trade contractors</a:t>
            </a:r>
          </a:p>
        </p:txBody>
      </p:sp>
      <p:sp>
        <p:nvSpPr>
          <p:cNvPr id="3" name="Rectangle 2">
            <a:extLst>
              <a:ext uri="{FF2B5EF4-FFF2-40B4-BE49-F238E27FC236}">
                <a16:creationId xmlns:a16="http://schemas.microsoft.com/office/drawing/2014/main" id="{64E5D290-6F78-4046-A7CE-E38222F86C5D}"/>
              </a:ext>
            </a:extLst>
          </p:cNvPr>
          <p:cNvSpPr>
            <a:spLocks noGrp="1"/>
          </p:cNvSpPr>
          <p:nvPr/>
        </p:nvSpPr>
        <p:spPr>
          <a:xfrm>
            <a:off x="685800" y="1952625"/>
            <a:ext cx="5715000" cy="1333500"/>
          </a:xfrm>
          <a:prstGeom prst="rect">
            <a:avLst/>
          </a:prstGeom>
          <a:noFill/>
          <a:ln w="0">
            <a:noFill/>
          </a:ln>
        </p:spPr>
        <p:txBody>
          <a:bodyPr>
            <a:noAutofit/>
          </a:bodyPr>
          <a:lstStyle/>
          <a:p>
            <a:pPr>
              <a:buNone/>
              <a:defRPr sz="7950" b="1">
                <a:solidFill>
                  <a:srgbClr val="007F73"/>
                </a:solidFill>
                <a:latin typeface="Bitstream Charter"/>
                <a:ea typeface="Bitstream Charter"/>
                <a:cs typeface="Bitstream Charter"/>
              </a:defRPr>
            </a:pPr>
            <a:r>
              <a:rPr sz="7950" b="1">
                <a:solidFill>
                  <a:srgbClr val="007F73"/>
                </a:solidFill>
                <a:latin typeface="Bitstream Charter"/>
                <a:ea typeface="Bitstream Charter"/>
                <a:cs typeface="Bitstream Charter"/>
              </a:rPr>
              <a:t>10–49</a:t>
            </a:r>
          </a:p>
        </p:txBody>
      </p:sp>
      <p:sp>
        <p:nvSpPr>
          <p:cNvPr id="4" name="Rectangle 3">
            <a:extLst>
              <a:ext uri="{FF2B5EF4-FFF2-40B4-BE49-F238E27FC236}">
                <a16:creationId xmlns:a16="http://schemas.microsoft.com/office/drawing/2014/main" id="{BB7BDF1D-5A67-4F36-A377-4F8580A99F95}"/>
              </a:ext>
            </a:extLst>
          </p:cNvPr>
          <p:cNvSpPr>
            <a:spLocks noGrp="1"/>
          </p:cNvSpPr>
          <p:nvPr/>
        </p:nvSpPr>
        <p:spPr>
          <a:xfrm>
            <a:off x="723900" y="3362325"/>
            <a:ext cx="5905500" cy="523875"/>
          </a:xfrm>
          <a:prstGeom prst="rect">
            <a:avLst/>
          </a:prstGeom>
          <a:noFill/>
          <a:ln w="0">
            <a:noFill/>
          </a:ln>
        </p:spPr>
        <p:txBody>
          <a:bodyPr>
            <a:noAutofit/>
          </a:bodyPr>
          <a:lstStyle/>
          <a:p>
            <a:pPr>
              <a:buNone/>
              <a:defRPr sz="2250" b="0">
                <a:solidFill>
                  <a:srgbClr val="122C32"/>
                </a:solidFill>
                <a:latin typeface="Bitstream Charter"/>
                <a:ea typeface="Bitstream Charter"/>
                <a:cs typeface="Bitstream Charter"/>
              </a:defRPr>
            </a:pPr>
            <a:r>
              <a:rPr sz="2250" b="0">
                <a:solidFill>
                  <a:srgbClr val="122C32"/>
                </a:solidFill>
                <a:latin typeface="Bitstream Charter"/>
                <a:ea typeface="Bitstream Charter"/>
                <a:cs typeface="Bitstream Charter"/>
              </a:rPr>
              <a:t>Employees in the company</a:t>
            </a:r>
          </a:p>
        </p:txBody>
      </p:sp>
      <p:sp>
        <p:nvSpPr>
          <p:cNvPr id="5" name="Rectangle 4">
            <a:extLst>
              <a:ext uri="{FF2B5EF4-FFF2-40B4-BE49-F238E27FC236}">
                <a16:creationId xmlns:a16="http://schemas.microsoft.com/office/drawing/2014/main" id="{4340E1A3-BC7F-4E71-A39C-55B522DA4B04}"/>
              </a:ext>
            </a:extLst>
          </p:cNvPr>
          <p:cNvSpPr>
            <a:spLocks noGrp="1"/>
          </p:cNvSpPr>
          <p:nvPr/>
        </p:nvSpPr>
        <p:spPr>
          <a:xfrm>
            <a:off x="6858000" y="2076450"/>
            <a:ext cx="4572000" cy="2762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Enough operational complexity</a:t>
            </a:r>
          </a:p>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to need better records.</a:t>
            </a:r>
          </a:p>
          <a:p>
            <a:endParaRPr sz="2325" b="0">
              <a:solidFill>
                <a:srgbClr val="122C32"/>
              </a:solidFill>
              <a:latin typeface="Bitstream Charter"/>
              <a:ea typeface="Bitstream Charter"/>
              <a:cs typeface="Bitstream Charter"/>
            </a:endParaRPr>
          </a:p>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Limited capacity to build and</a:t>
            </a:r>
          </a:p>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maintain an internal system.</a:t>
            </a:r>
          </a:p>
        </p:txBody>
      </p:sp>
      <p:sp>
        <p:nvSpPr>
          <p:cNvPr id="6" name="Rectangle 5">
            <a:extLst>
              <a:ext uri="{FF2B5EF4-FFF2-40B4-BE49-F238E27FC236}">
                <a16:creationId xmlns:a16="http://schemas.microsoft.com/office/drawing/2014/main" id="{8A16FE9C-5BF7-4D1C-AB9F-990B61CBF628}"/>
              </a:ext>
            </a:extLst>
          </p:cNvPr>
          <p:cNvSpPr>
            <a:spLocks noGrp="1"/>
          </p:cNvSpPr>
          <p:nvPr/>
        </p:nvSpPr>
        <p:spPr>
          <a:xfrm>
            <a:off x="723900" y="5381625"/>
            <a:ext cx="10477500" cy="666750"/>
          </a:xfrm>
          <a:prstGeom prst="rect">
            <a:avLst/>
          </a:prstGeom>
          <a:noFill/>
          <a:ln w="0">
            <a:noFill/>
          </a:ln>
        </p:spPr>
        <p:txBody>
          <a:bodyPr>
            <a:noAutofit/>
          </a:bodyPr>
          <a:lstStyle/>
          <a:p>
            <a:pPr>
              <a:buNone/>
              <a:defRPr sz="1950" b="0">
                <a:solidFill>
                  <a:srgbClr val="52686B"/>
                </a:solidFill>
                <a:latin typeface="Bitstream Charter"/>
                <a:ea typeface="Bitstream Charter"/>
                <a:cs typeface="Bitstream Charter"/>
              </a:defRPr>
            </a:pPr>
            <a:r>
              <a:rPr sz="1950" b="0">
                <a:solidFill>
                  <a:srgbClr val="52686B"/>
                </a:solidFill>
                <a:latin typeface="Bitstream Charter"/>
                <a:ea typeface="Bitstream Charter"/>
                <a:cs typeface="Bitstream Charter"/>
              </a:rPr>
              <a:t>Adjacent opportunity: medium-sized manufacturers, with ZTC as an early customer.</a:t>
            </a:r>
          </a:p>
        </p:txBody>
      </p:sp>
      <p:sp>
        <p:nvSpPr>
          <p:cNvPr id="8" name="Rectangle 7">
            <a:extLst>
              <a:ext uri="{FF2B5EF4-FFF2-40B4-BE49-F238E27FC236}">
                <a16:creationId xmlns:a16="http://schemas.microsoft.com/office/drawing/2014/main" id="{38A13C7B-5C67-4031-9A6C-983B9E173DD9}"/>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06</a:t>
            </a:r>
          </a:p>
        </p:txBody>
      </p:sp>
    </p:spTree>
    <p:extLst>
      <p:ext uri="{BB962C8B-B14F-4D97-AF65-F5344CB8AC3E}">
        <p14:creationId xmlns:p14="http://schemas.microsoft.com/office/powerpoint/2010/main" val="1199043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B4C317D-E8EF-42F7-A4B8-E521B631748D}"/>
              </a:ext>
            </a:extLst>
          </p:cNvPr>
          <p:cNvSpPr>
            <a:spLocks noGrp="1"/>
          </p:cNvSpPr>
          <p:nvPr/>
        </p:nvSpPr>
        <p:spPr>
          <a:xfrm>
            <a:off x="685800" y="571500"/>
            <a:ext cx="10820400" cy="619125"/>
          </a:xfrm>
          <a:prstGeom prst="rect">
            <a:avLst/>
          </a:prstGeom>
          <a:noFill/>
          <a:ln w="0">
            <a:noFill/>
          </a:ln>
        </p:spPr>
        <p:txBody>
          <a:bodyPr>
            <a:noAutofit/>
          </a:bodyPr>
          <a:lstStyle/>
          <a:p>
            <a:pPr>
              <a:defRPr sz="3150" b="1">
                <a:solidFill>
                  <a:srgbClr val="142F35"/>
                </a:solidFill>
                <a:latin typeface="Calibri"/>
                <a:ea typeface="Calibri"/>
                <a:cs typeface="Calibri"/>
              </a:defRPr>
            </a:pPr>
            <a:r>
              <a:rPr sz="3150" b="1">
                <a:solidFill>
                  <a:srgbClr val="142F35"/>
                </a:solidFill>
                <a:latin typeface="Calibri"/>
                <a:ea typeface="Calibri"/>
                <a:cs typeface="Calibri"/>
              </a:rPr>
              <a:t>Market size</a:t>
            </a:r>
          </a:p>
        </p:txBody>
      </p:sp>
      <p:sp>
        <p:nvSpPr>
          <p:cNvPr id="2" name="Rectangle 1">
            <a:extLst>
              <a:ext uri="{FF2B5EF4-FFF2-40B4-BE49-F238E27FC236}">
                <a16:creationId xmlns:a16="http://schemas.microsoft.com/office/drawing/2014/main" id="{3EE285EB-C9BC-4304-9866-25E6A70D1815}"/>
              </a:ext>
            </a:extLst>
          </p:cNvPr>
          <p:cNvSpPr>
            <a:spLocks noGrp="1"/>
          </p:cNvSpPr>
          <p:nvPr/>
        </p:nvSpPr>
        <p:spPr>
          <a:xfrm>
            <a:off x="723900" y="1257300"/>
            <a:ext cx="10668000" cy="457200"/>
          </a:xfrm>
          <a:prstGeom prst="rect">
            <a:avLst/>
          </a:prstGeom>
          <a:noFill/>
          <a:ln w="0">
            <a:noFill/>
          </a:ln>
        </p:spPr>
        <p:txBody>
          <a:bodyPr>
            <a:noAutofit/>
          </a:bodyPr>
          <a:lstStyle/>
          <a:p>
            <a:pPr>
              <a:defRPr sz="1950" b="0">
                <a:solidFill>
                  <a:srgbClr val="142F35"/>
                </a:solidFill>
                <a:latin typeface="Calibri"/>
                <a:ea typeface="Calibri"/>
                <a:cs typeface="Calibri"/>
              </a:defRPr>
            </a:pPr>
            <a:r>
              <a:rPr sz="1950" b="0">
                <a:solidFill>
                  <a:srgbClr val="142F35"/>
                </a:solidFill>
                <a:latin typeface="Calibri"/>
                <a:ea typeface="Calibri"/>
                <a:cs typeface="Calibri"/>
              </a:rPr>
              <a:t>Specialty trade contractors with 10–49 people employed</a:t>
            </a:r>
          </a:p>
        </p:txBody>
      </p:sp>
      <p:sp>
        <p:nvSpPr>
          <p:cNvPr id="3" name="Rectangle 2">
            <a:extLst>
              <a:ext uri="{FF2B5EF4-FFF2-40B4-BE49-F238E27FC236}">
                <a16:creationId xmlns:a16="http://schemas.microsoft.com/office/drawing/2014/main" id="{5380B6D2-5FF0-485D-9E18-909AC785BC83}"/>
              </a:ext>
            </a:extLst>
          </p:cNvPr>
          <p:cNvSpPr>
            <a:spLocks noGrp="1"/>
          </p:cNvSpPr>
          <p:nvPr/>
        </p:nvSpPr>
        <p:spPr>
          <a:xfrm>
            <a:off x="723900" y="1819275"/>
            <a:ext cx="6000750" cy="790575"/>
          </a:xfrm>
          <a:prstGeom prst="rect">
            <a:avLst/>
          </a:prstGeom>
          <a:noFill/>
          <a:ln w="0">
            <a:noFill/>
          </a:ln>
        </p:spPr>
        <p:txBody>
          <a:bodyPr>
            <a:noAutofit/>
          </a:bodyPr>
          <a:lstStyle/>
          <a:p>
            <a:pPr>
              <a:buNone/>
              <a:defRPr sz="4500" b="1">
                <a:solidFill>
                  <a:srgbClr val="008579"/>
                </a:solidFill>
                <a:latin typeface="Calibri"/>
                <a:ea typeface="Calibri"/>
                <a:cs typeface="Calibri"/>
              </a:defRPr>
            </a:pPr>
            <a:r>
              <a:rPr lang="lv-LV" sz="4500" b="1" dirty="0">
                <a:solidFill>
                  <a:srgbClr val="008579"/>
                </a:solidFill>
                <a:latin typeface="Calibri"/>
                <a:ea typeface="Calibri"/>
                <a:cs typeface="Calibri"/>
              </a:rPr>
              <a:t>€4</a:t>
            </a:r>
            <a:r>
              <a:rPr lang="en-US" sz="4500" b="1" dirty="0">
                <a:solidFill>
                  <a:srgbClr val="008579"/>
                </a:solidFill>
                <a:latin typeface="Calibri"/>
                <a:ea typeface="Calibri"/>
                <a:cs typeface="Calibri"/>
              </a:rPr>
              <a:t>27</a:t>
            </a:r>
            <a:r>
              <a:rPr lang="lv-LV" sz="4500" b="1" dirty="0">
                <a:solidFill>
                  <a:srgbClr val="008579"/>
                </a:solidFill>
                <a:latin typeface="Calibri"/>
                <a:ea typeface="Calibri"/>
                <a:cs typeface="Calibri"/>
              </a:rPr>
              <a:t>.</a:t>
            </a:r>
            <a:r>
              <a:rPr lang="en-US" sz="4500" b="1" dirty="0">
                <a:solidFill>
                  <a:srgbClr val="008579"/>
                </a:solidFill>
                <a:latin typeface="Calibri"/>
                <a:ea typeface="Calibri"/>
                <a:cs typeface="Calibri"/>
              </a:rPr>
              <a:t>1</a:t>
            </a:r>
            <a:r>
              <a:rPr lang="lv-LV" sz="4500" b="1" dirty="0">
                <a:solidFill>
                  <a:srgbClr val="008579"/>
                </a:solidFill>
                <a:latin typeface="Calibri"/>
                <a:ea typeface="Calibri"/>
                <a:cs typeface="Calibri"/>
              </a:rPr>
              <a:t>M / year</a:t>
            </a:r>
          </a:p>
        </p:txBody>
      </p:sp>
      <p:graphicFrame>
        <p:nvGraphicFramePr>
          <p:cNvPr id="14" name="Table 13"/>
          <p:cNvGraphicFramePr/>
          <p:nvPr>
            <p:extLst>
              <p:ext uri="{D42A27DB-BD31-4B8C-83A1-F6EECF244321}">
                <p14:modId xmlns:p14="http://schemas.microsoft.com/office/powerpoint/2010/main" val="561895549"/>
              </p:ext>
            </p:extLst>
          </p:nvPr>
        </p:nvGraphicFramePr>
        <p:xfrm>
          <a:off x="762000" y="2857500"/>
          <a:ext cx="10668000" cy="2381250"/>
        </p:xfrm>
        <a:graphic>
          <a:graphicData uri="http://schemas.openxmlformats.org/drawingml/2006/table">
            <a:tbl>
              <a:tblPr/>
              <a:tblGrid>
                <a:gridCol w="5000625">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476250">
                <a:tc>
                  <a:txBody>
                    <a:bodyPr/>
                    <a:lstStyle/>
                    <a:p>
                      <a:r>
                        <a:rPr sz="1800" b="1">
                          <a:solidFill>
                            <a:srgbClr val="FFFFFF"/>
                          </a:solidFill>
                          <a:latin typeface="Calibri"/>
                          <a:ea typeface="Calibri"/>
                          <a:cs typeface="Calibri"/>
                        </a:rPr>
                        <a:t>Market / reference year</a:t>
                      </a:r>
                    </a:p>
                  </a:txBody>
                  <a:tcPr>
                    <a:solidFill>
                      <a:srgbClr val="142F35"/>
                    </a:solidFill>
                  </a:tcPr>
                </a:tc>
                <a:tc>
                  <a:txBody>
                    <a:bodyPr/>
                    <a:lstStyle/>
                    <a:p>
                      <a:r>
                        <a:rPr sz="1800" b="1">
                          <a:solidFill>
                            <a:srgbClr val="FFFFFF"/>
                          </a:solidFill>
                          <a:latin typeface="Calibri"/>
                          <a:ea typeface="Calibri"/>
                          <a:cs typeface="Calibri"/>
                        </a:rPr>
                        <a:t>Companies</a:t>
                      </a:r>
                    </a:p>
                  </a:txBody>
                  <a:tcPr>
                    <a:solidFill>
                      <a:srgbClr val="142F35"/>
                    </a:solidFill>
                  </a:tcPr>
                </a:tc>
                <a:tc>
                  <a:txBody>
                    <a:bodyPr/>
                    <a:lstStyle/>
                    <a:p>
                      <a:r>
                        <a:rPr sz="1800" b="1">
                          <a:solidFill>
                            <a:srgbClr val="FFFFFF"/>
                          </a:solidFill>
                          <a:latin typeface="Calibri"/>
                          <a:ea typeface="Calibri"/>
                          <a:cs typeface="Calibri"/>
                        </a:rPr>
                        <a:t>Annual potential</a:t>
                      </a:r>
                    </a:p>
                  </a:txBody>
                  <a:tcPr>
                    <a:solidFill>
                      <a:srgbClr val="142F35"/>
                    </a:solidFill>
                  </a:tcPr>
                </a:tc>
                <a:extLst>
                  <a:ext uri="{0D108BD9-81ED-4DB2-BD59-A6C34878D82A}">
                    <a16:rowId xmlns:a16="http://schemas.microsoft.com/office/drawing/2014/main" val="10000"/>
                  </a:ext>
                </a:extLst>
              </a:tr>
              <a:tr h="476250">
                <a:tc>
                  <a:txBody>
                    <a:bodyPr/>
                    <a:lstStyle/>
                    <a:p>
                      <a:r>
                        <a:rPr sz="1800" b="0">
                          <a:solidFill>
                            <a:srgbClr val="142F35"/>
                          </a:solidFill>
                          <a:latin typeface="Calibri"/>
                          <a:ea typeface="Calibri"/>
                          <a:cs typeface="Calibri"/>
                        </a:rPr>
                        <a:t>EU-27 / 2023</a:t>
                      </a:r>
                    </a:p>
                  </a:txBody>
                  <a:tcPr>
                    <a:solidFill>
                      <a:srgbClr val="F6F4EE"/>
                    </a:solidFill>
                  </a:tcPr>
                </a:tc>
                <a:tc>
                  <a:txBody>
                    <a:bodyPr/>
                    <a:lstStyle/>
                    <a:p>
                      <a:r>
                        <a:rPr sz="1800" b="0">
                          <a:solidFill>
                            <a:srgbClr val="142F35"/>
                          </a:solidFill>
                          <a:latin typeface="Calibri"/>
                          <a:ea typeface="Calibri"/>
                          <a:cs typeface="Calibri"/>
                        </a:rPr>
                        <a:t>141,914</a:t>
                      </a:r>
                    </a:p>
                  </a:txBody>
                  <a:tcPr>
                    <a:solidFill>
                      <a:srgbClr val="F6F4EE"/>
                    </a:solidFill>
                  </a:tcPr>
                </a:tc>
                <a:tc>
                  <a:txBody>
                    <a:bodyPr/>
                    <a:lstStyle/>
                    <a:p>
                      <a:r>
                        <a:rPr sz="1800" b="0">
                          <a:solidFill>
                            <a:srgbClr val="142F35"/>
                          </a:solidFill>
                          <a:latin typeface="Calibri"/>
                          <a:ea typeface="Calibri"/>
                          <a:cs typeface="Calibri"/>
                        </a:rPr>
                        <a:t>€255.4M</a:t>
                      </a:r>
                    </a:p>
                  </a:txBody>
                  <a:tcPr>
                    <a:solidFill>
                      <a:srgbClr val="F6F4EE"/>
                    </a:solidFill>
                  </a:tcPr>
                </a:tc>
                <a:extLst>
                  <a:ext uri="{0D108BD9-81ED-4DB2-BD59-A6C34878D82A}">
                    <a16:rowId xmlns:a16="http://schemas.microsoft.com/office/drawing/2014/main" val="10001"/>
                  </a:ext>
                </a:extLst>
              </a:tr>
              <a:tr h="476250">
                <a:tc>
                  <a:txBody>
                    <a:bodyPr/>
                    <a:lstStyle/>
                    <a:p>
                      <a:r>
                        <a:rPr sz="1800" b="0">
                          <a:solidFill>
                            <a:srgbClr val="142F35"/>
                          </a:solidFill>
                          <a:latin typeface="Calibri"/>
                          <a:ea typeface="Calibri"/>
                          <a:cs typeface="Calibri"/>
                        </a:rPr>
                        <a:t>UK / 2025</a:t>
                      </a:r>
                    </a:p>
                  </a:txBody>
                  <a:tcPr>
                    <a:solidFill>
                      <a:srgbClr val="F6F4EE"/>
                    </a:solidFill>
                  </a:tcPr>
                </a:tc>
                <a:tc>
                  <a:txBody>
                    <a:bodyPr/>
                    <a:lstStyle/>
                    <a:p>
                      <a:r>
                        <a:rPr sz="1800" b="0">
                          <a:solidFill>
                            <a:srgbClr val="142F35"/>
                          </a:solidFill>
                          <a:latin typeface="Calibri"/>
                          <a:ea typeface="Calibri"/>
                          <a:cs typeface="Calibri"/>
                        </a:rPr>
                        <a:t>11,725</a:t>
                      </a:r>
                    </a:p>
                  </a:txBody>
                  <a:tcPr>
                    <a:solidFill>
                      <a:srgbClr val="F6F4EE"/>
                    </a:solidFill>
                  </a:tcPr>
                </a:tc>
                <a:tc>
                  <a:txBody>
                    <a:bodyPr/>
                    <a:lstStyle/>
                    <a:p>
                      <a:r>
                        <a:rPr sz="1800" b="0">
                          <a:solidFill>
                            <a:srgbClr val="142F35"/>
                          </a:solidFill>
                          <a:latin typeface="Calibri"/>
                          <a:ea typeface="Calibri"/>
                          <a:cs typeface="Calibri"/>
                        </a:rPr>
                        <a:t>€21.1M</a:t>
                      </a:r>
                    </a:p>
                  </a:txBody>
                  <a:tcPr>
                    <a:solidFill>
                      <a:srgbClr val="F6F4EE"/>
                    </a:solidFill>
                  </a:tcPr>
                </a:tc>
                <a:extLst>
                  <a:ext uri="{0D108BD9-81ED-4DB2-BD59-A6C34878D82A}">
                    <a16:rowId xmlns:a16="http://schemas.microsoft.com/office/drawing/2014/main" val="10002"/>
                  </a:ext>
                </a:extLst>
              </a:tr>
              <a:tr h="476250">
                <a:tc>
                  <a:txBody>
                    <a:bodyPr/>
                    <a:lstStyle/>
                    <a:p>
                      <a:r>
                        <a:rPr sz="1800" b="0">
                          <a:solidFill>
                            <a:srgbClr val="142F35"/>
                          </a:solidFill>
                          <a:latin typeface="Calibri"/>
                          <a:ea typeface="Calibri"/>
                          <a:cs typeface="Calibri"/>
                        </a:rPr>
                        <a:t>Sweden / 2023 (within EU-27)</a:t>
                      </a:r>
                    </a:p>
                  </a:txBody>
                  <a:tcPr>
                    <a:solidFill>
                      <a:srgbClr val="F6F4EE"/>
                    </a:solidFill>
                  </a:tcPr>
                </a:tc>
                <a:tc>
                  <a:txBody>
                    <a:bodyPr/>
                    <a:lstStyle/>
                    <a:p>
                      <a:r>
                        <a:rPr sz="1800" b="0" dirty="0">
                          <a:solidFill>
                            <a:srgbClr val="142F35"/>
                          </a:solidFill>
                          <a:latin typeface="Calibri"/>
                          <a:ea typeface="Calibri"/>
                          <a:cs typeface="Calibri"/>
                        </a:rPr>
                        <a:t>4,235</a:t>
                      </a:r>
                    </a:p>
                  </a:txBody>
                  <a:tcPr>
                    <a:solidFill>
                      <a:srgbClr val="F6F4EE"/>
                    </a:solidFill>
                  </a:tcPr>
                </a:tc>
                <a:tc>
                  <a:txBody>
                    <a:bodyPr/>
                    <a:lstStyle/>
                    <a:p>
                      <a:r>
                        <a:rPr sz="1800" b="0">
                          <a:solidFill>
                            <a:srgbClr val="142F35"/>
                          </a:solidFill>
                          <a:latin typeface="Calibri"/>
                          <a:ea typeface="Calibri"/>
                          <a:cs typeface="Calibri"/>
                        </a:rPr>
                        <a:t>€7.6M</a:t>
                      </a:r>
                    </a:p>
                  </a:txBody>
                  <a:tcPr>
                    <a:solidFill>
                      <a:srgbClr val="F6F4EE"/>
                    </a:solidFill>
                  </a:tcPr>
                </a:tc>
                <a:extLst>
                  <a:ext uri="{0D108BD9-81ED-4DB2-BD59-A6C34878D82A}">
                    <a16:rowId xmlns:a16="http://schemas.microsoft.com/office/drawing/2014/main" val="10003"/>
                  </a:ext>
                </a:extLst>
              </a:tr>
              <a:tr h="476250">
                <a:tc>
                  <a:txBody>
                    <a:bodyPr/>
                    <a:lstStyle/>
                    <a:p>
                      <a:r>
                        <a:rPr sz="1800" b="0">
                          <a:solidFill>
                            <a:srgbClr val="142F35"/>
                          </a:solidFill>
                          <a:latin typeface="Calibri"/>
                          <a:ea typeface="Calibri"/>
                          <a:cs typeface="Calibri"/>
                        </a:rPr>
                        <a:t>USA / 2022</a:t>
                      </a:r>
                    </a:p>
                  </a:txBody>
                  <a:tcPr>
                    <a:solidFill>
                      <a:srgbClr val="F6F4EE"/>
                    </a:solidFill>
                  </a:tcPr>
                </a:tc>
                <a:tc>
                  <a:txBody>
                    <a:bodyPr/>
                    <a:lstStyle/>
                    <a:p>
                      <a:r>
                        <a:rPr sz="1800" b="0">
                          <a:solidFill>
                            <a:srgbClr val="142F35"/>
                          </a:solidFill>
                          <a:latin typeface="Calibri"/>
                          <a:ea typeface="Calibri"/>
                          <a:cs typeface="Calibri"/>
                        </a:rPr>
                        <a:t>79,446</a:t>
                      </a:r>
                    </a:p>
                  </a:txBody>
                  <a:tcPr>
                    <a:solidFill>
                      <a:srgbClr val="F6F4EE"/>
                    </a:solidFill>
                  </a:tcPr>
                </a:tc>
                <a:tc>
                  <a:txBody>
                    <a:bodyPr/>
                    <a:lstStyle/>
                    <a:p>
                      <a:r>
                        <a:rPr sz="1800" b="0" dirty="0">
                          <a:solidFill>
                            <a:srgbClr val="142F35"/>
                          </a:solidFill>
                          <a:latin typeface="Calibri"/>
                          <a:ea typeface="Calibri"/>
                          <a:cs typeface="Calibri"/>
                        </a:rPr>
                        <a:t>€143.0M</a:t>
                      </a:r>
                    </a:p>
                  </a:txBody>
                  <a:tcPr>
                    <a:solidFill>
                      <a:srgbClr val="F6F4EE"/>
                    </a:solidFill>
                  </a:tcP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65C880CE-DB36-46B7-B39E-13AF1A46302F}"/>
              </a:ext>
            </a:extLst>
          </p:cNvPr>
          <p:cNvSpPr>
            <a:spLocks noGrp="1"/>
          </p:cNvSpPr>
          <p:nvPr/>
        </p:nvSpPr>
        <p:spPr>
          <a:xfrm>
            <a:off x="762000" y="5781675"/>
            <a:ext cx="10668000" cy="314325"/>
          </a:xfrm>
          <a:prstGeom prst="rect">
            <a:avLst/>
          </a:prstGeom>
          <a:noFill/>
          <a:ln w="0">
            <a:noFill/>
          </a:ln>
        </p:spPr>
        <p:txBody>
          <a:bodyPr>
            <a:noAutofit/>
          </a:bodyPr>
          <a:lstStyle/>
          <a:p>
            <a:pPr>
              <a:defRPr sz="1500" b="0">
                <a:solidFill>
                  <a:srgbClr val="536B70"/>
                </a:solidFill>
                <a:latin typeface="Calibri"/>
                <a:ea typeface="Calibri"/>
                <a:cs typeface="Calibri"/>
              </a:defRPr>
            </a:pPr>
            <a:r>
              <a:rPr sz="1500" b="0">
                <a:solidFill>
                  <a:srgbClr val="536B70"/>
                </a:solidFill>
                <a:latin typeface="Calibri"/>
                <a:ea typeface="Calibri"/>
                <a:cs typeface="Calibri"/>
              </a:rPr>
              <a:t>Full penetration potential. Actual sales depend on adoption and retention.</a:t>
            </a:r>
          </a:p>
        </p:txBody>
      </p:sp>
      <p:sp>
        <p:nvSpPr>
          <p:cNvPr id="8" name="Rectangle 7">
            <a:extLst>
              <a:ext uri="{FF2B5EF4-FFF2-40B4-BE49-F238E27FC236}">
                <a16:creationId xmlns:a16="http://schemas.microsoft.com/office/drawing/2014/main" id="{E640D36C-E855-476B-9C1F-40B52879C45F}"/>
              </a:ext>
            </a:extLst>
          </p:cNvPr>
          <p:cNvSpPr>
            <a:spLocks noGrp="1"/>
          </p:cNvSpPr>
          <p:nvPr/>
        </p:nvSpPr>
        <p:spPr>
          <a:xfrm>
            <a:off x="762000" y="6191250"/>
            <a:ext cx="10096500" cy="276225"/>
          </a:xfrm>
          <a:prstGeom prst="rect">
            <a:avLst/>
          </a:prstGeom>
          <a:noFill/>
          <a:ln w="0">
            <a:noFill/>
          </a:ln>
        </p:spPr>
        <p:txBody>
          <a:bodyPr>
            <a:noAutofit/>
          </a:bodyPr>
          <a:lstStyle/>
          <a:p>
            <a:pPr>
              <a:defRPr sz="1275" b="0">
                <a:solidFill>
                  <a:srgbClr val="536B70"/>
                </a:solidFill>
                <a:latin typeface="Calibri"/>
                <a:ea typeface="Calibri"/>
                <a:cs typeface="Calibri"/>
              </a:defRPr>
            </a:pPr>
            <a:r>
              <a:rPr sz="1275" b="0">
                <a:solidFill>
                  <a:srgbClr val="536B70"/>
                </a:solidFill>
                <a:latin typeface="Calibri"/>
                <a:ea typeface="Calibri"/>
                <a:cs typeface="Calibri"/>
              </a:rPr>
              <a:t>Sources: Eurostat SBS and ONS IDBR. EU includes an estimate. Definitions and links in notes.</a:t>
            </a:r>
          </a:p>
        </p:txBody>
      </p:sp>
      <p:sp>
        <p:nvSpPr>
          <p:cNvPr id="9" name="Rectangle 8">
            <a:extLst>
              <a:ext uri="{FF2B5EF4-FFF2-40B4-BE49-F238E27FC236}">
                <a16:creationId xmlns:a16="http://schemas.microsoft.com/office/drawing/2014/main" id="{AE01457F-986A-4EFE-A387-92776DA4D417}"/>
              </a:ext>
            </a:extLst>
          </p:cNvPr>
          <p:cNvSpPr>
            <a:spLocks noGrp="1"/>
          </p:cNvSpPr>
          <p:nvPr/>
        </p:nvSpPr>
        <p:spPr>
          <a:xfrm>
            <a:off x="11001375" y="6238875"/>
            <a:ext cx="571500" cy="285750"/>
          </a:xfrm>
          <a:prstGeom prst="rect">
            <a:avLst/>
          </a:prstGeom>
          <a:noFill/>
          <a:ln w="0">
            <a:noFill/>
          </a:ln>
        </p:spPr>
        <p:txBody>
          <a:bodyPr>
            <a:noAutofit/>
          </a:bodyPr>
          <a:lstStyle/>
          <a:p>
            <a:pPr>
              <a:defRPr sz="1200" b="0">
                <a:solidFill>
                  <a:srgbClr val="536B70"/>
                </a:solidFill>
                <a:latin typeface="Calibri"/>
                <a:ea typeface="Calibri"/>
                <a:cs typeface="Calibri"/>
              </a:defRPr>
            </a:pPr>
            <a:r>
              <a:rPr sz="1200" b="0">
                <a:solidFill>
                  <a:srgbClr val="536B70"/>
                </a:solidFill>
                <a:latin typeface="Calibri"/>
                <a:ea typeface="Calibri"/>
                <a:cs typeface="Calibri"/>
              </a:rPr>
              <a:t>07</a:t>
            </a:r>
          </a:p>
        </p:txBody>
      </p:sp>
      <p:sp>
        <p:nvSpPr>
          <p:cNvPr id="11" name="Rectangle 10">
            <a:extLst>
              <a:ext uri="{FF2B5EF4-FFF2-40B4-BE49-F238E27FC236}">
                <a16:creationId xmlns:a16="http://schemas.microsoft.com/office/drawing/2014/main" id="{1370F205-2A21-A647-1C0E-5E85C9919A52}"/>
              </a:ext>
            </a:extLst>
          </p:cNvPr>
          <p:cNvSpPr>
            <a:spLocks noGrp="1"/>
          </p:cNvSpPr>
          <p:nvPr/>
        </p:nvSpPr>
        <p:spPr>
          <a:xfrm>
            <a:off x="7086600" y="1914525"/>
            <a:ext cx="4381500" cy="714375"/>
          </a:xfrm>
          <a:prstGeom prst="rect">
            <a:avLst/>
          </a:prstGeom>
          <a:noFill/>
          <a:ln w="0">
            <a:noFill/>
          </a:ln>
        </p:spPr>
        <p:txBody>
          <a:bodyPr>
            <a:noAutofit/>
          </a:bodyPr>
          <a:lstStyle/>
          <a:p>
            <a:pPr>
              <a:buNone/>
              <a:defRPr sz="1875" b="0">
                <a:solidFill>
                  <a:srgbClr val="142F35"/>
                </a:solidFill>
                <a:latin typeface="Calibri"/>
                <a:ea typeface="Calibri"/>
                <a:cs typeface="Calibri"/>
              </a:defRPr>
            </a:pPr>
            <a:r>
              <a:rPr sz="1875" b="0" dirty="0">
                <a:solidFill>
                  <a:srgbClr val="142F35"/>
                </a:solidFill>
                <a:latin typeface="Calibri"/>
                <a:ea typeface="Calibri"/>
                <a:cs typeface="Calibri"/>
              </a:rPr>
              <a:t>EU-27 + UK + USA: ~233,000 firms</a:t>
            </a:r>
          </a:p>
          <a:p>
            <a:pPr>
              <a:buNone/>
              <a:defRPr sz="1875" b="0">
                <a:solidFill>
                  <a:srgbClr val="142F35"/>
                </a:solidFill>
                <a:latin typeface="Calibri"/>
                <a:ea typeface="Calibri"/>
                <a:cs typeface="Calibri"/>
              </a:defRPr>
            </a:pPr>
            <a:r>
              <a:rPr sz="1875" b="0" dirty="0">
                <a:solidFill>
                  <a:srgbClr val="142F35"/>
                </a:solidFill>
                <a:latin typeface="Calibri"/>
                <a:ea typeface="Calibri"/>
                <a:cs typeface="Calibri"/>
              </a:rPr>
              <a:t>At €150 per company per month</a:t>
            </a:r>
          </a:p>
        </p:txBody>
      </p:sp>
    </p:spTree>
    <p:extLst>
      <p:ext uri="{BB962C8B-B14F-4D97-AF65-F5344CB8AC3E}">
        <p14:creationId xmlns:p14="http://schemas.microsoft.com/office/powerpoint/2010/main" val="848191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2C3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E2CD63-474A-4D05-8791-4CB3A9401BC7}"/>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FFFFFF"/>
                </a:solidFill>
                <a:latin typeface="Bitstream Charter"/>
                <a:ea typeface="Bitstream Charter"/>
                <a:cs typeface="Bitstream Charter"/>
              </a:defRPr>
            </a:pPr>
            <a:r>
              <a:rPr sz="3600" b="1">
                <a:solidFill>
                  <a:srgbClr val="FFFFFF"/>
                </a:solidFill>
                <a:latin typeface="Bitstream Charter"/>
                <a:ea typeface="Bitstream Charter"/>
                <a:cs typeface="Bitstream Charter"/>
              </a:rPr>
              <a:t>Five active subscriptions</a:t>
            </a:r>
          </a:p>
        </p:txBody>
      </p:sp>
      <p:sp>
        <p:nvSpPr>
          <p:cNvPr id="3" name="Rectangle 2">
            <a:extLst>
              <a:ext uri="{FF2B5EF4-FFF2-40B4-BE49-F238E27FC236}">
                <a16:creationId xmlns:a16="http://schemas.microsoft.com/office/drawing/2014/main" id="{B5384B42-24A6-4938-ABBF-849F9A0A764B}"/>
              </a:ext>
            </a:extLst>
          </p:cNvPr>
          <p:cNvSpPr>
            <a:spLocks noGrp="1"/>
          </p:cNvSpPr>
          <p:nvPr/>
        </p:nvSpPr>
        <p:spPr>
          <a:xfrm>
            <a:off x="685800" y="2000250"/>
            <a:ext cx="6858000" cy="1619250"/>
          </a:xfrm>
          <a:prstGeom prst="rect">
            <a:avLst/>
          </a:prstGeom>
          <a:noFill/>
          <a:ln w="0">
            <a:noFill/>
          </a:ln>
        </p:spPr>
        <p:txBody>
          <a:bodyPr>
            <a:noAutofit/>
          </a:bodyPr>
          <a:lstStyle/>
          <a:p>
            <a:pPr>
              <a:buNone/>
              <a:defRPr sz="9600" b="1">
                <a:solidFill>
                  <a:srgbClr val="FFFFFF"/>
                </a:solidFill>
                <a:latin typeface="Bitstream Charter"/>
                <a:ea typeface="Bitstream Charter"/>
                <a:cs typeface="Bitstream Charter"/>
              </a:defRPr>
            </a:pPr>
            <a:r>
              <a:rPr sz="9600" b="1">
                <a:solidFill>
                  <a:srgbClr val="FFFFFF"/>
                </a:solidFill>
                <a:latin typeface="Bitstream Charter"/>
                <a:ea typeface="Bitstream Charter"/>
                <a:cs typeface="Bitstream Charter"/>
              </a:rPr>
              <a:t>€780</a:t>
            </a:r>
          </a:p>
        </p:txBody>
      </p:sp>
      <p:sp>
        <p:nvSpPr>
          <p:cNvPr id="4" name="Rectangle 3">
            <a:extLst>
              <a:ext uri="{FF2B5EF4-FFF2-40B4-BE49-F238E27FC236}">
                <a16:creationId xmlns:a16="http://schemas.microsoft.com/office/drawing/2014/main" id="{F2F1FC68-FB05-41C1-B3AD-5587689647BB}"/>
              </a:ext>
            </a:extLst>
          </p:cNvPr>
          <p:cNvSpPr>
            <a:spLocks noGrp="1"/>
          </p:cNvSpPr>
          <p:nvPr/>
        </p:nvSpPr>
        <p:spPr>
          <a:xfrm>
            <a:off x="742950" y="3667125"/>
            <a:ext cx="7810500" cy="571500"/>
          </a:xfrm>
          <a:prstGeom prst="rect">
            <a:avLst/>
          </a:prstGeom>
          <a:noFill/>
          <a:ln w="0">
            <a:noFill/>
          </a:ln>
        </p:spPr>
        <p:txBody>
          <a:bodyPr>
            <a:noAutofit/>
          </a:bodyPr>
          <a:lstStyle/>
          <a:p>
            <a:pPr>
              <a:buNone/>
              <a:defRPr sz="2550" b="0">
                <a:solidFill>
                  <a:srgbClr val="B9DCD5"/>
                </a:solidFill>
                <a:latin typeface="Bitstream Charter"/>
                <a:ea typeface="Bitstream Charter"/>
                <a:cs typeface="Bitstream Charter"/>
              </a:defRPr>
            </a:pPr>
            <a:r>
              <a:rPr sz="2550" b="0">
                <a:solidFill>
                  <a:srgbClr val="B9DCD5"/>
                </a:solidFill>
                <a:latin typeface="Bitstream Charter"/>
                <a:ea typeface="Bitstream Charter"/>
                <a:cs typeface="Bitstream Charter"/>
              </a:rPr>
              <a:t>monthly recurring revenue</a:t>
            </a:r>
          </a:p>
        </p:txBody>
      </p:sp>
      <p:sp>
        <p:nvSpPr>
          <p:cNvPr id="5" name="Rectangle 4">
            <a:extLst>
              <a:ext uri="{FF2B5EF4-FFF2-40B4-BE49-F238E27FC236}">
                <a16:creationId xmlns:a16="http://schemas.microsoft.com/office/drawing/2014/main" id="{79BDBE97-186D-481C-B712-0D6E406B13B2}"/>
              </a:ext>
            </a:extLst>
          </p:cNvPr>
          <p:cNvSpPr>
            <a:spLocks noGrp="1"/>
          </p:cNvSpPr>
          <p:nvPr/>
        </p:nvSpPr>
        <p:spPr>
          <a:xfrm>
            <a:off x="8143875" y="2362200"/>
            <a:ext cx="3333750" cy="952500"/>
          </a:xfrm>
          <a:prstGeom prst="rect">
            <a:avLst/>
          </a:prstGeom>
          <a:noFill/>
          <a:ln w="0">
            <a:noFill/>
          </a:ln>
        </p:spPr>
        <p:txBody>
          <a:bodyPr>
            <a:noAutofit/>
          </a:bodyPr>
          <a:lstStyle/>
          <a:p>
            <a:pPr>
              <a:buNone/>
              <a:defRPr sz="4950" b="1">
                <a:solidFill>
                  <a:srgbClr val="FFFFFF"/>
                </a:solidFill>
                <a:latin typeface="Bitstream Charter"/>
                <a:ea typeface="Bitstream Charter"/>
                <a:cs typeface="Bitstream Charter"/>
              </a:defRPr>
            </a:pPr>
            <a:r>
              <a:rPr sz="4950" b="1">
                <a:solidFill>
                  <a:srgbClr val="FFFFFF"/>
                </a:solidFill>
                <a:latin typeface="Bitstream Charter"/>
                <a:ea typeface="Bitstream Charter"/>
                <a:cs typeface="Bitstream Charter"/>
              </a:rPr>
              <a:t>~€150</a:t>
            </a:r>
          </a:p>
        </p:txBody>
      </p:sp>
      <p:sp>
        <p:nvSpPr>
          <p:cNvPr id="6" name="Rectangle 5">
            <a:extLst>
              <a:ext uri="{FF2B5EF4-FFF2-40B4-BE49-F238E27FC236}">
                <a16:creationId xmlns:a16="http://schemas.microsoft.com/office/drawing/2014/main" id="{235E0144-25AA-42AA-BDA4-B2E3C18CE7D1}"/>
              </a:ext>
            </a:extLst>
          </p:cNvPr>
          <p:cNvSpPr>
            <a:spLocks noGrp="1"/>
          </p:cNvSpPr>
          <p:nvPr/>
        </p:nvSpPr>
        <p:spPr>
          <a:xfrm>
            <a:off x="8143875" y="3429000"/>
            <a:ext cx="3143250" cy="952500"/>
          </a:xfrm>
          <a:prstGeom prst="rect">
            <a:avLst/>
          </a:prstGeom>
          <a:noFill/>
          <a:ln w="0">
            <a:noFill/>
          </a:ln>
        </p:spPr>
        <p:txBody>
          <a:bodyPr>
            <a:noAutofit/>
          </a:bodyPr>
          <a:lstStyle/>
          <a:p>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average monthly revenue</a:t>
            </a:r>
          </a:p>
          <a:p>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per company</a:t>
            </a:r>
          </a:p>
        </p:txBody>
      </p:sp>
      <p:sp>
        <p:nvSpPr>
          <p:cNvPr id="7" name="Rectangle 6">
            <a:extLst>
              <a:ext uri="{FF2B5EF4-FFF2-40B4-BE49-F238E27FC236}">
                <a16:creationId xmlns:a16="http://schemas.microsoft.com/office/drawing/2014/main" id="{1720956F-9F3C-4BD3-AE98-3C4EC7155A8D}"/>
              </a:ext>
            </a:extLst>
          </p:cNvPr>
          <p:cNvSpPr>
            <a:spLocks noGrp="1"/>
          </p:cNvSpPr>
          <p:nvPr/>
        </p:nvSpPr>
        <p:spPr>
          <a:xfrm>
            <a:off x="742950" y="5391150"/>
            <a:ext cx="10477500" cy="666750"/>
          </a:xfrm>
          <a:prstGeom prst="rect">
            <a:avLst/>
          </a:prstGeom>
          <a:noFill/>
          <a:ln w="0">
            <a:noFill/>
          </a:ln>
        </p:spPr>
        <p:txBody>
          <a:bodyPr>
            <a:noAutofit/>
          </a:bodyPr>
          <a:lstStyle/>
          <a:p>
            <a:pPr>
              <a:buNone/>
              <a:defRPr sz="1875" b="0">
                <a:solidFill>
                  <a:srgbClr val="B9DCD5"/>
                </a:solidFill>
                <a:latin typeface="Bitstream Charter"/>
                <a:ea typeface="Bitstream Charter"/>
                <a:cs typeface="Bitstream Charter"/>
              </a:defRPr>
            </a:pPr>
            <a:r>
              <a:rPr sz="1875" b="0">
                <a:solidFill>
                  <a:srgbClr val="B9DCD5"/>
                </a:solidFill>
                <a:latin typeface="Bitstream Charter"/>
                <a:ea typeface="Bitstream Charter"/>
                <a:cs typeface="Bitstream Charter"/>
              </a:rPr>
              <a:t>€9,360 annualised revenue. Exact current average: €156/company/month.</a:t>
            </a:r>
          </a:p>
        </p:txBody>
      </p:sp>
      <p:sp>
        <p:nvSpPr>
          <p:cNvPr id="9" name="Rectangle 8">
            <a:extLst>
              <a:ext uri="{FF2B5EF4-FFF2-40B4-BE49-F238E27FC236}">
                <a16:creationId xmlns:a16="http://schemas.microsoft.com/office/drawing/2014/main" id="{4A1E6458-941F-4B9F-8AD0-499E257FE823}"/>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AEC2C5"/>
                </a:solidFill>
                <a:latin typeface="Calibri"/>
                <a:ea typeface="Calibri"/>
                <a:cs typeface="Calibri"/>
              </a:defRPr>
            </a:pPr>
            <a:r>
              <a:rPr sz="1200" b="0">
                <a:solidFill>
                  <a:srgbClr val="AEC2C5"/>
                </a:solidFill>
                <a:latin typeface="Calibri"/>
                <a:ea typeface="Calibri"/>
                <a:cs typeface="Calibri"/>
              </a:rPr>
              <a:t>08</a:t>
            </a:r>
          </a:p>
        </p:txBody>
      </p:sp>
    </p:spTree>
    <p:extLst>
      <p:ext uri="{BB962C8B-B14F-4D97-AF65-F5344CB8AC3E}">
        <p14:creationId xmlns:p14="http://schemas.microsoft.com/office/powerpoint/2010/main" val="1813662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8EDF8BD-E63E-43D5-A36A-2354C150D192}"/>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Current customer revenue</a:t>
            </a:r>
          </a:p>
        </p:txBody>
      </p:sp>
      <p:sp>
        <p:nvSpPr>
          <p:cNvPr id="3" name="Rectangle 2">
            <a:extLst>
              <a:ext uri="{FF2B5EF4-FFF2-40B4-BE49-F238E27FC236}">
                <a16:creationId xmlns:a16="http://schemas.microsoft.com/office/drawing/2014/main" id="{455E1E9E-8924-44E0-B6FA-FE20ED7744AA}"/>
              </a:ext>
            </a:extLst>
          </p:cNvPr>
          <p:cNvSpPr>
            <a:spLocks noGrp="1"/>
          </p:cNvSpPr>
          <p:nvPr/>
        </p:nvSpPr>
        <p:spPr>
          <a:xfrm>
            <a:off x="762000" y="1905000"/>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TGEM</a:t>
            </a:r>
          </a:p>
        </p:txBody>
      </p:sp>
      <p:sp>
        <p:nvSpPr>
          <p:cNvPr id="4" name="Rectangle 3">
            <a:extLst>
              <a:ext uri="{FF2B5EF4-FFF2-40B4-BE49-F238E27FC236}">
                <a16:creationId xmlns:a16="http://schemas.microsoft.com/office/drawing/2014/main" id="{4635259B-5CA7-49B9-AB23-5C07881DF03A}"/>
              </a:ext>
            </a:extLst>
          </p:cNvPr>
          <p:cNvSpPr>
            <a:spLocks noGrp="1"/>
          </p:cNvSpPr>
          <p:nvPr/>
        </p:nvSpPr>
        <p:spPr>
          <a:xfrm>
            <a:off x="7905750" y="1905000"/>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€250 / month</a:t>
            </a:r>
          </a:p>
        </p:txBody>
      </p:sp>
      <p:sp>
        <p:nvSpPr>
          <p:cNvPr id="5" name="Rectangle 4">
            <a:extLst>
              <a:ext uri="{FF2B5EF4-FFF2-40B4-BE49-F238E27FC236}">
                <a16:creationId xmlns:a16="http://schemas.microsoft.com/office/drawing/2014/main" id="{4E4D18B8-14E2-441A-BE4B-22E964B5ED8D}"/>
              </a:ext>
            </a:extLst>
          </p:cNvPr>
          <p:cNvSpPr>
            <a:spLocks noGrp="1"/>
          </p:cNvSpPr>
          <p:nvPr/>
        </p:nvSpPr>
        <p:spPr>
          <a:xfrm>
            <a:off x="762000" y="2581275"/>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Limeni.lv</a:t>
            </a:r>
          </a:p>
        </p:txBody>
      </p:sp>
      <p:sp>
        <p:nvSpPr>
          <p:cNvPr id="6" name="Rectangle 5">
            <a:extLst>
              <a:ext uri="{FF2B5EF4-FFF2-40B4-BE49-F238E27FC236}">
                <a16:creationId xmlns:a16="http://schemas.microsoft.com/office/drawing/2014/main" id="{47C73B40-7A06-4F57-B3FD-4EE294C5913E}"/>
              </a:ext>
            </a:extLst>
          </p:cNvPr>
          <p:cNvSpPr>
            <a:spLocks noGrp="1"/>
          </p:cNvSpPr>
          <p:nvPr/>
        </p:nvSpPr>
        <p:spPr>
          <a:xfrm>
            <a:off x="7905750" y="2581275"/>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€180 / month</a:t>
            </a:r>
          </a:p>
        </p:txBody>
      </p:sp>
      <p:sp>
        <p:nvSpPr>
          <p:cNvPr id="7" name="Rectangle 6">
            <a:extLst>
              <a:ext uri="{FF2B5EF4-FFF2-40B4-BE49-F238E27FC236}">
                <a16:creationId xmlns:a16="http://schemas.microsoft.com/office/drawing/2014/main" id="{71CA1260-6304-4A1C-9460-E9221790A96F}"/>
              </a:ext>
            </a:extLst>
          </p:cNvPr>
          <p:cNvSpPr>
            <a:spLocks noGrp="1"/>
          </p:cNvSpPr>
          <p:nvPr/>
        </p:nvSpPr>
        <p:spPr>
          <a:xfrm>
            <a:off x="762000" y="3257550"/>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ZTC</a:t>
            </a:r>
          </a:p>
        </p:txBody>
      </p:sp>
      <p:sp>
        <p:nvSpPr>
          <p:cNvPr id="8" name="Rectangle 7">
            <a:extLst>
              <a:ext uri="{FF2B5EF4-FFF2-40B4-BE49-F238E27FC236}">
                <a16:creationId xmlns:a16="http://schemas.microsoft.com/office/drawing/2014/main" id="{CFF2BA1E-5CFA-41EF-9053-5A168087E686}"/>
              </a:ext>
            </a:extLst>
          </p:cNvPr>
          <p:cNvSpPr>
            <a:spLocks noGrp="1"/>
          </p:cNvSpPr>
          <p:nvPr/>
        </p:nvSpPr>
        <p:spPr>
          <a:xfrm>
            <a:off x="7905750" y="3257550"/>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€150 / month</a:t>
            </a:r>
          </a:p>
        </p:txBody>
      </p:sp>
      <p:sp>
        <p:nvSpPr>
          <p:cNvPr id="9" name="Rectangle 8">
            <a:extLst>
              <a:ext uri="{FF2B5EF4-FFF2-40B4-BE49-F238E27FC236}">
                <a16:creationId xmlns:a16="http://schemas.microsoft.com/office/drawing/2014/main" id="{4024057A-317B-4D08-975C-B2CF5F21A23A}"/>
              </a:ext>
            </a:extLst>
          </p:cNvPr>
          <p:cNvSpPr>
            <a:spLocks noGrp="1"/>
          </p:cNvSpPr>
          <p:nvPr/>
        </p:nvSpPr>
        <p:spPr>
          <a:xfrm>
            <a:off x="762000" y="3933825"/>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Stone and Tree</a:t>
            </a:r>
          </a:p>
        </p:txBody>
      </p:sp>
      <p:sp>
        <p:nvSpPr>
          <p:cNvPr id="10" name="Rectangle 9">
            <a:extLst>
              <a:ext uri="{FF2B5EF4-FFF2-40B4-BE49-F238E27FC236}">
                <a16:creationId xmlns:a16="http://schemas.microsoft.com/office/drawing/2014/main" id="{C9F33BDC-B105-43E4-B07F-D346123128EA}"/>
              </a:ext>
            </a:extLst>
          </p:cNvPr>
          <p:cNvSpPr>
            <a:spLocks noGrp="1"/>
          </p:cNvSpPr>
          <p:nvPr/>
        </p:nvSpPr>
        <p:spPr>
          <a:xfrm>
            <a:off x="7905750" y="3933825"/>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€120 / month</a:t>
            </a:r>
          </a:p>
        </p:txBody>
      </p:sp>
      <p:sp>
        <p:nvSpPr>
          <p:cNvPr id="11" name="Rectangle 10">
            <a:extLst>
              <a:ext uri="{FF2B5EF4-FFF2-40B4-BE49-F238E27FC236}">
                <a16:creationId xmlns:a16="http://schemas.microsoft.com/office/drawing/2014/main" id="{D1415E4E-9ABF-4A78-BFAE-904108F9C394}"/>
              </a:ext>
            </a:extLst>
          </p:cNvPr>
          <p:cNvSpPr>
            <a:spLocks noGrp="1"/>
          </p:cNvSpPr>
          <p:nvPr/>
        </p:nvSpPr>
        <p:spPr>
          <a:xfrm>
            <a:off x="762000" y="4610100"/>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SIA 1212</a:t>
            </a:r>
          </a:p>
        </p:txBody>
      </p:sp>
      <p:sp>
        <p:nvSpPr>
          <p:cNvPr id="12" name="Rectangle 11">
            <a:extLst>
              <a:ext uri="{FF2B5EF4-FFF2-40B4-BE49-F238E27FC236}">
                <a16:creationId xmlns:a16="http://schemas.microsoft.com/office/drawing/2014/main" id="{E88EA2D7-39A3-4FCE-BA45-17026E61D91C}"/>
              </a:ext>
            </a:extLst>
          </p:cNvPr>
          <p:cNvSpPr>
            <a:spLocks noGrp="1"/>
          </p:cNvSpPr>
          <p:nvPr/>
        </p:nvSpPr>
        <p:spPr>
          <a:xfrm>
            <a:off x="7905750" y="4610100"/>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€80 / month</a:t>
            </a:r>
          </a:p>
        </p:txBody>
      </p:sp>
      <p:sp>
        <p:nvSpPr>
          <p:cNvPr id="13" name="Rectangle 12">
            <a:extLst>
              <a:ext uri="{FF2B5EF4-FFF2-40B4-BE49-F238E27FC236}">
                <a16:creationId xmlns:a16="http://schemas.microsoft.com/office/drawing/2014/main" id="{D60AD922-7A01-4877-8EE9-C53F1F8DF59B}"/>
              </a:ext>
            </a:extLst>
          </p:cNvPr>
          <p:cNvSpPr>
            <a:spLocks noGrp="1"/>
          </p:cNvSpPr>
          <p:nvPr/>
        </p:nvSpPr>
        <p:spPr>
          <a:xfrm>
            <a:off x="762000" y="6011418"/>
            <a:ext cx="10572750" cy="552450"/>
          </a:xfrm>
          <a:prstGeom prst="rect">
            <a:avLst/>
          </a:prstGeom>
          <a:noFill/>
          <a:ln w="0">
            <a:noFill/>
          </a:ln>
        </p:spPr>
        <p:txBody>
          <a:bodyPr>
            <a:noAutofit/>
          </a:bodyPr>
          <a:lstStyle/>
          <a:p>
            <a:pPr>
              <a:buNone/>
              <a:defRPr sz="1725" b="0">
                <a:solidFill>
                  <a:srgbClr val="52686B"/>
                </a:solidFill>
                <a:latin typeface="Bitstream Charter"/>
                <a:ea typeface="Bitstream Charter"/>
                <a:cs typeface="Bitstream Charter"/>
              </a:defRPr>
            </a:pPr>
            <a:r>
              <a:rPr sz="1725" b="0">
                <a:solidFill>
                  <a:srgbClr val="52686B"/>
                </a:solidFill>
                <a:latin typeface="Bitstream Charter"/>
                <a:ea typeface="Bitstream Charter"/>
                <a:cs typeface="Bitstream Charter"/>
              </a:rPr>
              <a:t>Outside MRR: one free pilot, one active trial and one former paying customer.</a:t>
            </a:r>
          </a:p>
        </p:txBody>
      </p:sp>
      <p:sp>
        <p:nvSpPr>
          <p:cNvPr id="16" name="Rectangle 15">
            <a:extLst>
              <a:ext uri="{FF2B5EF4-FFF2-40B4-BE49-F238E27FC236}">
                <a16:creationId xmlns:a16="http://schemas.microsoft.com/office/drawing/2014/main" id="{2C874276-C8AD-7D00-C92C-338B0347F467}"/>
              </a:ext>
            </a:extLst>
          </p:cNvPr>
          <p:cNvSpPr>
            <a:spLocks noGrp="1"/>
          </p:cNvSpPr>
          <p:nvPr/>
        </p:nvSpPr>
        <p:spPr>
          <a:xfrm>
            <a:off x="762000" y="5286375"/>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SB STOMME (trial in progress)</a:t>
            </a:r>
          </a:p>
        </p:txBody>
      </p:sp>
      <p:sp>
        <p:nvSpPr>
          <p:cNvPr id="18" name="Rectangle 17">
            <a:extLst>
              <a:ext uri="{FF2B5EF4-FFF2-40B4-BE49-F238E27FC236}">
                <a16:creationId xmlns:a16="http://schemas.microsoft.com/office/drawing/2014/main" id="{D4FEF6AF-BCD3-47B9-DD7F-3A5362E97F46}"/>
              </a:ext>
            </a:extLst>
          </p:cNvPr>
          <p:cNvSpPr>
            <a:spLocks noGrp="1"/>
          </p:cNvSpPr>
          <p:nvPr/>
        </p:nvSpPr>
        <p:spPr>
          <a:xfrm>
            <a:off x="7905750" y="5286375"/>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€90 / month after trial</a:t>
            </a:r>
          </a:p>
        </p:txBody>
      </p:sp>
      <p:sp>
        <p:nvSpPr>
          <p:cNvPr id="19" name="Rectangle 18">
            <a:extLst>
              <a:ext uri="{FF2B5EF4-FFF2-40B4-BE49-F238E27FC236}">
                <a16:creationId xmlns:a16="http://schemas.microsoft.com/office/drawing/2014/main" id="{DBBEF601-AE91-438F-9B34-1F4B12D218D0}"/>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09</a:t>
            </a:r>
          </a:p>
        </p:txBody>
      </p:sp>
    </p:spTree>
    <p:extLst>
      <p:ext uri="{BB962C8B-B14F-4D97-AF65-F5344CB8AC3E}">
        <p14:creationId xmlns:p14="http://schemas.microsoft.com/office/powerpoint/2010/main" val="788635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D1C1F6D-50F7-43EB-81EA-45E208266C35}"/>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Pricing and revenue assumptions</a:t>
            </a:r>
          </a:p>
        </p:txBody>
      </p:sp>
      <p:sp>
        <p:nvSpPr>
          <p:cNvPr id="2" name="Rectangle 1">
            <a:extLst>
              <a:ext uri="{FF2B5EF4-FFF2-40B4-BE49-F238E27FC236}">
                <a16:creationId xmlns:a16="http://schemas.microsoft.com/office/drawing/2014/main" id="{A634716D-3CF2-4E33-A036-4E86B4376F9F}"/>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Current average revenue is about €150 per company per month.</a:t>
            </a:r>
          </a:p>
        </p:txBody>
      </p:sp>
      <p:sp>
        <p:nvSpPr>
          <p:cNvPr id="3" name="Rectangle 2">
            <a:extLst>
              <a:ext uri="{FF2B5EF4-FFF2-40B4-BE49-F238E27FC236}">
                <a16:creationId xmlns:a16="http://schemas.microsoft.com/office/drawing/2014/main" id="{2A5A5C0A-30B5-4865-9B58-490686C672E0}"/>
              </a:ext>
            </a:extLst>
          </p:cNvPr>
          <p:cNvSpPr>
            <a:spLocks noGrp="1"/>
          </p:cNvSpPr>
          <p:nvPr/>
        </p:nvSpPr>
        <p:spPr>
          <a:xfrm>
            <a:off x="723900" y="2152650"/>
            <a:ext cx="4572000" cy="1047750"/>
          </a:xfrm>
          <a:prstGeom prst="rect">
            <a:avLst/>
          </a:prstGeom>
          <a:noFill/>
          <a:ln w="0">
            <a:noFill/>
          </a:ln>
        </p:spPr>
        <p:txBody>
          <a:bodyPr>
            <a:noAutofit/>
          </a:bodyPr>
          <a:lstStyle/>
          <a:p>
            <a:pPr>
              <a:buNone/>
              <a:defRPr sz="6600" b="1">
                <a:solidFill>
                  <a:srgbClr val="008579"/>
                </a:solidFill>
                <a:latin typeface="Calibri"/>
                <a:ea typeface="Calibri"/>
                <a:cs typeface="Calibri"/>
              </a:defRPr>
            </a:pPr>
            <a:r>
              <a:rPr sz="6600" b="1">
                <a:solidFill>
                  <a:srgbClr val="008579"/>
                </a:solidFill>
                <a:latin typeface="Calibri"/>
                <a:ea typeface="Calibri"/>
                <a:cs typeface="Calibri"/>
              </a:rPr>
              <a:t>~€150</a:t>
            </a:r>
          </a:p>
        </p:txBody>
      </p:sp>
      <p:sp>
        <p:nvSpPr>
          <p:cNvPr id="4" name="Rectangle 3">
            <a:extLst>
              <a:ext uri="{FF2B5EF4-FFF2-40B4-BE49-F238E27FC236}">
                <a16:creationId xmlns:a16="http://schemas.microsoft.com/office/drawing/2014/main" id="{4C43FCC6-23FB-4949-8D7D-686D8D9B1CAC}"/>
              </a:ext>
            </a:extLst>
          </p:cNvPr>
          <p:cNvSpPr>
            <a:spLocks noGrp="1"/>
          </p:cNvSpPr>
          <p:nvPr/>
        </p:nvSpPr>
        <p:spPr>
          <a:xfrm>
            <a:off x="762000" y="3219450"/>
            <a:ext cx="4857750" cy="523875"/>
          </a:xfrm>
          <a:prstGeom prst="rect">
            <a:avLst/>
          </a:prstGeom>
          <a:noFill/>
          <a:ln w="0">
            <a:noFill/>
          </a:ln>
        </p:spPr>
        <p:txBody>
          <a:bodyPr>
            <a:noAutofit/>
          </a:bodyPr>
          <a:lstStyle/>
          <a:p>
            <a:pPr>
              <a:buNone/>
              <a:defRPr sz="2400" b="0">
                <a:solidFill>
                  <a:srgbClr val="142F35"/>
                </a:solidFill>
                <a:latin typeface="Calibri"/>
                <a:ea typeface="Calibri"/>
                <a:cs typeface="Calibri"/>
              </a:defRPr>
            </a:pPr>
            <a:r>
              <a:rPr sz="2400" b="0">
                <a:solidFill>
                  <a:srgbClr val="142F35"/>
                </a:solidFill>
                <a:latin typeface="Calibri"/>
                <a:ea typeface="Calibri"/>
                <a:cs typeface="Calibri"/>
              </a:rPr>
              <a:t>current average / company / month</a:t>
            </a:r>
          </a:p>
        </p:txBody>
      </p:sp>
      <p:sp>
        <p:nvSpPr>
          <p:cNvPr id="5" name="Rectangle 4">
            <a:extLst>
              <a:ext uri="{FF2B5EF4-FFF2-40B4-BE49-F238E27FC236}">
                <a16:creationId xmlns:a16="http://schemas.microsoft.com/office/drawing/2014/main" id="{BE599F16-4A26-4C69-9D2F-49191BC86578}"/>
              </a:ext>
            </a:extLst>
          </p:cNvPr>
          <p:cNvSpPr>
            <a:spLocks noGrp="1"/>
          </p:cNvSpPr>
          <p:nvPr/>
        </p:nvSpPr>
        <p:spPr>
          <a:xfrm>
            <a:off x="6572250" y="2209800"/>
            <a:ext cx="4762500" cy="476250"/>
          </a:xfrm>
          <a:prstGeom prst="rect">
            <a:avLst/>
          </a:prstGeom>
          <a:noFill/>
          <a:ln w="0">
            <a:noFill/>
          </a:ln>
        </p:spPr>
        <p:txBody>
          <a:bodyPr>
            <a:noAutofit/>
          </a:bodyPr>
          <a:lstStyle/>
          <a:p>
            <a:pPr>
              <a:buNone/>
              <a:defRPr sz="2250" b="1">
                <a:solidFill>
                  <a:srgbClr val="142F35"/>
                </a:solidFill>
                <a:latin typeface="Calibri"/>
                <a:ea typeface="Calibri"/>
                <a:cs typeface="Calibri"/>
              </a:defRPr>
            </a:pPr>
            <a:r>
              <a:rPr sz="2250" b="1">
                <a:solidFill>
                  <a:srgbClr val="142F35"/>
                </a:solidFill>
                <a:latin typeface="Calibri"/>
                <a:ea typeface="Calibri"/>
                <a:cs typeface="Calibri"/>
              </a:rPr>
              <a:t>How we charge</a:t>
            </a:r>
          </a:p>
        </p:txBody>
      </p:sp>
      <p:sp>
        <p:nvSpPr>
          <p:cNvPr id="6" name="Rectangle 5">
            <a:extLst>
              <a:ext uri="{FF2B5EF4-FFF2-40B4-BE49-F238E27FC236}">
                <a16:creationId xmlns:a16="http://schemas.microsoft.com/office/drawing/2014/main" id="{1C4B0DDD-3FC2-41A4-A276-D990A2B30725}"/>
              </a:ext>
            </a:extLst>
          </p:cNvPr>
          <p:cNvSpPr>
            <a:spLocks noGrp="1"/>
          </p:cNvSpPr>
          <p:nvPr/>
        </p:nvSpPr>
        <p:spPr>
          <a:xfrm>
            <a:off x="6572250" y="2819400"/>
            <a:ext cx="4762500" cy="1476375"/>
          </a:xfrm>
          <a:prstGeom prst="rect">
            <a:avLst/>
          </a:prstGeom>
          <a:noFill/>
          <a:ln w="0">
            <a:noFill/>
          </a:ln>
        </p:spPr>
        <p:txBody>
          <a:bodyPr>
            <a:noAutofit/>
          </a:bodyPr>
          <a:lstStyle/>
          <a:p>
            <a:pPr>
              <a:buNone/>
              <a:defRPr sz="2100" b="0">
                <a:solidFill>
                  <a:srgbClr val="142F35"/>
                </a:solidFill>
                <a:latin typeface="Calibri"/>
                <a:ea typeface="Calibri"/>
                <a:cs typeface="Calibri"/>
              </a:defRPr>
            </a:pPr>
            <a:r>
              <a:rPr sz="2100" b="0">
                <a:solidFill>
                  <a:srgbClr val="142F35"/>
                </a:solidFill>
                <a:latin typeface="Calibri"/>
                <a:ea typeface="Calibri"/>
                <a:cs typeface="Calibri"/>
              </a:rPr>
              <a:t>€50 per paying user per month</a:t>
            </a:r>
          </a:p>
          <a:p>
            <a:pPr>
              <a:buNone/>
              <a:defRPr sz="2100" b="0">
                <a:solidFill>
                  <a:srgbClr val="142F35"/>
                </a:solidFill>
                <a:latin typeface="Calibri"/>
                <a:ea typeface="Calibri"/>
                <a:cs typeface="Calibri"/>
              </a:defRPr>
            </a:pPr>
            <a:r>
              <a:rPr sz="2100" b="0">
                <a:solidFill>
                  <a:srgbClr val="142F35"/>
                </a:solidFill>
                <a:latin typeface="Calibri"/>
                <a:ea typeface="Calibri"/>
                <a:cs typeface="Calibri"/>
              </a:rPr>
              <a:t>Agreed discounts</a:t>
            </a:r>
          </a:p>
          <a:p>
            <a:pPr>
              <a:buNone/>
              <a:defRPr sz="2100" b="0">
                <a:solidFill>
                  <a:srgbClr val="142F35"/>
                </a:solidFill>
                <a:latin typeface="Calibri"/>
                <a:ea typeface="Calibri"/>
                <a:cs typeface="Calibri"/>
              </a:defRPr>
            </a:pPr>
            <a:r>
              <a:rPr sz="2100" b="0">
                <a:solidFill>
                  <a:srgbClr val="142F35"/>
                </a:solidFill>
                <a:latin typeface="Calibri"/>
                <a:ea typeface="Calibri"/>
                <a:cs typeface="Calibri"/>
              </a:rPr>
              <a:t>Paid custom functionality</a:t>
            </a:r>
          </a:p>
        </p:txBody>
      </p:sp>
      <p:graphicFrame>
        <p:nvGraphicFramePr>
          <p:cNvPr id="18" name="Table 17"/>
          <p:cNvGraphicFramePr/>
          <p:nvPr/>
        </p:nvGraphicFramePr>
        <p:xfrm>
          <a:off x="762000" y="4400550"/>
          <a:ext cx="10668000" cy="1028700"/>
        </p:xfrm>
        <a:graphic>
          <a:graphicData uri="http://schemas.openxmlformats.org/drawingml/2006/table">
            <a:tbl>
              <a:tblPr/>
              <a:tblGrid>
                <a:gridCol w="476250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466725">
                <a:tc>
                  <a:txBody>
                    <a:bodyPr/>
                    <a:lstStyle/>
                    <a:p>
                      <a:r>
                        <a:rPr sz="1875" b="1">
                          <a:solidFill>
                            <a:srgbClr val="FFFFFF"/>
                          </a:solidFill>
                          <a:latin typeface="Calibri"/>
                          <a:ea typeface="Calibri"/>
                          <a:cs typeface="Calibri"/>
                        </a:rPr>
                        <a:t>Company revenue</a:t>
                      </a:r>
                    </a:p>
                  </a:txBody>
                  <a:tcPr>
                    <a:solidFill>
                      <a:srgbClr val="142F35"/>
                    </a:solidFill>
                  </a:tcPr>
                </a:tc>
                <a:tc>
                  <a:txBody>
                    <a:bodyPr/>
                    <a:lstStyle/>
                    <a:p>
                      <a:r>
                        <a:rPr sz="1875" b="1">
                          <a:solidFill>
                            <a:srgbClr val="FFFFFF"/>
                          </a:solidFill>
                          <a:latin typeface="Calibri"/>
                          <a:ea typeface="Calibri"/>
                          <a:cs typeface="Calibri"/>
                        </a:rPr>
                        <a:t>Current average</a:t>
                      </a:r>
                    </a:p>
                  </a:txBody>
                  <a:tcPr>
                    <a:solidFill>
                      <a:srgbClr val="142F35"/>
                    </a:solidFill>
                  </a:tcPr>
                </a:tc>
                <a:tc>
                  <a:txBody>
                    <a:bodyPr/>
                    <a:lstStyle/>
                    <a:p>
                      <a:r>
                        <a:rPr sz="1875" b="1">
                          <a:solidFill>
                            <a:srgbClr val="FFFFFF"/>
                          </a:solidFill>
                          <a:latin typeface="Calibri"/>
                          <a:ea typeface="Calibri"/>
                          <a:cs typeface="Calibri"/>
                        </a:rPr>
                        <a:t>Sizing assumption</a:t>
                      </a:r>
                    </a:p>
                  </a:txBody>
                  <a:tcPr>
                    <a:solidFill>
                      <a:srgbClr val="142F35"/>
                    </a:solidFill>
                  </a:tcPr>
                </a:tc>
                <a:extLst>
                  <a:ext uri="{0D108BD9-81ED-4DB2-BD59-A6C34878D82A}">
                    <a16:rowId xmlns:a16="http://schemas.microsoft.com/office/drawing/2014/main" val="10000"/>
                  </a:ext>
                </a:extLst>
              </a:tr>
              <a:tr h="561975">
                <a:tc>
                  <a:txBody>
                    <a:bodyPr/>
                    <a:lstStyle/>
                    <a:p>
                      <a:r>
                        <a:rPr sz="1875" b="0">
                          <a:solidFill>
                            <a:srgbClr val="142F35"/>
                          </a:solidFill>
                          <a:latin typeface="Calibri"/>
                          <a:ea typeface="Calibri"/>
                          <a:cs typeface="Calibri"/>
                        </a:rPr>
                        <a:t>Annual revenue per company</a:t>
                      </a:r>
                    </a:p>
                  </a:txBody>
                  <a:tcPr>
                    <a:solidFill>
                      <a:srgbClr val="F6F4EE"/>
                    </a:solidFill>
                  </a:tcPr>
                </a:tc>
                <a:tc>
                  <a:txBody>
                    <a:bodyPr/>
                    <a:lstStyle/>
                    <a:p>
                      <a:r>
                        <a:rPr sz="1875" b="0">
                          <a:solidFill>
                            <a:srgbClr val="142F35"/>
                          </a:solidFill>
                          <a:latin typeface="Calibri"/>
                          <a:ea typeface="Calibri"/>
                          <a:cs typeface="Calibri"/>
                        </a:rPr>
                        <a:t>~€1,800</a:t>
                      </a:r>
                    </a:p>
                  </a:txBody>
                  <a:tcPr>
                    <a:solidFill>
                      <a:srgbClr val="F6F4EE"/>
                    </a:solidFill>
                  </a:tcPr>
                </a:tc>
                <a:tc>
                  <a:txBody>
                    <a:bodyPr/>
                    <a:lstStyle/>
                    <a:p>
                      <a:r>
                        <a:rPr sz="1875" b="0">
                          <a:solidFill>
                            <a:srgbClr val="142F35"/>
                          </a:solidFill>
                          <a:latin typeface="Calibri"/>
                          <a:ea typeface="Calibri"/>
                          <a:cs typeface="Calibri"/>
                        </a:rPr>
                        <a:t>€1,800</a:t>
                      </a:r>
                    </a:p>
                  </a:txBody>
                  <a:tcPr>
                    <a:solidFill>
                      <a:srgbClr val="F6F4EE"/>
                    </a:solidFill>
                  </a:tcPr>
                </a:tc>
                <a:extLst>
                  <a:ext uri="{0D108BD9-81ED-4DB2-BD59-A6C34878D82A}">
                    <a16:rowId xmlns:a16="http://schemas.microsoft.com/office/drawing/2014/main" val="10001"/>
                  </a:ext>
                </a:extLst>
              </a:tr>
            </a:tbl>
          </a:graphicData>
        </a:graphic>
      </p:graphicFrame>
      <p:sp>
        <p:nvSpPr>
          <p:cNvPr id="8" name="Rectangle 7">
            <a:extLst>
              <a:ext uri="{FF2B5EF4-FFF2-40B4-BE49-F238E27FC236}">
                <a16:creationId xmlns:a16="http://schemas.microsoft.com/office/drawing/2014/main" id="{2D1C5C2D-7BA8-4DF6-AA00-E0BB226B2F40}"/>
              </a:ext>
            </a:extLst>
          </p:cNvPr>
          <p:cNvSpPr>
            <a:spLocks noGrp="1"/>
          </p:cNvSpPr>
          <p:nvPr/>
        </p:nvSpPr>
        <p:spPr>
          <a:xfrm>
            <a:off x="762000" y="5572125"/>
            <a:ext cx="10572750" cy="638175"/>
          </a:xfrm>
          <a:prstGeom prst="rect">
            <a:avLst/>
          </a:prstGeom>
          <a:noFill/>
          <a:ln w="0">
            <a:noFill/>
          </a:ln>
        </p:spPr>
        <p:txBody>
          <a:bodyPr>
            <a:noAutofit/>
          </a:bodyPr>
          <a:lstStyle/>
          <a:p>
            <a:pPr>
              <a:buNone/>
              <a:defRPr sz="1725" b="0">
                <a:solidFill>
                  <a:srgbClr val="536B70"/>
                </a:solidFill>
                <a:latin typeface="Calibri"/>
                <a:ea typeface="Calibri"/>
                <a:cs typeface="Calibri"/>
              </a:defRPr>
            </a:pPr>
            <a:r>
              <a:rPr sz="1725" b="0">
                <a:solidFill>
                  <a:srgbClr val="536B70"/>
                </a:solidFill>
                <a:latin typeface="Calibri"/>
                <a:ea typeface="Calibri"/>
                <a:cs typeface="Calibri"/>
              </a:rPr>
              <a:t>Market sizing and acquisition scenarios use €150/company/month.</a:t>
            </a:r>
          </a:p>
          <a:p>
            <a:pPr>
              <a:buNone/>
              <a:defRPr sz="1725" b="0">
                <a:solidFill>
                  <a:srgbClr val="536B70"/>
                </a:solidFill>
                <a:latin typeface="Calibri"/>
                <a:ea typeface="Calibri"/>
                <a:cs typeface="Calibri"/>
              </a:defRPr>
            </a:pPr>
            <a:r>
              <a:rPr sz="1725" b="0">
                <a:solidFill>
                  <a:srgbClr val="536B70"/>
                </a:solidFill>
                <a:latin typeface="Calibri"/>
                <a:ea typeface="Calibri"/>
                <a:cs typeface="Calibri"/>
              </a:rPr>
              <a:t>Track recurring subscription revenue separately from one-off custom work.</a:t>
            </a:r>
          </a:p>
        </p:txBody>
      </p:sp>
      <p:sp>
        <p:nvSpPr>
          <p:cNvPr id="9" name="Rectangle 8">
            <a:extLst>
              <a:ext uri="{FF2B5EF4-FFF2-40B4-BE49-F238E27FC236}">
                <a16:creationId xmlns:a16="http://schemas.microsoft.com/office/drawing/2014/main" id="{98CA1597-5DF9-41E0-99C0-D56FD7C48563}"/>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10</a:t>
            </a:r>
          </a:p>
        </p:txBody>
      </p:sp>
    </p:spTree>
    <p:extLst>
      <p:ext uri="{BB962C8B-B14F-4D97-AF65-F5344CB8AC3E}">
        <p14:creationId xmlns:p14="http://schemas.microsoft.com/office/powerpoint/2010/main" val="682954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F46F360-6998-41FD-BEF4-2EF9DB4B52E4}"/>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What six months of outreach have shown</a:t>
            </a:r>
          </a:p>
        </p:txBody>
      </p:sp>
      <p:sp>
        <p:nvSpPr>
          <p:cNvPr id="2" name="Rectangle 1">
            <a:extLst>
              <a:ext uri="{FF2B5EF4-FFF2-40B4-BE49-F238E27FC236}">
                <a16:creationId xmlns:a16="http://schemas.microsoft.com/office/drawing/2014/main" id="{5C4F8EBF-BE18-47D3-AC17-D0BA450EB929}"/>
              </a:ext>
            </a:extLst>
          </p:cNvPr>
          <p:cNvSpPr>
            <a:spLocks noGrp="1"/>
          </p:cNvSpPr>
          <p:nvPr/>
        </p:nvSpPr>
        <p:spPr>
          <a:xfrm>
            <a:off x="723900" y="1276350"/>
            <a:ext cx="10668000" cy="762000"/>
          </a:xfrm>
          <a:prstGeom prst="rect">
            <a:avLst/>
          </a:prstGeom>
          <a:noFill/>
          <a:ln w="0">
            <a:noFill/>
          </a:ln>
        </p:spPr>
        <p:txBody>
          <a:bodyPr>
            <a:noAutofit/>
          </a:bodyPr>
          <a:lstStyle/>
          <a:p>
            <a:pPr>
              <a:buNone/>
              <a:defRPr sz="2025" b="0">
                <a:solidFill>
                  <a:srgbClr val="536B70"/>
                </a:solidFill>
                <a:latin typeface="Calibri"/>
                <a:ea typeface="Calibri"/>
                <a:cs typeface="Calibri"/>
              </a:defRPr>
            </a:pPr>
            <a:r>
              <a:rPr sz="2025" b="0">
                <a:solidFill>
                  <a:srgbClr val="536B70"/>
                </a:solidFill>
                <a:latin typeface="Calibri"/>
                <a:ea typeface="Calibri"/>
                <a:cs typeface="Calibri"/>
              </a:rPr>
              <a:t>We approached approximately 100 companies through direct outreach and Facebook advertising.</a:t>
            </a:r>
          </a:p>
        </p:txBody>
      </p:sp>
      <p:sp>
        <p:nvSpPr>
          <p:cNvPr id="3" name="Rectangle 2">
            <a:extLst>
              <a:ext uri="{FF2B5EF4-FFF2-40B4-BE49-F238E27FC236}">
                <a16:creationId xmlns:a16="http://schemas.microsoft.com/office/drawing/2014/main" id="{91AFFBC1-2680-4948-9A99-3FF5483CC1FB}"/>
              </a:ext>
            </a:extLst>
          </p:cNvPr>
          <p:cNvSpPr>
            <a:spLocks noGrp="1"/>
          </p:cNvSpPr>
          <p:nvPr/>
        </p:nvSpPr>
        <p:spPr>
          <a:xfrm>
            <a:off x="723900" y="2238375"/>
            <a:ext cx="3238500" cy="1000125"/>
          </a:xfrm>
          <a:prstGeom prst="rect">
            <a:avLst/>
          </a:prstGeom>
          <a:noFill/>
          <a:ln w="0">
            <a:noFill/>
          </a:ln>
        </p:spPr>
        <p:txBody>
          <a:bodyPr>
            <a:noAutofit/>
          </a:bodyPr>
          <a:lstStyle/>
          <a:p>
            <a:pPr>
              <a:defRPr sz="6000" b="1">
                <a:solidFill>
                  <a:srgbClr val="008579"/>
                </a:solidFill>
                <a:latin typeface="Calibri"/>
                <a:ea typeface="Calibri"/>
                <a:cs typeface="Calibri"/>
              </a:defRPr>
            </a:pPr>
            <a:r>
              <a:rPr sz="6000" b="1">
                <a:solidFill>
                  <a:srgbClr val="008579"/>
                </a:solidFill>
                <a:latin typeface="Calibri"/>
                <a:ea typeface="Calibri"/>
                <a:cs typeface="Calibri"/>
              </a:rPr>
              <a:t>~100</a:t>
            </a:r>
          </a:p>
        </p:txBody>
      </p:sp>
      <p:sp>
        <p:nvSpPr>
          <p:cNvPr id="4" name="Rectangle 3">
            <a:extLst>
              <a:ext uri="{FF2B5EF4-FFF2-40B4-BE49-F238E27FC236}">
                <a16:creationId xmlns:a16="http://schemas.microsoft.com/office/drawing/2014/main" id="{65C90AC9-029B-4EE4-A8B2-95CBDA0716AB}"/>
              </a:ext>
            </a:extLst>
          </p:cNvPr>
          <p:cNvSpPr>
            <a:spLocks noGrp="1"/>
          </p:cNvSpPr>
          <p:nvPr/>
        </p:nvSpPr>
        <p:spPr>
          <a:xfrm>
            <a:off x="762000" y="3286125"/>
            <a:ext cx="3429000" cy="619125"/>
          </a:xfrm>
          <a:prstGeom prst="rect">
            <a:avLst/>
          </a:prstGeom>
          <a:noFill/>
          <a:ln w="0">
            <a:noFill/>
          </a:ln>
        </p:spPr>
        <p:txBody>
          <a:bodyPr>
            <a:noAutofit/>
          </a:bodyPr>
          <a:lstStyle/>
          <a:p>
            <a:pPr>
              <a:defRPr sz="2100" b="0">
                <a:solidFill>
                  <a:srgbClr val="142F35"/>
                </a:solidFill>
                <a:latin typeface="Calibri"/>
                <a:ea typeface="Calibri"/>
                <a:cs typeface="Calibri"/>
              </a:defRPr>
            </a:pPr>
            <a:r>
              <a:rPr sz="2100" b="0">
                <a:solidFill>
                  <a:srgbClr val="142F35"/>
                </a:solidFill>
                <a:latin typeface="Calibri"/>
                <a:ea typeface="Calibri"/>
                <a:cs typeface="Calibri"/>
              </a:rPr>
              <a:t>companies approached</a:t>
            </a:r>
          </a:p>
        </p:txBody>
      </p:sp>
      <p:sp>
        <p:nvSpPr>
          <p:cNvPr id="5" name="Rectangle 4">
            <a:extLst>
              <a:ext uri="{FF2B5EF4-FFF2-40B4-BE49-F238E27FC236}">
                <a16:creationId xmlns:a16="http://schemas.microsoft.com/office/drawing/2014/main" id="{3DB5FDE8-BE3D-400C-B52D-76B45201C223}"/>
              </a:ext>
            </a:extLst>
          </p:cNvPr>
          <p:cNvSpPr>
            <a:spLocks noGrp="1"/>
          </p:cNvSpPr>
          <p:nvPr/>
        </p:nvSpPr>
        <p:spPr>
          <a:xfrm>
            <a:off x="4762500" y="2238375"/>
            <a:ext cx="2857500" cy="1000125"/>
          </a:xfrm>
          <a:prstGeom prst="rect">
            <a:avLst/>
          </a:prstGeom>
          <a:noFill/>
          <a:ln w="0">
            <a:noFill/>
          </a:ln>
        </p:spPr>
        <p:txBody>
          <a:bodyPr>
            <a:noAutofit/>
          </a:bodyPr>
          <a:lstStyle/>
          <a:p>
            <a:pPr>
              <a:defRPr sz="6000" b="1">
                <a:solidFill>
                  <a:srgbClr val="008579"/>
                </a:solidFill>
                <a:latin typeface="Calibri"/>
                <a:ea typeface="Calibri"/>
                <a:cs typeface="Calibri"/>
              </a:defRPr>
            </a:pPr>
            <a:r>
              <a:rPr sz="6000" b="1">
                <a:solidFill>
                  <a:srgbClr val="008579"/>
                </a:solidFill>
                <a:latin typeface="Calibri"/>
                <a:ea typeface="Calibri"/>
                <a:cs typeface="Calibri"/>
              </a:rPr>
              <a:t>5</a:t>
            </a:r>
          </a:p>
        </p:txBody>
      </p:sp>
      <p:sp>
        <p:nvSpPr>
          <p:cNvPr id="6" name="Rectangle 5">
            <a:extLst>
              <a:ext uri="{FF2B5EF4-FFF2-40B4-BE49-F238E27FC236}">
                <a16:creationId xmlns:a16="http://schemas.microsoft.com/office/drawing/2014/main" id="{9A8040C2-3985-43BC-AB24-DA4E0B9EC590}"/>
              </a:ext>
            </a:extLst>
          </p:cNvPr>
          <p:cNvSpPr>
            <a:spLocks noGrp="1"/>
          </p:cNvSpPr>
          <p:nvPr/>
        </p:nvSpPr>
        <p:spPr>
          <a:xfrm>
            <a:off x="4800600" y="3286125"/>
            <a:ext cx="3048000" cy="619125"/>
          </a:xfrm>
          <a:prstGeom prst="rect">
            <a:avLst/>
          </a:prstGeom>
          <a:noFill/>
          <a:ln w="0">
            <a:noFill/>
          </a:ln>
        </p:spPr>
        <p:txBody>
          <a:bodyPr>
            <a:noAutofit/>
          </a:bodyPr>
          <a:lstStyle/>
          <a:p>
            <a:pPr>
              <a:defRPr sz="2100" b="0">
                <a:solidFill>
                  <a:srgbClr val="142F35"/>
                </a:solidFill>
                <a:latin typeface="Calibri"/>
                <a:ea typeface="Calibri"/>
                <a:cs typeface="Calibri"/>
              </a:defRPr>
            </a:pPr>
            <a:r>
              <a:rPr sz="2100" b="0">
                <a:solidFill>
                  <a:srgbClr val="142F35"/>
                </a:solidFill>
                <a:latin typeface="Calibri"/>
                <a:ea typeface="Calibri"/>
                <a:cs typeface="Calibri"/>
              </a:rPr>
              <a:t>currently paying</a:t>
            </a:r>
          </a:p>
        </p:txBody>
      </p:sp>
      <p:sp>
        <p:nvSpPr>
          <p:cNvPr id="7" name="Rectangle 6">
            <a:extLst>
              <a:ext uri="{FF2B5EF4-FFF2-40B4-BE49-F238E27FC236}">
                <a16:creationId xmlns:a16="http://schemas.microsoft.com/office/drawing/2014/main" id="{076000FC-BCC2-4C16-A6B0-09DB9C789B06}"/>
              </a:ext>
            </a:extLst>
          </p:cNvPr>
          <p:cNvSpPr>
            <a:spLocks noGrp="1"/>
          </p:cNvSpPr>
          <p:nvPr/>
        </p:nvSpPr>
        <p:spPr>
          <a:xfrm>
            <a:off x="8629650" y="2238375"/>
            <a:ext cx="2762250" cy="1000125"/>
          </a:xfrm>
          <a:prstGeom prst="rect">
            <a:avLst/>
          </a:prstGeom>
          <a:noFill/>
          <a:ln w="0">
            <a:noFill/>
          </a:ln>
        </p:spPr>
        <p:txBody>
          <a:bodyPr>
            <a:noAutofit/>
          </a:bodyPr>
          <a:lstStyle/>
          <a:p>
            <a:pPr>
              <a:defRPr sz="6000" b="1">
                <a:solidFill>
                  <a:srgbClr val="008579"/>
                </a:solidFill>
                <a:latin typeface="Calibri"/>
                <a:ea typeface="Calibri"/>
                <a:cs typeface="Calibri"/>
              </a:defRPr>
            </a:pPr>
            <a:r>
              <a:rPr sz="6000" b="1">
                <a:solidFill>
                  <a:srgbClr val="008579"/>
                </a:solidFill>
                <a:latin typeface="Calibri"/>
                <a:ea typeface="Calibri"/>
                <a:cs typeface="Calibri"/>
              </a:rPr>
              <a:t>1</a:t>
            </a:r>
          </a:p>
        </p:txBody>
      </p:sp>
      <p:sp>
        <p:nvSpPr>
          <p:cNvPr id="8" name="Rectangle 7">
            <a:extLst>
              <a:ext uri="{FF2B5EF4-FFF2-40B4-BE49-F238E27FC236}">
                <a16:creationId xmlns:a16="http://schemas.microsoft.com/office/drawing/2014/main" id="{3C074390-DD9D-4776-87A8-244589A2A673}"/>
              </a:ext>
            </a:extLst>
          </p:cNvPr>
          <p:cNvSpPr>
            <a:spLocks noGrp="1"/>
          </p:cNvSpPr>
          <p:nvPr/>
        </p:nvSpPr>
        <p:spPr>
          <a:xfrm>
            <a:off x="8667750" y="3286125"/>
            <a:ext cx="2857500" cy="714375"/>
          </a:xfrm>
          <a:prstGeom prst="rect">
            <a:avLst/>
          </a:prstGeom>
          <a:noFill/>
          <a:ln w="0">
            <a:noFill/>
          </a:ln>
        </p:spPr>
        <p:txBody>
          <a:bodyPr>
            <a:noAutofit/>
          </a:bodyPr>
          <a:lstStyle/>
          <a:p>
            <a:pPr>
              <a:buNone/>
              <a:defRPr sz="2100" b="0">
                <a:solidFill>
                  <a:srgbClr val="142F35"/>
                </a:solidFill>
                <a:latin typeface="Calibri"/>
                <a:ea typeface="Calibri"/>
                <a:cs typeface="Calibri"/>
              </a:defRPr>
            </a:pPr>
            <a:r>
              <a:rPr sz="2100" b="0">
                <a:solidFill>
                  <a:srgbClr val="142F35"/>
                </a:solidFill>
                <a:latin typeface="Calibri"/>
                <a:ea typeface="Calibri"/>
                <a:cs typeface="Calibri"/>
              </a:rPr>
              <a:t>paying customer churned</a:t>
            </a:r>
          </a:p>
        </p:txBody>
      </p:sp>
      <p:sp>
        <p:nvSpPr>
          <p:cNvPr id="9" name="Rectangle 8">
            <a:extLst>
              <a:ext uri="{FF2B5EF4-FFF2-40B4-BE49-F238E27FC236}">
                <a16:creationId xmlns:a16="http://schemas.microsoft.com/office/drawing/2014/main" id="{F444A170-84E2-4BB8-A33C-3277DCC6A8CA}"/>
              </a:ext>
            </a:extLst>
          </p:cNvPr>
          <p:cNvSpPr>
            <a:spLocks noGrp="1"/>
          </p:cNvSpPr>
          <p:nvPr/>
        </p:nvSpPr>
        <p:spPr>
          <a:xfrm>
            <a:off x="762000" y="4276725"/>
            <a:ext cx="10572750" cy="495300"/>
          </a:xfrm>
          <a:prstGeom prst="rect">
            <a:avLst/>
          </a:prstGeom>
          <a:noFill/>
          <a:ln w="0">
            <a:noFill/>
          </a:ln>
        </p:spPr>
        <p:txBody>
          <a:bodyPr>
            <a:noAutofit/>
          </a:bodyPr>
          <a:lstStyle/>
          <a:p>
            <a:pPr>
              <a:defRPr sz="2325" b="1">
                <a:solidFill>
                  <a:srgbClr val="142F35"/>
                </a:solidFill>
                <a:latin typeface="Calibri"/>
                <a:ea typeface="Calibri"/>
                <a:cs typeface="Calibri"/>
              </a:defRPr>
            </a:pPr>
            <a:r>
              <a:rPr sz="2325" b="1">
                <a:solidFill>
                  <a:srgbClr val="142F35"/>
                </a:solidFill>
                <a:latin typeface="Calibri"/>
                <a:ea typeface="Calibri"/>
                <a:cs typeface="Calibri"/>
              </a:rPr>
              <a:t>Also in progress: one free pilot and one active trial</a:t>
            </a:r>
          </a:p>
        </p:txBody>
      </p:sp>
      <p:sp>
        <p:nvSpPr>
          <p:cNvPr id="10" name="Rectangle 9">
            <a:extLst>
              <a:ext uri="{FF2B5EF4-FFF2-40B4-BE49-F238E27FC236}">
                <a16:creationId xmlns:a16="http://schemas.microsoft.com/office/drawing/2014/main" id="{6DCD413D-F16D-480E-B616-537261583343}"/>
              </a:ext>
            </a:extLst>
          </p:cNvPr>
          <p:cNvSpPr>
            <a:spLocks noGrp="1"/>
          </p:cNvSpPr>
          <p:nvPr/>
        </p:nvSpPr>
        <p:spPr>
          <a:xfrm>
            <a:off x="762000" y="5076825"/>
            <a:ext cx="10572750" cy="942975"/>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~5% currently paying / approached. ~6% have paid at some point.</a:t>
            </a:r>
          </a:p>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These are approximate cumulative ratios. Reliable channel CAC is not yet available.</a:t>
            </a:r>
            <a:endParaRPr sz="1950" b="0">
              <a:solidFill>
                <a:srgbClr val="536B70"/>
              </a:solidFill>
              <a:latin typeface="Calibri"/>
              <a:ea typeface="Calibri"/>
              <a:cs typeface="Calibri"/>
            </a:endParaRPr>
          </a:p>
          <a:p>
            <a:pPr>
              <a:buNone/>
              <a:defRPr sz="1950" b="0">
                <a:solidFill>
                  <a:srgbClr val="536B70"/>
                </a:solidFill>
                <a:latin typeface="Calibri"/>
                <a:ea typeface="Calibri"/>
                <a:cs typeface="Calibri"/>
              </a:defRPr>
            </a:pPr>
            <a:r>
              <a:rPr sz="1950">
                <a:solidFill>
                  <a:srgbClr val="536B70"/>
                </a:solidFill>
                <a:latin typeface="Calibri"/>
                <a:ea typeface="Calibri"/>
                <a:cs typeface="Calibri"/>
              </a:rPr>
              <a:t>The customer who churned said they could not get their workers to use the product.</a:t>
            </a:r>
            <a:endParaRPr sz="1950" b="0">
              <a:solidFill>
                <a:srgbClr val="536B70"/>
              </a:solidFill>
              <a:latin typeface="Calibri"/>
              <a:ea typeface="Calibri"/>
              <a:cs typeface="Calibri"/>
            </a:endParaRPr>
          </a:p>
        </p:txBody>
      </p:sp>
      <p:sp>
        <p:nvSpPr>
          <p:cNvPr id="11" name="Rectangle 10">
            <a:extLst>
              <a:ext uri="{FF2B5EF4-FFF2-40B4-BE49-F238E27FC236}">
                <a16:creationId xmlns:a16="http://schemas.microsoft.com/office/drawing/2014/main" id="{7112398C-2D51-47F3-827F-DCF461BFE64E}"/>
              </a:ext>
            </a:extLst>
          </p:cNvPr>
          <p:cNvSpPr>
            <a:spLocks noGrp="1"/>
          </p:cNvSpPr>
          <p:nvPr/>
        </p:nvSpPr>
        <p:spPr>
          <a:xfrm>
            <a:off x="11001375" y="6238875"/>
            <a:ext cx="571500" cy="285750"/>
          </a:xfrm>
          <a:prstGeom prst="rect">
            <a:avLst/>
          </a:prstGeom>
          <a:noFill/>
          <a:ln w="0">
            <a:noFill/>
          </a:ln>
        </p:spPr>
        <p:txBody>
          <a:bodyPr>
            <a:noAutofit/>
          </a:bodyPr>
          <a:lstStyle/>
          <a:p>
            <a:pPr>
              <a:defRPr sz="1200" b="0">
                <a:solidFill>
                  <a:srgbClr val="536B70"/>
                </a:solidFill>
                <a:latin typeface="Calibri"/>
                <a:ea typeface="Calibri"/>
                <a:cs typeface="Calibri"/>
              </a:defRPr>
            </a:pPr>
            <a:r>
              <a:rPr sz="1200" b="0">
                <a:solidFill>
                  <a:srgbClr val="536B70"/>
                </a:solidFill>
                <a:latin typeface="Calibri"/>
                <a:ea typeface="Calibri"/>
                <a:cs typeface="Calibri"/>
              </a:rPr>
              <a:t>12</a:t>
            </a:r>
          </a:p>
        </p:txBody>
      </p:sp>
    </p:spTree>
    <p:extLst>
      <p:ext uri="{BB962C8B-B14F-4D97-AF65-F5344CB8AC3E}">
        <p14:creationId xmlns:p14="http://schemas.microsoft.com/office/powerpoint/2010/main" val="1281979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CECE95E-B0E7-433B-BCDE-044062BCD5D3}"/>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The next 90 days: test a repeatable sales process</a:t>
            </a:r>
          </a:p>
        </p:txBody>
      </p:sp>
      <p:sp>
        <p:nvSpPr>
          <p:cNvPr id="2" name="Rectangle 1">
            <a:extLst>
              <a:ext uri="{FF2B5EF4-FFF2-40B4-BE49-F238E27FC236}">
                <a16:creationId xmlns:a16="http://schemas.microsoft.com/office/drawing/2014/main" id="{B5F17BDE-5728-4346-80CA-AA2A1B63D268}"/>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Results from these proposed experiments will guide further spending.</a:t>
            </a:r>
          </a:p>
        </p:txBody>
      </p:sp>
      <p:sp>
        <p:nvSpPr>
          <p:cNvPr id="3" name="Rectangle 2">
            <a:extLst>
              <a:ext uri="{FF2B5EF4-FFF2-40B4-BE49-F238E27FC236}">
                <a16:creationId xmlns:a16="http://schemas.microsoft.com/office/drawing/2014/main" id="{798CF8A3-4355-49B6-9B37-1363B737460C}"/>
              </a:ext>
            </a:extLst>
          </p:cNvPr>
          <p:cNvSpPr>
            <a:spLocks noGrp="1"/>
          </p:cNvSpPr>
          <p:nvPr/>
        </p:nvSpPr>
        <p:spPr>
          <a:xfrm>
            <a:off x="762000" y="2133600"/>
            <a:ext cx="10572750" cy="428625"/>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Latvia: targeted outbound</a:t>
            </a:r>
          </a:p>
        </p:txBody>
      </p:sp>
      <p:sp>
        <p:nvSpPr>
          <p:cNvPr id="4" name="Rectangle 3">
            <a:extLst>
              <a:ext uri="{FF2B5EF4-FFF2-40B4-BE49-F238E27FC236}">
                <a16:creationId xmlns:a16="http://schemas.microsoft.com/office/drawing/2014/main" id="{A71FA044-5D49-4E48-86C5-BF6615928F9C}"/>
              </a:ext>
            </a:extLst>
          </p:cNvPr>
          <p:cNvSpPr>
            <a:spLocks noGrp="1"/>
          </p:cNvSpPr>
          <p:nvPr/>
        </p:nvSpPr>
        <p:spPr>
          <a:xfrm>
            <a:off x="762000" y="2600325"/>
            <a:ext cx="10382250" cy="781050"/>
          </a:xfrm>
          <a:prstGeom prst="rect">
            <a:avLst/>
          </a:prstGeom>
          <a:noFill/>
          <a:ln w="0">
            <a:noFill/>
          </a:ln>
        </p:spPr>
        <p:txBody>
          <a:bodyPr>
            <a:noAutofit/>
          </a:bodyPr>
          <a:lstStyle/>
          <a:p>
            <a:pPr>
              <a:buNone/>
              <a:defRPr sz="2025" b="0">
                <a:solidFill>
                  <a:srgbClr val="142F35"/>
                </a:solidFill>
                <a:latin typeface="Calibri"/>
                <a:ea typeface="Calibri"/>
                <a:cs typeface="Calibri"/>
              </a:defRPr>
            </a:pPr>
            <a:r>
              <a:rPr sz="2025" b="0">
                <a:solidFill>
                  <a:srgbClr val="142F35"/>
                </a:solidFill>
                <a:latin typeface="Calibri"/>
                <a:ea typeface="Calibri"/>
                <a:cs typeface="Calibri"/>
              </a:rPr>
              <a:t>Build a list of contractors with 10–49 employees. Track each contact, demo, trial and payment.</a:t>
            </a:r>
          </a:p>
        </p:txBody>
      </p:sp>
      <p:sp>
        <p:nvSpPr>
          <p:cNvPr id="5" name="Rectangle 4">
            <a:extLst>
              <a:ext uri="{FF2B5EF4-FFF2-40B4-BE49-F238E27FC236}">
                <a16:creationId xmlns:a16="http://schemas.microsoft.com/office/drawing/2014/main" id="{0BA357FD-3CE3-4E88-81B3-A0B445B0EA0E}"/>
              </a:ext>
            </a:extLst>
          </p:cNvPr>
          <p:cNvSpPr>
            <a:spLocks noGrp="1"/>
          </p:cNvSpPr>
          <p:nvPr/>
        </p:nvSpPr>
        <p:spPr>
          <a:xfrm>
            <a:off x="762000" y="3457575"/>
            <a:ext cx="10572750" cy="428625"/>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Turn demos into live project trials</a:t>
            </a:r>
          </a:p>
        </p:txBody>
      </p:sp>
      <p:sp>
        <p:nvSpPr>
          <p:cNvPr id="6" name="Rectangle 5">
            <a:extLst>
              <a:ext uri="{FF2B5EF4-FFF2-40B4-BE49-F238E27FC236}">
                <a16:creationId xmlns:a16="http://schemas.microsoft.com/office/drawing/2014/main" id="{A94C35E2-5177-4751-863A-558948AD756D}"/>
              </a:ext>
            </a:extLst>
          </p:cNvPr>
          <p:cNvSpPr>
            <a:spLocks noGrp="1"/>
          </p:cNvSpPr>
          <p:nvPr/>
        </p:nvSpPr>
        <p:spPr>
          <a:xfrm>
            <a:off x="762000" y="3924300"/>
            <a:ext cx="10382250" cy="781050"/>
          </a:xfrm>
          <a:prstGeom prst="rect">
            <a:avLst/>
          </a:prstGeom>
          <a:noFill/>
          <a:ln w="0">
            <a:noFill/>
          </a:ln>
        </p:spPr>
        <p:txBody>
          <a:bodyPr>
            <a:noAutofit/>
          </a:bodyPr>
          <a:lstStyle/>
          <a:p>
            <a:pPr>
              <a:buNone/>
              <a:defRPr sz="2025" b="0">
                <a:solidFill>
                  <a:srgbClr val="142F35"/>
                </a:solidFill>
                <a:latin typeface="Calibri"/>
                <a:ea typeface="Calibri"/>
                <a:cs typeface="Calibri"/>
              </a:defRPr>
            </a:pPr>
            <a:r>
              <a:rPr sz="2025" b="0">
                <a:solidFill>
                  <a:srgbClr val="142F35"/>
                </a:solidFill>
                <a:latin typeface="Calibri"/>
                <a:ea typeface="Calibri"/>
                <a:cs typeface="Calibri"/>
              </a:rPr>
              <a:t>Use the contractor’s own project in the demo. Set up the first report together and agree on the paid start date.</a:t>
            </a:r>
          </a:p>
        </p:txBody>
      </p:sp>
      <p:sp>
        <p:nvSpPr>
          <p:cNvPr id="7" name="Rectangle 6">
            <a:extLst>
              <a:ext uri="{FF2B5EF4-FFF2-40B4-BE49-F238E27FC236}">
                <a16:creationId xmlns:a16="http://schemas.microsoft.com/office/drawing/2014/main" id="{461BACA2-3C4E-4617-8462-AEA285D5FB5B}"/>
              </a:ext>
            </a:extLst>
          </p:cNvPr>
          <p:cNvSpPr>
            <a:spLocks noGrp="1"/>
          </p:cNvSpPr>
          <p:nvPr/>
        </p:nvSpPr>
        <p:spPr>
          <a:xfrm>
            <a:off x="762000" y="4781550"/>
            <a:ext cx="10572750" cy="428625"/>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Expansion tests: Sweden, Great Britain and the USA</a:t>
            </a:r>
          </a:p>
        </p:txBody>
      </p:sp>
      <p:sp>
        <p:nvSpPr>
          <p:cNvPr id="8" name="Rectangle 7">
            <a:extLst>
              <a:ext uri="{FF2B5EF4-FFF2-40B4-BE49-F238E27FC236}">
                <a16:creationId xmlns:a16="http://schemas.microsoft.com/office/drawing/2014/main" id="{7879436E-9935-4CE1-863C-68E07788F929}"/>
              </a:ext>
            </a:extLst>
          </p:cNvPr>
          <p:cNvSpPr>
            <a:spLocks noGrp="1"/>
          </p:cNvSpPr>
          <p:nvPr/>
        </p:nvSpPr>
        <p:spPr>
          <a:xfrm>
            <a:off x="762000" y="5248275"/>
            <a:ext cx="10382250" cy="781050"/>
          </a:xfrm>
          <a:prstGeom prst="rect">
            <a:avLst/>
          </a:prstGeom>
          <a:noFill/>
          <a:ln w="0">
            <a:noFill/>
          </a:ln>
        </p:spPr>
        <p:txBody>
          <a:bodyPr>
            <a:noAutofit/>
          </a:bodyPr>
          <a:lstStyle/>
          <a:p>
            <a:pPr>
              <a:buNone/>
              <a:defRPr sz="2025" b="0">
                <a:solidFill>
                  <a:srgbClr val="142F35"/>
                </a:solidFill>
                <a:latin typeface="Calibri"/>
                <a:ea typeface="Calibri"/>
                <a:cs typeface="Calibri"/>
              </a:defRPr>
            </a:pPr>
            <a:r>
              <a:rPr sz="2025" b="0">
                <a:solidFill>
                  <a:srgbClr val="142F35"/>
                </a:solidFill>
                <a:latin typeface="Calibri"/>
                <a:ea typeface="Calibri"/>
                <a:cs typeface="Calibri"/>
              </a:rPr>
              <a:t>Run small pilot cohorts through targeted outreach. Compare paid conversion and support effort in each country before increasing spend.</a:t>
            </a:r>
          </a:p>
        </p:txBody>
      </p:sp>
      <p:sp>
        <p:nvSpPr>
          <p:cNvPr id="9" name="Rectangle 8">
            <a:extLst>
              <a:ext uri="{FF2B5EF4-FFF2-40B4-BE49-F238E27FC236}">
                <a16:creationId xmlns:a16="http://schemas.microsoft.com/office/drawing/2014/main" id="{A1E4C12A-0C5A-4E06-829B-ECB7BD9F6B87}"/>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13</a:t>
            </a:r>
          </a:p>
        </p:txBody>
      </p:sp>
    </p:spTree>
    <p:extLst>
      <p:ext uri="{BB962C8B-B14F-4D97-AF65-F5344CB8AC3E}">
        <p14:creationId xmlns:p14="http://schemas.microsoft.com/office/powerpoint/2010/main" val="259193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4B485CE-993E-4557-A124-AE7E65281CF5}"/>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Acquisition evidence and the next measurements</a:t>
            </a:r>
          </a:p>
        </p:txBody>
      </p:sp>
      <p:sp>
        <p:nvSpPr>
          <p:cNvPr id="2" name="Rectangle 1">
            <a:extLst>
              <a:ext uri="{FF2B5EF4-FFF2-40B4-BE49-F238E27FC236}">
                <a16:creationId xmlns:a16="http://schemas.microsoft.com/office/drawing/2014/main" id="{E699C6B5-3B0F-4627-9DCF-97FB3DEE0721}"/>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Follow each monthly cohort from first contact through payment and renewal.</a:t>
            </a:r>
          </a:p>
        </p:txBody>
      </p:sp>
      <p:graphicFrame>
        <p:nvGraphicFramePr>
          <p:cNvPr id="11" name="Table 10"/>
          <p:cNvGraphicFramePr/>
          <p:nvPr>
            <p:extLst>
              <p:ext uri="{D42A27DB-BD31-4B8C-83A1-F6EECF244321}">
                <p14:modId xmlns:p14="http://schemas.microsoft.com/office/powerpoint/2010/main" val="2883056401"/>
              </p:ext>
            </p:extLst>
          </p:nvPr>
        </p:nvGraphicFramePr>
        <p:xfrm>
          <a:off x="762000" y="2133600"/>
          <a:ext cx="10668000" cy="2667000"/>
        </p:xfrm>
        <a:graphic>
          <a:graphicData uri="http://schemas.openxmlformats.org/drawingml/2006/table">
            <a:tbl>
              <a:tblPr/>
              <a:tblGrid>
                <a:gridCol w="28575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523875">
                <a:tc>
                  <a:txBody>
                    <a:bodyPr/>
                    <a:lstStyle/>
                    <a:p>
                      <a:r>
                        <a:rPr sz="1800" b="1">
                          <a:solidFill>
                            <a:srgbClr val="FFFFFF"/>
                          </a:solidFill>
                          <a:latin typeface="Calibri"/>
                          <a:ea typeface="Calibri"/>
                          <a:cs typeface="Calibri"/>
                        </a:rPr>
                        <a:t>Evidence / channel</a:t>
                      </a:r>
                    </a:p>
                  </a:txBody>
                  <a:tcPr>
                    <a:solidFill>
                      <a:srgbClr val="142F35"/>
                    </a:solidFill>
                  </a:tcPr>
                </a:tc>
                <a:tc>
                  <a:txBody>
                    <a:bodyPr/>
                    <a:lstStyle/>
                    <a:p>
                      <a:r>
                        <a:rPr sz="1800" b="1">
                          <a:solidFill>
                            <a:srgbClr val="FFFFFF"/>
                          </a:solidFill>
                          <a:latin typeface="Calibri"/>
                          <a:ea typeface="Calibri"/>
                          <a:cs typeface="Calibri"/>
                        </a:rPr>
                        <a:t>Observed so far</a:t>
                      </a:r>
                    </a:p>
                  </a:txBody>
                  <a:tcPr>
                    <a:solidFill>
                      <a:srgbClr val="142F35"/>
                    </a:solidFill>
                  </a:tcPr>
                </a:tc>
                <a:tc>
                  <a:txBody>
                    <a:bodyPr/>
                    <a:lstStyle/>
                    <a:p>
                      <a:r>
                        <a:rPr sz="1800" b="1">
                          <a:solidFill>
                            <a:srgbClr val="FFFFFF"/>
                          </a:solidFill>
                          <a:latin typeface="Calibri"/>
                          <a:ea typeface="Calibri"/>
                          <a:cs typeface="Calibri"/>
                        </a:rPr>
                        <a:t>Measure next</a:t>
                      </a:r>
                    </a:p>
                  </a:txBody>
                  <a:tcPr>
                    <a:solidFill>
                      <a:srgbClr val="142F35"/>
                    </a:solidFill>
                  </a:tcPr>
                </a:tc>
                <a:extLst>
                  <a:ext uri="{0D108BD9-81ED-4DB2-BD59-A6C34878D82A}">
                    <a16:rowId xmlns:a16="http://schemas.microsoft.com/office/drawing/2014/main" val="10000"/>
                  </a:ext>
                </a:extLst>
              </a:tr>
              <a:tr h="714375">
                <a:tc>
                  <a:txBody>
                    <a:bodyPr/>
                    <a:lstStyle/>
                    <a:p>
                      <a:r>
                        <a:rPr sz="1800" b="0">
                          <a:solidFill>
                            <a:srgbClr val="142F35"/>
                          </a:solidFill>
                          <a:latin typeface="Calibri"/>
                          <a:ea typeface="Calibri"/>
                          <a:cs typeface="Calibri"/>
                        </a:rPr>
                        <a:t>All outreach, ~6 months</a:t>
                      </a:r>
                      <a:endParaRPr sz="1800" b="0">
                        <a:solidFill>
                          <a:srgbClr val="142F35"/>
                        </a:solidFill>
                        <a:latin typeface="Calibri"/>
                        <a:ea typeface="Calibri"/>
                        <a:cs typeface="Calibri"/>
                      </a:endParaRPr>
                    </a:p>
                  </a:txBody>
                  <a:tcPr>
                    <a:solidFill>
                      <a:srgbClr val="F6F4EE"/>
                    </a:solidFill>
                  </a:tcPr>
                </a:tc>
                <a:tc>
                  <a:txBody>
                    <a:bodyPr/>
                    <a:lstStyle/>
                    <a:p>
                      <a:r>
                        <a:rPr sz="1800" b="0">
                          <a:solidFill>
                            <a:srgbClr val="142F35"/>
                          </a:solidFill>
                          <a:latin typeface="Calibri"/>
                          <a:ea typeface="Calibri"/>
                          <a:cs typeface="Calibri"/>
                        </a:rPr>
                        <a:t>~100 approached, 6 ever paid</a:t>
                      </a:r>
                    </a:p>
                  </a:txBody>
                  <a:tcPr>
                    <a:solidFill>
                      <a:srgbClr val="F6F4EE"/>
                    </a:solidFill>
                  </a:tcPr>
                </a:tc>
                <a:tc>
                  <a:txBody>
                    <a:bodyPr/>
                    <a:lstStyle/>
                    <a:p>
                      <a:r>
                        <a:rPr sz="1800" b="0" dirty="0">
                          <a:solidFill>
                            <a:srgbClr val="142F35"/>
                          </a:solidFill>
                          <a:latin typeface="Calibri"/>
                          <a:ea typeface="Calibri"/>
                          <a:cs typeface="Calibri"/>
                        </a:rPr>
                        <a:t>5 current, 1 churned; cohort retention</a:t>
                      </a:r>
                    </a:p>
                  </a:txBody>
                  <a:tcPr>
                    <a:solidFill>
                      <a:srgbClr val="F6F4EE"/>
                    </a:solidFill>
                  </a:tcPr>
                </a:tc>
                <a:extLst>
                  <a:ext uri="{0D108BD9-81ED-4DB2-BD59-A6C34878D82A}">
                    <a16:rowId xmlns:a16="http://schemas.microsoft.com/office/drawing/2014/main" val="10001"/>
                  </a:ext>
                </a:extLst>
              </a:tr>
              <a:tr h="714375">
                <a:tc>
                  <a:txBody>
                    <a:bodyPr/>
                    <a:lstStyle/>
                    <a:p>
                      <a:r>
                        <a:rPr sz="1800" b="0">
                          <a:solidFill>
                            <a:srgbClr val="142F35"/>
                          </a:solidFill>
                          <a:latin typeface="Calibri"/>
                          <a:ea typeface="Calibri"/>
                          <a:cs typeface="Calibri"/>
                        </a:rPr>
                        <a:t>Direct outreach sample</a:t>
                      </a:r>
                    </a:p>
                  </a:txBody>
                  <a:tcPr>
                    <a:solidFill>
                      <a:srgbClr val="F6F4EE"/>
                    </a:solidFill>
                  </a:tcPr>
                </a:tc>
                <a:tc>
                  <a:txBody>
                    <a:bodyPr/>
                    <a:lstStyle/>
                    <a:p>
                      <a:r>
                        <a:rPr sz="1800" b="0">
                          <a:solidFill>
                            <a:srgbClr val="142F35"/>
                          </a:solidFill>
                          <a:latin typeface="Calibri"/>
                          <a:ea typeface="Calibri"/>
                          <a:cs typeface="Calibri"/>
                        </a:rPr>
                        <a:t>55 calls, 7 demos booked</a:t>
                      </a:r>
                    </a:p>
                  </a:txBody>
                  <a:tcPr>
                    <a:solidFill>
                      <a:srgbClr val="F6F4EE"/>
                    </a:solidFill>
                  </a:tcPr>
                </a:tc>
                <a:tc>
                  <a:txBody>
                    <a:bodyPr/>
                    <a:lstStyle/>
                    <a:p>
                      <a:r>
                        <a:rPr sz="1800" b="0">
                          <a:solidFill>
                            <a:srgbClr val="142F35"/>
                          </a:solidFill>
                          <a:latin typeface="Calibri"/>
                          <a:ea typeface="Calibri"/>
                          <a:cs typeface="Calibri"/>
                        </a:rPr>
                        <a:t>Trials and paid conversion by cohort</a:t>
                      </a:r>
                    </a:p>
                  </a:txBody>
                  <a:tcPr>
                    <a:solidFill>
                      <a:srgbClr val="F6F4EE"/>
                    </a:solidFill>
                  </a:tcPr>
                </a:tc>
                <a:extLst>
                  <a:ext uri="{0D108BD9-81ED-4DB2-BD59-A6C34878D82A}">
                    <a16:rowId xmlns:a16="http://schemas.microsoft.com/office/drawing/2014/main" val="10002"/>
                  </a:ext>
                </a:extLst>
              </a:tr>
              <a:tr h="714375">
                <a:tc>
                  <a:txBody>
                    <a:bodyPr/>
                    <a:lstStyle/>
                    <a:p>
                      <a:r>
                        <a:rPr sz="1800" b="0">
                          <a:solidFill>
                            <a:srgbClr val="142F35"/>
                          </a:solidFill>
                          <a:latin typeface="Calibri"/>
                          <a:ea typeface="Calibri"/>
                          <a:cs typeface="Calibri"/>
                        </a:rPr>
                        <a:t>Facebook advertising</a:t>
                      </a:r>
                    </a:p>
                  </a:txBody>
                  <a:tcPr>
                    <a:solidFill>
                      <a:srgbClr val="F6F4EE"/>
                    </a:solidFill>
                  </a:tcPr>
                </a:tc>
                <a:tc>
                  <a:txBody>
                    <a:bodyPr/>
                    <a:lstStyle/>
                    <a:p>
                      <a:r>
                        <a:rPr sz="1800" b="0">
                          <a:solidFill>
                            <a:srgbClr val="142F35"/>
                          </a:solidFill>
                          <a:latin typeface="Calibri"/>
                          <a:ea typeface="Calibri"/>
                          <a:cs typeface="Calibri"/>
                        </a:rPr>
                        <a:t>Paying customers reported</a:t>
                      </a:r>
                    </a:p>
                  </a:txBody>
                  <a:tcPr>
                    <a:solidFill>
                      <a:srgbClr val="F6F4EE"/>
                    </a:solidFill>
                  </a:tcPr>
                </a:tc>
                <a:tc>
                  <a:txBody>
                    <a:bodyPr/>
                    <a:lstStyle/>
                    <a:p>
                      <a:r>
                        <a:rPr sz="1800" b="0" dirty="0">
                          <a:solidFill>
                            <a:srgbClr val="142F35"/>
                          </a:solidFill>
                          <a:latin typeface="Calibri"/>
                          <a:ea typeface="Calibri"/>
                          <a:cs typeface="Calibri"/>
                        </a:rPr>
                        <a:t>Attributed spend, new payers and CAC</a:t>
                      </a:r>
                    </a:p>
                  </a:txBody>
                  <a:tcPr>
                    <a:solidFill>
                      <a:srgbClr val="F6F4EE"/>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FEB56EF1-AD44-4ED7-9976-6DB3D8E8DA62}"/>
              </a:ext>
            </a:extLst>
          </p:cNvPr>
          <p:cNvSpPr>
            <a:spLocks noGrp="1"/>
          </p:cNvSpPr>
          <p:nvPr/>
        </p:nvSpPr>
        <p:spPr>
          <a:xfrm>
            <a:off x="762000" y="5057775"/>
            <a:ext cx="10668000" cy="409575"/>
          </a:xfrm>
          <a:prstGeom prst="rect">
            <a:avLst/>
          </a:prstGeom>
          <a:noFill/>
          <a:ln w="0">
            <a:noFill/>
          </a:ln>
        </p:spPr>
        <p:txBody>
          <a:bodyPr>
            <a:noAutofit/>
          </a:bodyPr>
          <a:lstStyle/>
          <a:p>
            <a:pPr>
              <a:buNone/>
              <a:defRPr sz="2100" b="1">
                <a:solidFill>
                  <a:srgbClr val="008579"/>
                </a:solidFill>
                <a:latin typeface="Calibri"/>
                <a:ea typeface="Calibri"/>
                <a:cs typeface="Calibri"/>
              </a:defRPr>
            </a:pPr>
            <a:r>
              <a:rPr sz="2100" b="1">
                <a:solidFill>
                  <a:srgbClr val="008579"/>
                </a:solidFill>
                <a:latin typeface="Calibri"/>
                <a:ea typeface="Calibri"/>
                <a:cs typeface="Calibri"/>
              </a:rPr>
              <a:t>Revenue assumption: €150/month = €1,800/year per company</a:t>
            </a:r>
          </a:p>
        </p:txBody>
      </p:sp>
      <p:sp>
        <p:nvSpPr>
          <p:cNvPr id="5" name="Rectangle 4">
            <a:extLst>
              <a:ext uri="{FF2B5EF4-FFF2-40B4-BE49-F238E27FC236}">
                <a16:creationId xmlns:a16="http://schemas.microsoft.com/office/drawing/2014/main" id="{C388DCC3-3BE3-4163-99F1-3D33675AC5CC}"/>
              </a:ext>
            </a:extLst>
          </p:cNvPr>
          <p:cNvSpPr>
            <a:spLocks noGrp="1"/>
          </p:cNvSpPr>
          <p:nvPr/>
        </p:nvSpPr>
        <p:spPr>
          <a:xfrm>
            <a:off x="762000" y="5553075"/>
            <a:ext cx="10668000" cy="695325"/>
          </a:xfrm>
          <a:prstGeom prst="rect">
            <a:avLst/>
          </a:prstGeom>
          <a:noFill/>
          <a:ln w="0">
            <a:noFill/>
          </a:ln>
        </p:spPr>
        <p:txBody>
          <a:bodyPr>
            <a:noAutofit/>
          </a:bodyPr>
          <a:lstStyle/>
          <a:p>
            <a:pPr>
              <a:buNone/>
              <a:defRPr sz="1800" b="0">
                <a:solidFill>
                  <a:srgbClr val="142F35"/>
                </a:solidFill>
                <a:latin typeface="Calibri"/>
                <a:ea typeface="Calibri"/>
                <a:cs typeface="Calibri"/>
              </a:defRPr>
            </a:pPr>
            <a:r>
              <a:rPr sz="1800" b="0">
                <a:solidFill>
                  <a:srgbClr val="142F35"/>
                </a:solidFill>
                <a:latin typeface="Calibri"/>
                <a:ea typeface="Calibri"/>
                <a:cs typeface="Calibri"/>
              </a:rPr>
              <a:t>Track each monthly cohort by country, channel, price and renewal.</a:t>
            </a:r>
          </a:p>
          <a:p>
            <a:pPr>
              <a:buNone/>
              <a:defRPr sz="1800" b="0">
                <a:solidFill>
                  <a:srgbClr val="142F35"/>
                </a:solidFill>
                <a:latin typeface="Calibri"/>
                <a:ea typeface="Calibri"/>
                <a:cs typeface="Calibri"/>
              </a:defRPr>
            </a:pPr>
            <a:r>
              <a:rPr sz="1800" b="0">
                <a:solidFill>
                  <a:srgbClr val="142F35"/>
                </a:solidFill>
                <a:latin typeface="Calibri"/>
                <a:ea typeface="Calibri"/>
                <a:cs typeface="Calibri"/>
              </a:rPr>
              <a:t>CAC = (channel spend + allocated sales labour) ÷ new paying customers</a:t>
            </a:r>
          </a:p>
        </p:txBody>
      </p:sp>
      <p:sp>
        <p:nvSpPr>
          <p:cNvPr id="6" name="Rectangle 5">
            <a:extLst>
              <a:ext uri="{FF2B5EF4-FFF2-40B4-BE49-F238E27FC236}">
                <a16:creationId xmlns:a16="http://schemas.microsoft.com/office/drawing/2014/main" id="{88D80AE8-F3DA-4AAF-B344-98ACAC37FE8C}"/>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14</a:t>
            </a:r>
          </a:p>
        </p:txBody>
      </p:sp>
    </p:spTree>
    <p:extLst>
      <p:ext uri="{BB962C8B-B14F-4D97-AF65-F5344CB8AC3E}">
        <p14:creationId xmlns:p14="http://schemas.microsoft.com/office/powerpoint/2010/main" val="1854655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88435C8-77CC-492C-9A50-B5E787DE2757}"/>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Delivery costs and capacity</a:t>
            </a:r>
          </a:p>
        </p:txBody>
      </p:sp>
      <p:sp>
        <p:nvSpPr>
          <p:cNvPr id="2" name="Rectangle 1">
            <a:extLst>
              <a:ext uri="{FF2B5EF4-FFF2-40B4-BE49-F238E27FC236}">
                <a16:creationId xmlns:a16="http://schemas.microsoft.com/office/drawing/2014/main" id="{9EBD675A-F49A-431A-9FF1-89FE6C01F81E}"/>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The next test must measure the labour behind each subscription.</a:t>
            </a:r>
          </a:p>
        </p:txBody>
      </p:sp>
      <p:sp>
        <p:nvSpPr>
          <p:cNvPr id="3" name="Rectangle 2">
            <a:extLst>
              <a:ext uri="{FF2B5EF4-FFF2-40B4-BE49-F238E27FC236}">
                <a16:creationId xmlns:a16="http://schemas.microsoft.com/office/drawing/2014/main" id="{F5287D3A-EE14-497D-A6B8-14B4C2621E5E}"/>
              </a:ext>
            </a:extLst>
          </p:cNvPr>
          <p:cNvSpPr>
            <a:spLocks noGrp="1"/>
          </p:cNvSpPr>
          <p:nvPr/>
        </p:nvSpPr>
        <p:spPr>
          <a:xfrm>
            <a:off x="762000" y="2152650"/>
            <a:ext cx="4857750" cy="476250"/>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software spend</a:t>
            </a:r>
          </a:p>
        </p:txBody>
      </p:sp>
      <p:sp>
        <p:nvSpPr>
          <p:cNvPr id="4" name="Rectangle 3">
            <a:extLst>
              <a:ext uri="{FF2B5EF4-FFF2-40B4-BE49-F238E27FC236}">
                <a16:creationId xmlns:a16="http://schemas.microsoft.com/office/drawing/2014/main" id="{A7F8475C-2904-4744-B03E-5E4CDBE33D9C}"/>
              </a:ext>
            </a:extLst>
          </p:cNvPr>
          <p:cNvSpPr>
            <a:spLocks noGrp="1"/>
          </p:cNvSpPr>
          <p:nvPr/>
        </p:nvSpPr>
        <p:spPr>
          <a:xfrm>
            <a:off x="762000" y="2743200"/>
            <a:ext cx="4953000" cy="1047750"/>
          </a:xfrm>
          <a:prstGeom prst="rect">
            <a:avLst/>
          </a:prstGeom>
          <a:noFill/>
          <a:ln w="0">
            <a:noFill/>
          </a:ln>
        </p:spPr>
        <p:txBody>
          <a:bodyPr>
            <a:noAutofit/>
          </a:bodyPr>
          <a:lstStyle/>
          <a:p>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$80 / month</a:t>
            </a:r>
          </a:p>
          <a:p>
            <a:pPr>
              <a:buNone/>
              <a:defRPr sz="2250" b="0">
                <a:solidFill>
                  <a:srgbClr val="142F35"/>
                </a:solidFill>
                <a:latin typeface="Calibri"/>
                <a:ea typeface="Calibri"/>
                <a:cs typeface="Calibri"/>
              </a:defRPr>
            </a:pPr>
            <a:r>
              <a:rPr sz="2250" b="0">
                <a:solidFill>
                  <a:srgbClr val="142F35"/>
                </a:solidFill>
                <a:latin typeface="Calibri"/>
                <a:ea typeface="Calibri"/>
                <a:cs typeface="Calibri"/>
              </a:rPr>
              <a:t>$40 OpenAI + $40 hosting</a:t>
            </a:r>
          </a:p>
        </p:txBody>
      </p:sp>
      <p:sp>
        <p:nvSpPr>
          <p:cNvPr id="5" name="Rectangle 4">
            <a:extLst>
              <a:ext uri="{FF2B5EF4-FFF2-40B4-BE49-F238E27FC236}">
                <a16:creationId xmlns:a16="http://schemas.microsoft.com/office/drawing/2014/main" id="{3F94CEA4-22D9-4F31-930D-72255E2BE1E5}"/>
              </a:ext>
            </a:extLst>
          </p:cNvPr>
          <p:cNvSpPr>
            <a:spLocks noGrp="1"/>
          </p:cNvSpPr>
          <p:nvPr/>
        </p:nvSpPr>
        <p:spPr>
          <a:xfrm>
            <a:off x="6572250" y="2152650"/>
            <a:ext cx="4762500" cy="476250"/>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delivery effort</a:t>
            </a:r>
          </a:p>
        </p:txBody>
      </p:sp>
      <p:sp>
        <p:nvSpPr>
          <p:cNvPr id="6" name="Rectangle 5">
            <a:extLst>
              <a:ext uri="{FF2B5EF4-FFF2-40B4-BE49-F238E27FC236}">
                <a16:creationId xmlns:a16="http://schemas.microsoft.com/office/drawing/2014/main" id="{313EAE4E-51C7-4D97-80A8-0CB9AE6AB8FC}"/>
              </a:ext>
            </a:extLst>
          </p:cNvPr>
          <p:cNvSpPr>
            <a:spLocks noGrp="1"/>
          </p:cNvSpPr>
          <p:nvPr/>
        </p:nvSpPr>
        <p:spPr>
          <a:xfrm>
            <a:off x="6572250" y="2743200"/>
            <a:ext cx="4857750" cy="1047750"/>
          </a:xfrm>
          <a:prstGeom prst="rect">
            <a:avLst/>
          </a:prstGeom>
          <a:noFill/>
          <a:ln w="0">
            <a:noFill/>
          </a:ln>
        </p:spPr>
        <p:txBody>
          <a:bodyPr>
            <a:noAutofit/>
          </a:bodyPr>
          <a:lstStyle/>
          <a:p>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3 hours to onboard</a:t>
            </a:r>
          </a:p>
          <a:p>
            <a:pPr>
              <a:buNone/>
              <a:defRPr sz="2250" b="0">
                <a:solidFill>
                  <a:srgbClr val="142F35"/>
                </a:solidFill>
                <a:latin typeface="Calibri"/>
                <a:ea typeface="Calibri"/>
                <a:cs typeface="Calibri"/>
              </a:defRPr>
            </a:pPr>
            <a:r>
              <a:rPr sz="2250" b="0">
                <a:solidFill>
                  <a:srgbClr val="142F35"/>
                </a:solidFill>
                <a:latin typeface="Calibri"/>
                <a:ea typeface="Calibri"/>
                <a:cs typeface="Calibri"/>
              </a:rPr>
              <a:t>Under 1 hour/week per client</a:t>
            </a:r>
          </a:p>
        </p:txBody>
      </p:sp>
      <p:sp>
        <p:nvSpPr>
          <p:cNvPr id="7" name="Rectangle 6">
            <a:extLst>
              <a:ext uri="{FF2B5EF4-FFF2-40B4-BE49-F238E27FC236}">
                <a16:creationId xmlns:a16="http://schemas.microsoft.com/office/drawing/2014/main" id="{4A20ACE9-1E39-4FB4-9B54-10BF6ACCABF3}"/>
              </a:ext>
            </a:extLst>
          </p:cNvPr>
          <p:cNvSpPr>
            <a:spLocks noGrp="1"/>
          </p:cNvSpPr>
          <p:nvPr/>
        </p:nvSpPr>
        <p:spPr>
          <a:xfrm>
            <a:off x="762000" y="4295775"/>
            <a:ext cx="10477500" cy="447675"/>
          </a:xfrm>
          <a:prstGeom prst="rect">
            <a:avLst/>
          </a:prstGeom>
          <a:noFill/>
          <a:ln w="0">
            <a:noFill/>
          </a:ln>
        </p:spPr>
        <p:txBody>
          <a:bodyPr>
            <a:noAutofit/>
          </a:bodyPr>
          <a:lstStyle/>
          <a:p>
            <a:pPr>
              <a:buNone/>
              <a:defRPr sz="2325" b="1">
                <a:solidFill>
                  <a:srgbClr val="142F35"/>
                </a:solidFill>
                <a:latin typeface="Calibri"/>
                <a:ea typeface="Calibri"/>
                <a:cs typeface="Calibri"/>
              </a:defRPr>
            </a:pPr>
            <a:r>
              <a:rPr sz="2325" b="1">
                <a:solidFill>
                  <a:srgbClr val="142F35"/>
                </a:solidFill>
                <a:latin typeface="Calibri"/>
                <a:ea typeface="Calibri"/>
                <a:cs typeface="Calibri"/>
              </a:rPr>
              <a:t>Measure before scaling</a:t>
            </a:r>
          </a:p>
        </p:txBody>
      </p:sp>
      <p:sp>
        <p:nvSpPr>
          <p:cNvPr id="8" name="Rectangle 7">
            <a:extLst>
              <a:ext uri="{FF2B5EF4-FFF2-40B4-BE49-F238E27FC236}">
                <a16:creationId xmlns:a16="http://schemas.microsoft.com/office/drawing/2014/main" id="{B32B7306-0889-4BC8-AA8B-B902CC7115C2}"/>
              </a:ext>
            </a:extLst>
          </p:cNvPr>
          <p:cNvSpPr>
            <a:spLocks noGrp="1"/>
          </p:cNvSpPr>
          <p:nvPr/>
        </p:nvSpPr>
        <p:spPr>
          <a:xfrm>
            <a:off x="762000" y="4857750"/>
            <a:ext cx="10477500" cy="1009650"/>
          </a:xfrm>
          <a:prstGeom prst="rect">
            <a:avLst/>
          </a:prstGeom>
          <a:noFill/>
          <a:ln w="0">
            <a:noFill/>
          </a:ln>
        </p:spPr>
        <p:txBody>
          <a:bodyPr>
            <a:noAutofit/>
          </a:bodyPr>
          <a:lstStyle/>
          <a:p>
            <a:pPr>
              <a:buNone/>
              <a:defRPr sz="2100" b="0">
                <a:solidFill>
                  <a:srgbClr val="142F35"/>
                </a:solidFill>
                <a:latin typeface="Calibri"/>
                <a:ea typeface="Calibri"/>
                <a:cs typeface="Calibri"/>
              </a:defRPr>
            </a:pPr>
            <a:r>
              <a:rPr sz="2100" b="0">
                <a:solidFill>
                  <a:srgbClr val="142F35"/>
                </a:solidFill>
                <a:latin typeface="Calibri"/>
                <a:ea typeface="Calibri"/>
                <a:cs typeface="Calibri"/>
              </a:rPr>
              <a:t>Track founder and developer time, support minutes and advertising spend.</a:t>
            </a:r>
          </a:p>
          <a:p>
            <a:pPr>
              <a:buNone/>
              <a:defRPr sz="2100" b="0">
                <a:solidFill>
                  <a:srgbClr val="142F35"/>
                </a:solidFill>
                <a:latin typeface="Calibri"/>
                <a:ea typeface="Calibri"/>
                <a:cs typeface="Calibri"/>
              </a:defRPr>
            </a:pPr>
            <a:r>
              <a:rPr sz="2100" b="0">
                <a:solidFill>
                  <a:srgbClr val="142F35"/>
                </a:solidFill>
                <a:latin typeface="Calibri"/>
                <a:ea typeface="Calibri"/>
                <a:cs typeface="Calibri"/>
              </a:rPr>
              <a:t>Calculate contribution after delivery labour and variable software costs.</a:t>
            </a:r>
          </a:p>
        </p:txBody>
      </p:sp>
      <p:sp>
        <p:nvSpPr>
          <p:cNvPr id="9" name="Rectangle 8">
            <a:extLst>
              <a:ext uri="{FF2B5EF4-FFF2-40B4-BE49-F238E27FC236}">
                <a16:creationId xmlns:a16="http://schemas.microsoft.com/office/drawing/2014/main" id="{081A73FD-961C-4DE9-82BE-1D9EC5F966E4}"/>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15</a:t>
            </a:r>
          </a:p>
        </p:txBody>
      </p:sp>
    </p:spTree>
    <p:extLst>
      <p:ext uri="{BB962C8B-B14F-4D97-AF65-F5344CB8AC3E}">
        <p14:creationId xmlns:p14="http://schemas.microsoft.com/office/powerpoint/2010/main" val="236899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35BA4CD-5C4E-4732-A2A9-759D110AA252}"/>
              </a:ext>
            </a:extLst>
          </p:cNvPr>
          <p:cNvSpPr>
            <a:spLocks noGrp="1"/>
          </p:cNvSpPr>
          <p:nvPr/>
        </p:nvSpPr>
        <p:spPr>
          <a:xfrm>
            <a:off x="685800" y="571500"/>
            <a:ext cx="10820400" cy="952500"/>
          </a:xfrm>
          <a:prstGeom prst="rect">
            <a:avLst/>
          </a:prstGeom>
          <a:noFill/>
          <a:ln w="0">
            <a:noFill/>
          </a:ln>
        </p:spPr>
        <p:txBody>
          <a:bodyPr>
            <a:noAutofit/>
          </a:bodyPr>
          <a:lstStyle/>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Team</a:t>
            </a:r>
          </a:p>
        </p:txBody>
      </p:sp>
      <p:sp>
        <p:nvSpPr>
          <p:cNvPr id="3" name="Rectangle 2">
            <a:extLst>
              <a:ext uri="{FF2B5EF4-FFF2-40B4-BE49-F238E27FC236}">
                <a16:creationId xmlns:a16="http://schemas.microsoft.com/office/drawing/2014/main" id="{B127BB7F-75C3-4988-BA77-6FEBD1E928D9}"/>
              </a:ext>
            </a:extLst>
          </p:cNvPr>
          <p:cNvSpPr>
            <a:spLocks noGrp="1"/>
          </p:cNvSpPr>
          <p:nvPr/>
        </p:nvSpPr>
        <p:spPr>
          <a:xfrm>
            <a:off x="685800" y="1809750"/>
            <a:ext cx="5095875" cy="1143000"/>
          </a:xfrm>
          <a:prstGeom prst="rect">
            <a:avLst/>
          </a:prstGeom>
          <a:noFill/>
          <a:ln w="0">
            <a:noFill/>
          </a:ln>
        </p:spPr>
        <p:txBody>
          <a:bodyPr>
            <a:noAutofit/>
          </a:bodyPr>
          <a:lstStyle/>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Vjaceslavs</a:t>
            </a:r>
          </a:p>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Gromatovics</a:t>
            </a:r>
          </a:p>
        </p:txBody>
      </p:sp>
      <p:sp>
        <p:nvSpPr>
          <p:cNvPr id="4" name="Rectangle 3">
            <a:extLst>
              <a:ext uri="{FF2B5EF4-FFF2-40B4-BE49-F238E27FC236}">
                <a16:creationId xmlns:a16="http://schemas.microsoft.com/office/drawing/2014/main" id="{9A392C90-1DB6-4B05-802B-1CF647FFE0AB}"/>
              </a:ext>
            </a:extLst>
          </p:cNvPr>
          <p:cNvSpPr>
            <a:spLocks noGrp="1"/>
          </p:cNvSpPr>
          <p:nvPr/>
        </p:nvSpPr>
        <p:spPr>
          <a:xfrm>
            <a:off x="685800" y="3190875"/>
            <a:ext cx="5143500" cy="476250"/>
          </a:xfrm>
          <a:prstGeom prst="rect">
            <a:avLst/>
          </a:prstGeom>
          <a:noFill/>
          <a:ln w="0">
            <a:noFill/>
          </a:ln>
        </p:spPr>
        <p:txBody>
          <a:bodyPr>
            <a:noAutofit/>
          </a:bodyPr>
          <a:lstStyle/>
          <a:p>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Civil Engineering</a:t>
            </a:r>
          </a:p>
        </p:txBody>
      </p:sp>
      <p:sp>
        <p:nvSpPr>
          <p:cNvPr id="5" name="Rectangle 4">
            <a:extLst>
              <a:ext uri="{FF2B5EF4-FFF2-40B4-BE49-F238E27FC236}">
                <a16:creationId xmlns:a16="http://schemas.microsoft.com/office/drawing/2014/main" id="{1508F114-2165-43E5-9F7B-FBCFE7D19450}"/>
              </a:ext>
            </a:extLst>
          </p:cNvPr>
          <p:cNvSpPr>
            <a:spLocks noGrp="1"/>
          </p:cNvSpPr>
          <p:nvPr/>
        </p:nvSpPr>
        <p:spPr>
          <a:xfrm>
            <a:off x="685800" y="3924300"/>
            <a:ext cx="5286375" cy="876300"/>
          </a:xfrm>
          <a:prstGeom prst="rect">
            <a:avLst/>
          </a:prstGeom>
          <a:noFill/>
          <a:ln w="0">
            <a:noFill/>
          </a:ln>
        </p:spPr>
        <p:txBody>
          <a:bodyPr>
            <a:noAutofit/>
          </a:bodyPr>
          <a:lstStyle/>
          <a:p>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construction site manager</a:t>
            </a:r>
          </a:p>
          <a:p>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project manager</a:t>
            </a:r>
          </a:p>
        </p:txBody>
      </p:sp>
      <p:sp>
        <p:nvSpPr>
          <p:cNvPr id="6" name="Rectangle 5">
            <a:extLst>
              <a:ext uri="{FF2B5EF4-FFF2-40B4-BE49-F238E27FC236}">
                <a16:creationId xmlns:a16="http://schemas.microsoft.com/office/drawing/2014/main" id="{DEB1E63E-44C7-41C4-B4A9-57405C400FCF}"/>
              </a:ext>
            </a:extLst>
          </p:cNvPr>
          <p:cNvSpPr>
            <a:spLocks noGrp="1"/>
          </p:cNvSpPr>
          <p:nvPr/>
        </p:nvSpPr>
        <p:spPr>
          <a:xfrm>
            <a:off x="685800" y="5048250"/>
            <a:ext cx="5334000" cy="523875"/>
          </a:xfrm>
          <a:prstGeom prst="rect">
            <a:avLst/>
          </a:prstGeom>
          <a:noFill/>
          <a:ln w="0">
            <a:noFill/>
          </a:ln>
        </p:spPr>
        <p:txBody>
          <a:bodyPr>
            <a:noAutofit/>
          </a:bodyPr>
          <a:lstStyle/>
          <a:p>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Working full-time on WorksRecorded</a:t>
            </a:r>
          </a:p>
        </p:txBody>
      </p:sp>
      <p:sp>
        <p:nvSpPr>
          <p:cNvPr id="7" name="Rectangle 6">
            <a:extLst>
              <a:ext uri="{FF2B5EF4-FFF2-40B4-BE49-F238E27FC236}">
                <a16:creationId xmlns:a16="http://schemas.microsoft.com/office/drawing/2014/main" id="{80F50FFB-D2AA-4373-8BB3-C8BE5842B85C}"/>
              </a:ext>
            </a:extLst>
          </p:cNvPr>
          <p:cNvSpPr>
            <a:spLocks noGrp="1"/>
          </p:cNvSpPr>
          <p:nvPr/>
        </p:nvSpPr>
        <p:spPr>
          <a:xfrm>
            <a:off x="685800" y="5791200"/>
            <a:ext cx="5095875" cy="476250"/>
          </a:xfrm>
          <a:prstGeom prst="rect">
            <a:avLst/>
          </a:prstGeom>
          <a:noFill/>
          <a:ln w="0">
            <a:noFill/>
          </a:ln>
        </p:spPr>
        <p:txBody>
          <a:bodyPr>
            <a:noAutofit/>
          </a:bodyPr>
          <a:lstStyle/>
          <a:p>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80% ownership</a:t>
            </a:r>
          </a:p>
        </p:txBody>
      </p:sp>
      <p:sp>
        <p:nvSpPr>
          <p:cNvPr id="8" name="Rectangle 7">
            <a:extLst>
              <a:ext uri="{FF2B5EF4-FFF2-40B4-BE49-F238E27FC236}">
                <a16:creationId xmlns:a16="http://schemas.microsoft.com/office/drawing/2014/main" id="{D8CED15D-0ACF-4BCF-B8E8-55FFA9754638}"/>
              </a:ext>
            </a:extLst>
          </p:cNvPr>
          <p:cNvSpPr>
            <a:spLocks noGrp="1"/>
          </p:cNvSpPr>
          <p:nvPr/>
        </p:nvSpPr>
        <p:spPr>
          <a:xfrm>
            <a:off x="6762750" y="1809750"/>
            <a:ext cx="4762500" cy="1143000"/>
          </a:xfrm>
          <a:prstGeom prst="rect">
            <a:avLst/>
          </a:prstGeom>
          <a:noFill/>
          <a:ln w="0">
            <a:noFill/>
          </a:ln>
        </p:spPr>
        <p:txBody>
          <a:bodyPr>
            <a:noAutofit/>
          </a:bodyPr>
          <a:lstStyle/>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Deivids</a:t>
            </a:r>
          </a:p>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Berkolds</a:t>
            </a:r>
          </a:p>
        </p:txBody>
      </p:sp>
      <p:sp>
        <p:nvSpPr>
          <p:cNvPr id="9" name="Rectangle 8">
            <a:extLst>
              <a:ext uri="{FF2B5EF4-FFF2-40B4-BE49-F238E27FC236}">
                <a16:creationId xmlns:a16="http://schemas.microsoft.com/office/drawing/2014/main" id="{92CC7D36-CA00-490F-80BC-B7215D712883}"/>
              </a:ext>
            </a:extLst>
          </p:cNvPr>
          <p:cNvSpPr>
            <a:spLocks noGrp="1"/>
          </p:cNvSpPr>
          <p:nvPr/>
        </p:nvSpPr>
        <p:spPr>
          <a:xfrm>
            <a:off x="6762750" y="3190875"/>
            <a:ext cx="4762500" cy="476250"/>
          </a:xfrm>
          <a:prstGeom prst="rect">
            <a:avLst/>
          </a:prstGeom>
          <a:noFill/>
          <a:ln w="0">
            <a:noFill/>
          </a:ln>
        </p:spPr>
        <p:txBody>
          <a:bodyPr>
            <a:noAutofit/>
          </a:bodyPr>
          <a:lstStyle/>
          <a:p>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Computer Science</a:t>
            </a:r>
          </a:p>
        </p:txBody>
      </p:sp>
      <p:sp>
        <p:nvSpPr>
          <p:cNvPr id="10" name="Rectangle 9">
            <a:extLst>
              <a:ext uri="{FF2B5EF4-FFF2-40B4-BE49-F238E27FC236}">
                <a16:creationId xmlns:a16="http://schemas.microsoft.com/office/drawing/2014/main" id="{5588DBD3-9DF8-4BB0-901D-8973D3E8DC97}"/>
              </a:ext>
            </a:extLst>
          </p:cNvPr>
          <p:cNvSpPr>
            <a:spLocks noGrp="1"/>
          </p:cNvSpPr>
          <p:nvPr/>
        </p:nvSpPr>
        <p:spPr>
          <a:xfrm>
            <a:off x="6762750" y="3924300"/>
            <a:ext cx="4762500" cy="571500"/>
          </a:xfrm>
          <a:prstGeom prst="rect">
            <a:avLst/>
          </a:prstGeom>
          <a:noFill/>
          <a:ln w="0">
            <a:noFill/>
          </a:ln>
        </p:spPr>
        <p:txBody>
          <a:bodyPr>
            <a:noAutofit/>
          </a:bodyPr>
          <a:lstStyle/>
          <a:p>
            <a:pPr>
              <a:buNone/>
              <a:defRPr sz="2025" b="0">
                <a:solidFill>
                  <a:srgbClr val="143037"/>
                </a:solidFill>
                <a:latin typeface="Bitstream Charter"/>
                <a:ea typeface="Bitstream Charter"/>
                <a:cs typeface="Bitstream Charter"/>
              </a:defRPr>
            </a:pPr>
            <a:r>
              <a:rPr sz="2025" b="0" dirty="0">
                <a:solidFill>
                  <a:srgbClr val="143037"/>
                </a:solidFill>
                <a:latin typeface="Bitstream Charter"/>
                <a:ea typeface="Bitstream Charter"/>
                <a:cs typeface="Bitstream Charter"/>
              </a:rPr>
              <a:t>Senior JavaScript developer</a:t>
            </a:r>
          </a:p>
        </p:txBody>
      </p:sp>
      <p:sp>
        <p:nvSpPr>
          <p:cNvPr id="11" name="Rectangle 10">
            <a:extLst>
              <a:ext uri="{FF2B5EF4-FFF2-40B4-BE49-F238E27FC236}">
                <a16:creationId xmlns:a16="http://schemas.microsoft.com/office/drawing/2014/main" id="{DA33AE3B-7944-4879-BD3D-AD5DEE002A8F}"/>
              </a:ext>
            </a:extLst>
          </p:cNvPr>
          <p:cNvSpPr>
            <a:spLocks noGrp="1"/>
          </p:cNvSpPr>
          <p:nvPr/>
        </p:nvSpPr>
        <p:spPr>
          <a:xfrm>
            <a:off x="6762750" y="5791200"/>
            <a:ext cx="4762500" cy="476250"/>
          </a:xfrm>
          <a:prstGeom prst="rect">
            <a:avLst/>
          </a:prstGeom>
          <a:noFill/>
          <a:ln w="0">
            <a:noFill/>
          </a:ln>
        </p:spPr>
        <p:txBody>
          <a:bodyPr>
            <a:noAutofit/>
          </a:bodyPr>
          <a:lstStyle/>
          <a:p>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20% ownership</a:t>
            </a:r>
            <a:endParaRPr sz="1875" b="0">
              <a:solidFill>
                <a:srgbClr val="52686B"/>
              </a:solidFill>
              <a:latin typeface="Bitstream Charter"/>
              <a:ea typeface="Bitstream Charter"/>
              <a:cs typeface="Bitstream Charter"/>
            </a:endParaRPr>
          </a:p>
        </p:txBody>
      </p:sp>
      <p:sp>
        <p:nvSpPr>
          <p:cNvPr id="13" name="Rectangle 12">
            <a:extLst>
              <a:ext uri="{FF2B5EF4-FFF2-40B4-BE49-F238E27FC236}">
                <a16:creationId xmlns:a16="http://schemas.microsoft.com/office/drawing/2014/main" id="{EAD27A24-1A2D-4920-9FD9-B87F06D0E372}"/>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16</a:t>
            </a:r>
          </a:p>
        </p:txBody>
      </p:sp>
      <p:sp>
        <p:nvSpPr>
          <p:cNvPr id="16" name="Rectangle 15">
            <a:extLst>
              <a:ext uri="{FF2B5EF4-FFF2-40B4-BE49-F238E27FC236}">
                <a16:creationId xmlns:a16="http://schemas.microsoft.com/office/drawing/2014/main" id="{3800F88D-6591-5F04-1505-8B76A5B0EE47}"/>
              </a:ext>
            </a:extLst>
          </p:cNvPr>
          <p:cNvSpPr>
            <a:spLocks noGrp="1"/>
          </p:cNvSpPr>
          <p:nvPr/>
        </p:nvSpPr>
        <p:spPr>
          <a:xfrm>
            <a:off x="6762750" y="5043487"/>
            <a:ext cx="5334000" cy="523875"/>
          </a:xfrm>
          <a:prstGeom prst="rect">
            <a:avLst/>
          </a:prstGeom>
          <a:noFill/>
          <a:ln w="0">
            <a:noFill/>
          </a:ln>
        </p:spPr>
        <p:txBody>
          <a:bodyPr>
            <a:noAutofit/>
          </a:bodyPr>
          <a:lstStyle/>
          <a:p>
            <a:pPr>
              <a:buNone/>
              <a:defRPr sz="1875" b="0">
                <a:solidFill>
                  <a:srgbClr val="143037"/>
                </a:solidFill>
                <a:latin typeface="Bitstream Charter"/>
                <a:ea typeface="Bitstream Charter"/>
                <a:cs typeface="Bitstream Charter"/>
              </a:defRPr>
            </a:pPr>
            <a:r>
              <a:rPr lang="lv-LV" sz="1875" b="0" dirty="0">
                <a:solidFill>
                  <a:srgbClr val="143037"/>
                </a:solidFill>
                <a:latin typeface="Bitstream Charter"/>
                <a:ea typeface="Bitstream Charter"/>
                <a:cs typeface="Bitstream Charter"/>
              </a:rPr>
              <a:t>Part-time CTO</a:t>
            </a:r>
            <a:endParaRPr sz="1875" b="0" dirty="0">
              <a:solidFill>
                <a:srgbClr val="143037"/>
              </a:solidFill>
              <a:latin typeface="Bitstream Charter"/>
              <a:ea typeface="Bitstream Charter"/>
              <a:cs typeface="Bitstream Charter"/>
            </a:endParaRPr>
          </a:p>
        </p:txBody>
      </p:sp>
    </p:spTree>
    <p:extLst>
      <p:ext uri="{BB962C8B-B14F-4D97-AF65-F5344CB8AC3E}">
        <p14:creationId xmlns:p14="http://schemas.microsoft.com/office/powerpoint/2010/main" val="1732788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F738C983-CC17-4EDB-A96A-1BDB484FF158}"/>
              </a:ext>
            </a:extLst>
          </p:cNvPr>
          <p:cNvSpPr>
            <a:spLocks noGrp="1"/>
          </p:cNvSpPr>
          <p:nvPr/>
        </p:nvSpPr>
        <p:spPr>
          <a:xfrm>
            <a:off x="685800" y="523875"/>
            <a:ext cx="10820400" cy="61912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150" b="1">
                <a:solidFill>
                  <a:srgbClr val="142F35"/>
                </a:solidFill>
                <a:latin typeface="Calibri"/>
                <a:ea typeface="Calibri"/>
                <a:cs typeface="Calibri"/>
              </a:defRPr>
            </a:pPr>
            <a:r>
              <a:rPr kumimoji="0" sz="3150" b="1" i="0" u="none" strike="noStrike" kern="1200" cap="none" spc="0" normalizeH="0" baseline="0" noProof="0">
                <a:ln>
                  <a:noFill/>
                </a:ln>
                <a:solidFill>
                  <a:srgbClr val="142F35"/>
                </a:solidFill>
                <a:effectLst/>
                <a:uLnTx/>
                <a:uFillTx/>
                <a:latin typeface="Calibri"/>
                <a:ea typeface="Calibri"/>
                <a:cs typeface="Calibri"/>
              </a:rPr>
              <a:t>Investment ask</a:t>
            </a:r>
          </a:p>
        </p:txBody>
      </p:sp>
      <p:sp>
        <p:nvSpPr>
          <p:cNvPr id="2" name="Rectangle 1">
            <a:extLst>
              <a:ext uri="{FF2B5EF4-FFF2-40B4-BE49-F238E27FC236}">
                <a16:creationId xmlns:a16="http://schemas.microsoft.com/office/drawing/2014/main" id="{6ED44287-5D49-43F7-A8B3-59DEED943E6E}"/>
              </a:ext>
            </a:extLst>
          </p:cNvPr>
          <p:cNvSpPr>
            <a:spLocks noGrp="1"/>
          </p:cNvSpPr>
          <p:nvPr/>
        </p:nvSpPr>
        <p:spPr>
          <a:xfrm>
            <a:off x="723900" y="1257300"/>
            <a:ext cx="10668000" cy="838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4500" b="1">
                <a:solidFill>
                  <a:srgbClr val="008579"/>
                </a:solidFill>
                <a:latin typeface="Calibri"/>
                <a:ea typeface="Calibri"/>
                <a:cs typeface="Calibri"/>
              </a:defRPr>
            </a:pPr>
            <a:r>
              <a:rPr kumimoji="0" sz="4500" b="1" i="0" u="none" strike="noStrike" kern="1200" cap="none" spc="0" normalizeH="0" baseline="0" noProof="0">
                <a:ln>
                  <a:noFill/>
                </a:ln>
                <a:solidFill>
                  <a:srgbClr val="008579"/>
                </a:solidFill>
                <a:effectLst/>
                <a:uLnTx/>
                <a:uFillTx/>
                <a:latin typeface="Calibri"/>
                <a:ea typeface="Calibri"/>
                <a:cs typeface="Calibri"/>
              </a:rPr>
              <a:t>€30,000 for 10% equity</a:t>
            </a:r>
          </a:p>
        </p:txBody>
      </p:sp>
      <p:sp>
        <p:nvSpPr>
          <p:cNvPr id="3" name="Rectangle 2">
            <a:extLst>
              <a:ext uri="{FF2B5EF4-FFF2-40B4-BE49-F238E27FC236}">
                <a16:creationId xmlns:a16="http://schemas.microsoft.com/office/drawing/2014/main" id="{F4A7EFCA-4705-4D22-9B23-90115F0D1511}"/>
              </a:ext>
            </a:extLst>
          </p:cNvPr>
          <p:cNvSpPr>
            <a:spLocks noGrp="1"/>
          </p:cNvSpPr>
          <p:nvPr/>
        </p:nvSpPr>
        <p:spPr>
          <a:xfrm>
            <a:off x="762000" y="2114550"/>
            <a:ext cx="10572750" cy="4762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536B70"/>
                </a:solidFill>
                <a:latin typeface="Calibri"/>
                <a:ea typeface="Calibri"/>
                <a:cs typeface="Calibri"/>
              </a:defRPr>
            </a:pPr>
            <a:r>
              <a:rPr kumimoji="0" sz="1950" b="0" i="0" u="none" strike="noStrike" kern="1200" cap="none" spc="0" normalizeH="0" baseline="0" noProof="0">
                <a:ln>
                  <a:noFill/>
                </a:ln>
                <a:solidFill>
                  <a:srgbClr val="536B70"/>
                </a:solidFill>
                <a:effectLst/>
                <a:uLnTx/>
                <a:uFillTx/>
                <a:latin typeface="Calibri"/>
                <a:ea typeface="Calibri"/>
                <a:cs typeface="Calibri"/>
              </a:rPr>
              <a:t>Proposed terms: €270,000 pre-money valuation. Six-month validation budget.</a:t>
            </a:r>
          </a:p>
        </p:txBody>
      </p:sp>
      <p:sp>
        <p:nvSpPr>
          <p:cNvPr id="4" name="Rectangle 3">
            <a:extLst>
              <a:ext uri="{FF2B5EF4-FFF2-40B4-BE49-F238E27FC236}">
                <a16:creationId xmlns:a16="http://schemas.microsoft.com/office/drawing/2014/main" id="{554B6378-9CEB-4304-85FA-D1EA22A5B71B}"/>
              </a:ext>
            </a:extLst>
          </p:cNvPr>
          <p:cNvSpPr>
            <a:spLocks noGrp="1"/>
          </p:cNvSpPr>
          <p:nvPr/>
        </p:nvSpPr>
        <p:spPr>
          <a:xfrm>
            <a:off x="762000" y="2838450"/>
            <a:ext cx="4810125"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250" b="1">
                <a:solidFill>
                  <a:srgbClr val="142F35"/>
                </a:solidFill>
                <a:latin typeface="Calibri"/>
                <a:ea typeface="Calibri"/>
                <a:cs typeface="Calibri"/>
              </a:defRPr>
            </a:pPr>
            <a:r>
              <a:rPr kumimoji="0" sz="2250" b="1" i="0" u="none" strike="noStrike" kern="1200" cap="none" spc="0" normalizeH="0" baseline="0" noProof="0">
                <a:ln>
                  <a:noFill/>
                </a:ln>
                <a:solidFill>
                  <a:srgbClr val="142F35"/>
                </a:solidFill>
                <a:effectLst/>
                <a:uLnTx/>
                <a:uFillTx/>
                <a:latin typeface="Calibri"/>
                <a:ea typeface="Calibri"/>
                <a:cs typeface="Calibri"/>
              </a:rPr>
              <a:t>Use of funds</a:t>
            </a:r>
          </a:p>
        </p:txBody>
      </p:sp>
      <p:sp>
        <p:nvSpPr>
          <p:cNvPr id="5" name="Rectangle 4">
            <a:extLst>
              <a:ext uri="{FF2B5EF4-FFF2-40B4-BE49-F238E27FC236}">
                <a16:creationId xmlns:a16="http://schemas.microsoft.com/office/drawing/2014/main" id="{02042D68-73D3-4864-9E60-1F14854E7BAC}"/>
              </a:ext>
            </a:extLst>
          </p:cNvPr>
          <p:cNvSpPr>
            <a:spLocks noGrp="1"/>
          </p:cNvSpPr>
          <p:nvPr/>
        </p:nvSpPr>
        <p:spPr>
          <a:xfrm>
            <a:off x="762000" y="33623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Founder time</a:t>
            </a:r>
          </a:p>
        </p:txBody>
      </p:sp>
      <p:sp>
        <p:nvSpPr>
          <p:cNvPr id="6" name="Rectangle 5">
            <a:extLst>
              <a:ext uri="{FF2B5EF4-FFF2-40B4-BE49-F238E27FC236}">
                <a16:creationId xmlns:a16="http://schemas.microsoft.com/office/drawing/2014/main" id="{3C1D0AFE-10BA-49A5-B417-96D4E157145C}"/>
              </a:ext>
            </a:extLst>
          </p:cNvPr>
          <p:cNvSpPr>
            <a:spLocks noGrp="1"/>
          </p:cNvSpPr>
          <p:nvPr/>
        </p:nvSpPr>
        <p:spPr>
          <a:xfrm>
            <a:off x="4429125" y="33623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€18,000</a:t>
            </a:r>
          </a:p>
        </p:txBody>
      </p:sp>
      <p:sp>
        <p:nvSpPr>
          <p:cNvPr id="7" name="Rectangle 6">
            <a:extLst>
              <a:ext uri="{FF2B5EF4-FFF2-40B4-BE49-F238E27FC236}">
                <a16:creationId xmlns:a16="http://schemas.microsoft.com/office/drawing/2014/main" id="{5682D533-9443-41CA-9DAB-1E88EE141779}"/>
              </a:ext>
            </a:extLst>
          </p:cNvPr>
          <p:cNvSpPr>
            <a:spLocks noGrp="1"/>
          </p:cNvSpPr>
          <p:nvPr/>
        </p:nvSpPr>
        <p:spPr>
          <a:xfrm>
            <a:off x="762000" y="37052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Product and onboarding</a:t>
            </a:r>
          </a:p>
        </p:txBody>
      </p:sp>
      <p:sp>
        <p:nvSpPr>
          <p:cNvPr id="8" name="Rectangle 7">
            <a:extLst>
              <a:ext uri="{FF2B5EF4-FFF2-40B4-BE49-F238E27FC236}">
                <a16:creationId xmlns:a16="http://schemas.microsoft.com/office/drawing/2014/main" id="{02495F71-861D-4371-A5B9-40DD7C1ED927}"/>
              </a:ext>
            </a:extLst>
          </p:cNvPr>
          <p:cNvSpPr>
            <a:spLocks noGrp="1"/>
          </p:cNvSpPr>
          <p:nvPr/>
        </p:nvSpPr>
        <p:spPr>
          <a:xfrm>
            <a:off x="4429125" y="37052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€6,000</a:t>
            </a:r>
          </a:p>
        </p:txBody>
      </p:sp>
      <p:sp>
        <p:nvSpPr>
          <p:cNvPr id="9" name="Rectangle 8">
            <a:extLst>
              <a:ext uri="{FF2B5EF4-FFF2-40B4-BE49-F238E27FC236}">
                <a16:creationId xmlns:a16="http://schemas.microsoft.com/office/drawing/2014/main" id="{E6C092B1-39AC-4513-837F-229F54F2CB99}"/>
              </a:ext>
            </a:extLst>
          </p:cNvPr>
          <p:cNvSpPr>
            <a:spLocks noGrp="1"/>
          </p:cNvSpPr>
          <p:nvPr/>
        </p:nvSpPr>
        <p:spPr>
          <a:xfrm>
            <a:off x="762000" y="40481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Acquisition tests</a:t>
            </a:r>
          </a:p>
        </p:txBody>
      </p:sp>
      <p:sp>
        <p:nvSpPr>
          <p:cNvPr id="10" name="Rectangle 9">
            <a:extLst>
              <a:ext uri="{FF2B5EF4-FFF2-40B4-BE49-F238E27FC236}">
                <a16:creationId xmlns:a16="http://schemas.microsoft.com/office/drawing/2014/main" id="{2388459B-3D44-4407-979C-4739841355C9}"/>
              </a:ext>
            </a:extLst>
          </p:cNvPr>
          <p:cNvSpPr>
            <a:spLocks noGrp="1"/>
          </p:cNvSpPr>
          <p:nvPr/>
        </p:nvSpPr>
        <p:spPr>
          <a:xfrm>
            <a:off x="4429125" y="40481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€3,000</a:t>
            </a:r>
          </a:p>
        </p:txBody>
      </p:sp>
      <p:sp>
        <p:nvSpPr>
          <p:cNvPr id="11" name="Rectangle 10">
            <a:extLst>
              <a:ext uri="{FF2B5EF4-FFF2-40B4-BE49-F238E27FC236}">
                <a16:creationId xmlns:a16="http://schemas.microsoft.com/office/drawing/2014/main" id="{E6EFF58F-41C0-40E8-A399-6CC51506ED99}"/>
              </a:ext>
            </a:extLst>
          </p:cNvPr>
          <p:cNvSpPr>
            <a:spLocks noGrp="1"/>
          </p:cNvSpPr>
          <p:nvPr/>
        </p:nvSpPr>
        <p:spPr>
          <a:xfrm>
            <a:off x="762000" y="43910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Software and administration</a:t>
            </a:r>
          </a:p>
        </p:txBody>
      </p:sp>
      <p:sp>
        <p:nvSpPr>
          <p:cNvPr id="12" name="Rectangle 11">
            <a:extLst>
              <a:ext uri="{FF2B5EF4-FFF2-40B4-BE49-F238E27FC236}">
                <a16:creationId xmlns:a16="http://schemas.microsoft.com/office/drawing/2014/main" id="{883B0505-929C-44C2-B89B-8688E21F82BD}"/>
              </a:ext>
            </a:extLst>
          </p:cNvPr>
          <p:cNvSpPr>
            <a:spLocks noGrp="1"/>
          </p:cNvSpPr>
          <p:nvPr/>
        </p:nvSpPr>
        <p:spPr>
          <a:xfrm>
            <a:off x="4429125" y="43910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€1,500</a:t>
            </a:r>
          </a:p>
        </p:txBody>
      </p:sp>
      <p:sp>
        <p:nvSpPr>
          <p:cNvPr id="13" name="Rectangle 12">
            <a:extLst>
              <a:ext uri="{FF2B5EF4-FFF2-40B4-BE49-F238E27FC236}">
                <a16:creationId xmlns:a16="http://schemas.microsoft.com/office/drawing/2014/main" id="{C01CEE1A-22DA-4270-9B81-97A18D4BF7D0}"/>
              </a:ext>
            </a:extLst>
          </p:cNvPr>
          <p:cNvSpPr>
            <a:spLocks noGrp="1"/>
          </p:cNvSpPr>
          <p:nvPr/>
        </p:nvSpPr>
        <p:spPr>
          <a:xfrm>
            <a:off x="762000" y="47339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Contingency</a:t>
            </a:r>
          </a:p>
        </p:txBody>
      </p:sp>
      <p:sp>
        <p:nvSpPr>
          <p:cNvPr id="14" name="Rectangle 13">
            <a:extLst>
              <a:ext uri="{FF2B5EF4-FFF2-40B4-BE49-F238E27FC236}">
                <a16:creationId xmlns:a16="http://schemas.microsoft.com/office/drawing/2014/main" id="{4F8E492B-D3CD-459E-A1FF-BE4AFB73B990}"/>
              </a:ext>
            </a:extLst>
          </p:cNvPr>
          <p:cNvSpPr>
            <a:spLocks noGrp="1"/>
          </p:cNvSpPr>
          <p:nvPr/>
        </p:nvSpPr>
        <p:spPr>
          <a:xfrm>
            <a:off x="4429125" y="47339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€1,500</a:t>
            </a:r>
          </a:p>
        </p:txBody>
      </p:sp>
      <p:sp>
        <p:nvSpPr>
          <p:cNvPr id="15" name="Rectangle 14">
            <a:extLst>
              <a:ext uri="{FF2B5EF4-FFF2-40B4-BE49-F238E27FC236}">
                <a16:creationId xmlns:a16="http://schemas.microsoft.com/office/drawing/2014/main" id="{757E543A-6655-4B73-AEE6-6E62E3FABBA8}"/>
              </a:ext>
            </a:extLst>
          </p:cNvPr>
          <p:cNvSpPr>
            <a:spLocks noGrp="1"/>
          </p:cNvSpPr>
          <p:nvPr/>
        </p:nvSpPr>
        <p:spPr>
          <a:xfrm>
            <a:off x="6572250" y="2838450"/>
            <a:ext cx="485775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250" b="1">
                <a:solidFill>
                  <a:srgbClr val="142F35"/>
                </a:solidFill>
                <a:latin typeface="Calibri"/>
                <a:ea typeface="Calibri"/>
                <a:cs typeface="Calibri"/>
              </a:defRPr>
            </a:pPr>
            <a:r>
              <a:rPr kumimoji="0" sz="2250" b="1" i="0" u="none" strike="noStrike" kern="1200" cap="none" spc="0" normalizeH="0" baseline="0" noProof="0">
                <a:ln>
                  <a:noFill/>
                </a:ln>
                <a:solidFill>
                  <a:srgbClr val="142F35"/>
                </a:solidFill>
                <a:effectLst/>
                <a:uLnTx/>
                <a:uFillTx/>
                <a:latin typeface="Calibri"/>
                <a:ea typeface="Calibri"/>
                <a:cs typeface="Calibri"/>
              </a:rPr>
              <a:t>Six-month milestones</a:t>
            </a:r>
          </a:p>
        </p:txBody>
      </p:sp>
      <p:sp>
        <p:nvSpPr>
          <p:cNvPr id="16" name="Rectangle 15">
            <a:extLst>
              <a:ext uri="{FF2B5EF4-FFF2-40B4-BE49-F238E27FC236}">
                <a16:creationId xmlns:a16="http://schemas.microsoft.com/office/drawing/2014/main" id="{BF4F5E3D-93E7-45CF-B2F0-5EEE218F8A35}"/>
              </a:ext>
            </a:extLst>
          </p:cNvPr>
          <p:cNvSpPr>
            <a:spLocks noGrp="1"/>
          </p:cNvSpPr>
          <p:nvPr/>
        </p:nvSpPr>
        <p:spPr>
          <a:xfrm>
            <a:off x="6572250" y="3362325"/>
            <a:ext cx="4857750" cy="6858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1">
                <a:solidFill>
                  <a:srgbClr val="008579"/>
                </a:solidFill>
                <a:latin typeface="Calibri"/>
                <a:ea typeface="Calibri"/>
                <a:cs typeface="Calibri"/>
              </a:defRPr>
            </a:pPr>
            <a:r>
              <a:rPr kumimoji="0" sz="2025" b="1" i="0" u="none" strike="noStrike" kern="1200" cap="none" spc="0" normalizeH="0" baseline="0" noProof="0">
                <a:ln>
                  <a:noFill/>
                </a:ln>
                <a:solidFill>
                  <a:srgbClr val="008579"/>
                </a:solidFill>
                <a:effectLst/>
                <a:uLnTx/>
                <a:uFillTx/>
                <a:latin typeface="Calibri"/>
                <a:ea typeface="Calibri"/>
                <a:cs typeface="Calibri"/>
              </a:rPr>
              <a:t>15 paying companies in total</a:t>
            </a:r>
          </a:p>
          <a:p>
            <a:pPr marL="0" marR="0" lvl="0" indent="0" algn="l" defTabSz="914400" rtl="0" eaLnBrk="1" fontAlgn="auto" latinLnBrk="0" hangingPunct="1">
              <a:lnSpc>
                <a:spcPct val="100000"/>
              </a:lnSpc>
              <a:spcBef>
                <a:spcPts val="0"/>
              </a:spcBef>
              <a:spcAft>
                <a:spcPts val="0"/>
              </a:spcAft>
              <a:buClrTx/>
              <a:buSzTx/>
              <a:buFontTx/>
              <a:buNone/>
              <a:tabLst/>
              <a:defRPr sz="2025" b="1">
                <a:solidFill>
                  <a:srgbClr val="008579"/>
                </a:solidFill>
                <a:latin typeface="Calibri"/>
                <a:ea typeface="Calibri"/>
                <a:cs typeface="Calibri"/>
              </a:defRPr>
            </a:pPr>
            <a:r>
              <a:rPr kumimoji="0" sz="2025" b="1" i="0" u="none" strike="noStrike" kern="1200" cap="none" spc="0" normalizeH="0" baseline="0" noProof="0">
                <a:ln>
                  <a:noFill/>
                </a:ln>
                <a:solidFill>
                  <a:srgbClr val="008579"/>
                </a:solidFill>
                <a:effectLst/>
                <a:uLnTx/>
                <a:uFillTx/>
                <a:latin typeface="Calibri"/>
                <a:ea typeface="Calibri"/>
                <a:cs typeface="Calibri"/>
              </a:rPr>
              <a:t>~€2,250 MRR at €150/company</a:t>
            </a:r>
          </a:p>
        </p:txBody>
      </p:sp>
      <p:sp>
        <p:nvSpPr>
          <p:cNvPr id="17" name="Rectangle 16">
            <a:extLst>
              <a:ext uri="{FF2B5EF4-FFF2-40B4-BE49-F238E27FC236}">
                <a16:creationId xmlns:a16="http://schemas.microsoft.com/office/drawing/2014/main" id="{E425EE4B-7304-40E9-A7A9-4E8F46EF2754}"/>
              </a:ext>
            </a:extLst>
          </p:cNvPr>
          <p:cNvSpPr>
            <a:spLocks noGrp="1"/>
          </p:cNvSpPr>
          <p:nvPr/>
        </p:nvSpPr>
        <p:spPr>
          <a:xfrm>
            <a:off x="6572250" y="4181475"/>
            <a:ext cx="4857750" cy="6858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80% retention after 8 weeks</a:t>
            </a:r>
          </a:p>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Across eligible new paying customers</a:t>
            </a:r>
          </a:p>
        </p:txBody>
      </p:sp>
      <p:sp>
        <p:nvSpPr>
          <p:cNvPr id="18" name="Rectangle 17">
            <a:extLst>
              <a:ext uri="{FF2B5EF4-FFF2-40B4-BE49-F238E27FC236}">
                <a16:creationId xmlns:a16="http://schemas.microsoft.com/office/drawing/2014/main" id="{34F434AF-88A4-4BC5-9680-34D212B49864}"/>
              </a:ext>
            </a:extLst>
          </p:cNvPr>
          <p:cNvSpPr>
            <a:spLocks noGrp="1"/>
          </p:cNvSpPr>
          <p:nvPr/>
        </p:nvSpPr>
        <p:spPr>
          <a:xfrm>
            <a:off x="6572250" y="4991100"/>
            <a:ext cx="4857750" cy="6858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Support ≤30 min/client/week</a:t>
            </a:r>
          </a:p>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Measured across paying customers</a:t>
            </a:r>
          </a:p>
        </p:txBody>
      </p:sp>
      <p:sp>
        <p:nvSpPr>
          <p:cNvPr id="19" name="Rectangle 18">
            <a:extLst>
              <a:ext uri="{FF2B5EF4-FFF2-40B4-BE49-F238E27FC236}">
                <a16:creationId xmlns:a16="http://schemas.microsoft.com/office/drawing/2014/main" id="{96E4007B-964B-4451-BF33-2C267B854825}"/>
              </a:ext>
            </a:extLst>
          </p:cNvPr>
          <p:cNvSpPr>
            <a:spLocks noGrp="1"/>
          </p:cNvSpPr>
          <p:nvPr/>
        </p:nvSpPr>
        <p:spPr>
          <a:xfrm>
            <a:off x="762000" y="5943600"/>
            <a:ext cx="10477500" cy="542925"/>
          </a:xfrm>
          <a:prstGeom prst="rect">
            <a:avLst/>
          </a:prstGeom>
          <a:noFill/>
          <a:ln w="0">
            <a:noFill/>
          </a:ln>
        </p:spPr>
        <p:txBody>
          <a:bodyPr>
            <a:noAutofit/>
          </a:bodyPr>
          <a:lstStyle/>
          <a:p>
            <a:pPr marL="0" marR="0" lvl="0" indent="0" algn="l" defTabSz="914400">
              <a:lnSpc>
                <a:spcPct val="100000"/>
              </a:lnSpc>
              <a:spcBef>
                <a:spcPts val="0"/>
              </a:spcBef>
              <a:spcAft>
                <a:spcPts val="0"/>
              </a:spcAft>
              <a:buClrTx/>
              <a:buSzTx/>
              <a:buFontTx/>
              <a:buNone/>
              <a:defRPr sz="1500" b="0">
                <a:solidFill>
                  <a:srgbClr val="536B70"/>
                </a:solidFill>
                <a:latin typeface="Calibri"/>
                <a:ea typeface="Calibri"/>
                <a:cs typeface="Calibri"/>
              </a:defRPr>
            </a:pPr>
            <a:r>
              <a:rPr sz="1500" b="0" i="0" u="none" cap="none" spc="0">
                <a:ln>
                  <a:noFill/>
                </a:ln>
                <a:solidFill>
                  <a:srgbClr val="536B70"/>
                </a:solidFill>
                <a:latin typeface="Calibri"/>
                <a:ea typeface="Calibri"/>
                <a:cs typeface="Calibri"/>
              </a:rPr>
              <a:t>Planning assumptions: €3,000/month founder cost and €1,000/month product budget.</a:t>
            </a:r>
          </a:p>
          <a:p>
            <a:pPr marL="0" marR="0" lvl="0" indent="0" algn="l" defTabSz="914400">
              <a:lnSpc>
                <a:spcPct val="100000"/>
              </a:lnSpc>
              <a:spcBef>
                <a:spcPts val="0"/>
              </a:spcBef>
              <a:spcAft>
                <a:spcPts val="0"/>
              </a:spcAft>
              <a:buClrTx/>
              <a:buSzTx/>
              <a:buFontTx/>
              <a:buNone/>
              <a:defRPr sz="1500" b="0">
                <a:solidFill>
                  <a:srgbClr val="536B70"/>
                </a:solidFill>
                <a:latin typeface="Calibri"/>
                <a:ea typeface="Calibri"/>
                <a:cs typeface="Calibri"/>
              </a:defRPr>
            </a:pPr>
            <a:r>
              <a:rPr sz="1500" b="0" i="0" u="none" cap="none" spc="0">
                <a:ln>
                  <a:noFill/>
                </a:ln>
                <a:solidFill>
                  <a:srgbClr val="536B70"/>
                </a:solidFill>
                <a:latin typeface="Calibri"/>
                <a:ea typeface="Calibri"/>
                <a:cs typeface="Calibri"/>
              </a:rPr>
              <a:t>Milestones are targets. Existing revenue provides an additional buffer. Terms are negotiable.</a:t>
            </a:r>
          </a:p>
        </p:txBody>
      </p:sp>
      <p:sp>
        <p:nvSpPr>
          <p:cNvPr id="20" name="Rectangle 19">
            <a:extLst>
              <a:ext uri="{FF2B5EF4-FFF2-40B4-BE49-F238E27FC236}">
                <a16:creationId xmlns:a16="http://schemas.microsoft.com/office/drawing/2014/main" id="{B9E601F6-C23E-47E1-9483-EB83969D5DDB}"/>
              </a:ext>
            </a:extLst>
          </p:cNvPr>
          <p:cNvSpPr>
            <a:spLocks noGrp="1"/>
          </p:cNvSpPr>
          <p:nvPr/>
        </p:nvSpPr>
        <p:spPr>
          <a:xfrm>
            <a:off x="11001375" y="6524625"/>
            <a:ext cx="571500" cy="23812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0">
                <a:solidFill>
                  <a:srgbClr val="536B70"/>
                </a:solidFill>
                <a:latin typeface="Calibri"/>
                <a:ea typeface="Calibri"/>
                <a:cs typeface="Calibri"/>
              </a:defRPr>
            </a:pPr>
            <a:r>
              <a:rPr kumimoji="0" sz="1200" b="0" i="0" u="none" strike="noStrike" kern="1200" cap="none" spc="0" normalizeH="0" baseline="0" noProof="0">
                <a:ln>
                  <a:noFill/>
                </a:ln>
                <a:solidFill>
                  <a:srgbClr val="536B70"/>
                </a:solidFill>
                <a:effectLst/>
                <a:uLnTx/>
                <a:uFillTx/>
                <a:latin typeface="Calibri"/>
                <a:ea typeface="Calibri"/>
                <a:cs typeface="Calibri"/>
              </a:rPr>
              <a:t>19</a:t>
            </a:r>
          </a:p>
        </p:txBody>
      </p:sp>
    </p:spTree>
    <p:extLst>
      <p:ext uri="{BB962C8B-B14F-4D97-AF65-F5344CB8AC3E}">
        <p14:creationId xmlns:p14="http://schemas.microsoft.com/office/powerpoint/2010/main" val="67029095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4239</TotalTime>
  <Words>2677</Words>
  <Application>Microsoft Office PowerPoint</Application>
  <DocSecurity>0</DocSecurity>
  <PresentationFormat>Widescreen</PresentationFormat>
  <Paragraphs>242</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Bitstream Charter</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Vjaceslavs Gromatovics</cp:lastModifiedBy>
  <cp:revision>14</cp:revision>
  <dcterms:created xsi:type="dcterms:W3CDTF">2026-09-18T13:20:54Z</dcterms:created>
  <dcterms:modified xsi:type="dcterms:W3CDTF">2026-09-21T15:38:28Z</dcterms:modified>
</cp:coreProperties>
</file>