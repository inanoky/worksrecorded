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75"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4" r:id="rId19"/>
  </p:sldIdLst>
  <p:sldSz cx="12192000" cy="6858000"/>
  <p:notesSz cx="6858000" cy="9144000"/>
  <p:defaultTextStyle>
    <a:defPPr>
      <a:defRPr lang="lv-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2B2EE-F28F-EBE7-C3C8-9C0412212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20B94-313B-60C6-822B-526F7E4BE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517A1-42B0-4816-5708-2FBB8F23BC6B}"/>
              </a:ext>
            </a:extLst>
          </p:cNvPr>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a:extLst>
              <a:ext uri="{FF2B5EF4-FFF2-40B4-BE49-F238E27FC236}">
                <a16:creationId xmlns:a16="http://schemas.microsoft.com/office/drawing/2014/main" id="{D212FD3D-95BE-56A8-DCDD-1FFE5C5551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26063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sizing, researched 21 September 2026. Specialty trade construction firms/enterprises in the 10–49 employment band. This is a top-down segment opportunity at full adoption, not a sales forecast. EUR150/company/month is the founder's requested average revenue assumption, not a new pricing commitment. EUR1800 annual revenue per company. National pricing and demand remain unvalidated.</a:t>
            </a:r>
          </a:p>
          <a:p xmlns:a="http://schemas.openxmlformats.org/drawingml/2006/main">
            <a:r>
              <a:t/>
            </a:r>
            <a:endParaRPr/>
          </a:p>
          <a:p xmlns:a="http://schemas.openxmlformats.org/drawingml/2006/main">
            <a:r>
              <a:t>EU-27: Eurostat SBS_SC_OVW, ENT_NR, NACE Rev.2 F43, 2023. Size 10–19: 101914. Size 20–49: 40000, flagged estimated. Total 141914. Potential EUR255445200/year. Sweden: same dataset, year, industry and bands, 2825 + 1410 = 4235. Potential EUR7623000/year. Sweden is already included in the EU-27 figure and is not added again. Enterprises were economically active during the reference year. People employed include working proprietors, so this is not strictly paid employees.</a:t>
            </a:r>
          </a:p>
          <a:p xmlns:a="http://schemas.openxmlformats.org/drawingml/2006/main">
            <a:r>
              <a:t>Source: https://ec.europa.eu/eurostat/api/dissemination/statistics/1.0/data/sbs_sc_ovw?geo=EU27_2020&amp;geo=SE&amp;nace_r2=F43&amp;indic_sbs=ENT_NR&amp;time=2023&amp;size_emp=10-19&amp;size_emp=20-49</a:t>
            </a:r>
          </a:p>
          <a:p xmlns:a="http://schemas.openxmlformats.org/drawingml/2006/main">
            <a:r>
              <a:t>Metadata: https://ec.europa.eu/eurostat/cache/metadata/en/sbs_esms.htm</a:t>
            </a:r>
          </a:p>
          <a:p xmlns:a="http://schemas.openxmlformats.org/drawingml/2006/main">
            <a:r>
              <a:t/>
            </a:r>
            <a:endParaRPr/>
          </a:p>
          <a:p xmlns:a="http://schemas.openxmlformats.org/drawingml/2006/main">
            <a:r>
              <a:t>UK: ONS UK business: activity, size and location, 2025, Table 3, SIC 2007 division 43. UK VAT and/or PAYE registered enterprises at 14 March 2025. 10–19 employment = 8120, 20–49 = 3605. Total 11725. Counts are rounded to base 5. Potential EUR21105000/year. UK includes Northern Ireland. Great Britain alone = 7905 + 3505 = 11410. Measures registered enterprises, not local business units. Employment and enterprise definitions differ somewhat across national systems.</a:t>
            </a:r>
          </a:p>
          <a:p xmlns:a="http://schemas.openxmlformats.org/drawingml/2006/main">
            <a:r>
              <a:t>Source: https://www.ons.gov.uk/businessindustryandtrade/business/activitysizeandlocation/datasets/ukbusinessactivitysizeandlocation/2025</a:t>
            </a:r>
          </a:p>
          <a:p xmlns:a="http://schemas.openxmlformats.org/drawingml/2006/main">
            <a:r>
              <a:t>Workbook: https://www.ons.gov.uk/file?uri=%2Fbusinessindustryandtrade%2Fbusiness%2Factivitysizeandlocation%2Fdatasets%2Fukbusinessactivitysizeandlocation%2F2025%2Fukbusinessworkbook2025new.xlsx</a:t>
            </a:r>
          </a:p>
          <a:p xmlns:a="http://schemas.openxmlformats.org/drawingml/2006/main">
            <a:r>
              <a:t/>
            </a:r>
            <a:endParaRPr/>
          </a:p>
          <a:p xmlns:a="http://schemas.openxmlformats.org/drawingml/2006/main">
            <a:r>
              <a:t>USA: US Census Bureau, Statistics of U.S. Businesses (SUSB), reference year 2022, released 10 April 2025. National total (State 00, United States), NAICS 2017 code 238, Specialty Trade Contractors. Use the Firms column, not Establishments. Enterprise employment is total paid employment across all domestic establishments under common ownership/control during the pay period including March 12. Nonemployer businesses are excluded. These are employer businesses operating in the reference year, not merely registrations and not a guarantee that each remains active today. SUSB groups establishments within an industry/geography into firms. Industry coverage is broadly comparable to NACE/SIC 43 but classifications and employment definitions are not identical.</a:t>
            </a:r>
          </a:p>
          <a:p xmlns:a="http://schemas.openxmlformats.org/drawingml/2006/main">
            <a:r>
              <a:t/>
            </a:r>
            <a:endParaRPr/>
          </a:p>
          <a:p xmlns:a="http://schemas.openxmlformats.org/drawingml/2006/main">
            <a:r>
              <a:t>Reproduction: Workbook us_state_naics_detailedsizes_2022.xlsx, sheet 'US &amp; states detailed sizes'. Columns A=State, C=NAICS, E=Enterprise Size, F=Firms. Filter A=00 and C=238. Sum F2630 + F2631 + F2633 + F2634 + F2635 + F2636 + F2637. Exclude the overlapping '&lt;20 employees' subtotal at row 2632.</a:t>
            </a:r>
          </a:p>
          <a:p xmlns:a="http://schemas.openxmlformats.org/drawingml/2006/main">
            <a:r>
              <a:t>10-14 employees: 32700 firms (row 2630).</a:t>
            </a:r>
          </a:p>
          <a:p xmlns:a="http://schemas.openxmlformats.org/drawingml/2006/main">
            <a:r>
              <a:t>15-19 employees: 16869 firms (row 2631).</a:t>
            </a:r>
          </a:p>
          <a:p xmlns:a="http://schemas.openxmlformats.org/drawingml/2006/main">
            <a:r>
              <a:t>20-24 employees: 10214 firms (row 2633).</a:t>
            </a:r>
          </a:p>
          <a:p xmlns:a="http://schemas.openxmlformats.org/drawingml/2006/main">
            <a:r>
              <a:t>25-29 employees: 6653 firms (row 2634).</a:t>
            </a:r>
          </a:p>
          <a:p xmlns:a="http://schemas.openxmlformats.org/drawingml/2006/main">
            <a:r>
              <a:t>30-34 employees: 4648 firms (row 2635).</a:t>
            </a:r>
          </a:p>
          <a:p xmlns:a="http://schemas.openxmlformats.org/drawingml/2006/main">
            <a:r>
              <a:t>35-39 employees: 3539 firms (row 2636).</a:t>
            </a:r>
          </a:p>
          <a:p xmlns:a="http://schemas.openxmlformats.org/drawingml/2006/main">
            <a:r>
              <a:t>40-49 employees: 4823 firms (row 2637).</a:t>
            </a:r>
          </a:p>
          <a:p xmlns:a="http://schemas.openxmlformats.org/drawingml/2006/main">
            <a:r>
              <a:t>10-19 subtotal = 49569. 20-49 subtotal = 29877. Total 10-49 = 79446 firms. Annual software revenue potential: 79446 x EUR150 x 12 = EUR143002800, rounded EUR143.0M.</a:t>
            </a:r>
          </a:p>
          <a:p xmlns:a="http://schemas.openxmlformats.org/drawingml/2006/main">
            <a:r>
              <a:t>Source page: https://www.census.gov/data/tables/2022/econ/susb/2022-susb-annual.html</a:t>
            </a:r>
          </a:p>
          <a:p xmlns:a="http://schemas.openxmlformats.org/drawingml/2006/main">
            <a:r>
              <a:t>Source workbook: https://www2.census.gov/programs-surveys/susb/tables/2022/us_state_naics_detailedsizes_2022.xlsx</a:t>
            </a:r>
          </a:p>
          <a:p xmlns:a="http://schemas.openxmlformats.org/drawingml/2006/main">
            <a:r>
              <a:t>Definitions: https://www.census.gov/programs-surveys/susb/about/glossary.html</a:t>
            </a:r>
          </a:p>
          <a:p xmlns:a="http://schemas.openxmlformats.org/drawingml/2006/main">
            <a:r>
              <a:t/>
            </a:r>
          </a:p>
          <a:p xmlns:a="http://schemas.openxmlformats.org/drawingml/2006/main">
            <a:r>
              <a:t>EU-27 + UK + USA = 141914 + 11725 + 79446 = 233085 enterprises/firms. At EUR1800/year: EUR419553000, rounded EUR419.6M. Sweden and Latvia are already within EU-27 and are not added again. These sources use different reference years and somewhat different definitions, and include estimated/rounded components. This is an indicative full-adoption segment opportunity using EUR150 average monthly company revenue. It is not a sales forecast or expected market share. The employment filter is a market-sizing proxy and does not additionally restrict company turnover to EUR0.8M-2.5M.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Target EUR300/company/month is not yet achieved.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DEPROM/DEPRMO spelling differs in source materials, so pilot name omitted. Latvijas Energoceltnieks churned after three months.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instructions: EUR50 per paying user per month, sometimes discounts and paid custom functions. Use EUR150/company/month as the average revenue assumption, equivalent to EUR1800/year. No EUR300 target is assumed. Only recurring fees belong in MRR. One-off custom work is separate. Exact user counts and custom-fee splits are not inferred from monthly company bills.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Founder-supplied acquisition history: over approximately one year, around 100 companies approached. Five currently paying, one former paying customer churned. One free pilot, one active trial. Mix of direct outreach and Facebook advertising. Reliable channel-level CAC unavailable. Calculations: 5/100~5% currently paying, (5+1)/100~6% ever paid. Approximate cumulative ratios are not cohort conversion rates, annual/monthly churn rates or channel-specific conversion. Deduplication and channel attribution of the ~100 denominator have not been independently verified. Do not treat the former payer as an annual churn estimate.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GTM experiments. Latvia remains the initial outbound market. Sweden, Great Britain and the USA are candidate expansion markets for small pilot cohorts. Track each country separately and compare paid conversion, retention and support effort before increasing spending. Expansion demand remains to be validated. Facebook should be a separately measured channel.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founder-supplied acquisition evidence already in the deck. This update changes only the revenue assumption to EUR150/month, EUR1800/year per company, consistent with the founder instruction to remove the EUR300 target. Track acquisition, retention and servicing effort by country and channel. Expansion demand remains to be validated.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investor ask, not agreed transaction terms or independent valuation. Raise EUR30000 through a new equity investment for10% post-money ownership. Implied post-money EUR300000 and pre-money EUR270000. Budget six months: founder/company cost EUR3000/month=18000; product/onboarding EUR1000/month=6000; acquisition EUR500/month=3000; software/admin EUR250/month=1500;contingency EUR1500. Total EUR30000. These are planning allocations, not confirmed compensation or vendor quotes. Founder cost is total company cost, not a promised net salary. Revenue not deducted from funding requirement or assumed guaranteed; actual continued revenue provides additional buffer. Targets:15 total paying companies from current5, approximately EUR2250 MRR at EUR150 average per company;&gt;=80%8-week retention among new paid cohorts old enough to measure;average ongoing support&lt;=30min per paying client per week. Neither targets nor acquisition rates guaranteed. Existing80-contact sample supports5current paying and6ever-paid;at6.25% snapshot ratio10extra payers could require roughly160additional comparable contacts before future churn. This is a workload illustration, not a validated forecast. Valuation and investment terms are an opening proposal, subject to agreement.</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C3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E5FC32-0DEE-4A21-B9C0-577B454F2882}"/>
              </a:ext>
            </a:extLst>
          </p:cNvPr>
          <p:cNvSpPr>
            <a:spLocks noGrp="1"/>
          </p:cNvSpPr>
          <p:nvPr/>
        </p:nvSpPr>
        <p:spPr>
          <a:xfrm>
            <a:off x="685800" y="904875"/>
            <a:ext cx="10477500" cy="1047750"/>
          </a:xfrm>
          <a:prstGeom prst="rect">
            <a:avLst/>
          </a:prstGeom>
          <a:noFill/>
          <a:ln w="0">
            <a:noFill/>
          </a:ln>
        </p:spPr>
        <p:txBody>
          <a:bodyPr>
            <a:noAutofit/>
          </a:bodyPr>
          <a:lstStyle/>
          <a:p>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a:ext uri="{FF2B5EF4-FFF2-40B4-BE49-F238E27FC236}">
                <a16:creationId xmlns:a16="http://schemas.microsoft.com/office/drawing/2014/main" id="{3C6033E0-0B5D-472C-810C-0F7D39581D1C}"/>
              </a:ext>
            </a:extLst>
          </p:cNvPr>
          <p:cNvSpPr>
            <a:spLocks noGrp="1"/>
          </p:cNvSpPr>
          <p:nvPr/>
        </p:nvSpPr>
        <p:spPr>
          <a:xfrm>
            <a:off x="685800" y="2619375"/>
            <a:ext cx="10191750" cy="1714500"/>
          </a:xfrm>
          <a:prstGeom prst="rect">
            <a:avLst/>
          </a:prstGeom>
          <a:noFill/>
          <a:ln w="0">
            <a:noFill/>
          </a:ln>
        </p:spPr>
        <p:txBody>
          <a:bodyPr>
            <a:noAutofit/>
          </a:bodyPr>
          <a:lstStyle/>
          <a:p>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a:ext uri="{FF2B5EF4-FFF2-40B4-BE49-F238E27FC236}">
                <a16:creationId xmlns:a16="http://schemas.microsoft.com/office/drawing/2014/main" id="{C5C52780-E57C-4F40-984A-4BD187FD2111}"/>
              </a:ext>
            </a:extLst>
          </p:cNvPr>
          <p:cNvSpPr>
            <a:spLocks noGrp="1"/>
          </p:cNvSpPr>
          <p:nvPr/>
        </p:nvSpPr>
        <p:spPr>
          <a:xfrm>
            <a:off x="723900" y="5095875"/>
            <a:ext cx="9048750" cy="523875"/>
          </a:xfrm>
          <a:prstGeom prst="rect">
            <a:avLst/>
          </a:prstGeom>
          <a:noFill/>
          <a:ln w="0">
            <a:noFill/>
          </a:ln>
        </p:spPr>
        <p:txBody>
          <a:bodyPr>
            <a:noAutofit/>
          </a:bodyPr>
          <a:lstStyle/>
          <a:p>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a:ext uri="{FF2B5EF4-FFF2-40B4-BE49-F238E27FC236}">
                <a16:creationId xmlns:a16="http://schemas.microsoft.com/office/drawing/2014/main" id="{C2FCABF3-F45B-4F20-8BD7-8C945E0A4605}"/>
              </a:ext>
            </a:extLst>
          </p:cNvPr>
          <p:cNvSpPr>
            <a:spLocks noGrp="1"/>
          </p:cNvSpPr>
          <p:nvPr/>
        </p:nvSpPr>
        <p:spPr>
          <a:xfrm>
            <a:off x="723900" y="6143625"/>
            <a:ext cx="9048750" cy="333375"/>
          </a:xfrm>
          <a:prstGeom prst="rect">
            <a:avLst/>
          </a:prstGeom>
          <a:noFill/>
          <a:ln w="0">
            <a:noFill/>
          </a:ln>
        </p:spPr>
        <p:txBody>
          <a:bodyPr>
            <a:noAutofit/>
          </a:bodyPr>
          <a:lstStyle/>
          <a:p>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056B9B50-45BB-4165-9D52-E87F2BF27035}"/>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C0778ED-BCB2-4B42-8D42-E530CCAADE3A}"/>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dirty="0">
                <a:solidFill>
                  <a:srgbClr val="122C32"/>
                </a:solidFill>
                <a:latin typeface="Bitstream Charter"/>
                <a:ea typeface="Bitstream Charter"/>
                <a:cs typeface="Bitstream Charter"/>
              </a:rPr>
              <a:t>Problem</a:t>
            </a:r>
            <a:r>
              <a:rPr lang="en-US" sz="3600" b="1" dirty="0">
                <a:solidFill>
                  <a:srgbClr val="122C32"/>
                </a:solidFill>
                <a:latin typeface="Bitstream Charter"/>
                <a:ea typeface="Bitstream Charter"/>
                <a:cs typeface="Bitstream Charter"/>
              </a:rPr>
              <a:t>: collecting and analyzing site data is time consuming</a:t>
            </a:r>
            <a:endParaRPr lang="en-US" sz="3600" b="1" dirty="0">
              <a:solidFill>
                <a:srgbClr val="122C32"/>
              </a:solidFill>
              <a:highlight>
                <a:srgbClr val="FFFF00"/>
              </a:highlight>
              <a:latin typeface="Bitstream Charter"/>
              <a:ea typeface="Bitstream Charter"/>
              <a:cs typeface="Bitstream Charter"/>
            </a:endParaRPr>
          </a:p>
        </p:txBody>
      </p:sp>
      <p:sp>
        <p:nvSpPr>
          <p:cNvPr id="3" name="Rectangle 2">
            <a:extLst>
              <a:ext uri="{FF2B5EF4-FFF2-40B4-BE49-F238E27FC236}">
                <a16:creationId xmlns:a16="http://schemas.microsoft.com/office/drawing/2014/main" id="{B0BDDCAD-D72E-4831-A6AD-FC36049E0588}"/>
              </a:ext>
            </a:extLst>
          </p:cNvPr>
          <p:cNvSpPr>
            <a:spLocks noGrp="1"/>
          </p:cNvSpPr>
          <p:nvPr/>
        </p:nvSpPr>
        <p:spPr>
          <a:xfrm>
            <a:off x="995362" y="2057400"/>
            <a:ext cx="10668000" cy="952500"/>
          </a:xfrm>
          <a:prstGeom prst="rect">
            <a:avLst/>
          </a:prstGeom>
          <a:noFill/>
          <a:ln w="0">
            <a:noFill/>
          </a:ln>
        </p:spPr>
        <p:txBody>
          <a:bodyPr>
            <a:noAutofit/>
          </a:bodyPr>
          <a:lstStyle/>
          <a:p>
            <a:pPr>
              <a:buNone/>
              <a:defRPr sz="2400" b="0">
                <a:solidFill>
                  <a:srgbClr val="122C32"/>
                </a:solidFill>
                <a:latin typeface="Bitstream Charter"/>
                <a:ea typeface="Bitstream Charter"/>
                <a:cs typeface="Bitstream Charter"/>
              </a:defRPr>
            </a:pPr>
            <a:r>
              <a:rPr lang="lv-LV" sz="2400" dirty="0">
                <a:solidFill>
                  <a:srgbClr val="122C32"/>
                </a:solidFill>
                <a:latin typeface="Bitstream Charter"/>
              </a:rPr>
              <a:t>WorksRecorded helps project managers save time by collecting and analysing site data for them</a:t>
            </a:r>
            <a:endParaRPr sz="2400" b="0" dirty="0">
              <a:solidFill>
                <a:srgbClr val="122C32"/>
              </a:solidFill>
              <a:latin typeface="Bitstream Charter"/>
              <a:ea typeface="Bitstream Charter"/>
              <a:cs typeface="Bitstream Charter"/>
            </a:endParaRPr>
          </a:p>
        </p:txBody>
      </p:sp>
      <p:sp>
        <p:nvSpPr>
          <p:cNvPr id="4" name="Rectangle 3">
            <a:extLst>
              <a:ext uri="{FF2B5EF4-FFF2-40B4-BE49-F238E27FC236}">
                <a16:creationId xmlns:a16="http://schemas.microsoft.com/office/drawing/2014/main" id="{DF9F14C3-3F94-4553-9594-7AE3726B09A3}"/>
              </a:ext>
            </a:extLst>
          </p:cNvPr>
          <p:cNvSpPr>
            <a:spLocks noGrp="1"/>
          </p:cNvSpPr>
          <p:nvPr/>
        </p:nvSpPr>
        <p:spPr>
          <a:xfrm>
            <a:off x="685800" y="31432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a:ext uri="{FF2B5EF4-FFF2-40B4-BE49-F238E27FC236}">
                <a16:creationId xmlns:a16="http://schemas.microsoft.com/office/drawing/2014/main" id="{4D940AC5-04DA-4D32-80C5-7AAEDD3311FE}"/>
              </a:ext>
            </a:extLst>
          </p:cNvPr>
          <p:cNvSpPr>
            <a:spLocks noGrp="1"/>
          </p:cNvSpPr>
          <p:nvPr/>
        </p:nvSpPr>
        <p:spPr>
          <a:xfrm>
            <a:off x="1524000" y="31432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Direct loses</a:t>
            </a:r>
            <a:endParaRPr sz="2250" b="1" dirty="0">
              <a:solidFill>
                <a:srgbClr val="122C32"/>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77C495F6-8883-43A7-BE1F-B21C1D694BB7}"/>
              </a:ext>
            </a:extLst>
          </p:cNvPr>
          <p:cNvSpPr>
            <a:spLocks noGrp="1"/>
          </p:cNvSpPr>
          <p:nvPr/>
        </p:nvSpPr>
        <p:spPr>
          <a:xfrm>
            <a:off x="1524000" y="36671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lv-LV" sz="1875" b="0" dirty="0">
                <a:solidFill>
                  <a:srgbClr val="52686B"/>
                </a:solidFill>
                <a:latin typeface="Bitstream Charter"/>
                <a:ea typeface="Bitstream Charter"/>
                <a:cs typeface="Bitstream Charter"/>
              </a:rPr>
              <a:t>Proper data collection on site activities for medium size project (10-15 workers) – is around 30 min a day + half a day a month to analyze = 15 hours a week. </a:t>
            </a:r>
            <a:endParaRPr sz="1875" b="0" dirty="0">
              <a:solidFill>
                <a:srgbClr val="52686B"/>
              </a:solidFill>
              <a:latin typeface="Bitstream Charter"/>
              <a:ea typeface="Bitstream Charter"/>
              <a:cs typeface="Bitstream Charter"/>
            </a:endParaRPr>
          </a:p>
        </p:txBody>
      </p:sp>
      <p:sp>
        <p:nvSpPr>
          <p:cNvPr id="7" name="Rectangle 6">
            <a:extLst>
              <a:ext uri="{FF2B5EF4-FFF2-40B4-BE49-F238E27FC236}">
                <a16:creationId xmlns:a16="http://schemas.microsoft.com/office/drawing/2014/main" id="{2E0EB585-E9C5-402A-A012-3AAF584131CF}"/>
              </a:ext>
            </a:extLst>
          </p:cNvPr>
          <p:cNvSpPr>
            <a:spLocks noGrp="1"/>
          </p:cNvSpPr>
          <p:nvPr/>
        </p:nvSpPr>
        <p:spPr>
          <a:xfrm>
            <a:off x="685800" y="46958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a:ext uri="{FF2B5EF4-FFF2-40B4-BE49-F238E27FC236}">
                <a16:creationId xmlns:a16="http://schemas.microsoft.com/office/drawing/2014/main" id="{5461938E-ED1C-4B79-89A4-1A63F100F5BB}"/>
              </a:ext>
            </a:extLst>
          </p:cNvPr>
          <p:cNvSpPr>
            <a:spLocks noGrp="1"/>
          </p:cNvSpPr>
          <p:nvPr/>
        </p:nvSpPr>
        <p:spPr>
          <a:xfrm>
            <a:off x="1524000" y="46958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Indirect losses</a:t>
            </a:r>
            <a:endParaRPr sz="2250" b="1" dirty="0">
              <a:solidFill>
                <a:srgbClr val="122C32"/>
              </a:solidFill>
              <a:latin typeface="Bitstream Charter"/>
              <a:ea typeface="Bitstream Charter"/>
              <a:cs typeface="Bitstream Charter"/>
            </a:endParaRPr>
          </a:p>
        </p:txBody>
      </p:sp>
      <p:sp>
        <p:nvSpPr>
          <p:cNvPr id="9" name="Rectangle 8">
            <a:extLst>
              <a:ext uri="{FF2B5EF4-FFF2-40B4-BE49-F238E27FC236}">
                <a16:creationId xmlns:a16="http://schemas.microsoft.com/office/drawing/2014/main" id="{AE14D021-5633-4CA7-B7BD-ADD9E092A521}"/>
              </a:ext>
            </a:extLst>
          </p:cNvPr>
          <p:cNvSpPr>
            <a:spLocks noGrp="1"/>
          </p:cNvSpPr>
          <p:nvPr/>
        </p:nvSpPr>
        <p:spPr>
          <a:xfrm>
            <a:off x="1524000" y="52197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lv-LV" sz="1875" dirty="0">
                <a:solidFill>
                  <a:srgbClr val="52686B"/>
                </a:solidFill>
                <a:latin typeface="Bitstream Charter"/>
                <a:ea typeface="Bitstream Charter"/>
                <a:cs typeface="Bitstream Charter"/>
              </a:rPr>
              <a:t>When managment overloaded, data analytics often is skipped, which negatviely affects planning and result in rewors/delays/additional work </a:t>
            </a:r>
            <a:endParaRPr sz="1875" b="0" dirty="0">
              <a:solidFill>
                <a:srgbClr val="52686B"/>
              </a:solidFill>
              <a:latin typeface="Bitstream Charter"/>
              <a:ea typeface="Bitstream Charter"/>
              <a:cs typeface="Bitstream Charter"/>
            </a:endParaRPr>
          </a:p>
        </p:txBody>
      </p:sp>
      <p:sp>
        <p:nvSpPr>
          <p:cNvPr id="11" name="Rectangle 10">
            <a:extLst>
              <a:ext uri="{FF2B5EF4-FFF2-40B4-BE49-F238E27FC236}">
                <a16:creationId xmlns:a16="http://schemas.microsoft.com/office/drawing/2014/main" id="{610D82F2-5E24-46A2-8063-9369D3AB2FAF}"/>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F514FA7-0554-4316-91E5-30FDDE89B4EB}"/>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a:ext uri="{FF2B5EF4-FFF2-40B4-BE49-F238E27FC236}">
                <a16:creationId xmlns:a16="http://schemas.microsoft.com/office/drawing/2014/main" id="{766CF1E1-1D5C-4E3E-83B0-4C3E4D57E753}"/>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A2A7A93A-5549-496F-A374-F394A6EC4CA1}"/>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a:ext uri="{FF2B5EF4-FFF2-40B4-BE49-F238E27FC236}">
                <a16:creationId xmlns:a16="http://schemas.microsoft.com/office/drawing/2014/main" id="{33BCD30B-329D-4DCC-B4E1-0CE203F80E24}"/>
              </a:ext>
            </a:extLst>
          </p:cNvPr>
          <p:cNvSpPr>
            <a:spLocks noGrp="1"/>
          </p:cNvSpPr>
          <p:nvPr/>
        </p:nvSpPr>
        <p:spPr>
          <a:xfrm>
            <a:off x="1524000" y="238125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a:ext uri="{FF2B5EF4-FFF2-40B4-BE49-F238E27FC236}">
                <a16:creationId xmlns:a16="http://schemas.microsoft.com/office/drawing/2014/main" id="{A0C3026F-41DF-4EE6-953C-D66B620F47E0}"/>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72657F94-172D-49F9-9A94-8B8DEA8B55B7}"/>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a:ext uri="{FF2B5EF4-FFF2-40B4-BE49-F238E27FC236}">
                <a16:creationId xmlns:a16="http://schemas.microsoft.com/office/drawing/2014/main" id="{5CE9F297-D90B-4F83-B221-FC09E6E71972}"/>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a:ext uri="{FF2B5EF4-FFF2-40B4-BE49-F238E27FC236}">
                <a16:creationId xmlns:a16="http://schemas.microsoft.com/office/drawing/2014/main" id="{94A69771-EE8C-48B2-B62E-7FDE26F9F693}"/>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466E4A16-E5C9-48D9-976B-203573C4AE29}"/>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a:ext uri="{FF2B5EF4-FFF2-40B4-BE49-F238E27FC236}">
                <a16:creationId xmlns:a16="http://schemas.microsoft.com/office/drawing/2014/main" id="{A8AE9124-B3BD-463C-8E00-230CE3CFD146}"/>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Rectangle 12">
            <a:extLst>
              <a:ext uri="{FF2B5EF4-FFF2-40B4-BE49-F238E27FC236}">
                <a16:creationId xmlns:a16="http://schemas.microsoft.com/office/drawing/2014/main" id="{037EEB29-8E5F-4284-BB51-4C741FE5734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A645D17-DC3B-CD19-1A56-49C34E0154A6}"/>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a:ext uri="{FF2B5EF4-FFF2-40B4-BE49-F238E27FC236}">
                <a16:creationId xmlns:a16="http://schemas.microsoft.com/office/drawing/2014/main" id="{D8D09C23-A343-119D-0640-E09AAE2702C9}"/>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361D22E2-D781-3AC0-19FC-AF18102F03C4}"/>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a:ext uri="{FF2B5EF4-FFF2-40B4-BE49-F238E27FC236}">
                <a16:creationId xmlns:a16="http://schemas.microsoft.com/office/drawing/2014/main" id="{ADF20A53-2AD3-4CA3-6B21-D35FC07ED6D9}"/>
              </a:ext>
            </a:extLst>
          </p:cNvPr>
          <p:cNvSpPr>
            <a:spLocks noGrp="1"/>
          </p:cNvSpPr>
          <p:nvPr/>
        </p:nvSpPr>
        <p:spPr>
          <a:xfrm>
            <a:off x="1524000" y="2381250"/>
            <a:ext cx="9429750" cy="714375"/>
          </a:xfrm>
          <a:prstGeom prst="rect">
            <a:avLst/>
          </a:prstGeom>
          <a:noFill/>
          <a:ln w="0">
            <a:noFill/>
          </a:ln>
        </p:spPr>
        <p:txBody>
          <a:bodyPr>
            <a:noAutofit/>
          </a:bodyPr>
          <a:lstStyle/>
          <a:p>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a:ext uri="{FF2B5EF4-FFF2-40B4-BE49-F238E27FC236}">
                <a16:creationId xmlns:a16="http://schemas.microsoft.com/office/drawing/2014/main" id="{65EE6F05-0976-85CC-862D-D4FBA490DFEF}"/>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345F904B-50CB-29E8-96FB-0F3139356CF2}"/>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a:ext uri="{FF2B5EF4-FFF2-40B4-BE49-F238E27FC236}">
                <a16:creationId xmlns:a16="http://schemas.microsoft.com/office/drawing/2014/main" id="{00971A1E-9BC9-44EF-1A19-CBD10E29D59E}"/>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a:ext uri="{FF2B5EF4-FFF2-40B4-BE49-F238E27FC236}">
                <a16:creationId xmlns:a16="http://schemas.microsoft.com/office/drawing/2014/main" id="{49388B51-3B61-CACC-AC9B-480F0BB88D15}"/>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9BE9775C-1FDF-9F7C-68A7-1AC278BF4F5C}"/>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a:ext uri="{FF2B5EF4-FFF2-40B4-BE49-F238E27FC236}">
                <a16:creationId xmlns:a16="http://schemas.microsoft.com/office/drawing/2014/main" id="{21E616BF-B03A-854C-AB20-527C08EE5D24}"/>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Rectangle 12">
            <a:extLst>
              <a:ext uri="{FF2B5EF4-FFF2-40B4-BE49-F238E27FC236}">
                <a16:creationId xmlns:a16="http://schemas.microsoft.com/office/drawing/2014/main" id="{B99F35EB-7035-4015-BD9F-9D86C82538C4}"/>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a:extLst>
            <a:ext uri="{FF2B5EF4-FFF2-40B4-BE49-F238E27FC236}">
              <a16:creationId xmlns:a16="http://schemas.microsoft.com/office/drawing/2014/main" id="{DFE438CB-1EB2-A8FB-7DEA-5CDECF3D1CD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9C1972E-2A37-44EB-4C78-2116FD17AE85}"/>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lang="lv-LV" sz="3600" b="1" dirty="0">
                <a:solidFill>
                  <a:srgbClr val="122C32"/>
                </a:solidFill>
                <a:latin typeface="Bitstream Charter"/>
                <a:ea typeface="Bitstream Charter"/>
                <a:cs typeface="Bitstream Charter"/>
              </a:rPr>
              <a:t>Why customers stay? </a:t>
            </a:r>
            <a:endParaRPr sz="3600" b="1" dirty="0">
              <a:solidFill>
                <a:srgbClr val="122C32"/>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4F7B2265-5A4D-194B-3263-D3160C3B492D}"/>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400B3647-875A-5206-BC58-0C51EF7E1F96}"/>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Custom development</a:t>
            </a:r>
            <a:endParaRPr sz="2250" b="1" dirty="0">
              <a:solidFill>
                <a:srgbClr val="122C32"/>
              </a:solidFill>
              <a:latin typeface="Bitstream Charter"/>
              <a:ea typeface="Bitstream Charter"/>
              <a:cs typeface="Bitstream Charter"/>
            </a:endParaRPr>
          </a:p>
        </p:txBody>
      </p:sp>
      <p:sp>
        <p:nvSpPr>
          <p:cNvPr id="5" name="Rectangle 4">
            <a:extLst>
              <a:ext uri="{FF2B5EF4-FFF2-40B4-BE49-F238E27FC236}">
                <a16:creationId xmlns:a16="http://schemas.microsoft.com/office/drawing/2014/main" id="{CCDED8A0-AB21-ED5B-971D-E24062988BDC}"/>
              </a:ext>
            </a:extLst>
          </p:cNvPr>
          <p:cNvSpPr>
            <a:spLocks noGrp="1"/>
          </p:cNvSpPr>
          <p:nvPr/>
        </p:nvSpPr>
        <p:spPr>
          <a:xfrm>
            <a:off x="1524000" y="2381250"/>
            <a:ext cx="9429750" cy="714375"/>
          </a:xfrm>
          <a:prstGeom prst="rect">
            <a:avLst/>
          </a:prstGeom>
          <a:noFill/>
          <a:ln w="0">
            <a:noFill/>
          </a:ln>
        </p:spPr>
        <p:txBody>
          <a:bodyPr>
            <a:noAutofit/>
          </a:bodyPr>
          <a:lstStyle/>
          <a:p>
            <a:r>
              <a:rPr lang="lv-LV" sz="1875" dirty="0">
                <a:solidFill>
                  <a:srgbClr val="52686B"/>
                </a:solidFill>
                <a:latin typeface="Bitstream Charter"/>
                <a:ea typeface="Bitstream Charter"/>
                <a:cs typeface="Bitstream Charter"/>
              </a:rPr>
              <a:t>We sign contract for a year and offer free development as motivaition. This way we customize solution to client</a:t>
            </a:r>
            <a:r>
              <a:rPr lang="en-US" sz="1875" dirty="0">
                <a:solidFill>
                  <a:srgbClr val="52686B"/>
                </a:solidFill>
                <a:latin typeface="Bitstream Charter"/>
                <a:ea typeface="Bitstream Charter"/>
                <a:cs typeface="Bitstream Charter"/>
              </a:rPr>
              <a:t>s need making it harder to switch</a:t>
            </a:r>
            <a:endParaRPr sz="1875" dirty="0">
              <a:solidFill>
                <a:srgbClr val="52686B"/>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40188201-042A-AFD8-E3E9-95B97D64753A}"/>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8E39BBF1-1AE1-601B-E710-B1B5AD76D0E0}"/>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en-US" sz="2250" b="1" dirty="0">
                <a:solidFill>
                  <a:srgbClr val="122C32"/>
                </a:solidFill>
                <a:latin typeface="Bitstream Charter"/>
                <a:ea typeface="Bitstream Charter"/>
                <a:cs typeface="Bitstream Charter"/>
              </a:rPr>
              <a:t>Data accumulation</a:t>
            </a:r>
            <a:endParaRPr sz="2250" b="1" dirty="0">
              <a:solidFill>
                <a:srgbClr val="122C32"/>
              </a:solidFill>
              <a:latin typeface="Bitstream Charter"/>
              <a:ea typeface="Bitstream Charter"/>
              <a:cs typeface="Bitstream Charter"/>
            </a:endParaRPr>
          </a:p>
        </p:txBody>
      </p:sp>
      <p:sp>
        <p:nvSpPr>
          <p:cNvPr id="8" name="Rectangle 7">
            <a:extLst>
              <a:ext uri="{FF2B5EF4-FFF2-40B4-BE49-F238E27FC236}">
                <a16:creationId xmlns:a16="http://schemas.microsoft.com/office/drawing/2014/main" id="{C385260F-1F00-15E5-D7C2-3733824DB786}"/>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en-US" sz="1875" b="0" dirty="0">
                <a:solidFill>
                  <a:srgbClr val="52686B"/>
                </a:solidFill>
                <a:latin typeface="Bitstream Charter"/>
                <a:ea typeface="Bitstream Charter"/>
                <a:cs typeface="Bitstream Charter"/>
              </a:rPr>
              <a:t>When clients start using our solution, </a:t>
            </a:r>
            <a:r>
              <a:rPr lang="en-US" sz="1875" dirty="0">
                <a:solidFill>
                  <a:srgbClr val="52686B"/>
                </a:solidFill>
                <a:latin typeface="Bitstream Charter"/>
                <a:ea typeface="Bitstream Charter"/>
                <a:cs typeface="Bitstream Charter"/>
              </a:rPr>
              <a:t>data accumulates in </a:t>
            </a:r>
            <a:r>
              <a:rPr lang="en-US" sz="1875" dirty="0" err="1">
                <a:solidFill>
                  <a:srgbClr val="52686B"/>
                </a:solidFill>
                <a:latin typeface="Bitstream Charter"/>
                <a:ea typeface="Bitstream Charter"/>
                <a:cs typeface="Bitstream Charter"/>
              </a:rPr>
              <a:t>WorksRecorded</a:t>
            </a:r>
            <a:r>
              <a:rPr lang="en-US" sz="1875" dirty="0">
                <a:solidFill>
                  <a:srgbClr val="52686B"/>
                </a:solidFill>
                <a:latin typeface="Bitstream Charter"/>
                <a:ea typeface="Bitstream Charter"/>
                <a:cs typeface="Bitstream Charter"/>
              </a:rPr>
              <a:t> and it becomes more difficult to switch </a:t>
            </a:r>
            <a:endParaRPr sz="1875" b="0" dirty="0">
              <a:solidFill>
                <a:srgbClr val="52686B"/>
              </a:solidFill>
              <a:latin typeface="Bitstream Charter"/>
              <a:ea typeface="Bitstream Charter"/>
              <a:cs typeface="Bitstream Charter"/>
            </a:endParaRPr>
          </a:p>
        </p:txBody>
      </p:sp>
      <p:sp>
        <p:nvSpPr>
          <p:cNvPr id="9" name="Rectangle 8">
            <a:extLst>
              <a:ext uri="{FF2B5EF4-FFF2-40B4-BE49-F238E27FC236}">
                <a16:creationId xmlns:a16="http://schemas.microsoft.com/office/drawing/2014/main" id="{127C9896-980A-E4E2-BA01-25C77D49A7BA}"/>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dirty="0">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8154F0B1-A459-7B82-740A-8F065DF06065}"/>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en-US" sz="2250" b="1" dirty="0">
                <a:solidFill>
                  <a:srgbClr val="122C32"/>
                </a:solidFill>
                <a:latin typeface="Bitstream Charter"/>
                <a:ea typeface="Bitstream Charter"/>
                <a:cs typeface="Bitstream Charter"/>
              </a:rPr>
              <a:t>AI mapping</a:t>
            </a:r>
            <a:endParaRPr sz="2250" b="1" dirty="0">
              <a:solidFill>
                <a:srgbClr val="122C32"/>
              </a:solidFill>
              <a:latin typeface="Bitstream Charter"/>
              <a:ea typeface="Bitstream Charter"/>
              <a:cs typeface="Bitstream Charter"/>
            </a:endParaRPr>
          </a:p>
        </p:txBody>
      </p:sp>
      <p:sp>
        <p:nvSpPr>
          <p:cNvPr id="11" name="Rectangle 10">
            <a:extLst>
              <a:ext uri="{FF2B5EF4-FFF2-40B4-BE49-F238E27FC236}">
                <a16:creationId xmlns:a16="http://schemas.microsoft.com/office/drawing/2014/main" id="{405B4002-EEF3-9CE4-00D2-057FD1FBC829}"/>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en-US" sz="1875" b="0" dirty="0">
                <a:solidFill>
                  <a:srgbClr val="52686B"/>
                </a:solidFill>
                <a:latin typeface="Bitstream Charter"/>
                <a:ea typeface="Bitstream Charter"/>
                <a:cs typeface="Bitstream Charter"/>
              </a:rPr>
              <a:t>We develop custom AI mapping for each client. For example for limeni.lv we calculate consumption of materials based on the drawings/workers report (to flag </a:t>
            </a:r>
            <a:r>
              <a:rPr lang="en-US" sz="1875" b="0">
                <a:solidFill>
                  <a:srgbClr val="52686B"/>
                </a:solidFill>
                <a:latin typeface="Bitstream Charter"/>
                <a:ea typeface="Bitstream Charter"/>
                <a:cs typeface="Bitstream Charter"/>
              </a:rPr>
              <a:t>any overconsumption)</a:t>
            </a:r>
            <a:endParaRPr sz="1875" b="0" dirty="0">
              <a:solidFill>
                <a:srgbClr val="52686B"/>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A1BE075B-2A81-D858-DCB0-D37110AE7968}"/>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308150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A645D17-DC3B-CD19-1A56-49C34E0154A6}"/>
              </a:ext>
            </a:extLst>
          </p:cNvPr>
          <p:cNvSpPr>
            <a:spLocks noGrp="1"/>
          </p:cNvSpPr>
          <p:nvPr/>
        </p:nvSpPr>
        <p:spPr>
          <a:xfrm>
            <a:off x="685800" y="571500"/>
            <a:ext cx="10820400" cy="952500"/>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D8D09C23-A343-119D-0640-E09AAE2702C9}"/>
              </a:ext>
            </a:extLst>
          </p:cNvPr>
          <p:cNvSpPr>
            <a:spLocks noGrp="1"/>
          </p:cNvSpPr>
          <p:nvPr/>
        </p:nvSpPr>
        <p:spPr>
          <a:xfrm>
            <a:off x="685800" y="1628013"/>
            <a:ext cx="10477500" cy="333375"/>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18" name="Picture 9"/>
          <p:cNvPicPr>
            <a:picLocks noChangeAspect="1"/>
          </p:cNvPicPr>
          <p:nvPr/>
        </p:nvPicPr>
        <p:blipFill>
          <a:blip r:embed="rId3"/>
          <a:stretch>
            <a:fillRect/>
          </a:stretch>
        </p:blipFill>
        <p:spPr>
          <a:xfrm>
            <a:off x="1511046" y="1628013"/>
            <a:ext cx="8827008" cy="4413504"/>
          </a:xfrm>
          <a:prstGeom prst="rect">
            <a:avLst/>
          </a:prstGeom>
        </p:spPr>
      </p:pic>
      <p:sp>
        <p:nvSpPr>
          <p:cNvPr id="14" name="Rectangle 13">
            <a:extLst>
              <a:ext uri="{FF2B5EF4-FFF2-40B4-BE49-F238E27FC236}">
                <a16:creationId xmlns:a16="http://schemas.microsoft.com/office/drawing/2014/main" id="{E69786E7-9BD7-49E1-8E00-D7DF88C0869A}"/>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8C0D80-D5DE-467F-A114-569B00F59906}"/>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a:ext uri="{FF2B5EF4-FFF2-40B4-BE49-F238E27FC236}">
                <a16:creationId xmlns:a16="http://schemas.microsoft.com/office/drawing/2014/main" id="{64E5D290-6F78-4046-A7CE-E38222F86C5D}"/>
              </a:ext>
            </a:extLst>
          </p:cNvPr>
          <p:cNvSpPr>
            <a:spLocks noGrp="1"/>
          </p:cNvSpPr>
          <p:nvPr/>
        </p:nvSpPr>
        <p:spPr>
          <a:xfrm>
            <a:off x="685800" y="1952625"/>
            <a:ext cx="5715000" cy="1333500"/>
          </a:xfrm>
          <a:prstGeom prst="rect">
            <a:avLst/>
          </a:prstGeom>
          <a:noFill/>
          <a:ln w="0">
            <a:noFill/>
          </a:ln>
        </p:spPr>
        <p:txBody>
          <a:bodyPr>
            <a:noAutofit/>
          </a:bodyPr>
          <a:lstStyle/>
          <a:p>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a:ext uri="{FF2B5EF4-FFF2-40B4-BE49-F238E27FC236}">
                <a16:creationId xmlns:a16="http://schemas.microsoft.com/office/drawing/2014/main" id="{BB7BDF1D-5A67-4F36-A377-4F8580A99F95}"/>
              </a:ext>
            </a:extLst>
          </p:cNvPr>
          <p:cNvSpPr>
            <a:spLocks noGrp="1"/>
          </p:cNvSpPr>
          <p:nvPr/>
        </p:nvSpPr>
        <p:spPr>
          <a:xfrm>
            <a:off x="723900" y="3362325"/>
            <a:ext cx="5905500" cy="523875"/>
          </a:xfrm>
          <a:prstGeom prst="rect">
            <a:avLst/>
          </a:prstGeom>
          <a:noFill/>
          <a:ln w="0">
            <a:noFill/>
          </a:ln>
        </p:spPr>
        <p:txBody>
          <a:bodyPr>
            <a:noAutofit/>
          </a:bodyPr>
          <a:lstStyle/>
          <a:p>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a:ext uri="{FF2B5EF4-FFF2-40B4-BE49-F238E27FC236}">
                <a16:creationId xmlns:a16="http://schemas.microsoft.com/office/drawing/2014/main" id="{4340E1A3-BC7F-4E71-A39C-55B522DA4B04}"/>
              </a:ext>
            </a:extLst>
          </p:cNvPr>
          <p:cNvSpPr>
            <a:spLocks noGrp="1"/>
          </p:cNvSpPr>
          <p:nvPr/>
        </p:nvSpPr>
        <p:spPr>
          <a:xfrm>
            <a:off x="6858000" y="2076450"/>
            <a:ext cx="4572000" cy="2762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a:endParaRPr sz="2325" b="0">
              <a:solidFill>
                <a:srgbClr val="122C32"/>
              </a:solidFill>
              <a:latin typeface="Bitstream Charter"/>
              <a:ea typeface="Bitstream Charter"/>
              <a:cs typeface="Bitstream Charter"/>
            </a:endParaRP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a:ext uri="{FF2B5EF4-FFF2-40B4-BE49-F238E27FC236}">
                <a16:creationId xmlns:a16="http://schemas.microsoft.com/office/drawing/2014/main" id="{8A16FE9C-5BF7-4D1C-AB9F-990B61CBF628}"/>
              </a:ext>
            </a:extLst>
          </p:cNvPr>
          <p:cNvSpPr>
            <a:spLocks noGrp="1"/>
          </p:cNvSpPr>
          <p:nvPr/>
        </p:nvSpPr>
        <p:spPr>
          <a:xfrm>
            <a:off x="723900" y="5381625"/>
            <a:ext cx="10477500" cy="666750"/>
          </a:xfrm>
          <a:prstGeom prst="rect">
            <a:avLst/>
          </a:prstGeom>
          <a:noFill/>
          <a:ln w="0">
            <a:noFill/>
          </a:ln>
        </p:spPr>
        <p:txBody>
          <a:bodyPr>
            <a:noAutofit/>
          </a:bodyPr>
          <a:lstStyle/>
          <a:p>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Rectangle 7">
            <a:extLst>
              <a:ext uri="{FF2B5EF4-FFF2-40B4-BE49-F238E27FC236}">
                <a16:creationId xmlns:a16="http://schemas.microsoft.com/office/drawing/2014/main" id="{38A13C7B-5C67-4031-9A6C-983B9E173DD9}"/>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clrMapOvr>
    <a:masterClrMapping/>
  </p:clrMapOvr>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7B4C317D-E8EF-42F7-A4B8-E521B631748D}"/>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Market size</a:t>
            </a:r>
          </a:p>
        </p:txBody>
      </p:sp>
      <p:sp>
        <p:nvSpPr>
          <p:cNvPr id="2" name="Rectangle 1">
            <a:extLst xmlns:a="http://schemas.openxmlformats.org/drawingml/2006/main">
              <a:ext uri="{FF2B5EF4-FFF2-40B4-BE49-F238E27FC236}">
                <a16:creationId xmlns:a16="http://schemas.microsoft.com/office/drawing/2014/main" id="{3EE285EB-C9BC-4304-9866-25E6A70D1815}"/>
              </a:ext>
            </a:extLst>
          </p:cNvPr>
          <p:cNvSpPr>
            <a:spLocks xmlns:a="http://schemas.openxmlformats.org/drawingml/2006/main" noGrp="1"/>
          </p:cNvSpPr>
          <p:nvPr/>
        </p:nvSpPr>
        <p:spPr>
          <a:xfrm xmlns:a="http://schemas.openxmlformats.org/drawingml/2006/main">
            <a:off x="723900" y="12573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Specialty trade contractors with 10–49 people employed</a:t>
            </a:r>
          </a:p>
        </p:txBody>
      </p:sp>
      <p:sp>
        <p:nvSpPr>
          <p:cNvPr id="3" name="Rectangle 2">
            <a:extLst xmlns:a="http://schemas.openxmlformats.org/drawingml/2006/main">
              <a:ext uri="{FF2B5EF4-FFF2-40B4-BE49-F238E27FC236}">
                <a16:creationId xmlns:a16="http://schemas.microsoft.com/office/drawing/2014/main" id="{5380B6D2-5FF0-485D-9E18-909AC785BC83}"/>
              </a:ext>
            </a:extLst>
          </p:cNvPr>
          <p:cNvSpPr>
            <a:spLocks xmlns:a="http://schemas.openxmlformats.org/drawingml/2006/main" noGrp="1"/>
          </p:cNvSpPr>
          <p:nvPr/>
        </p:nvSpPr>
        <p:spPr>
          <a:xfrm xmlns:a="http://schemas.openxmlformats.org/drawingml/2006/main">
            <a:off x="723900" y="1819275"/>
            <a:ext cx="600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00" b="1">
                <a:solidFill>
                  <a:srgbClr val="008579"/>
                </a:solidFill>
                <a:latin typeface="Calibri"/>
                <a:ea typeface="Calibri"/>
                <a:cs typeface="Calibri"/>
              </a:defRPr>
            </a:pPr>
            <a:r>
              <a:rPr sz="4500" b="1">
                <a:solidFill>
                  <a:srgbClr val="008579"/>
                </a:solidFill>
                <a:latin typeface="Calibri"/>
                <a:ea typeface="Calibri"/>
                <a:cs typeface="Calibri"/>
              </a:rPr>
              <a:t>€419.6M / year</a:t>
            </a:r>
          </a:p>
        </p:txBody>
      </p:sp>
      <p:sp>
        <p:nvSpPr>
          <p:cNvPr id="4" name="Rectangle 3">
            <a:extLst xmlns:a="http://schemas.openxmlformats.org/drawingml/2006/main">
              <a:ext uri="{FF2B5EF4-FFF2-40B4-BE49-F238E27FC236}">
                <a16:creationId xmlns:a16="http://schemas.microsoft.com/office/drawing/2014/main" id="{1EF495F3-BE02-48A6-A537-1376F1413150}"/>
              </a:ext>
            </a:extLst>
          </p:cNvPr>
          <p:cNvSpPr>
            <a:spLocks xmlns:a="http://schemas.openxmlformats.org/drawingml/2006/main" noGrp="1"/>
          </p:cNvSpPr>
          <p:nvPr/>
        </p:nvSpPr>
        <p:spPr>
          <a:xfrm xmlns:a="http://schemas.openxmlformats.org/drawingml/2006/main">
            <a:off x="7086600" y="19145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F35"/>
                </a:solidFill>
                <a:latin typeface="Calibri"/>
                <a:ea typeface="Calibri"/>
                <a:cs typeface="Calibri"/>
              </a:defRPr>
            </a:pPr>
            <a:r>
              <a:rPr sz="1875" b="0">
                <a:solidFill>
                  <a:srgbClr val="142F35"/>
                </a:solidFill>
                <a:latin typeface="Calibri"/>
                <a:ea typeface="Calibri"/>
                <a:cs typeface="Calibri"/>
              </a:rPr>
              <a:t>EU-27 + UK + USA: ~233,000 firms</a:t>
            </a:r>
          </a:p>
          <a:p xmlns:a="http://schemas.openxmlformats.org/drawingml/2006/main">
            <a:pPr>
              <a:buNone/>
              <a:defRPr sz="1875" b="0">
                <a:solidFill>
                  <a:srgbClr val="142F35"/>
                </a:solidFill>
                <a:latin typeface="Calibri"/>
                <a:ea typeface="Calibri"/>
                <a:cs typeface="Calibri"/>
              </a:defRPr>
            </a:pPr>
            <a:r>
              <a:rPr sz="1875" b="0">
                <a:solidFill>
                  <a:srgbClr val="142F35"/>
                </a:solidFill>
                <a:latin typeface="Calibri"/>
                <a:ea typeface="Calibri"/>
                <a:cs typeface="Calibri"/>
              </a:rPr>
              <a:t>At €150 per company per month</a:t>
            </a:r>
          </a:p>
        </p:txBody>
      </p:sp>
      <p:graphicFrame>
        <p:nvGraphicFramePr>
          <p:cNvPr id="16" name="Table 13"/>
          <p:cNvGraphicFramePr/>
          <p:nvPr/>
        </p:nvGraphicFramePr>
        <p:xfrm>
          <a:off xmlns:a="http://schemas.openxmlformats.org/drawingml/2006/main" x="762000" y="2857500"/>
          <a:ext xmlns:a="http://schemas.openxmlformats.org/drawingml/2006/main" cx="10668000" cy="2381250"/>
        </p:xfrm>
        <a:graphic xmlns:a="http://schemas.openxmlformats.org/drawingml/2006/main">
          <a:graphicData uri="http://schemas.openxmlformats.org/drawingml/2006/table">
            <a:tbl>
              <a:tblPr/>
              <a:tblGrid>
                <a:gridCol w="5000625"/>
                <a:gridCol w="2619375"/>
                <a:gridCol w="3048000"/>
              </a:tblGrid>
              <a:tr h="476250">
                <a:tc>
                  <a:txBody>
                    <a:bodyPr/>
                    <a:lstStyle/>
                    <a:p>
                      <a:r>
                        <a:rPr sz="1800" b="1">
                          <a:solidFill>
                            <a:srgbClr val="FFFFFF"/>
                          </a:solidFill>
                          <a:latin typeface="Calibri"/>
                          <a:ea typeface="Calibri"/>
                          <a:cs typeface="Calibri"/>
                        </a:rPr>
                        <a:t>Market / reference year</a:t>
                      </a:r>
                    </a:p>
                  </a:txBody>
                  <a:tcPr marL="91440" marR="91440" marT="45720" marB="45720">
                    <a:solidFill>
                      <a:srgbClr val="142F35"/>
                    </a:solidFill>
                  </a:tcPr>
                </a:tc>
                <a:tc>
                  <a:txBody>
                    <a:bodyPr/>
                    <a:lstStyle/>
                    <a:p>
                      <a:r>
                        <a:rPr sz="1800" b="1">
                          <a:solidFill>
                            <a:srgbClr val="FFFFFF"/>
                          </a:solidFill>
                          <a:latin typeface="Calibri"/>
                          <a:ea typeface="Calibri"/>
                          <a:cs typeface="Calibri"/>
                        </a:rPr>
                        <a:t>Companies</a:t>
                      </a:r>
                    </a:p>
                  </a:txBody>
                  <a:tcPr marL="91440" marR="91440" marT="45720" marB="45720">
                    <a:solidFill>
                      <a:srgbClr val="142F35"/>
                    </a:solidFill>
                  </a:tcPr>
                </a:tc>
                <a:tc>
                  <a:txBody>
                    <a:bodyPr/>
                    <a:lstStyle/>
                    <a:p>
                      <a:r>
                        <a:rPr sz="1800" b="1">
                          <a:solidFill>
                            <a:srgbClr val="FFFFFF"/>
                          </a:solidFill>
                          <a:latin typeface="Calibri"/>
                          <a:ea typeface="Calibri"/>
                          <a:cs typeface="Calibri"/>
                        </a:rPr>
                        <a:t>Annual potential</a:t>
                      </a:r>
                    </a:p>
                  </a:txBody>
                  <a:tcPr marL="91440" marR="91440" marT="45720" marB="45720">
                    <a:solidFill>
                      <a:srgbClr val="142F35"/>
                    </a:solidFill>
                  </a:tcPr>
                </a:tc>
              </a:tr>
              <a:tr h="476250">
                <a:tc>
                  <a:txBody>
                    <a:bodyPr/>
                    <a:lstStyle/>
                    <a:p>
                      <a:r>
                        <a:rPr sz="1800" b="0">
                          <a:solidFill>
                            <a:srgbClr val="142F35"/>
                          </a:solidFill>
                          <a:latin typeface="Calibri"/>
                          <a:ea typeface="Calibri"/>
                          <a:cs typeface="Calibri"/>
                        </a:rPr>
                        <a:t>EU-27 / 2023</a:t>
                      </a:r>
                    </a:p>
                  </a:txBody>
                  <a:tcPr marL="91440" marR="91440" marT="45720" marB="45720">
                    <a:solidFill>
                      <a:srgbClr val="F6F4EE"/>
                    </a:solidFill>
                  </a:tcPr>
                </a:tc>
                <a:tc>
                  <a:txBody>
                    <a:bodyPr/>
                    <a:lstStyle/>
                    <a:p>
                      <a:r>
                        <a:rPr sz="1800" b="0">
                          <a:solidFill>
                            <a:srgbClr val="142F35"/>
                          </a:solidFill>
                          <a:latin typeface="Calibri"/>
                          <a:ea typeface="Calibri"/>
                          <a:cs typeface="Calibri"/>
                        </a:rPr>
                        <a:t>141,914</a:t>
                      </a:r>
                    </a:p>
                  </a:txBody>
                  <a:tcPr marL="91440" marR="91440" marT="45720" marB="45720">
                    <a:solidFill>
                      <a:srgbClr val="F6F4EE"/>
                    </a:solidFill>
                  </a:tcPr>
                </a:tc>
                <a:tc>
                  <a:txBody>
                    <a:bodyPr/>
                    <a:lstStyle/>
                    <a:p>
                      <a:r>
                        <a:rPr sz="1800" b="0">
                          <a:solidFill>
                            <a:srgbClr val="142F35"/>
                          </a:solidFill>
                          <a:latin typeface="Calibri"/>
                          <a:ea typeface="Calibri"/>
                          <a:cs typeface="Calibri"/>
                        </a:rPr>
                        <a:t>€255.4M</a:t>
                      </a:r>
                    </a:p>
                  </a:txBody>
                  <a:tcPr marL="91440" marR="91440" marT="45720" marB="45720">
                    <a:solidFill>
                      <a:srgbClr val="F6F4EE"/>
                    </a:solidFill>
                  </a:tcPr>
                </a:tc>
              </a:tr>
              <a:tr h="476250">
                <a:tc>
                  <a:txBody>
                    <a:bodyPr/>
                    <a:lstStyle/>
                    <a:p>
                      <a:r>
                        <a:rPr sz="1800" b="0">
                          <a:solidFill>
                            <a:srgbClr val="142F35"/>
                          </a:solidFill>
                          <a:latin typeface="Calibri"/>
                          <a:ea typeface="Calibri"/>
                          <a:cs typeface="Calibri"/>
                        </a:rPr>
                        <a:t>UK / 2025</a:t>
                      </a:r>
                    </a:p>
                  </a:txBody>
                  <a:tcPr marL="91440" marR="91440" marT="45720" marB="45720">
                    <a:solidFill>
                      <a:srgbClr val="F6F4EE"/>
                    </a:solidFill>
                  </a:tcPr>
                </a:tc>
                <a:tc>
                  <a:txBody>
                    <a:bodyPr/>
                    <a:lstStyle/>
                    <a:p>
                      <a:r>
                        <a:rPr sz="1800" b="0">
                          <a:solidFill>
                            <a:srgbClr val="142F35"/>
                          </a:solidFill>
                          <a:latin typeface="Calibri"/>
                          <a:ea typeface="Calibri"/>
                          <a:cs typeface="Calibri"/>
                        </a:rPr>
                        <a:t>11,725</a:t>
                      </a:r>
                    </a:p>
                  </a:txBody>
                  <a:tcPr marL="91440" marR="91440" marT="45720" marB="45720">
                    <a:solidFill>
                      <a:srgbClr val="F6F4EE"/>
                    </a:solidFill>
                  </a:tcPr>
                </a:tc>
                <a:tc>
                  <a:txBody>
                    <a:bodyPr/>
                    <a:lstStyle/>
                    <a:p>
                      <a:r>
                        <a:rPr sz="1800" b="0">
                          <a:solidFill>
                            <a:srgbClr val="142F35"/>
                          </a:solidFill>
                          <a:latin typeface="Calibri"/>
                          <a:ea typeface="Calibri"/>
                          <a:cs typeface="Calibri"/>
                        </a:rPr>
                        <a:t>€21.1M</a:t>
                      </a:r>
                    </a:p>
                  </a:txBody>
                  <a:tcPr marL="91440" marR="91440" marT="45720" marB="45720">
                    <a:solidFill>
                      <a:srgbClr val="F6F4EE"/>
                    </a:solidFill>
                  </a:tcPr>
                </a:tc>
              </a:tr>
              <a:tr h="476250">
                <a:tc>
                  <a:txBody>
                    <a:bodyPr/>
                    <a:lstStyle/>
                    <a:p>
                      <a:r>
                        <a:rPr sz="1800" b="0">
                          <a:solidFill>
                            <a:srgbClr val="142F35"/>
                          </a:solidFill>
                          <a:latin typeface="Calibri"/>
                          <a:ea typeface="Calibri"/>
                          <a:cs typeface="Calibri"/>
                        </a:rPr>
                        <a:t>Sweden / 2023 (within EU-27)</a:t>
                      </a:r>
                    </a:p>
                  </a:txBody>
                  <a:tcPr marL="91440" marR="91440" marT="45720" marB="45720">
                    <a:solidFill>
                      <a:srgbClr val="F6F4EE"/>
                    </a:solidFill>
                  </a:tcPr>
                </a:tc>
                <a:tc>
                  <a:txBody>
                    <a:bodyPr/>
                    <a:lstStyle/>
                    <a:p>
                      <a:r>
                        <a:rPr sz="1800" b="0">
                          <a:solidFill>
                            <a:srgbClr val="142F35"/>
                          </a:solidFill>
                          <a:latin typeface="Calibri"/>
                          <a:ea typeface="Calibri"/>
                          <a:cs typeface="Calibri"/>
                        </a:rPr>
                        <a:t>4,235</a:t>
                      </a:r>
                    </a:p>
                  </a:txBody>
                  <a:tcPr marL="91440" marR="91440" marT="45720" marB="45720">
                    <a:solidFill>
                      <a:srgbClr val="F6F4EE"/>
                    </a:solidFill>
                  </a:tcPr>
                </a:tc>
                <a:tc>
                  <a:txBody>
                    <a:bodyPr/>
                    <a:lstStyle/>
                    <a:p>
                      <a:r>
                        <a:rPr sz="1800" b="0">
                          <a:solidFill>
                            <a:srgbClr val="142F35"/>
                          </a:solidFill>
                          <a:latin typeface="Calibri"/>
                          <a:ea typeface="Calibri"/>
                          <a:cs typeface="Calibri"/>
                        </a:rPr>
                        <a:t>€7.6M</a:t>
                      </a:r>
                    </a:p>
                  </a:txBody>
                  <a:tcPr marL="91440" marR="91440" marT="45720" marB="45720">
                    <a:solidFill>
                      <a:srgbClr val="F6F4EE"/>
                    </a:solidFill>
                  </a:tcPr>
                </a:tc>
              </a:tr>
              <a:tr h="476250">
                <a:tc>
                  <a:txBody>
                    <a:bodyPr/>
                    <a:lstStyle/>
                    <a:p>
                      <a:r>
                        <a:rPr sz="1800" b="0">
                          <a:solidFill>
                            <a:srgbClr val="142F35"/>
                          </a:solidFill>
                          <a:latin typeface="Calibri"/>
                          <a:ea typeface="Calibri"/>
                          <a:cs typeface="Calibri"/>
                        </a:rPr>
                        <a:t>USA / 2022</a:t>
                      </a:r>
                    </a:p>
                  </a:txBody>
                  <a:tcPr marL="91440" marR="91440" marT="45720" marB="45720">
                    <a:solidFill>
                      <a:srgbClr val="F6F4EE"/>
                    </a:solidFill>
                  </a:tcPr>
                </a:tc>
                <a:tc>
                  <a:txBody>
                    <a:bodyPr/>
                    <a:lstStyle/>
                    <a:p>
                      <a:r>
                        <a:rPr sz="1800" b="0">
                          <a:solidFill>
                            <a:srgbClr val="142F35"/>
                          </a:solidFill>
                          <a:latin typeface="Calibri"/>
                          <a:ea typeface="Calibri"/>
                          <a:cs typeface="Calibri"/>
                        </a:rPr>
                        <a:t>79,446</a:t>
                      </a:r>
                    </a:p>
                  </a:txBody>
                  <a:tcPr marL="91440" marR="91440" marT="45720" marB="45720">
                    <a:solidFill>
                      <a:srgbClr val="F6F4EE"/>
                    </a:solidFill>
                  </a:tcPr>
                </a:tc>
                <a:tc>
                  <a:txBody>
                    <a:bodyPr/>
                    <a:lstStyle/>
                    <a:p>
                      <a:r>
                        <a:rPr sz="1800" b="0">
                          <a:solidFill>
                            <a:srgbClr val="142F35"/>
                          </a:solidFill>
                          <a:latin typeface="Calibri"/>
                          <a:ea typeface="Calibri"/>
                          <a:cs typeface="Calibri"/>
                        </a:rPr>
                        <a:t>€143.0M</a:t>
                      </a:r>
                    </a:p>
                  </a:txBody>
                  <a:tcPr marL="91440" marR="91440" marT="45720" marB="45720">
                    <a:solidFill>
                      <a:srgbClr val="F6F4EE"/>
                    </a:solidFill>
                  </a:tcPr>
                </a:tc>
              </a:tr>
            </a:tbl>
          </a:graphicData>
        </a:graphic>
      </p:graphicFrame>
      <p:sp>
        <p:nvSpPr>
          <p:cNvPr id="6" name="Rectangle 5">
            <a:extLst xmlns:a="http://schemas.openxmlformats.org/drawingml/2006/main">
              <a:ext uri="{FF2B5EF4-FFF2-40B4-BE49-F238E27FC236}">
                <a16:creationId xmlns:a16="http://schemas.microsoft.com/office/drawing/2014/main" id="{4AEDB218-8BC2-48A0-9A06-0901A77E245D}"/>
              </a:ext>
            </a:extLst>
          </p:cNvPr>
          <p:cNvSpPr>
            <a:spLocks xmlns:a="http://schemas.openxmlformats.org/drawingml/2006/main" noGrp="1"/>
          </p:cNvSpPr>
          <p:nvPr/>
        </p:nvSpPr>
        <p:spPr>
          <a:xfrm xmlns:a="http://schemas.openxmlformats.org/drawingml/2006/main">
            <a:off x="762000" y="54102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2F35"/>
                </a:solidFill>
                <a:latin typeface="Calibri"/>
                <a:ea typeface="Calibri"/>
                <a:cs typeface="Calibri"/>
              </a:defRPr>
            </a:pPr>
            <a:r>
              <a:rPr sz="1725" b="0">
                <a:solidFill>
                  <a:srgbClr val="142F35"/>
                </a:solidFill>
                <a:latin typeface="Calibri"/>
                <a:ea typeface="Calibri"/>
                <a:cs typeface="Calibri"/>
              </a:rPr>
              <a:t>Sweden is included in EU-27. Reference years and definitions differ.</a:t>
            </a:r>
          </a:p>
        </p:txBody>
      </p:sp>
      <p:sp>
        <p:nvSpPr>
          <p:cNvPr id="7" name="Rectangle 6">
            <a:extLst xmlns:a="http://schemas.openxmlformats.org/drawingml/2006/main">
              <a:ext uri="{FF2B5EF4-FFF2-40B4-BE49-F238E27FC236}">
                <a16:creationId xmlns:a16="http://schemas.microsoft.com/office/drawing/2014/main" id="{65C880CE-DB36-46B7-B39E-13AF1A46302F}"/>
              </a:ext>
            </a:extLst>
          </p:cNvPr>
          <p:cNvSpPr>
            <a:spLocks xmlns:a="http://schemas.openxmlformats.org/drawingml/2006/main" noGrp="1"/>
          </p:cNvSpPr>
          <p:nvPr/>
        </p:nvSpPr>
        <p:spPr>
          <a:xfrm xmlns:a="http://schemas.openxmlformats.org/drawingml/2006/main">
            <a:off x="762000" y="578167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B70"/>
                </a:solidFill>
                <a:latin typeface="Calibri"/>
                <a:ea typeface="Calibri"/>
                <a:cs typeface="Calibri"/>
              </a:defRPr>
            </a:pPr>
            <a:r>
              <a:rPr sz="1500" b="0">
                <a:solidFill>
                  <a:srgbClr val="536B70"/>
                </a:solidFill>
                <a:latin typeface="Calibri"/>
                <a:ea typeface="Calibri"/>
                <a:cs typeface="Calibri"/>
              </a:rPr>
              <a:t>Full penetration potential. Actual sales depend on adoption and retention.</a:t>
            </a:r>
          </a:p>
        </p:txBody>
      </p:sp>
      <p:sp>
        <p:nvSpPr>
          <p:cNvPr id="8" name="Rectangle 7">
            <a:extLst xmlns:a="http://schemas.openxmlformats.org/drawingml/2006/main">
              <a:ext uri="{FF2B5EF4-FFF2-40B4-BE49-F238E27FC236}">
                <a16:creationId xmlns:a16="http://schemas.microsoft.com/office/drawing/2014/main" id="{E640D36C-E855-476B-9C1F-40B52879C45F}"/>
              </a:ext>
            </a:extLst>
          </p:cNvPr>
          <p:cNvSpPr>
            <a:spLocks xmlns:a="http://schemas.openxmlformats.org/drawingml/2006/main" noGrp="1"/>
          </p:cNvSpPr>
          <p:nvPr/>
        </p:nvSpPr>
        <p:spPr>
          <a:xfrm xmlns:a="http://schemas.openxmlformats.org/drawingml/2006/main">
            <a:off x="762000" y="6191250"/>
            <a:ext cx="1009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36B70"/>
                </a:solidFill>
                <a:latin typeface="Calibri"/>
                <a:ea typeface="Calibri"/>
                <a:cs typeface="Calibri"/>
              </a:defRPr>
            </a:pPr>
            <a:r>
              <a:rPr sz="1275" b="0">
                <a:solidFill>
                  <a:srgbClr val="536B70"/>
                </a:solidFill>
                <a:latin typeface="Calibri"/>
                <a:ea typeface="Calibri"/>
                <a:cs typeface="Calibri"/>
              </a:rPr>
              <a:t>Sources: Eurostat, ONS and US Census SUSB. EU includes an estimate. Details in notes.</a:t>
            </a:r>
          </a:p>
        </p:txBody>
      </p:sp>
      <p:sp>
        <p:nvSpPr>
          <p:cNvPr id="9" name="Rectangle 8">
            <a:extLst xmlns:a="http://schemas.openxmlformats.org/drawingml/2006/main">
              <a:ext uri="{FF2B5EF4-FFF2-40B4-BE49-F238E27FC236}">
                <a16:creationId xmlns:a16="http://schemas.microsoft.com/office/drawing/2014/main" id="{AE01457F-986A-4EFE-A387-92776DA4D417}"/>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848191782"/>
      </p:ext>
    </p:extLst>
  </p:cSl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2C3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E2CD63-474A-4D05-8791-4CB3A9401BC7}"/>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a:ext uri="{FF2B5EF4-FFF2-40B4-BE49-F238E27FC236}">
                <a16:creationId xmlns:a16="http://schemas.microsoft.com/office/drawing/2014/main" id="{B5384B42-24A6-4938-ABBF-849F9A0A764B}"/>
              </a:ext>
            </a:extLst>
          </p:cNvPr>
          <p:cNvSpPr>
            <a:spLocks noGrp="1"/>
          </p:cNvSpPr>
          <p:nvPr/>
        </p:nvSpPr>
        <p:spPr>
          <a:xfrm>
            <a:off x="685800" y="2000250"/>
            <a:ext cx="6858000" cy="1619250"/>
          </a:xfrm>
          <a:prstGeom prst="rect">
            <a:avLst/>
          </a:prstGeom>
          <a:noFill/>
          <a:ln w="0">
            <a:noFill/>
          </a:ln>
        </p:spPr>
        <p:txBody>
          <a:bodyPr>
            <a:noAutofit/>
          </a:bodyPr>
          <a:lstStyle/>
          <a:p>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a:ext uri="{FF2B5EF4-FFF2-40B4-BE49-F238E27FC236}">
                <a16:creationId xmlns:a16="http://schemas.microsoft.com/office/drawing/2014/main" id="{F2F1FC68-FB05-41C1-B3AD-5587689647BB}"/>
              </a:ext>
            </a:extLst>
          </p:cNvPr>
          <p:cNvSpPr>
            <a:spLocks noGrp="1"/>
          </p:cNvSpPr>
          <p:nvPr/>
        </p:nvSpPr>
        <p:spPr>
          <a:xfrm>
            <a:off x="742950" y="3667125"/>
            <a:ext cx="7810500" cy="571500"/>
          </a:xfrm>
          <a:prstGeom prst="rect">
            <a:avLst/>
          </a:prstGeom>
          <a:noFill/>
          <a:ln w="0">
            <a:noFill/>
          </a:ln>
        </p:spPr>
        <p:txBody>
          <a:bodyPr>
            <a:noAutofit/>
          </a:bodyPr>
          <a:lstStyle/>
          <a:p>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a:ext uri="{FF2B5EF4-FFF2-40B4-BE49-F238E27FC236}">
                <a16:creationId xmlns:a16="http://schemas.microsoft.com/office/drawing/2014/main" id="{79BDBE97-186D-481C-B712-0D6E406B13B2}"/>
              </a:ext>
            </a:extLst>
          </p:cNvPr>
          <p:cNvSpPr>
            <a:spLocks noGrp="1"/>
          </p:cNvSpPr>
          <p:nvPr/>
        </p:nvSpPr>
        <p:spPr>
          <a:xfrm>
            <a:off x="8143875" y="2362200"/>
            <a:ext cx="3333750" cy="952500"/>
          </a:xfrm>
          <a:prstGeom prst="rect">
            <a:avLst/>
          </a:prstGeom>
          <a:noFill/>
          <a:ln w="0">
            <a:noFill/>
          </a:ln>
        </p:spPr>
        <p:txBody>
          <a:bodyPr>
            <a:noAutofit/>
          </a:bodyPr>
          <a:lstStyle/>
          <a:p>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a:ext uri="{FF2B5EF4-FFF2-40B4-BE49-F238E27FC236}">
                <a16:creationId xmlns:a16="http://schemas.microsoft.com/office/drawing/2014/main" id="{235E0144-25AA-42AA-BDA4-B2E3C18CE7D1}"/>
              </a:ext>
            </a:extLst>
          </p:cNvPr>
          <p:cNvSpPr>
            <a:spLocks noGrp="1"/>
          </p:cNvSpPr>
          <p:nvPr/>
        </p:nvSpPr>
        <p:spPr>
          <a:xfrm>
            <a:off x="8143875" y="3429000"/>
            <a:ext cx="3143250" cy="952500"/>
          </a:xfrm>
          <a:prstGeom prst="rect">
            <a:avLst/>
          </a:prstGeom>
          <a:noFill/>
          <a:ln w="0">
            <a:noFill/>
          </a:ln>
        </p:spPr>
        <p:txBody>
          <a:bodyPr>
            <a:noAutofit/>
          </a:bodyPr>
          <a:lstStyle/>
          <a:p>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a:ext uri="{FF2B5EF4-FFF2-40B4-BE49-F238E27FC236}">
                <a16:creationId xmlns:a16="http://schemas.microsoft.com/office/drawing/2014/main" id="{1720956F-9F3C-4BD3-AE98-3C4EC7155A8D}"/>
              </a:ext>
            </a:extLst>
          </p:cNvPr>
          <p:cNvSpPr>
            <a:spLocks noGrp="1"/>
          </p:cNvSpPr>
          <p:nvPr/>
        </p:nvSpPr>
        <p:spPr>
          <a:xfrm>
            <a:off x="742950" y="5391150"/>
            <a:ext cx="10477500" cy="666750"/>
          </a:xfrm>
          <a:prstGeom prst="rect">
            <a:avLst/>
          </a:prstGeom>
          <a:noFill/>
          <a:ln w="0">
            <a:noFill/>
          </a:ln>
        </p:spPr>
        <p:txBody>
          <a:bodyPr>
            <a:noAutofit/>
          </a:bodyPr>
          <a:lstStyle/>
          <a:p>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Rectangle 8">
            <a:extLst>
              <a:ext uri="{FF2B5EF4-FFF2-40B4-BE49-F238E27FC236}">
                <a16:creationId xmlns:a16="http://schemas.microsoft.com/office/drawing/2014/main" id="{4A1E6458-941F-4B9F-8AD0-499E257FE823}"/>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8EDF8BD-E63E-43D5-A36A-2354C150D192}"/>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a:ext uri="{FF2B5EF4-FFF2-40B4-BE49-F238E27FC236}">
                <a16:creationId xmlns:a16="http://schemas.microsoft.com/office/drawing/2014/main" id="{455E1E9E-8924-44E0-B6FA-FE20ED7744AA}"/>
              </a:ext>
            </a:extLst>
          </p:cNvPr>
          <p:cNvSpPr>
            <a:spLocks noGrp="1"/>
          </p:cNvSpPr>
          <p:nvPr/>
        </p:nvSpPr>
        <p:spPr>
          <a:xfrm>
            <a:off x="762000" y="190500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a:ext uri="{FF2B5EF4-FFF2-40B4-BE49-F238E27FC236}">
                <a16:creationId xmlns:a16="http://schemas.microsoft.com/office/drawing/2014/main" id="{4635259B-5CA7-49B9-AB23-5C07881DF03A}"/>
              </a:ext>
            </a:extLst>
          </p:cNvPr>
          <p:cNvSpPr>
            <a:spLocks noGrp="1"/>
          </p:cNvSpPr>
          <p:nvPr/>
        </p:nvSpPr>
        <p:spPr>
          <a:xfrm>
            <a:off x="7905750" y="190500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a:ext uri="{FF2B5EF4-FFF2-40B4-BE49-F238E27FC236}">
                <a16:creationId xmlns:a16="http://schemas.microsoft.com/office/drawing/2014/main" id="{4E4D18B8-14E2-441A-BE4B-22E964B5ED8D}"/>
              </a:ext>
            </a:extLst>
          </p:cNvPr>
          <p:cNvSpPr>
            <a:spLocks noGrp="1"/>
          </p:cNvSpPr>
          <p:nvPr/>
        </p:nvSpPr>
        <p:spPr>
          <a:xfrm>
            <a:off x="762000" y="258127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a:ext uri="{FF2B5EF4-FFF2-40B4-BE49-F238E27FC236}">
                <a16:creationId xmlns:a16="http://schemas.microsoft.com/office/drawing/2014/main" id="{47C73B40-7A06-4F57-B3FD-4EE294C5913E}"/>
              </a:ext>
            </a:extLst>
          </p:cNvPr>
          <p:cNvSpPr>
            <a:spLocks noGrp="1"/>
          </p:cNvSpPr>
          <p:nvPr/>
        </p:nvSpPr>
        <p:spPr>
          <a:xfrm>
            <a:off x="7905750" y="258127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a:ext uri="{FF2B5EF4-FFF2-40B4-BE49-F238E27FC236}">
                <a16:creationId xmlns:a16="http://schemas.microsoft.com/office/drawing/2014/main" id="{71CA1260-6304-4A1C-9460-E9221790A96F}"/>
              </a:ext>
            </a:extLst>
          </p:cNvPr>
          <p:cNvSpPr>
            <a:spLocks noGrp="1"/>
          </p:cNvSpPr>
          <p:nvPr/>
        </p:nvSpPr>
        <p:spPr>
          <a:xfrm>
            <a:off x="762000" y="325755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a:ext uri="{FF2B5EF4-FFF2-40B4-BE49-F238E27FC236}">
                <a16:creationId xmlns:a16="http://schemas.microsoft.com/office/drawing/2014/main" id="{CFF2BA1E-5CFA-41EF-9053-5A168087E686}"/>
              </a:ext>
            </a:extLst>
          </p:cNvPr>
          <p:cNvSpPr>
            <a:spLocks noGrp="1"/>
          </p:cNvSpPr>
          <p:nvPr/>
        </p:nvSpPr>
        <p:spPr>
          <a:xfrm>
            <a:off x="7905750" y="325755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a:ext uri="{FF2B5EF4-FFF2-40B4-BE49-F238E27FC236}">
                <a16:creationId xmlns:a16="http://schemas.microsoft.com/office/drawing/2014/main" id="{4024057A-317B-4D08-975C-B2CF5F21A23A}"/>
              </a:ext>
            </a:extLst>
          </p:cNvPr>
          <p:cNvSpPr>
            <a:spLocks noGrp="1"/>
          </p:cNvSpPr>
          <p:nvPr/>
        </p:nvSpPr>
        <p:spPr>
          <a:xfrm>
            <a:off x="762000" y="393382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a:ext uri="{FF2B5EF4-FFF2-40B4-BE49-F238E27FC236}">
                <a16:creationId xmlns:a16="http://schemas.microsoft.com/office/drawing/2014/main" id="{C9F33BDC-B105-43E4-B07F-D346123128EA}"/>
              </a:ext>
            </a:extLst>
          </p:cNvPr>
          <p:cNvSpPr>
            <a:spLocks noGrp="1"/>
          </p:cNvSpPr>
          <p:nvPr/>
        </p:nvSpPr>
        <p:spPr>
          <a:xfrm>
            <a:off x="7905750" y="393382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a:ext uri="{FF2B5EF4-FFF2-40B4-BE49-F238E27FC236}">
                <a16:creationId xmlns:a16="http://schemas.microsoft.com/office/drawing/2014/main" id="{D1415E4E-9ABF-4A78-BFAE-904108F9C394}"/>
              </a:ext>
            </a:extLst>
          </p:cNvPr>
          <p:cNvSpPr>
            <a:spLocks noGrp="1"/>
          </p:cNvSpPr>
          <p:nvPr/>
        </p:nvSpPr>
        <p:spPr>
          <a:xfrm>
            <a:off x="762000" y="461010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a:ext uri="{FF2B5EF4-FFF2-40B4-BE49-F238E27FC236}">
                <a16:creationId xmlns:a16="http://schemas.microsoft.com/office/drawing/2014/main" id="{E88EA2D7-39A3-4FCE-BA45-17026E61D91C}"/>
              </a:ext>
            </a:extLst>
          </p:cNvPr>
          <p:cNvSpPr>
            <a:spLocks noGrp="1"/>
          </p:cNvSpPr>
          <p:nvPr/>
        </p:nvSpPr>
        <p:spPr>
          <a:xfrm>
            <a:off x="7905750" y="461010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a:ext uri="{FF2B5EF4-FFF2-40B4-BE49-F238E27FC236}">
                <a16:creationId xmlns:a16="http://schemas.microsoft.com/office/drawing/2014/main" id="{D60AD922-7A01-4877-8EE9-C53F1F8DF59B}"/>
              </a:ext>
            </a:extLst>
          </p:cNvPr>
          <p:cNvSpPr>
            <a:spLocks noGrp="1"/>
          </p:cNvSpPr>
          <p:nvPr/>
        </p:nvSpPr>
        <p:spPr>
          <a:xfrm>
            <a:off x="762000" y="6011418"/>
            <a:ext cx="10572750" cy="552450"/>
          </a:xfrm>
          <a:prstGeom prst="rect">
            <a:avLst/>
          </a:prstGeom>
          <a:noFill/>
          <a:ln w="0">
            <a:noFill/>
          </a:ln>
        </p:spPr>
        <p:txBody>
          <a:bodyPr>
            <a:noAutofit/>
          </a:bodyPr>
          <a:lstStyle/>
          <a:p>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a:ext uri="{FF2B5EF4-FFF2-40B4-BE49-F238E27FC236}">
                <a16:creationId xmlns:a16="http://schemas.microsoft.com/office/drawing/2014/main" id="{2C874276-C8AD-7D00-C92C-338B0347F467}"/>
              </a:ext>
            </a:extLst>
          </p:cNvPr>
          <p:cNvSpPr>
            <a:spLocks noGrp="1"/>
          </p:cNvSpPr>
          <p:nvPr/>
        </p:nvSpPr>
        <p:spPr>
          <a:xfrm>
            <a:off x="762000" y="528637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a:ext uri="{FF2B5EF4-FFF2-40B4-BE49-F238E27FC236}">
                <a16:creationId xmlns:a16="http://schemas.microsoft.com/office/drawing/2014/main" id="{D4FEF6AF-BCD3-47B9-DD7F-3A5362E97F46}"/>
              </a:ext>
            </a:extLst>
          </p:cNvPr>
          <p:cNvSpPr>
            <a:spLocks noGrp="1"/>
          </p:cNvSpPr>
          <p:nvPr/>
        </p:nvSpPr>
        <p:spPr>
          <a:xfrm>
            <a:off x="7905750" y="528637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Rectangle 18">
            <a:extLst>
              <a:ext uri="{FF2B5EF4-FFF2-40B4-BE49-F238E27FC236}">
                <a16:creationId xmlns:a16="http://schemas.microsoft.com/office/drawing/2014/main" id="{DBBEF601-AE91-438F-9B34-1F4B12D218D0}"/>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D1C1F6D-50F7-43EB-81EA-45E208266C35}"/>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Pricing and revenue assumptions</a:t>
            </a:r>
          </a:p>
        </p:txBody>
      </p:sp>
      <p:sp>
        <p:nvSpPr>
          <p:cNvPr id="2" name="Rectangle 1">
            <a:extLst>
              <a:ext uri="{FF2B5EF4-FFF2-40B4-BE49-F238E27FC236}">
                <a16:creationId xmlns:a16="http://schemas.microsoft.com/office/drawing/2014/main" id="{A634716D-3CF2-4E33-A036-4E86B4376F9F}"/>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Current average revenue is about €150 per company per month.</a:t>
            </a:r>
          </a:p>
        </p:txBody>
      </p:sp>
      <p:sp>
        <p:nvSpPr>
          <p:cNvPr id="3" name="Rectangle 2">
            <a:extLst>
              <a:ext uri="{FF2B5EF4-FFF2-40B4-BE49-F238E27FC236}">
                <a16:creationId xmlns:a16="http://schemas.microsoft.com/office/drawing/2014/main" id="{2A5A5C0A-30B5-4865-9B58-490686C672E0}"/>
              </a:ext>
            </a:extLst>
          </p:cNvPr>
          <p:cNvSpPr>
            <a:spLocks noGrp="1"/>
          </p:cNvSpPr>
          <p:nvPr/>
        </p:nvSpPr>
        <p:spPr>
          <a:xfrm>
            <a:off x="723900" y="2152650"/>
            <a:ext cx="4572000" cy="1047750"/>
          </a:xfrm>
          <a:prstGeom prst="rect">
            <a:avLst/>
          </a:prstGeom>
          <a:noFill/>
          <a:ln w="0">
            <a:noFill/>
          </a:ln>
        </p:spPr>
        <p:txBody>
          <a:bodyPr>
            <a:noAutofit/>
          </a:bodyPr>
          <a:lstStyle/>
          <a:p>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Rectangle 3">
            <a:extLst>
              <a:ext uri="{FF2B5EF4-FFF2-40B4-BE49-F238E27FC236}">
                <a16:creationId xmlns:a16="http://schemas.microsoft.com/office/drawing/2014/main" id="{4C43FCC6-23FB-4949-8D7D-686D8D9B1CAC}"/>
              </a:ext>
            </a:extLst>
          </p:cNvPr>
          <p:cNvSpPr>
            <a:spLocks noGrp="1"/>
          </p:cNvSpPr>
          <p:nvPr/>
        </p:nvSpPr>
        <p:spPr>
          <a:xfrm>
            <a:off x="762000" y="3219450"/>
            <a:ext cx="4857750" cy="523875"/>
          </a:xfrm>
          <a:prstGeom prst="rect">
            <a:avLst/>
          </a:prstGeom>
          <a:noFill/>
          <a:ln w="0">
            <a:noFill/>
          </a:ln>
        </p:spPr>
        <p:txBody>
          <a:bodyPr>
            <a:noAutofit/>
          </a:bodyPr>
          <a:lstStyle/>
          <a:p>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Rectangle 4">
            <a:extLst>
              <a:ext uri="{FF2B5EF4-FFF2-40B4-BE49-F238E27FC236}">
                <a16:creationId xmlns:a16="http://schemas.microsoft.com/office/drawing/2014/main" id="{BE599F16-4A26-4C69-9D2F-49191BC86578}"/>
              </a:ext>
            </a:extLst>
          </p:cNvPr>
          <p:cNvSpPr>
            <a:spLocks noGrp="1"/>
          </p:cNvSpPr>
          <p:nvPr/>
        </p:nvSpPr>
        <p:spPr>
          <a:xfrm>
            <a:off x="6572250" y="2209800"/>
            <a:ext cx="4762500" cy="476250"/>
          </a:xfrm>
          <a:prstGeom prst="rect">
            <a:avLst/>
          </a:prstGeom>
          <a:noFill/>
          <a:ln w="0">
            <a:noFill/>
          </a:ln>
        </p:spPr>
        <p:txBody>
          <a:bodyPr>
            <a:noAutofit/>
          </a:bodyPr>
          <a:lstStyle/>
          <a:p>
            <a:pPr>
              <a:buNone/>
              <a:defRPr sz="2250" b="1">
                <a:solidFill>
                  <a:srgbClr val="142F35"/>
                </a:solidFill>
                <a:latin typeface="Calibri"/>
                <a:ea typeface="Calibri"/>
                <a:cs typeface="Calibri"/>
              </a:defRPr>
            </a:pPr>
            <a:r>
              <a:rPr sz="2250" b="1">
                <a:solidFill>
                  <a:srgbClr val="142F35"/>
                </a:solidFill>
                <a:latin typeface="Calibri"/>
                <a:ea typeface="Calibri"/>
                <a:cs typeface="Calibri"/>
              </a:rPr>
              <a:t>How we charge</a:t>
            </a:r>
          </a:p>
        </p:txBody>
      </p:sp>
      <p:sp>
        <p:nvSpPr>
          <p:cNvPr id="6" name="Rectangle 5">
            <a:extLst>
              <a:ext uri="{FF2B5EF4-FFF2-40B4-BE49-F238E27FC236}">
                <a16:creationId xmlns:a16="http://schemas.microsoft.com/office/drawing/2014/main" id="{1C4B0DDD-3FC2-41A4-A276-D990A2B30725}"/>
              </a:ext>
            </a:extLst>
          </p:cNvPr>
          <p:cNvSpPr>
            <a:spLocks noGrp="1"/>
          </p:cNvSpPr>
          <p:nvPr/>
        </p:nvSpPr>
        <p:spPr>
          <a:xfrm>
            <a:off x="6572250" y="2819400"/>
            <a:ext cx="4762500" cy="1476375"/>
          </a:xfrm>
          <a:prstGeom prst="rect">
            <a:avLst/>
          </a:prstGeom>
          <a:noFill/>
          <a:ln w="0">
            <a:noFill/>
          </a:ln>
        </p:spPr>
        <p:txBody>
          <a:bodyPr>
            <a:noAutofit/>
          </a:bodyPr>
          <a:lstStyle/>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€50 per paying user per month</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Agreed discounts</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Paid custom functionality</a:t>
            </a:r>
          </a:p>
        </p:txBody>
      </p:sp>
      <p:graphicFrame>
        <p:nvGraphicFramePr>
          <p:cNvPr id="18" name="Table 17"/>
          <p:cNvGraphicFramePr/>
          <p:nvPr/>
        </p:nvGraphicFramePr>
        <p:xfrm>
          <a:off x="762000" y="4400550"/>
          <a:ext cx="10668000" cy="1028700"/>
        </p:xfrm>
        <a:graphic>
          <a:graphicData uri="http://schemas.openxmlformats.org/drawingml/2006/table">
            <a:tbl>
              <a:tblPr/>
              <a:tblGrid>
                <a:gridCol w="4762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466725">
                <a:tc>
                  <a:txBody>
                    <a:bodyPr/>
                    <a:lstStyle/>
                    <a:p>
                      <a:r>
                        <a:rPr sz="1875" b="1">
                          <a:solidFill>
                            <a:srgbClr val="FFFFFF"/>
                          </a:solidFill>
                          <a:latin typeface="Calibri"/>
                          <a:ea typeface="Calibri"/>
                          <a:cs typeface="Calibri"/>
                        </a:rPr>
                        <a:t>Company revenue</a:t>
                      </a:r>
                    </a:p>
                  </a:txBody>
                  <a:tcPr>
                    <a:solidFill>
                      <a:srgbClr val="142F35"/>
                    </a:solidFill>
                  </a:tcPr>
                </a:tc>
                <a:tc>
                  <a:txBody>
                    <a:bodyPr/>
                    <a:lstStyle/>
                    <a:p>
                      <a:r>
                        <a:rPr sz="1875" b="1">
                          <a:solidFill>
                            <a:srgbClr val="FFFFFF"/>
                          </a:solidFill>
                          <a:latin typeface="Calibri"/>
                          <a:ea typeface="Calibri"/>
                          <a:cs typeface="Calibri"/>
                        </a:rPr>
                        <a:t>Current average</a:t>
                      </a:r>
                    </a:p>
                  </a:txBody>
                  <a:tcPr>
                    <a:solidFill>
                      <a:srgbClr val="142F35"/>
                    </a:solidFill>
                  </a:tcPr>
                </a:tc>
                <a:tc>
                  <a:txBody>
                    <a:bodyPr/>
                    <a:lstStyle/>
                    <a:p>
                      <a:r>
                        <a:rPr sz="1875" b="1">
                          <a:solidFill>
                            <a:srgbClr val="FFFFFF"/>
                          </a:solidFill>
                          <a:latin typeface="Calibri"/>
                          <a:ea typeface="Calibri"/>
                          <a:cs typeface="Calibri"/>
                        </a:rPr>
                        <a:t>Sizing assumption</a:t>
                      </a:r>
                    </a:p>
                  </a:txBody>
                  <a:tcPr>
                    <a:solidFill>
                      <a:srgbClr val="142F35"/>
                    </a:solidFill>
                  </a:tcPr>
                </a:tc>
                <a:extLst>
                  <a:ext uri="{0D108BD9-81ED-4DB2-BD59-A6C34878D82A}">
                    <a16:rowId xmlns:a16="http://schemas.microsoft.com/office/drawing/2014/main" val="10000"/>
                  </a:ext>
                </a:extLst>
              </a:tr>
              <a:tr h="561975">
                <a:tc>
                  <a:txBody>
                    <a:bodyPr/>
                    <a:lstStyle/>
                    <a:p>
                      <a:r>
                        <a:rPr sz="1875" b="0">
                          <a:solidFill>
                            <a:srgbClr val="142F35"/>
                          </a:solidFill>
                          <a:latin typeface="Calibri"/>
                          <a:ea typeface="Calibri"/>
                          <a:cs typeface="Calibri"/>
                        </a:rPr>
                        <a:t>Annual revenue per company</a:t>
                      </a:r>
                    </a:p>
                  </a:txBody>
                  <a:tcPr>
                    <a:solidFill>
                      <a:srgbClr val="F6F4EE"/>
                    </a:solidFill>
                  </a:tcPr>
                </a:tc>
                <a:tc>
                  <a:txBody>
                    <a:bodyPr/>
                    <a:lstStyle/>
                    <a:p>
                      <a:r>
                        <a:rPr sz="1875" b="0">
                          <a:solidFill>
                            <a:srgbClr val="142F35"/>
                          </a:solidFill>
                          <a:latin typeface="Calibri"/>
                          <a:ea typeface="Calibri"/>
                          <a:cs typeface="Calibri"/>
                        </a:rPr>
                        <a:t>~€1,800</a:t>
                      </a:r>
                    </a:p>
                  </a:txBody>
                  <a:tcPr>
                    <a:solidFill>
                      <a:srgbClr val="F6F4EE"/>
                    </a:solidFill>
                  </a:tcPr>
                </a:tc>
                <a:tc>
                  <a:txBody>
                    <a:bodyPr/>
                    <a:lstStyle/>
                    <a:p>
                      <a:r>
                        <a:rPr sz="1875" b="0">
                          <a:solidFill>
                            <a:srgbClr val="142F35"/>
                          </a:solidFill>
                          <a:latin typeface="Calibri"/>
                          <a:ea typeface="Calibri"/>
                          <a:cs typeface="Calibri"/>
                        </a:rPr>
                        <a:t>€1,800</a:t>
                      </a:r>
                    </a:p>
                  </a:txBody>
                  <a:tcPr>
                    <a:solidFill>
                      <a:srgbClr val="F6F4EE"/>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2D1C5C2D-7BA8-4DF6-AA00-E0BB226B2F40}"/>
              </a:ext>
            </a:extLst>
          </p:cNvPr>
          <p:cNvSpPr>
            <a:spLocks noGrp="1"/>
          </p:cNvSpPr>
          <p:nvPr/>
        </p:nvSpPr>
        <p:spPr>
          <a:xfrm>
            <a:off x="762000" y="5572125"/>
            <a:ext cx="10572750" cy="638175"/>
          </a:xfrm>
          <a:prstGeom prst="rect">
            <a:avLst/>
          </a:prstGeom>
          <a:noFill/>
          <a:ln w="0">
            <a:noFill/>
          </a:ln>
        </p:spPr>
        <p:txBody>
          <a:bodyPr>
            <a:noAutofit/>
          </a:bodyPr>
          <a:lstStyle/>
          <a:p>
            <a:pPr>
              <a:buNone/>
              <a:defRPr sz="1725" b="0">
                <a:solidFill>
                  <a:srgbClr val="536B70"/>
                </a:solidFill>
                <a:latin typeface="Calibri"/>
                <a:ea typeface="Calibri"/>
                <a:cs typeface="Calibri"/>
              </a:defRPr>
            </a:pPr>
            <a:r>
              <a:rPr sz="1725" b="0">
                <a:solidFill>
                  <a:srgbClr val="536B70"/>
                </a:solidFill>
                <a:latin typeface="Calibri"/>
                <a:ea typeface="Calibri"/>
                <a:cs typeface="Calibri"/>
              </a:rPr>
              <a:t>Market sizing and acquisition scenarios use €150/company/month.</a:t>
            </a:r>
          </a:p>
          <a:p>
            <a:pPr>
              <a:buNone/>
              <a:defRPr sz="1725" b="0">
                <a:solidFill>
                  <a:srgbClr val="536B70"/>
                </a:solidFill>
                <a:latin typeface="Calibri"/>
                <a:ea typeface="Calibri"/>
                <a:cs typeface="Calibri"/>
              </a:defRPr>
            </a:pPr>
            <a:r>
              <a:rPr sz="1725" b="0">
                <a:solidFill>
                  <a:srgbClr val="536B70"/>
                </a:solidFill>
                <a:latin typeface="Calibri"/>
                <a:ea typeface="Calibri"/>
                <a:cs typeface="Calibri"/>
              </a:rPr>
              <a:t>Track recurring subscription revenue separately from one-off custom work.</a:t>
            </a:r>
          </a:p>
        </p:txBody>
      </p:sp>
      <p:sp>
        <p:nvSpPr>
          <p:cNvPr id="9" name="Rectangle 8">
            <a:extLst>
              <a:ext uri="{FF2B5EF4-FFF2-40B4-BE49-F238E27FC236}">
                <a16:creationId xmlns:a16="http://schemas.microsoft.com/office/drawing/2014/main" id="{98CA1597-5DF9-41E0-99C0-D56FD7C48563}"/>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02C4CDE-1EAC-4166-8622-C9F1E0CAD3CA}"/>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Rectangle 1">
            <a:extLst>
              <a:ext uri="{FF2B5EF4-FFF2-40B4-BE49-F238E27FC236}">
                <a16:creationId xmlns:a16="http://schemas.microsoft.com/office/drawing/2014/main" id="{3CB986C6-87D8-4983-BA87-1006353DCF1B}"/>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0" name="Table 9"/>
          <p:cNvGraphicFramePr/>
          <p:nvPr/>
        </p:nvGraphicFramePr>
        <p:xfrm>
          <a:off x="762000" y="2200275"/>
          <a:ext cx="10668000" cy="3181350"/>
        </p:xfrm>
        <a:graphic>
          <a:graphicData uri="http://schemas.openxmlformats.org/drawingml/2006/table">
            <a:tbl>
              <a:tblPr/>
              <a:tblGrid>
                <a:gridCol w="21907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23875">
                <a:tc>
                  <a:txBody>
                    <a:bodyPr/>
                    <a:lstStyle/>
                    <a:p>
                      <a:r>
                        <a:rPr sz="1800" b="1">
                          <a:solidFill>
                            <a:srgbClr val="FFFFFF"/>
                          </a:solidFill>
                          <a:latin typeface="Calibri"/>
                          <a:ea typeface="Calibri"/>
                          <a:cs typeface="Calibri"/>
                        </a:rPr>
                        <a:t>Alternative</a:t>
                      </a:r>
                    </a:p>
                  </a:txBody>
                  <a:tcPr>
                    <a:solidFill>
                      <a:srgbClr val="142F35"/>
                    </a:solidFill>
                  </a:tcPr>
                </a:tc>
                <a:tc>
                  <a:txBody>
                    <a:bodyPr/>
                    <a:lstStyle/>
                    <a:p>
                      <a:r>
                        <a:rPr sz="1800" b="1">
                          <a:solidFill>
                            <a:srgbClr val="FFFFFF"/>
                          </a:solidFill>
                          <a:latin typeface="Calibri"/>
                          <a:ea typeface="Calibri"/>
                          <a:cs typeface="Calibri"/>
                        </a:rPr>
                        <a:t>What it offers</a:t>
                      </a:r>
                    </a:p>
                  </a:txBody>
                  <a:tcPr>
                    <a:solidFill>
                      <a:srgbClr val="142F35"/>
                    </a:solidFill>
                  </a:tcPr>
                </a:tc>
                <a:tc>
                  <a:txBody>
                    <a:bodyPr/>
                    <a:lstStyle/>
                    <a:p>
                      <a:r>
                        <a:rPr sz="1800" b="1">
                          <a:solidFill>
                            <a:srgbClr val="FFFFFF"/>
                          </a:solidFill>
                          <a:latin typeface="Calibri"/>
                          <a:ea typeface="Calibri"/>
                          <a:cs typeface="Calibri"/>
                        </a:rPr>
                        <a:t>Our focus for a small contractor</a:t>
                      </a:r>
                    </a:p>
                  </a:txBody>
                  <a:tcPr>
                    <a:solidFill>
                      <a:srgbClr val="142F35"/>
                    </a:solidFill>
                  </a:tcPr>
                </a:tc>
                <a:extLst>
                  <a:ext uri="{0D108BD9-81ED-4DB2-BD59-A6C34878D82A}">
                    <a16:rowId xmlns:a16="http://schemas.microsoft.com/office/drawing/2014/main" val="10000"/>
                  </a:ext>
                </a:extLst>
              </a:tr>
              <a:tr h="885825">
                <a:tc>
                  <a:txBody>
                    <a:bodyPr/>
                    <a:lstStyle/>
                    <a:p>
                      <a:r>
                        <a:rPr sz="1800" b="0">
                          <a:solidFill>
                            <a:srgbClr val="142F35"/>
                          </a:solidFill>
                          <a:latin typeface="Calibri"/>
                          <a:ea typeface="Calibri"/>
                          <a:cs typeface="Calibri"/>
                        </a:rPr>
                        <a:t>WhatsApp + Excel</a:t>
                      </a:r>
                    </a:p>
                  </a:txBody>
                  <a:tcPr>
                    <a:solidFill>
                      <a:srgbClr val="F6F4EE"/>
                    </a:solidFill>
                  </a:tcPr>
                </a:tc>
                <a:tc>
                  <a:txBody>
                    <a:bodyPr/>
                    <a:lstStyle/>
                    <a:p>
                      <a:r>
                        <a:rPr sz="1800" b="0">
                          <a:solidFill>
                            <a:srgbClr val="142F35"/>
                          </a:solidFill>
                          <a:latin typeface="Calibri"/>
                          <a:ea typeface="Calibri"/>
                          <a:cs typeface="Calibri"/>
                        </a:rPr>
                        <a:t>Messages and flexible spreadsheets</a:t>
                      </a:r>
                    </a:p>
                  </a:txBody>
                  <a:tcPr>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a:solidFill>
                      <a:srgbClr val="F6F4EE"/>
                    </a:solidFill>
                  </a:tcPr>
                </a:tc>
                <a:extLst>
                  <a:ext uri="{0D108BD9-81ED-4DB2-BD59-A6C34878D82A}">
                    <a16:rowId xmlns:a16="http://schemas.microsoft.com/office/drawing/2014/main" val="10001"/>
                  </a:ext>
                </a:extLst>
              </a:tr>
              <a:tr h="885825">
                <a:tc>
                  <a:txBody>
                    <a:bodyPr/>
                    <a:lstStyle/>
                    <a:p>
                      <a:r>
                        <a:rPr sz="1800" b="0">
                          <a:solidFill>
                            <a:srgbClr val="142F35"/>
                          </a:solidFill>
                          <a:latin typeface="Calibri"/>
                          <a:ea typeface="Calibri"/>
                          <a:cs typeface="Calibri"/>
                        </a:rPr>
                        <a:t>Fieldwire</a:t>
                      </a:r>
                    </a:p>
                  </a:txBody>
                  <a:tcPr>
                    <a:solidFill>
                      <a:srgbClr val="F6F4EE"/>
                    </a:solidFill>
                  </a:tcPr>
                </a:tc>
                <a:tc>
                  <a:txBody>
                    <a:bodyPr/>
                    <a:lstStyle/>
                    <a:p>
                      <a:r>
                        <a:rPr sz="1800" b="0">
                          <a:solidFill>
                            <a:srgbClr val="142F35"/>
                          </a:solidFill>
                          <a:latin typeface="Calibri"/>
                          <a:ea typeface="Calibri"/>
                          <a:cs typeface="Calibri"/>
                        </a:rPr>
                        <a:t>Plans, tasks, reports and forms</a:t>
                      </a:r>
                    </a:p>
                  </a:txBody>
                  <a:tcPr>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a:solidFill>
                      <a:srgbClr val="F6F4EE"/>
                    </a:solidFill>
                  </a:tcPr>
                </a:tc>
                <a:extLst>
                  <a:ext uri="{0D108BD9-81ED-4DB2-BD59-A6C34878D82A}">
                    <a16:rowId xmlns:a16="http://schemas.microsoft.com/office/drawing/2014/main" val="10002"/>
                  </a:ext>
                </a:extLst>
              </a:tr>
              <a:tr h="885825">
                <a:tc>
                  <a:txBody>
                    <a:bodyPr/>
                    <a:lstStyle/>
                    <a:p>
                      <a:r>
                        <a:rPr sz="1800" b="0">
                          <a:solidFill>
                            <a:srgbClr val="142F35"/>
                          </a:solidFill>
                          <a:latin typeface="Calibri"/>
                          <a:ea typeface="Calibri"/>
                          <a:cs typeface="Calibri"/>
                        </a:rPr>
                        <a:t>Buildertrend</a:t>
                      </a:r>
                    </a:p>
                  </a:txBody>
                  <a:tcPr>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a:solidFill>
                      <a:srgbClr val="F6F4EE"/>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25A5C58D-18D0-4561-8DAB-3E8189A85027}"/>
              </a:ext>
            </a:extLst>
          </p:cNvPr>
          <p:cNvSpPr>
            <a:spLocks noGrp="1"/>
          </p:cNvSpPr>
          <p:nvPr/>
        </p:nvSpPr>
        <p:spPr>
          <a:xfrm>
            <a:off x="762000" y="5753100"/>
            <a:ext cx="10477500" cy="523875"/>
          </a:xfrm>
          <a:prstGeom prst="rect">
            <a:avLst/>
          </a:prstGeom>
          <a:noFill/>
          <a:ln w="0">
            <a:noFill/>
          </a:ln>
        </p:spPr>
        <p:txBody>
          <a:bodyPr>
            <a:noAutofit/>
          </a:bodyPr>
          <a:lstStyle/>
          <a:p>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5" name="Rectangle 4">
            <a:extLst>
              <a:ext uri="{FF2B5EF4-FFF2-40B4-BE49-F238E27FC236}">
                <a16:creationId xmlns:a16="http://schemas.microsoft.com/office/drawing/2014/main" id="{2A162997-DDAC-4734-BE8D-D2937CA16DD5}"/>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19606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46F360-6998-41FD-BEF4-2EF9DB4B52E4}"/>
              </a:ext>
            </a:extLst>
          </p:cNvPr>
          <p:cNvSpPr>
            <a:spLocks noGrp="1"/>
          </p:cNvSpPr>
          <p:nvPr/>
        </p:nvSpPr>
        <p:spPr>
          <a:xfrm>
            <a:off x="685800" y="571500"/>
            <a:ext cx="10820400" cy="619125"/>
          </a:xfrm>
          <a:prstGeom prst="rect">
            <a:avLst/>
          </a:prstGeom>
          <a:noFill/>
          <a:ln w="0">
            <a:noFill/>
          </a:ln>
        </p:spPr>
        <p:txBody>
          <a:bodyPr>
            <a:noAutofit/>
          </a:bodyPr>
          <a:lstStyle/>
          <a:p>
            <a:pPr>
              <a:defRPr sz="3150" b="1">
                <a:solidFill>
                  <a:srgbClr val="142F35"/>
                </a:solidFill>
                <a:latin typeface="Calibri"/>
                <a:ea typeface="Calibri"/>
                <a:cs typeface="Calibri"/>
              </a:defRPr>
            </a:pPr>
            <a:r>
              <a:rPr sz="3150" b="1" dirty="0">
                <a:solidFill>
                  <a:srgbClr val="142F35"/>
                </a:solidFill>
                <a:latin typeface="Calibri"/>
                <a:ea typeface="Calibri"/>
                <a:cs typeface="Calibri"/>
              </a:rPr>
              <a:t>What </a:t>
            </a:r>
            <a:r>
              <a:rPr lang="lv-LV" sz="3150" b="1" dirty="0">
                <a:solidFill>
                  <a:srgbClr val="142F35"/>
                </a:solidFill>
                <a:latin typeface="Calibri"/>
                <a:ea typeface="Calibri"/>
                <a:cs typeface="Calibri"/>
              </a:rPr>
              <a:t>6 months </a:t>
            </a:r>
            <a:r>
              <a:rPr sz="3150" b="1" dirty="0">
                <a:solidFill>
                  <a:srgbClr val="142F35"/>
                </a:solidFill>
                <a:latin typeface="Calibri"/>
                <a:ea typeface="Calibri"/>
                <a:cs typeface="Calibri"/>
              </a:rPr>
              <a:t>of outreach has shown</a:t>
            </a:r>
          </a:p>
        </p:txBody>
      </p:sp>
      <p:sp>
        <p:nvSpPr>
          <p:cNvPr id="2" name="Rectangle 1">
            <a:extLst>
              <a:ext uri="{FF2B5EF4-FFF2-40B4-BE49-F238E27FC236}">
                <a16:creationId xmlns:a16="http://schemas.microsoft.com/office/drawing/2014/main" id="{5C4F8EBF-BE18-47D3-AC17-D0BA450EB929}"/>
              </a:ext>
            </a:extLst>
          </p:cNvPr>
          <p:cNvSpPr>
            <a:spLocks noGrp="1"/>
          </p:cNvSpPr>
          <p:nvPr/>
        </p:nvSpPr>
        <p:spPr>
          <a:xfrm>
            <a:off x="723900" y="1276350"/>
            <a:ext cx="10668000" cy="762000"/>
          </a:xfrm>
          <a:prstGeom prst="rect">
            <a:avLst/>
          </a:prstGeom>
          <a:noFill/>
          <a:ln w="0">
            <a:noFill/>
          </a:ln>
        </p:spPr>
        <p:txBody>
          <a:bodyPr>
            <a:noAutofit/>
          </a:bodyPr>
          <a:lstStyle/>
          <a:p>
            <a:pPr>
              <a:defRPr sz="2025" b="0">
                <a:solidFill>
                  <a:srgbClr val="536B70"/>
                </a:solidFill>
                <a:latin typeface="Calibri"/>
                <a:ea typeface="Calibri"/>
                <a:cs typeface="Calibri"/>
              </a:defRPr>
            </a:pPr>
            <a:r>
              <a:rPr sz="2025" b="0">
                <a:solidFill>
                  <a:srgbClr val="536B70"/>
                </a:solidFill>
                <a:latin typeface="Calibri"/>
                <a:ea typeface="Calibri"/>
                <a:cs typeface="Calibri"/>
              </a:rPr>
              <a:t>Approximately 100 companies approached through direct outreach and Facebook advertising.</a:t>
            </a:r>
          </a:p>
        </p:txBody>
      </p:sp>
      <p:sp>
        <p:nvSpPr>
          <p:cNvPr id="3" name="Rectangle 2">
            <a:extLst>
              <a:ext uri="{FF2B5EF4-FFF2-40B4-BE49-F238E27FC236}">
                <a16:creationId xmlns:a16="http://schemas.microsoft.com/office/drawing/2014/main" id="{91AFFBC1-2680-4948-9A99-3FF5483CC1FB}"/>
              </a:ext>
            </a:extLst>
          </p:cNvPr>
          <p:cNvSpPr>
            <a:spLocks noGrp="1"/>
          </p:cNvSpPr>
          <p:nvPr/>
        </p:nvSpPr>
        <p:spPr>
          <a:xfrm>
            <a:off x="723900" y="2238375"/>
            <a:ext cx="323850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~100</a:t>
            </a:r>
          </a:p>
        </p:txBody>
      </p:sp>
      <p:sp>
        <p:nvSpPr>
          <p:cNvPr id="4" name="Rectangle 3">
            <a:extLst>
              <a:ext uri="{FF2B5EF4-FFF2-40B4-BE49-F238E27FC236}">
                <a16:creationId xmlns:a16="http://schemas.microsoft.com/office/drawing/2014/main" id="{65C90AC9-029B-4EE4-A8B2-95CBDA0716AB}"/>
              </a:ext>
            </a:extLst>
          </p:cNvPr>
          <p:cNvSpPr>
            <a:spLocks noGrp="1"/>
          </p:cNvSpPr>
          <p:nvPr/>
        </p:nvSpPr>
        <p:spPr>
          <a:xfrm>
            <a:off x="762000" y="3286125"/>
            <a:ext cx="3429000" cy="61912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Rectangle 4">
            <a:extLst>
              <a:ext uri="{FF2B5EF4-FFF2-40B4-BE49-F238E27FC236}">
                <a16:creationId xmlns:a16="http://schemas.microsoft.com/office/drawing/2014/main" id="{3DB5FDE8-BE3D-400C-B52D-76B45201C223}"/>
              </a:ext>
            </a:extLst>
          </p:cNvPr>
          <p:cNvSpPr>
            <a:spLocks noGrp="1"/>
          </p:cNvSpPr>
          <p:nvPr/>
        </p:nvSpPr>
        <p:spPr>
          <a:xfrm>
            <a:off x="4762500" y="2238375"/>
            <a:ext cx="285750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Rectangle 5">
            <a:extLst>
              <a:ext uri="{FF2B5EF4-FFF2-40B4-BE49-F238E27FC236}">
                <a16:creationId xmlns:a16="http://schemas.microsoft.com/office/drawing/2014/main" id="{9A8040C2-3985-43BC-AB24-DA4E0B9EC590}"/>
              </a:ext>
            </a:extLst>
          </p:cNvPr>
          <p:cNvSpPr>
            <a:spLocks noGrp="1"/>
          </p:cNvSpPr>
          <p:nvPr/>
        </p:nvSpPr>
        <p:spPr>
          <a:xfrm>
            <a:off x="4800600" y="3286125"/>
            <a:ext cx="3048000" cy="61912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Rectangle 6">
            <a:extLst>
              <a:ext uri="{FF2B5EF4-FFF2-40B4-BE49-F238E27FC236}">
                <a16:creationId xmlns:a16="http://schemas.microsoft.com/office/drawing/2014/main" id="{076000FC-BCC2-4C16-A6B0-09DB9C789B06}"/>
              </a:ext>
            </a:extLst>
          </p:cNvPr>
          <p:cNvSpPr>
            <a:spLocks noGrp="1"/>
          </p:cNvSpPr>
          <p:nvPr/>
        </p:nvSpPr>
        <p:spPr>
          <a:xfrm>
            <a:off x="8629650" y="2238375"/>
            <a:ext cx="276225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Rectangle 7">
            <a:extLst>
              <a:ext uri="{FF2B5EF4-FFF2-40B4-BE49-F238E27FC236}">
                <a16:creationId xmlns:a16="http://schemas.microsoft.com/office/drawing/2014/main" id="{3C074390-DD9D-4776-87A8-244589A2A673}"/>
              </a:ext>
            </a:extLst>
          </p:cNvPr>
          <p:cNvSpPr>
            <a:spLocks noGrp="1"/>
          </p:cNvSpPr>
          <p:nvPr/>
        </p:nvSpPr>
        <p:spPr>
          <a:xfrm>
            <a:off x="8667750" y="3286125"/>
            <a:ext cx="2857500" cy="71437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dirty="0">
                <a:solidFill>
                  <a:srgbClr val="142F35"/>
                </a:solidFill>
                <a:latin typeface="Calibri"/>
                <a:ea typeface="Calibri"/>
                <a:cs typeface="Calibri"/>
              </a:rPr>
              <a:t>former payer churned</a:t>
            </a:r>
          </a:p>
        </p:txBody>
      </p:sp>
      <p:sp>
        <p:nvSpPr>
          <p:cNvPr id="9" name="Rectangle 8">
            <a:extLst>
              <a:ext uri="{FF2B5EF4-FFF2-40B4-BE49-F238E27FC236}">
                <a16:creationId xmlns:a16="http://schemas.microsoft.com/office/drawing/2014/main" id="{F444A170-84E2-4BB8-A33C-3277DCC6A8CA}"/>
              </a:ext>
            </a:extLst>
          </p:cNvPr>
          <p:cNvSpPr>
            <a:spLocks noGrp="1"/>
          </p:cNvSpPr>
          <p:nvPr/>
        </p:nvSpPr>
        <p:spPr>
          <a:xfrm>
            <a:off x="762000" y="4276725"/>
            <a:ext cx="10572750" cy="495300"/>
          </a:xfrm>
          <a:prstGeom prst="rect">
            <a:avLst/>
          </a:prstGeom>
          <a:noFill/>
          <a:ln w="0">
            <a:noFill/>
          </a:ln>
        </p:spPr>
        <p:txBody>
          <a:bodyPr>
            <a:noAutofit/>
          </a:bodyPr>
          <a:lstStyle/>
          <a:p>
            <a:pPr>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Rectangle 9">
            <a:extLst>
              <a:ext uri="{FF2B5EF4-FFF2-40B4-BE49-F238E27FC236}">
                <a16:creationId xmlns:a16="http://schemas.microsoft.com/office/drawing/2014/main" id="{6DCD413D-F16D-480E-B616-537261583343}"/>
              </a:ext>
            </a:extLst>
          </p:cNvPr>
          <p:cNvSpPr>
            <a:spLocks noGrp="1"/>
          </p:cNvSpPr>
          <p:nvPr/>
        </p:nvSpPr>
        <p:spPr>
          <a:xfrm>
            <a:off x="762000" y="5076825"/>
            <a:ext cx="10572750" cy="942975"/>
          </a:xfrm>
          <a:prstGeom prst="rect">
            <a:avLst/>
          </a:prstGeom>
          <a:noFill/>
          <a:ln w="0">
            <a:noFill/>
          </a:ln>
        </p:spPr>
        <p:txBody>
          <a:bodyPr>
            <a:noAutofit/>
          </a:bodyPr>
          <a:lstStyle/>
          <a:p>
            <a:pPr>
              <a:defRPr sz="1950" b="0">
                <a:solidFill>
                  <a:srgbClr val="536B70"/>
                </a:solidFill>
                <a:latin typeface="Calibri"/>
                <a:ea typeface="Calibri"/>
                <a:cs typeface="Calibri"/>
              </a:defRPr>
            </a:pPr>
            <a:r>
              <a:rPr sz="1950" b="0" dirty="0">
                <a:solidFill>
                  <a:srgbClr val="536B70"/>
                </a:solidFill>
                <a:latin typeface="Calibri"/>
                <a:ea typeface="Calibri"/>
                <a:cs typeface="Calibri"/>
              </a:rPr>
              <a:t>~5% currently paying / approached. ~6% have paid at some point.</a:t>
            </a:r>
          </a:p>
          <a:p>
            <a:pPr>
              <a:defRPr sz="1950" b="0">
                <a:solidFill>
                  <a:srgbClr val="536B70"/>
                </a:solidFill>
                <a:latin typeface="Calibri"/>
                <a:ea typeface="Calibri"/>
                <a:cs typeface="Calibri"/>
              </a:defRPr>
            </a:pPr>
            <a:r>
              <a:rPr sz="1950" b="0" dirty="0">
                <a:solidFill>
                  <a:srgbClr val="536B70"/>
                </a:solidFill>
                <a:latin typeface="Calibri"/>
                <a:ea typeface="Calibri"/>
                <a:cs typeface="Calibri"/>
              </a:rPr>
              <a:t>These are approximate cumulative ratios. Reliable channel CAC is not yet available.</a:t>
            </a:r>
            <a:endParaRPr lang="lv-LV" sz="1950" b="0" dirty="0">
              <a:solidFill>
                <a:srgbClr val="536B70"/>
              </a:solidFill>
              <a:latin typeface="Calibri"/>
              <a:ea typeface="Calibri"/>
              <a:cs typeface="Calibri"/>
            </a:endParaRPr>
          </a:p>
          <a:p>
            <a:pPr>
              <a:defRPr sz="1950" b="0">
                <a:solidFill>
                  <a:srgbClr val="536B70"/>
                </a:solidFill>
                <a:latin typeface="Calibri"/>
                <a:ea typeface="Calibri"/>
                <a:cs typeface="Calibri"/>
              </a:defRPr>
            </a:pPr>
            <a:r>
              <a:rPr lang="lv-LV" sz="1950" dirty="0">
                <a:solidFill>
                  <a:srgbClr val="536B70"/>
                </a:solidFill>
                <a:latin typeface="Calibri"/>
                <a:ea typeface="Calibri"/>
                <a:cs typeface="Calibri"/>
              </a:rPr>
              <a:t>Churned user informed that they can’t force their workers to use the product. </a:t>
            </a:r>
            <a:endParaRPr sz="1950" b="0" dirty="0">
              <a:solidFill>
                <a:srgbClr val="536B70"/>
              </a:solidFill>
              <a:latin typeface="Calibri"/>
              <a:ea typeface="Calibri"/>
              <a:cs typeface="Calibri"/>
            </a:endParaRPr>
          </a:p>
        </p:txBody>
      </p:sp>
      <p:sp>
        <p:nvSpPr>
          <p:cNvPr id="11" name="Rectangle 10">
            <a:extLst>
              <a:ext uri="{FF2B5EF4-FFF2-40B4-BE49-F238E27FC236}">
                <a16:creationId xmlns:a16="http://schemas.microsoft.com/office/drawing/2014/main" id="{7112398C-2D51-47F3-827F-DCF461BFE64E}"/>
              </a:ext>
            </a:extLst>
          </p:cNvPr>
          <p:cNvSpPr>
            <a:spLocks noGrp="1"/>
          </p:cNvSpPr>
          <p:nvPr/>
        </p:nvSpPr>
        <p:spPr>
          <a:xfrm>
            <a:off x="11001375" y="6238875"/>
            <a:ext cx="571500" cy="285750"/>
          </a:xfrm>
          <a:prstGeom prst="rect">
            <a:avLst/>
          </a:prstGeom>
          <a:noFill/>
          <a:ln w="0">
            <a:noFill/>
          </a:ln>
        </p:spPr>
        <p:txBody>
          <a:bodyPr>
            <a:noAutofit/>
          </a:bodyPr>
          <a:lstStyle/>
          <a:p>
            <a:pPr>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ECE95E-B0E7-433B-BCDE-044062BCD5D3}"/>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Rectangle 1">
            <a:extLst>
              <a:ext uri="{FF2B5EF4-FFF2-40B4-BE49-F238E27FC236}">
                <a16:creationId xmlns:a16="http://schemas.microsoft.com/office/drawing/2014/main" id="{B5F17BDE-5728-4346-80CA-AA2A1B63D268}"/>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Rectangle 2">
            <a:extLst>
              <a:ext uri="{FF2B5EF4-FFF2-40B4-BE49-F238E27FC236}">
                <a16:creationId xmlns:a16="http://schemas.microsoft.com/office/drawing/2014/main" id="{798CF8A3-4355-49B6-9B37-1363B737460C}"/>
              </a:ext>
            </a:extLst>
          </p:cNvPr>
          <p:cNvSpPr>
            <a:spLocks noGrp="1"/>
          </p:cNvSpPr>
          <p:nvPr/>
        </p:nvSpPr>
        <p:spPr>
          <a:xfrm>
            <a:off x="762000" y="2133600"/>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Rectangle 3">
            <a:extLst>
              <a:ext uri="{FF2B5EF4-FFF2-40B4-BE49-F238E27FC236}">
                <a16:creationId xmlns:a16="http://schemas.microsoft.com/office/drawing/2014/main" id="{A71FA044-5D49-4E48-86C5-BF6615928F9C}"/>
              </a:ext>
            </a:extLst>
          </p:cNvPr>
          <p:cNvSpPr>
            <a:spLocks noGrp="1"/>
          </p:cNvSpPr>
          <p:nvPr/>
        </p:nvSpPr>
        <p:spPr>
          <a:xfrm>
            <a:off x="762000" y="2600325"/>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Rectangle 4">
            <a:extLst>
              <a:ext uri="{FF2B5EF4-FFF2-40B4-BE49-F238E27FC236}">
                <a16:creationId xmlns:a16="http://schemas.microsoft.com/office/drawing/2014/main" id="{0BA357FD-3CE3-4E88-81B3-A0B445B0EA0E}"/>
              </a:ext>
            </a:extLst>
          </p:cNvPr>
          <p:cNvSpPr>
            <a:spLocks noGrp="1"/>
          </p:cNvSpPr>
          <p:nvPr/>
        </p:nvSpPr>
        <p:spPr>
          <a:xfrm>
            <a:off x="762000" y="3457575"/>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Rectangle 5">
            <a:extLst>
              <a:ext uri="{FF2B5EF4-FFF2-40B4-BE49-F238E27FC236}">
                <a16:creationId xmlns:a16="http://schemas.microsoft.com/office/drawing/2014/main" id="{A94C35E2-5177-4751-863A-558948AD756D}"/>
              </a:ext>
            </a:extLst>
          </p:cNvPr>
          <p:cNvSpPr>
            <a:spLocks noGrp="1"/>
          </p:cNvSpPr>
          <p:nvPr/>
        </p:nvSpPr>
        <p:spPr>
          <a:xfrm>
            <a:off x="762000" y="3924300"/>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Rectangle 6">
            <a:extLst>
              <a:ext uri="{FF2B5EF4-FFF2-40B4-BE49-F238E27FC236}">
                <a16:creationId xmlns:a16="http://schemas.microsoft.com/office/drawing/2014/main" id="{461BACA2-3C4E-4617-8462-AEA285D5FB5B}"/>
              </a:ext>
            </a:extLst>
          </p:cNvPr>
          <p:cNvSpPr>
            <a:spLocks noGrp="1"/>
          </p:cNvSpPr>
          <p:nvPr/>
        </p:nvSpPr>
        <p:spPr>
          <a:xfrm>
            <a:off x="762000" y="4781550"/>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Expansion tests: Sweden, Great Britain and the USA</a:t>
            </a:r>
          </a:p>
        </p:txBody>
      </p:sp>
      <p:sp>
        <p:nvSpPr>
          <p:cNvPr id="8" name="Rectangle 7">
            <a:extLst>
              <a:ext uri="{FF2B5EF4-FFF2-40B4-BE49-F238E27FC236}">
                <a16:creationId xmlns:a16="http://schemas.microsoft.com/office/drawing/2014/main" id="{7879436E-9935-4CE1-863C-68E07788F929}"/>
              </a:ext>
            </a:extLst>
          </p:cNvPr>
          <p:cNvSpPr>
            <a:spLocks noGrp="1"/>
          </p:cNvSpPr>
          <p:nvPr/>
        </p:nvSpPr>
        <p:spPr>
          <a:xfrm>
            <a:off x="762000" y="5248275"/>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Run small pilot cohorts through targeted outreach. Compare paid conversion and support effort in each country before increasing spend.</a:t>
            </a:r>
          </a:p>
        </p:txBody>
      </p:sp>
      <p:sp>
        <p:nvSpPr>
          <p:cNvPr id="9" name="Rectangle 8">
            <a:extLst>
              <a:ext uri="{FF2B5EF4-FFF2-40B4-BE49-F238E27FC236}">
                <a16:creationId xmlns:a16="http://schemas.microsoft.com/office/drawing/2014/main" id="{A1E4C12A-0C5A-4E06-829B-ECB7BD9F6B87}"/>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259193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B485CE-993E-4557-A124-AE7E65281CF5}"/>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Rectangle 1">
            <a:extLst>
              <a:ext uri="{FF2B5EF4-FFF2-40B4-BE49-F238E27FC236}">
                <a16:creationId xmlns:a16="http://schemas.microsoft.com/office/drawing/2014/main" id="{E699C6B5-3B0F-4627-9DCF-97FB3DEE0721}"/>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1" name="Table 10"/>
          <p:cNvGraphicFramePr/>
          <p:nvPr>
            <p:extLst>
              <p:ext uri="{D42A27DB-BD31-4B8C-83A1-F6EECF244321}">
                <p14:modId xmlns:p14="http://schemas.microsoft.com/office/powerpoint/2010/main" val="2883056401"/>
              </p:ext>
            </p:extLst>
          </p:nvPr>
        </p:nvGraphicFramePr>
        <p:xfrm>
          <a:off x="762000" y="2133600"/>
          <a:ext cx="10668000" cy="2667000"/>
        </p:xfrm>
        <a:graphic>
          <a:graphicData uri="http://schemas.openxmlformats.org/drawingml/2006/table">
            <a:tbl>
              <a:tblPr/>
              <a:tblGrid>
                <a:gridCol w="28575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523875">
                <a:tc>
                  <a:txBody>
                    <a:bodyPr/>
                    <a:lstStyle/>
                    <a:p>
                      <a:r>
                        <a:rPr sz="1800" b="1">
                          <a:solidFill>
                            <a:srgbClr val="FFFFFF"/>
                          </a:solidFill>
                          <a:latin typeface="Calibri"/>
                          <a:ea typeface="Calibri"/>
                          <a:cs typeface="Calibri"/>
                        </a:rPr>
                        <a:t>Evidence / channel</a:t>
                      </a:r>
                    </a:p>
                  </a:txBody>
                  <a:tcPr>
                    <a:solidFill>
                      <a:srgbClr val="142F35"/>
                    </a:solidFill>
                  </a:tcPr>
                </a:tc>
                <a:tc>
                  <a:txBody>
                    <a:bodyPr/>
                    <a:lstStyle/>
                    <a:p>
                      <a:r>
                        <a:rPr sz="1800" b="1">
                          <a:solidFill>
                            <a:srgbClr val="FFFFFF"/>
                          </a:solidFill>
                          <a:latin typeface="Calibri"/>
                          <a:ea typeface="Calibri"/>
                          <a:cs typeface="Calibri"/>
                        </a:rPr>
                        <a:t>Observed so far</a:t>
                      </a:r>
                    </a:p>
                  </a:txBody>
                  <a:tcPr>
                    <a:solidFill>
                      <a:srgbClr val="142F35"/>
                    </a:solidFill>
                  </a:tcPr>
                </a:tc>
                <a:tc>
                  <a:txBody>
                    <a:bodyPr/>
                    <a:lstStyle/>
                    <a:p>
                      <a:r>
                        <a:rPr sz="1800" b="1">
                          <a:solidFill>
                            <a:srgbClr val="FFFFFF"/>
                          </a:solidFill>
                          <a:latin typeface="Calibri"/>
                          <a:ea typeface="Calibri"/>
                          <a:cs typeface="Calibri"/>
                        </a:rPr>
                        <a:t>Measure next</a:t>
                      </a:r>
                    </a:p>
                  </a:txBody>
                  <a:tcPr>
                    <a:solidFill>
                      <a:srgbClr val="142F35"/>
                    </a:solidFill>
                  </a:tcPr>
                </a:tc>
                <a:extLst>
                  <a:ext uri="{0D108BD9-81ED-4DB2-BD59-A6C34878D82A}">
                    <a16:rowId xmlns:a16="http://schemas.microsoft.com/office/drawing/2014/main" val="10000"/>
                  </a:ext>
                </a:extLst>
              </a:tr>
              <a:tr h="714375">
                <a:tc>
                  <a:txBody>
                    <a:bodyPr/>
                    <a:lstStyle/>
                    <a:p>
                      <a:r>
                        <a:rPr sz="1800" b="0" dirty="0">
                          <a:solidFill>
                            <a:srgbClr val="142F35"/>
                          </a:solidFill>
                          <a:latin typeface="Calibri"/>
                          <a:ea typeface="Calibri"/>
                          <a:cs typeface="Calibri"/>
                        </a:rPr>
                        <a:t>All outreach, ~</a:t>
                      </a:r>
                      <a:r>
                        <a:rPr lang="lv-LV" sz="1800" b="0" dirty="0">
                          <a:solidFill>
                            <a:srgbClr val="142F35"/>
                          </a:solidFill>
                          <a:latin typeface="Calibri"/>
                          <a:ea typeface="Calibri"/>
                          <a:cs typeface="Calibri"/>
                        </a:rPr>
                        <a:t>6 month</a:t>
                      </a:r>
                      <a:endParaRPr sz="1800" b="0" dirty="0">
                        <a:solidFill>
                          <a:srgbClr val="142F35"/>
                        </a:solidFill>
                        <a:latin typeface="Calibri"/>
                        <a:ea typeface="Calibri"/>
                        <a:cs typeface="Calibri"/>
                      </a:endParaRPr>
                    </a:p>
                  </a:txBody>
                  <a:tcPr>
                    <a:solidFill>
                      <a:srgbClr val="F6F4EE"/>
                    </a:solidFill>
                  </a:tcPr>
                </a:tc>
                <a:tc>
                  <a:txBody>
                    <a:bodyPr/>
                    <a:lstStyle/>
                    <a:p>
                      <a:r>
                        <a:rPr sz="1800" b="0">
                          <a:solidFill>
                            <a:srgbClr val="142F35"/>
                          </a:solidFill>
                          <a:latin typeface="Calibri"/>
                          <a:ea typeface="Calibri"/>
                          <a:cs typeface="Calibri"/>
                        </a:rPr>
                        <a:t>~100 approached, 6 ever paid</a:t>
                      </a:r>
                    </a:p>
                  </a:txBody>
                  <a:tcPr>
                    <a:solidFill>
                      <a:srgbClr val="F6F4EE"/>
                    </a:solidFill>
                  </a:tcPr>
                </a:tc>
                <a:tc>
                  <a:txBody>
                    <a:bodyPr/>
                    <a:lstStyle/>
                    <a:p>
                      <a:r>
                        <a:rPr sz="1800" b="0" dirty="0">
                          <a:solidFill>
                            <a:srgbClr val="142F35"/>
                          </a:solidFill>
                          <a:latin typeface="Calibri"/>
                          <a:ea typeface="Calibri"/>
                          <a:cs typeface="Calibri"/>
                        </a:rPr>
                        <a:t>5 current, 1 churned; cohort retention</a:t>
                      </a:r>
                    </a:p>
                  </a:txBody>
                  <a:tcPr>
                    <a:solidFill>
                      <a:srgbClr val="F6F4EE"/>
                    </a:solidFill>
                  </a:tcPr>
                </a:tc>
                <a:extLst>
                  <a:ext uri="{0D108BD9-81ED-4DB2-BD59-A6C34878D82A}">
                    <a16:rowId xmlns:a16="http://schemas.microsoft.com/office/drawing/2014/main" val="10001"/>
                  </a:ext>
                </a:extLst>
              </a:tr>
              <a:tr h="714375">
                <a:tc>
                  <a:txBody>
                    <a:bodyPr/>
                    <a:lstStyle/>
                    <a:p>
                      <a:r>
                        <a:rPr sz="1800" b="0">
                          <a:solidFill>
                            <a:srgbClr val="142F35"/>
                          </a:solidFill>
                          <a:latin typeface="Calibri"/>
                          <a:ea typeface="Calibri"/>
                          <a:cs typeface="Calibri"/>
                        </a:rPr>
                        <a:t>Direct outreach sample</a:t>
                      </a:r>
                    </a:p>
                  </a:txBody>
                  <a:tcPr>
                    <a:solidFill>
                      <a:srgbClr val="F6F4EE"/>
                    </a:solidFill>
                  </a:tcPr>
                </a:tc>
                <a:tc>
                  <a:txBody>
                    <a:bodyPr/>
                    <a:lstStyle/>
                    <a:p>
                      <a:r>
                        <a:rPr sz="1800" b="0">
                          <a:solidFill>
                            <a:srgbClr val="142F35"/>
                          </a:solidFill>
                          <a:latin typeface="Calibri"/>
                          <a:ea typeface="Calibri"/>
                          <a:cs typeface="Calibri"/>
                        </a:rPr>
                        <a:t>55 calls, 7 demos booked</a:t>
                      </a:r>
                    </a:p>
                  </a:txBody>
                  <a:tcPr>
                    <a:solidFill>
                      <a:srgbClr val="F6F4EE"/>
                    </a:solidFill>
                  </a:tcPr>
                </a:tc>
                <a:tc>
                  <a:txBody>
                    <a:bodyPr/>
                    <a:lstStyle/>
                    <a:p>
                      <a:r>
                        <a:rPr sz="1800" b="0">
                          <a:solidFill>
                            <a:srgbClr val="142F35"/>
                          </a:solidFill>
                          <a:latin typeface="Calibri"/>
                          <a:ea typeface="Calibri"/>
                          <a:cs typeface="Calibri"/>
                        </a:rPr>
                        <a:t>Trials and paid conversion by cohort</a:t>
                      </a:r>
                    </a:p>
                  </a:txBody>
                  <a:tcPr>
                    <a:solidFill>
                      <a:srgbClr val="F6F4EE"/>
                    </a:solidFill>
                  </a:tcPr>
                </a:tc>
                <a:extLst>
                  <a:ext uri="{0D108BD9-81ED-4DB2-BD59-A6C34878D82A}">
                    <a16:rowId xmlns:a16="http://schemas.microsoft.com/office/drawing/2014/main" val="10002"/>
                  </a:ext>
                </a:extLst>
              </a:tr>
              <a:tr h="714375">
                <a:tc>
                  <a:txBody>
                    <a:bodyPr/>
                    <a:lstStyle/>
                    <a:p>
                      <a:r>
                        <a:rPr sz="1800" b="0">
                          <a:solidFill>
                            <a:srgbClr val="142F35"/>
                          </a:solidFill>
                          <a:latin typeface="Calibri"/>
                          <a:ea typeface="Calibri"/>
                          <a:cs typeface="Calibri"/>
                        </a:rPr>
                        <a:t>Facebook advertising</a:t>
                      </a:r>
                    </a:p>
                  </a:txBody>
                  <a:tcPr>
                    <a:solidFill>
                      <a:srgbClr val="F6F4EE"/>
                    </a:solidFill>
                  </a:tcPr>
                </a:tc>
                <a:tc>
                  <a:txBody>
                    <a:bodyPr/>
                    <a:lstStyle/>
                    <a:p>
                      <a:r>
                        <a:rPr sz="1800" b="0">
                          <a:solidFill>
                            <a:srgbClr val="142F35"/>
                          </a:solidFill>
                          <a:latin typeface="Calibri"/>
                          <a:ea typeface="Calibri"/>
                          <a:cs typeface="Calibri"/>
                        </a:rPr>
                        <a:t>Paying customers reported</a:t>
                      </a:r>
                    </a:p>
                  </a:txBody>
                  <a:tcPr>
                    <a:solidFill>
                      <a:srgbClr val="F6F4EE"/>
                    </a:solidFill>
                  </a:tcPr>
                </a:tc>
                <a:tc>
                  <a:txBody>
                    <a:bodyPr/>
                    <a:lstStyle/>
                    <a:p>
                      <a:r>
                        <a:rPr sz="1800" b="0" dirty="0">
                          <a:solidFill>
                            <a:srgbClr val="142F35"/>
                          </a:solidFill>
                          <a:latin typeface="Calibri"/>
                          <a:ea typeface="Calibri"/>
                          <a:cs typeface="Calibri"/>
                        </a:rPr>
                        <a:t>Attributed spend, new payers and CAC</a:t>
                      </a:r>
                    </a:p>
                  </a:txBody>
                  <a:tcPr>
                    <a:solidFill>
                      <a:srgbClr val="F6F4EE"/>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FEB56EF1-AD44-4ED7-9976-6DB3D8E8DA62}"/>
              </a:ext>
            </a:extLst>
          </p:cNvPr>
          <p:cNvSpPr>
            <a:spLocks noGrp="1"/>
          </p:cNvSpPr>
          <p:nvPr/>
        </p:nvSpPr>
        <p:spPr>
          <a:xfrm>
            <a:off x="762000" y="5057775"/>
            <a:ext cx="10668000" cy="409575"/>
          </a:xfrm>
          <a:prstGeom prst="rect">
            <a:avLst/>
          </a:prstGeom>
          <a:noFill/>
          <a:ln w="0">
            <a:noFill/>
          </a:ln>
        </p:spPr>
        <p:txBody>
          <a:bodyPr>
            <a:noAutofit/>
          </a:bodyPr>
          <a:lstStyle/>
          <a:p>
            <a:pPr>
              <a:buNone/>
              <a:defRPr sz="2100" b="1">
                <a:solidFill>
                  <a:srgbClr val="008579"/>
                </a:solidFill>
                <a:latin typeface="Calibri"/>
                <a:ea typeface="Calibri"/>
                <a:cs typeface="Calibri"/>
              </a:defRPr>
            </a:pPr>
            <a:r>
              <a:rPr sz="2100" b="1">
                <a:solidFill>
                  <a:srgbClr val="008579"/>
                </a:solidFill>
                <a:latin typeface="Calibri"/>
                <a:ea typeface="Calibri"/>
                <a:cs typeface="Calibri"/>
              </a:rPr>
              <a:t>Revenue assumption: €150/month = €1,800/year per company</a:t>
            </a:r>
          </a:p>
        </p:txBody>
      </p:sp>
      <p:sp>
        <p:nvSpPr>
          <p:cNvPr id="5" name="Rectangle 4">
            <a:extLst>
              <a:ext uri="{FF2B5EF4-FFF2-40B4-BE49-F238E27FC236}">
                <a16:creationId xmlns:a16="http://schemas.microsoft.com/office/drawing/2014/main" id="{C388DCC3-3BE3-4163-99F1-3D33675AC5CC}"/>
              </a:ext>
            </a:extLst>
          </p:cNvPr>
          <p:cNvSpPr>
            <a:spLocks noGrp="1"/>
          </p:cNvSpPr>
          <p:nvPr/>
        </p:nvSpPr>
        <p:spPr>
          <a:xfrm>
            <a:off x="762000" y="5553075"/>
            <a:ext cx="10668000" cy="695325"/>
          </a:xfrm>
          <a:prstGeom prst="rect">
            <a:avLst/>
          </a:prstGeom>
          <a:noFill/>
          <a:ln w="0">
            <a:noFill/>
          </a:ln>
        </p:spPr>
        <p:txBody>
          <a:bodyPr>
            <a:noAutofit/>
          </a:bodyPr>
          <a:lstStyle/>
          <a:p>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6" name="Rectangle 5">
            <a:extLst>
              <a:ext uri="{FF2B5EF4-FFF2-40B4-BE49-F238E27FC236}">
                <a16:creationId xmlns:a16="http://schemas.microsoft.com/office/drawing/2014/main" id="{88D80AE8-F3DA-4AAF-B344-98ACAC37FE8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1854655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88435C8-77CC-492C-9A50-B5E787DE2757}"/>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Rectangle 1">
            <a:extLst>
              <a:ext uri="{FF2B5EF4-FFF2-40B4-BE49-F238E27FC236}">
                <a16:creationId xmlns:a16="http://schemas.microsoft.com/office/drawing/2014/main" id="{9EBD675A-F49A-431A-9FF1-89FE6C01F81E}"/>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Rectangle 2">
            <a:extLst>
              <a:ext uri="{FF2B5EF4-FFF2-40B4-BE49-F238E27FC236}">
                <a16:creationId xmlns:a16="http://schemas.microsoft.com/office/drawing/2014/main" id="{F5287D3A-EE14-497D-A6B8-14B4C2621E5E}"/>
              </a:ext>
            </a:extLst>
          </p:cNvPr>
          <p:cNvSpPr>
            <a:spLocks noGrp="1"/>
          </p:cNvSpPr>
          <p:nvPr/>
        </p:nvSpPr>
        <p:spPr>
          <a:xfrm>
            <a:off x="762000" y="2152650"/>
            <a:ext cx="4857750" cy="476250"/>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Rectangle 3">
            <a:extLst>
              <a:ext uri="{FF2B5EF4-FFF2-40B4-BE49-F238E27FC236}">
                <a16:creationId xmlns:a16="http://schemas.microsoft.com/office/drawing/2014/main" id="{A7F8475C-2904-4744-B03E-5E4CDBE33D9C}"/>
              </a:ext>
            </a:extLst>
          </p:cNvPr>
          <p:cNvSpPr>
            <a:spLocks noGrp="1"/>
          </p:cNvSpPr>
          <p:nvPr/>
        </p:nvSpPr>
        <p:spPr>
          <a:xfrm>
            <a:off x="762000" y="2743200"/>
            <a:ext cx="4953000" cy="1047750"/>
          </a:xfrm>
          <a:prstGeom prst="rect">
            <a:avLst/>
          </a:prstGeom>
          <a:noFill/>
          <a:ln w="0">
            <a:noFill/>
          </a:ln>
        </p:spPr>
        <p:txBody>
          <a:bodyPr>
            <a:noAutofit/>
          </a:bodyPr>
          <a:lstStyle/>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Rectangle 4">
            <a:extLst>
              <a:ext uri="{FF2B5EF4-FFF2-40B4-BE49-F238E27FC236}">
                <a16:creationId xmlns:a16="http://schemas.microsoft.com/office/drawing/2014/main" id="{3F94CEA4-22D9-4F31-930D-72255E2BE1E5}"/>
              </a:ext>
            </a:extLst>
          </p:cNvPr>
          <p:cNvSpPr>
            <a:spLocks noGrp="1"/>
          </p:cNvSpPr>
          <p:nvPr/>
        </p:nvSpPr>
        <p:spPr>
          <a:xfrm>
            <a:off x="6572250" y="2152650"/>
            <a:ext cx="4762500" cy="476250"/>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Rectangle 5">
            <a:extLst>
              <a:ext uri="{FF2B5EF4-FFF2-40B4-BE49-F238E27FC236}">
                <a16:creationId xmlns:a16="http://schemas.microsoft.com/office/drawing/2014/main" id="{313EAE4E-51C7-4D97-80A8-0CB9AE6AB8FC}"/>
              </a:ext>
            </a:extLst>
          </p:cNvPr>
          <p:cNvSpPr>
            <a:spLocks noGrp="1"/>
          </p:cNvSpPr>
          <p:nvPr/>
        </p:nvSpPr>
        <p:spPr>
          <a:xfrm>
            <a:off x="6572250" y="2743200"/>
            <a:ext cx="4857750" cy="1047750"/>
          </a:xfrm>
          <a:prstGeom prst="rect">
            <a:avLst/>
          </a:prstGeom>
          <a:noFill/>
          <a:ln w="0">
            <a:noFill/>
          </a:ln>
        </p:spPr>
        <p:txBody>
          <a:bodyPr>
            <a:noAutofit/>
          </a:bodyPr>
          <a:lstStyle/>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Rectangle 6">
            <a:extLst>
              <a:ext uri="{FF2B5EF4-FFF2-40B4-BE49-F238E27FC236}">
                <a16:creationId xmlns:a16="http://schemas.microsoft.com/office/drawing/2014/main" id="{4A20ACE9-1E39-4FB4-9B54-10BF6ACCABF3}"/>
              </a:ext>
            </a:extLst>
          </p:cNvPr>
          <p:cNvSpPr>
            <a:spLocks noGrp="1"/>
          </p:cNvSpPr>
          <p:nvPr/>
        </p:nvSpPr>
        <p:spPr>
          <a:xfrm>
            <a:off x="762000" y="4295775"/>
            <a:ext cx="10477500" cy="447675"/>
          </a:xfrm>
          <a:prstGeom prst="rect">
            <a:avLst/>
          </a:prstGeom>
          <a:noFill/>
          <a:ln w="0">
            <a:noFill/>
          </a:ln>
        </p:spPr>
        <p:txBody>
          <a:bodyPr>
            <a:noAutofit/>
          </a:bodyPr>
          <a:lstStyle/>
          <a:p>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Rectangle 7">
            <a:extLst>
              <a:ext uri="{FF2B5EF4-FFF2-40B4-BE49-F238E27FC236}">
                <a16:creationId xmlns:a16="http://schemas.microsoft.com/office/drawing/2014/main" id="{B32B7306-0889-4BC8-AA8B-B902CC7115C2}"/>
              </a:ext>
            </a:extLst>
          </p:cNvPr>
          <p:cNvSpPr>
            <a:spLocks noGrp="1"/>
          </p:cNvSpPr>
          <p:nvPr/>
        </p:nvSpPr>
        <p:spPr>
          <a:xfrm>
            <a:off x="762000" y="4857750"/>
            <a:ext cx="10477500" cy="1009650"/>
          </a:xfrm>
          <a:prstGeom prst="rect">
            <a:avLst/>
          </a:prstGeom>
          <a:noFill/>
          <a:ln w="0">
            <a:noFill/>
          </a:ln>
        </p:spPr>
        <p:txBody>
          <a:bodyPr>
            <a:noAutofit/>
          </a:bodyPr>
          <a:lstStyle/>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9" name="Rectangle 8">
            <a:extLst>
              <a:ext uri="{FF2B5EF4-FFF2-40B4-BE49-F238E27FC236}">
                <a16:creationId xmlns:a16="http://schemas.microsoft.com/office/drawing/2014/main" id="{081A73FD-961C-4DE9-82BE-1D9EC5F966E4}"/>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23689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35BA4CD-5C4E-4732-A2A9-759D110AA252}"/>
              </a:ext>
            </a:extLst>
          </p:cNvPr>
          <p:cNvSpPr>
            <a:spLocks noGrp="1"/>
          </p:cNvSpPr>
          <p:nvPr/>
        </p:nvSpPr>
        <p:spPr>
          <a:xfrm>
            <a:off x="685800" y="571500"/>
            <a:ext cx="10820400" cy="9525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a:ext uri="{FF2B5EF4-FFF2-40B4-BE49-F238E27FC236}">
                <a16:creationId xmlns:a16="http://schemas.microsoft.com/office/drawing/2014/main" id="{B127BB7F-75C3-4988-BA77-6FEBD1E928D9}"/>
              </a:ext>
            </a:extLst>
          </p:cNvPr>
          <p:cNvSpPr>
            <a:spLocks noGrp="1"/>
          </p:cNvSpPr>
          <p:nvPr/>
        </p:nvSpPr>
        <p:spPr>
          <a:xfrm>
            <a:off x="685800" y="1809750"/>
            <a:ext cx="5095875" cy="11430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a:ext uri="{FF2B5EF4-FFF2-40B4-BE49-F238E27FC236}">
                <a16:creationId xmlns:a16="http://schemas.microsoft.com/office/drawing/2014/main" id="{9A392C90-1DB6-4B05-802B-1CF647FFE0AB}"/>
              </a:ext>
            </a:extLst>
          </p:cNvPr>
          <p:cNvSpPr>
            <a:spLocks noGrp="1"/>
          </p:cNvSpPr>
          <p:nvPr/>
        </p:nvSpPr>
        <p:spPr>
          <a:xfrm>
            <a:off x="685800" y="3190875"/>
            <a:ext cx="5143500" cy="476250"/>
          </a:xfrm>
          <a:prstGeom prst="rect">
            <a:avLst/>
          </a:prstGeom>
          <a:noFill/>
          <a:ln w="0">
            <a:noFill/>
          </a:ln>
        </p:spPr>
        <p:txBody>
          <a:bodyPr>
            <a:noAutofit/>
          </a:bodyPr>
          <a:lstStyle/>
          <a:p>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a:ext uri="{FF2B5EF4-FFF2-40B4-BE49-F238E27FC236}">
                <a16:creationId xmlns:a16="http://schemas.microsoft.com/office/drawing/2014/main" id="{1508F114-2165-43E5-9F7B-FBCFE7D19450}"/>
              </a:ext>
            </a:extLst>
          </p:cNvPr>
          <p:cNvSpPr>
            <a:spLocks noGrp="1"/>
          </p:cNvSpPr>
          <p:nvPr/>
        </p:nvSpPr>
        <p:spPr>
          <a:xfrm>
            <a:off x="685800" y="3924300"/>
            <a:ext cx="5286375" cy="876300"/>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a:ext uri="{FF2B5EF4-FFF2-40B4-BE49-F238E27FC236}">
                <a16:creationId xmlns:a16="http://schemas.microsoft.com/office/drawing/2014/main" id="{DEB1E63E-44C7-41C4-B4A9-57405C400FCF}"/>
              </a:ext>
            </a:extLst>
          </p:cNvPr>
          <p:cNvSpPr>
            <a:spLocks noGrp="1"/>
          </p:cNvSpPr>
          <p:nvPr/>
        </p:nvSpPr>
        <p:spPr>
          <a:xfrm>
            <a:off x="685800" y="5048250"/>
            <a:ext cx="5334000" cy="523875"/>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a:ext uri="{FF2B5EF4-FFF2-40B4-BE49-F238E27FC236}">
                <a16:creationId xmlns:a16="http://schemas.microsoft.com/office/drawing/2014/main" id="{80F50FFB-D2AA-4373-8BB3-C8BE5842B85C}"/>
              </a:ext>
            </a:extLst>
          </p:cNvPr>
          <p:cNvSpPr>
            <a:spLocks noGrp="1"/>
          </p:cNvSpPr>
          <p:nvPr/>
        </p:nvSpPr>
        <p:spPr>
          <a:xfrm>
            <a:off x="685800" y="5791200"/>
            <a:ext cx="5095875" cy="476250"/>
          </a:xfrm>
          <a:prstGeom prst="rect">
            <a:avLst/>
          </a:prstGeom>
          <a:noFill/>
          <a:ln w="0">
            <a:noFill/>
          </a:ln>
        </p:spPr>
        <p:txBody>
          <a:bodyPr>
            <a:noAutofit/>
          </a:bodyPr>
          <a:lstStyle/>
          <a:p>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a:ext uri="{FF2B5EF4-FFF2-40B4-BE49-F238E27FC236}">
                <a16:creationId xmlns:a16="http://schemas.microsoft.com/office/drawing/2014/main" id="{D8CED15D-0ACF-4BCF-B8E8-55FFA9754638}"/>
              </a:ext>
            </a:extLst>
          </p:cNvPr>
          <p:cNvSpPr>
            <a:spLocks noGrp="1"/>
          </p:cNvSpPr>
          <p:nvPr/>
        </p:nvSpPr>
        <p:spPr>
          <a:xfrm>
            <a:off x="6762750" y="1809750"/>
            <a:ext cx="4762500" cy="11430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a:ext uri="{FF2B5EF4-FFF2-40B4-BE49-F238E27FC236}">
                <a16:creationId xmlns:a16="http://schemas.microsoft.com/office/drawing/2014/main" id="{92CC7D36-CA00-490F-80BC-B7215D712883}"/>
              </a:ext>
            </a:extLst>
          </p:cNvPr>
          <p:cNvSpPr>
            <a:spLocks noGrp="1"/>
          </p:cNvSpPr>
          <p:nvPr/>
        </p:nvSpPr>
        <p:spPr>
          <a:xfrm>
            <a:off x="6762750" y="3190875"/>
            <a:ext cx="4762500" cy="476250"/>
          </a:xfrm>
          <a:prstGeom prst="rect">
            <a:avLst/>
          </a:prstGeom>
          <a:noFill/>
          <a:ln w="0">
            <a:noFill/>
          </a:ln>
        </p:spPr>
        <p:txBody>
          <a:bodyPr>
            <a:noAutofit/>
          </a:bodyPr>
          <a:lstStyle/>
          <a:p>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a:ext uri="{FF2B5EF4-FFF2-40B4-BE49-F238E27FC236}">
                <a16:creationId xmlns:a16="http://schemas.microsoft.com/office/drawing/2014/main" id="{5588DBD3-9DF8-4BB0-901D-8973D3E8DC97}"/>
              </a:ext>
            </a:extLst>
          </p:cNvPr>
          <p:cNvSpPr>
            <a:spLocks noGrp="1"/>
          </p:cNvSpPr>
          <p:nvPr/>
        </p:nvSpPr>
        <p:spPr>
          <a:xfrm>
            <a:off x="6762750" y="3924300"/>
            <a:ext cx="4762500" cy="571500"/>
          </a:xfrm>
          <a:prstGeom prst="rect">
            <a:avLst/>
          </a:prstGeom>
          <a:noFill/>
          <a:ln w="0">
            <a:noFill/>
          </a:ln>
        </p:spPr>
        <p:txBody>
          <a:bodyPr>
            <a:noAutofit/>
          </a:bodyPr>
          <a:lstStyle/>
          <a:p>
            <a:pPr>
              <a:buNone/>
              <a:defRPr sz="2025" b="0">
                <a:solidFill>
                  <a:srgbClr val="143037"/>
                </a:solidFill>
                <a:latin typeface="Bitstream Charter"/>
                <a:ea typeface="Bitstream Charter"/>
                <a:cs typeface="Bitstream Charter"/>
              </a:defRPr>
            </a:pPr>
            <a:r>
              <a:rPr sz="2025" b="0" dirty="0">
                <a:solidFill>
                  <a:srgbClr val="143037"/>
                </a:solidFill>
                <a:latin typeface="Bitstream Charter"/>
                <a:ea typeface="Bitstream Charter"/>
                <a:cs typeface="Bitstream Charter"/>
              </a:rPr>
              <a:t>Senior JavaScript developer</a:t>
            </a:r>
          </a:p>
        </p:txBody>
      </p:sp>
      <p:sp>
        <p:nvSpPr>
          <p:cNvPr id="11" name="Rectangle 10">
            <a:extLst>
              <a:ext uri="{FF2B5EF4-FFF2-40B4-BE49-F238E27FC236}">
                <a16:creationId xmlns:a16="http://schemas.microsoft.com/office/drawing/2014/main" id="{DA33AE3B-7944-4879-BD3D-AD5DEE002A8F}"/>
              </a:ext>
            </a:extLst>
          </p:cNvPr>
          <p:cNvSpPr>
            <a:spLocks noGrp="1"/>
          </p:cNvSpPr>
          <p:nvPr/>
        </p:nvSpPr>
        <p:spPr>
          <a:xfrm>
            <a:off x="6762750" y="5791200"/>
            <a:ext cx="4762500" cy="476250"/>
          </a:xfrm>
          <a:prstGeom prst="rect">
            <a:avLst/>
          </a:prstGeom>
          <a:noFill/>
          <a:ln w="0">
            <a:noFill/>
          </a:ln>
        </p:spPr>
        <p:txBody>
          <a:bodyPr>
            <a:noAutofit/>
          </a:bodyPr>
          <a:lstStyle/>
          <a:p>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EAD27A24-1A2D-4920-9FD9-B87F06D0E372}"/>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
        <p:nvSpPr>
          <p:cNvPr id="16" name="Rectangle 15">
            <a:extLst>
              <a:ext uri="{FF2B5EF4-FFF2-40B4-BE49-F238E27FC236}">
                <a16:creationId xmlns:a16="http://schemas.microsoft.com/office/drawing/2014/main" id="{3800F88D-6591-5F04-1505-8B76A5B0EE47}"/>
              </a:ext>
            </a:extLst>
          </p:cNvPr>
          <p:cNvSpPr>
            <a:spLocks noGrp="1"/>
          </p:cNvSpPr>
          <p:nvPr/>
        </p:nvSpPr>
        <p:spPr>
          <a:xfrm>
            <a:off x="6762750" y="5043487"/>
            <a:ext cx="5334000" cy="523875"/>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lang="lv-LV" sz="1875" b="0" dirty="0">
                <a:solidFill>
                  <a:srgbClr val="143037"/>
                </a:solidFill>
                <a:latin typeface="Bitstream Charter"/>
                <a:ea typeface="Bitstream Charter"/>
                <a:cs typeface="Bitstream Charter"/>
              </a:rPr>
              <a:t>Part-time CTO</a:t>
            </a:r>
            <a:endParaRPr sz="1875" b="0" dirty="0">
              <a:solidFill>
                <a:srgbClr val="143037"/>
              </a:solidFill>
              <a:latin typeface="Bitstream Charter"/>
              <a:ea typeface="Bitstream Charter"/>
              <a:cs typeface="Bitstream Charter"/>
            </a:endParaRPr>
          </a:p>
        </p:txBody>
      </p:sp>
    </p:spTree>
    <p:extLst>
      <p:ext uri="{BB962C8B-B14F-4D97-AF65-F5344CB8AC3E}">
        <p14:creationId xmlns:p14="http://schemas.microsoft.com/office/powerpoint/2010/main" val="1732788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738C983-CC17-4EDB-A96A-1BDB484FF158}"/>
              </a:ext>
            </a:extLst>
          </p:cNvPr>
          <p:cNvSpPr>
            <a:spLocks noGrp="1"/>
          </p:cNvSpPr>
          <p:nvPr/>
        </p:nvSpPr>
        <p:spPr>
          <a:xfrm>
            <a:off x="685800" y="523875"/>
            <a:ext cx="10820400" cy="6191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42F35"/>
                </a:solidFill>
                <a:latin typeface="Calibri"/>
                <a:ea typeface="Calibri"/>
                <a:cs typeface="Calibri"/>
              </a:defRPr>
            </a:pPr>
            <a:r>
              <a:rPr kumimoji="0" sz="3150" b="1" i="0" u="none" strike="noStrike" kern="1200" cap="none" spc="0" normalizeH="0" baseline="0" noProof="0">
                <a:ln>
                  <a:noFill/>
                </a:ln>
                <a:solidFill>
                  <a:srgbClr val="142F35"/>
                </a:solidFill>
                <a:effectLst/>
                <a:uLnTx/>
                <a:uFillTx/>
                <a:latin typeface="Calibri"/>
                <a:ea typeface="Calibri"/>
                <a:cs typeface="Calibri"/>
              </a:rPr>
              <a:t>Investment ask</a:t>
            </a:r>
          </a:p>
        </p:txBody>
      </p:sp>
      <p:sp>
        <p:nvSpPr>
          <p:cNvPr id="2" name="Rectangle 1">
            <a:extLst>
              <a:ext uri="{FF2B5EF4-FFF2-40B4-BE49-F238E27FC236}">
                <a16:creationId xmlns:a16="http://schemas.microsoft.com/office/drawing/2014/main" id="{6ED44287-5D49-43F7-A8B3-59DEED943E6E}"/>
              </a:ext>
            </a:extLst>
          </p:cNvPr>
          <p:cNvSpPr>
            <a:spLocks noGrp="1"/>
          </p:cNvSpPr>
          <p:nvPr/>
        </p:nvSpPr>
        <p:spPr>
          <a:xfrm>
            <a:off x="723900" y="1257300"/>
            <a:ext cx="10668000" cy="838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4500" b="1">
                <a:solidFill>
                  <a:srgbClr val="008579"/>
                </a:solidFill>
                <a:latin typeface="Calibri"/>
                <a:ea typeface="Calibri"/>
                <a:cs typeface="Calibri"/>
              </a:defRPr>
            </a:pPr>
            <a:r>
              <a:rPr kumimoji="0" sz="4500" b="1" i="0" u="none" strike="noStrike" kern="1200" cap="none" spc="0" normalizeH="0" baseline="0" noProof="0">
                <a:ln>
                  <a:noFill/>
                </a:ln>
                <a:solidFill>
                  <a:srgbClr val="008579"/>
                </a:solidFill>
                <a:effectLst/>
                <a:uLnTx/>
                <a:uFillTx/>
                <a:latin typeface="Calibri"/>
                <a:ea typeface="Calibri"/>
                <a:cs typeface="Calibri"/>
              </a:rPr>
              <a:t>€30,000 for 10% equity</a:t>
            </a:r>
          </a:p>
        </p:txBody>
      </p:sp>
      <p:sp>
        <p:nvSpPr>
          <p:cNvPr id="3" name="Rectangle 2">
            <a:extLst>
              <a:ext uri="{FF2B5EF4-FFF2-40B4-BE49-F238E27FC236}">
                <a16:creationId xmlns:a16="http://schemas.microsoft.com/office/drawing/2014/main" id="{F4A7EFCA-4705-4D22-9B23-90115F0D1511}"/>
              </a:ext>
            </a:extLst>
          </p:cNvPr>
          <p:cNvSpPr>
            <a:spLocks noGrp="1"/>
          </p:cNvSpPr>
          <p:nvPr/>
        </p:nvSpPr>
        <p:spPr>
          <a:xfrm>
            <a:off x="762000" y="2114550"/>
            <a:ext cx="10572750" cy="4762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536B70"/>
                </a:solidFill>
                <a:latin typeface="Calibri"/>
                <a:ea typeface="Calibri"/>
                <a:cs typeface="Calibri"/>
              </a:defRPr>
            </a:pPr>
            <a:r>
              <a:rPr kumimoji="0" sz="1950" b="0" i="0" u="none" strike="noStrike" kern="1200" cap="none" spc="0" normalizeH="0" baseline="0" noProof="0">
                <a:ln>
                  <a:noFill/>
                </a:ln>
                <a:solidFill>
                  <a:srgbClr val="536B70"/>
                </a:solidFill>
                <a:effectLst/>
                <a:uLnTx/>
                <a:uFillTx/>
                <a:latin typeface="Calibri"/>
                <a:ea typeface="Calibri"/>
                <a:cs typeface="Calibri"/>
              </a:rPr>
              <a:t>Proposed terms: €270,000 pre-money valuation. Six-month validation budget.</a:t>
            </a:r>
          </a:p>
        </p:txBody>
      </p:sp>
      <p:sp>
        <p:nvSpPr>
          <p:cNvPr id="4" name="Rectangle 3">
            <a:extLst>
              <a:ext uri="{FF2B5EF4-FFF2-40B4-BE49-F238E27FC236}">
                <a16:creationId xmlns:a16="http://schemas.microsoft.com/office/drawing/2014/main" id="{554B6378-9CEB-4304-85FA-D1EA22A5B71B}"/>
              </a:ext>
            </a:extLst>
          </p:cNvPr>
          <p:cNvSpPr>
            <a:spLocks noGrp="1"/>
          </p:cNvSpPr>
          <p:nvPr/>
        </p:nvSpPr>
        <p:spPr>
          <a:xfrm>
            <a:off x="762000" y="2838450"/>
            <a:ext cx="4810125"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42F35"/>
                </a:solidFill>
                <a:latin typeface="Calibri"/>
                <a:ea typeface="Calibri"/>
                <a:cs typeface="Calibri"/>
              </a:defRPr>
            </a:pPr>
            <a:r>
              <a:rPr kumimoji="0" sz="2250" b="1" i="0" u="none" strike="noStrike" kern="1200" cap="none" spc="0" normalizeH="0" baseline="0" noProof="0">
                <a:ln>
                  <a:noFill/>
                </a:ln>
                <a:solidFill>
                  <a:srgbClr val="142F35"/>
                </a:solidFill>
                <a:effectLst/>
                <a:uLnTx/>
                <a:uFillTx/>
                <a:latin typeface="Calibri"/>
                <a:ea typeface="Calibri"/>
                <a:cs typeface="Calibri"/>
              </a:rPr>
              <a:t>Use of funds</a:t>
            </a:r>
          </a:p>
        </p:txBody>
      </p:sp>
      <p:sp>
        <p:nvSpPr>
          <p:cNvPr id="5" name="Rectangle 4">
            <a:extLst>
              <a:ext uri="{FF2B5EF4-FFF2-40B4-BE49-F238E27FC236}">
                <a16:creationId xmlns:a16="http://schemas.microsoft.com/office/drawing/2014/main" id="{02042D68-73D3-4864-9E60-1F14854E7BAC}"/>
              </a:ext>
            </a:extLst>
          </p:cNvPr>
          <p:cNvSpPr>
            <a:spLocks noGrp="1"/>
          </p:cNvSpPr>
          <p:nvPr/>
        </p:nvSpPr>
        <p:spPr>
          <a:xfrm>
            <a:off x="762000" y="33623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Founder time</a:t>
            </a:r>
          </a:p>
        </p:txBody>
      </p:sp>
      <p:sp>
        <p:nvSpPr>
          <p:cNvPr id="6" name="Rectangle 5">
            <a:extLst>
              <a:ext uri="{FF2B5EF4-FFF2-40B4-BE49-F238E27FC236}">
                <a16:creationId xmlns:a16="http://schemas.microsoft.com/office/drawing/2014/main" id="{3C1D0AFE-10BA-49A5-B417-96D4E157145C}"/>
              </a:ext>
            </a:extLst>
          </p:cNvPr>
          <p:cNvSpPr>
            <a:spLocks noGrp="1"/>
          </p:cNvSpPr>
          <p:nvPr/>
        </p:nvSpPr>
        <p:spPr>
          <a:xfrm>
            <a:off x="4429125" y="33623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€18,000</a:t>
            </a:r>
          </a:p>
        </p:txBody>
      </p:sp>
      <p:sp>
        <p:nvSpPr>
          <p:cNvPr id="7" name="Rectangle 6">
            <a:extLst>
              <a:ext uri="{FF2B5EF4-FFF2-40B4-BE49-F238E27FC236}">
                <a16:creationId xmlns:a16="http://schemas.microsoft.com/office/drawing/2014/main" id="{5682D533-9443-41CA-9DAB-1E88EE141779}"/>
              </a:ext>
            </a:extLst>
          </p:cNvPr>
          <p:cNvSpPr>
            <a:spLocks noGrp="1"/>
          </p:cNvSpPr>
          <p:nvPr/>
        </p:nvSpPr>
        <p:spPr>
          <a:xfrm>
            <a:off x="762000" y="37052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Product and onboarding</a:t>
            </a:r>
          </a:p>
        </p:txBody>
      </p:sp>
      <p:sp>
        <p:nvSpPr>
          <p:cNvPr id="8" name="Rectangle 7">
            <a:extLst>
              <a:ext uri="{FF2B5EF4-FFF2-40B4-BE49-F238E27FC236}">
                <a16:creationId xmlns:a16="http://schemas.microsoft.com/office/drawing/2014/main" id="{02495F71-861D-4371-A5B9-40DD7C1ED927}"/>
              </a:ext>
            </a:extLst>
          </p:cNvPr>
          <p:cNvSpPr>
            <a:spLocks noGrp="1"/>
          </p:cNvSpPr>
          <p:nvPr/>
        </p:nvSpPr>
        <p:spPr>
          <a:xfrm>
            <a:off x="4429125" y="37052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€6,000</a:t>
            </a:r>
          </a:p>
        </p:txBody>
      </p:sp>
      <p:sp>
        <p:nvSpPr>
          <p:cNvPr id="9" name="Rectangle 8">
            <a:extLst>
              <a:ext uri="{FF2B5EF4-FFF2-40B4-BE49-F238E27FC236}">
                <a16:creationId xmlns:a16="http://schemas.microsoft.com/office/drawing/2014/main" id="{E6C092B1-39AC-4513-837F-229F54F2CB99}"/>
              </a:ext>
            </a:extLst>
          </p:cNvPr>
          <p:cNvSpPr>
            <a:spLocks noGrp="1"/>
          </p:cNvSpPr>
          <p:nvPr/>
        </p:nvSpPr>
        <p:spPr>
          <a:xfrm>
            <a:off x="762000" y="40481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Acquisition tests</a:t>
            </a:r>
          </a:p>
        </p:txBody>
      </p:sp>
      <p:sp>
        <p:nvSpPr>
          <p:cNvPr id="10" name="Rectangle 9">
            <a:extLst>
              <a:ext uri="{FF2B5EF4-FFF2-40B4-BE49-F238E27FC236}">
                <a16:creationId xmlns:a16="http://schemas.microsoft.com/office/drawing/2014/main" id="{2388459B-3D44-4407-979C-4739841355C9}"/>
              </a:ext>
            </a:extLst>
          </p:cNvPr>
          <p:cNvSpPr>
            <a:spLocks noGrp="1"/>
          </p:cNvSpPr>
          <p:nvPr/>
        </p:nvSpPr>
        <p:spPr>
          <a:xfrm>
            <a:off x="4429125" y="40481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€3,000</a:t>
            </a:r>
          </a:p>
        </p:txBody>
      </p:sp>
      <p:sp>
        <p:nvSpPr>
          <p:cNvPr id="11" name="Rectangle 10">
            <a:extLst>
              <a:ext uri="{FF2B5EF4-FFF2-40B4-BE49-F238E27FC236}">
                <a16:creationId xmlns:a16="http://schemas.microsoft.com/office/drawing/2014/main" id="{E6EFF58F-41C0-40E8-A399-6CC51506ED99}"/>
              </a:ext>
            </a:extLst>
          </p:cNvPr>
          <p:cNvSpPr>
            <a:spLocks noGrp="1"/>
          </p:cNvSpPr>
          <p:nvPr/>
        </p:nvSpPr>
        <p:spPr>
          <a:xfrm>
            <a:off x="762000" y="43910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Software and administration</a:t>
            </a:r>
          </a:p>
        </p:txBody>
      </p:sp>
      <p:sp>
        <p:nvSpPr>
          <p:cNvPr id="12" name="Rectangle 11">
            <a:extLst>
              <a:ext uri="{FF2B5EF4-FFF2-40B4-BE49-F238E27FC236}">
                <a16:creationId xmlns:a16="http://schemas.microsoft.com/office/drawing/2014/main" id="{883B0505-929C-44C2-B89B-8688E21F82BD}"/>
              </a:ext>
            </a:extLst>
          </p:cNvPr>
          <p:cNvSpPr>
            <a:spLocks noGrp="1"/>
          </p:cNvSpPr>
          <p:nvPr/>
        </p:nvSpPr>
        <p:spPr>
          <a:xfrm>
            <a:off x="4429125" y="43910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€1,500</a:t>
            </a:r>
          </a:p>
        </p:txBody>
      </p:sp>
      <p:sp>
        <p:nvSpPr>
          <p:cNvPr id="13" name="Rectangle 12">
            <a:extLst>
              <a:ext uri="{FF2B5EF4-FFF2-40B4-BE49-F238E27FC236}">
                <a16:creationId xmlns:a16="http://schemas.microsoft.com/office/drawing/2014/main" id="{C01CEE1A-22DA-4270-9B81-97A18D4BF7D0}"/>
              </a:ext>
            </a:extLst>
          </p:cNvPr>
          <p:cNvSpPr>
            <a:spLocks noGrp="1"/>
          </p:cNvSpPr>
          <p:nvPr/>
        </p:nvSpPr>
        <p:spPr>
          <a:xfrm>
            <a:off x="762000" y="47339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Contingency</a:t>
            </a:r>
          </a:p>
        </p:txBody>
      </p:sp>
      <p:sp>
        <p:nvSpPr>
          <p:cNvPr id="14" name="Rectangle 13">
            <a:extLst>
              <a:ext uri="{FF2B5EF4-FFF2-40B4-BE49-F238E27FC236}">
                <a16:creationId xmlns:a16="http://schemas.microsoft.com/office/drawing/2014/main" id="{4F8E492B-D3CD-459E-A1FF-BE4AFB73B990}"/>
              </a:ext>
            </a:extLst>
          </p:cNvPr>
          <p:cNvSpPr>
            <a:spLocks noGrp="1"/>
          </p:cNvSpPr>
          <p:nvPr/>
        </p:nvSpPr>
        <p:spPr>
          <a:xfrm>
            <a:off x="4429125" y="47339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€1,500</a:t>
            </a:r>
          </a:p>
        </p:txBody>
      </p:sp>
      <p:sp>
        <p:nvSpPr>
          <p:cNvPr id="15" name="Rectangle 14">
            <a:extLst>
              <a:ext uri="{FF2B5EF4-FFF2-40B4-BE49-F238E27FC236}">
                <a16:creationId xmlns:a16="http://schemas.microsoft.com/office/drawing/2014/main" id="{757E543A-6655-4B73-AEE6-6E62E3FABBA8}"/>
              </a:ext>
            </a:extLst>
          </p:cNvPr>
          <p:cNvSpPr>
            <a:spLocks noGrp="1"/>
          </p:cNvSpPr>
          <p:nvPr/>
        </p:nvSpPr>
        <p:spPr>
          <a:xfrm>
            <a:off x="6572250" y="2838450"/>
            <a:ext cx="48577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42F35"/>
                </a:solidFill>
                <a:latin typeface="Calibri"/>
                <a:ea typeface="Calibri"/>
                <a:cs typeface="Calibri"/>
              </a:defRPr>
            </a:pPr>
            <a:r>
              <a:rPr kumimoji="0" sz="2250" b="1" i="0" u="none" strike="noStrike" kern="1200" cap="none" spc="0" normalizeH="0" baseline="0" noProof="0">
                <a:ln>
                  <a:noFill/>
                </a:ln>
                <a:solidFill>
                  <a:srgbClr val="142F35"/>
                </a:solidFill>
                <a:effectLst/>
                <a:uLnTx/>
                <a:uFillTx/>
                <a:latin typeface="Calibri"/>
                <a:ea typeface="Calibri"/>
                <a:cs typeface="Calibri"/>
              </a:rPr>
              <a:t>Six-month milestones</a:t>
            </a:r>
          </a:p>
        </p:txBody>
      </p:sp>
      <p:sp>
        <p:nvSpPr>
          <p:cNvPr id="16" name="Rectangle 15">
            <a:extLst>
              <a:ext uri="{FF2B5EF4-FFF2-40B4-BE49-F238E27FC236}">
                <a16:creationId xmlns:a16="http://schemas.microsoft.com/office/drawing/2014/main" id="{BF4F5E3D-93E7-45CF-B2F0-5EEE218F8A35}"/>
              </a:ext>
            </a:extLst>
          </p:cNvPr>
          <p:cNvSpPr>
            <a:spLocks noGrp="1"/>
          </p:cNvSpPr>
          <p:nvPr/>
        </p:nvSpPr>
        <p:spPr>
          <a:xfrm>
            <a:off x="6572250" y="3362325"/>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008579"/>
                </a:solidFill>
                <a:latin typeface="Calibri"/>
                <a:ea typeface="Calibri"/>
                <a:cs typeface="Calibri"/>
              </a:defRPr>
            </a:pPr>
            <a:r>
              <a:rPr kumimoji="0" sz="2025" b="1" i="0" u="none" strike="noStrike" kern="1200" cap="none" spc="0" normalizeH="0" baseline="0" noProof="0">
                <a:ln>
                  <a:noFill/>
                </a:ln>
                <a:solidFill>
                  <a:srgbClr val="008579"/>
                </a:solidFill>
                <a:effectLst/>
                <a:uLnTx/>
                <a:uFillTx/>
                <a:latin typeface="Calibri"/>
                <a:ea typeface="Calibri"/>
                <a:cs typeface="Calibri"/>
              </a:rPr>
              <a:t>15 paying companies in total</a:t>
            </a:r>
          </a:p>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008579"/>
                </a:solidFill>
                <a:latin typeface="Calibri"/>
                <a:ea typeface="Calibri"/>
                <a:cs typeface="Calibri"/>
              </a:defRPr>
            </a:pPr>
            <a:r>
              <a:rPr kumimoji="0" sz="2025" b="1" i="0" u="none" strike="noStrike" kern="1200" cap="none" spc="0" normalizeH="0" baseline="0" noProof="0">
                <a:ln>
                  <a:noFill/>
                </a:ln>
                <a:solidFill>
                  <a:srgbClr val="008579"/>
                </a:solidFill>
                <a:effectLst/>
                <a:uLnTx/>
                <a:uFillTx/>
                <a:latin typeface="Calibri"/>
                <a:ea typeface="Calibri"/>
                <a:cs typeface="Calibri"/>
              </a:rPr>
              <a:t>~€2,250 MRR at €150/company</a:t>
            </a:r>
          </a:p>
        </p:txBody>
      </p:sp>
      <p:sp>
        <p:nvSpPr>
          <p:cNvPr id="17" name="Rectangle 16">
            <a:extLst>
              <a:ext uri="{FF2B5EF4-FFF2-40B4-BE49-F238E27FC236}">
                <a16:creationId xmlns:a16="http://schemas.microsoft.com/office/drawing/2014/main" id="{E425EE4B-7304-40E9-A7A9-4E8F46EF2754}"/>
              </a:ext>
            </a:extLst>
          </p:cNvPr>
          <p:cNvSpPr>
            <a:spLocks noGrp="1"/>
          </p:cNvSpPr>
          <p:nvPr/>
        </p:nvSpPr>
        <p:spPr>
          <a:xfrm>
            <a:off x="6572250" y="4181475"/>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80% retention after 8 weeks</a:t>
            </a:r>
          </a:p>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Across eligible new paying customers</a:t>
            </a:r>
          </a:p>
        </p:txBody>
      </p:sp>
      <p:sp>
        <p:nvSpPr>
          <p:cNvPr id="18" name="Rectangle 17">
            <a:extLst>
              <a:ext uri="{FF2B5EF4-FFF2-40B4-BE49-F238E27FC236}">
                <a16:creationId xmlns:a16="http://schemas.microsoft.com/office/drawing/2014/main" id="{34F434AF-88A4-4BC5-9680-34D212B49864}"/>
              </a:ext>
            </a:extLst>
          </p:cNvPr>
          <p:cNvSpPr>
            <a:spLocks noGrp="1"/>
          </p:cNvSpPr>
          <p:nvPr/>
        </p:nvSpPr>
        <p:spPr>
          <a:xfrm>
            <a:off x="6572250" y="4991100"/>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Support ≤30 min/client/week</a:t>
            </a:r>
          </a:p>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Measured across paying customers</a:t>
            </a:r>
          </a:p>
        </p:txBody>
      </p:sp>
      <p:sp>
        <p:nvSpPr>
          <p:cNvPr id="19" name="Rectangle 18">
            <a:extLst>
              <a:ext uri="{FF2B5EF4-FFF2-40B4-BE49-F238E27FC236}">
                <a16:creationId xmlns:a16="http://schemas.microsoft.com/office/drawing/2014/main" id="{96E4007B-964B-4451-BF33-2C267B854825}"/>
              </a:ext>
            </a:extLst>
          </p:cNvPr>
          <p:cNvSpPr>
            <a:spLocks noGrp="1"/>
          </p:cNvSpPr>
          <p:nvPr/>
        </p:nvSpPr>
        <p:spPr>
          <a:xfrm>
            <a:off x="762000" y="5943600"/>
            <a:ext cx="10477500" cy="5429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536B70"/>
                </a:solidFill>
                <a:latin typeface="Calibri"/>
                <a:ea typeface="Calibri"/>
                <a:cs typeface="Calibri"/>
              </a:defRPr>
            </a:pPr>
            <a:r>
              <a:rPr kumimoji="0" sz="1500" b="0" i="0" u="none" strike="noStrike" kern="1200" cap="none" spc="0" normalizeH="0" baseline="0" noProof="0">
                <a:ln>
                  <a:noFill/>
                </a:ln>
                <a:solidFill>
                  <a:srgbClr val="536B70"/>
                </a:solidFill>
                <a:effectLst/>
                <a:uLnTx/>
                <a:uFillTx/>
                <a:latin typeface="Calibri"/>
                <a:ea typeface="Calibri"/>
                <a:cs typeface="Calibri"/>
              </a:rPr>
              <a:t>Planning assumptions: €3,000/month founder cost and €1,000/month product budget.</a:t>
            </a:r>
          </a:p>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536B70"/>
                </a:solidFill>
                <a:latin typeface="Calibri"/>
                <a:ea typeface="Calibri"/>
                <a:cs typeface="Calibri"/>
              </a:defRPr>
            </a:pPr>
            <a:r>
              <a:rPr kumimoji="0" sz="1500" b="0" i="0" u="none" strike="noStrike" kern="1200" cap="none" spc="0" normalizeH="0" baseline="0" noProof="0">
                <a:ln>
                  <a:noFill/>
                </a:ln>
                <a:solidFill>
                  <a:srgbClr val="536B70"/>
                </a:solidFill>
                <a:effectLst/>
                <a:uLnTx/>
                <a:uFillTx/>
                <a:latin typeface="Calibri"/>
                <a:ea typeface="Calibri"/>
                <a:cs typeface="Calibri"/>
              </a:rPr>
              <a:t>Milestones are targets. Existing revenue is additional buffer. Terms are negotiable.</a:t>
            </a:r>
          </a:p>
        </p:txBody>
      </p:sp>
      <p:sp>
        <p:nvSpPr>
          <p:cNvPr id="20" name="Rectangle 19">
            <a:extLst>
              <a:ext uri="{FF2B5EF4-FFF2-40B4-BE49-F238E27FC236}">
                <a16:creationId xmlns:a16="http://schemas.microsoft.com/office/drawing/2014/main" id="{B9E601F6-C23E-47E1-9483-EB83969D5DDB}"/>
              </a:ext>
            </a:extLst>
          </p:cNvPr>
          <p:cNvSpPr>
            <a:spLocks noGrp="1"/>
          </p:cNvSpPr>
          <p:nvPr/>
        </p:nvSpPr>
        <p:spPr>
          <a:xfrm>
            <a:off x="11001375" y="6524625"/>
            <a:ext cx="571500" cy="2381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536B70"/>
                </a:solidFill>
                <a:latin typeface="Calibri"/>
                <a:ea typeface="Calibri"/>
                <a:cs typeface="Calibri"/>
              </a:defRPr>
            </a:pPr>
            <a:r>
              <a:rPr kumimoji="0" sz="1200" b="0" i="0" u="none" strike="noStrike" kern="1200" cap="none" spc="0" normalizeH="0" baseline="0" noProof="0">
                <a:ln>
                  <a:noFill/>
                </a:ln>
                <a:solidFill>
                  <a:srgbClr val="536B70"/>
                </a:solidFill>
                <a:effectLst/>
                <a:uLnTx/>
                <a:uFillTx/>
                <a:latin typeface="Calibri"/>
                <a:ea typeface="Calibri"/>
                <a:cs typeface="Calibri"/>
              </a:rPr>
              <a:t>19</a:t>
            </a:r>
          </a:p>
        </p:txBody>
      </p:sp>
    </p:spTree>
    <p:extLst>
      <p:ext uri="{BB962C8B-B14F-4D97-AF65-F5344CB8AC3E}">
        <p14:creationId xmlns:p14="http://schemas.microsoft.com/office/powerpoint/2010/main" val="6702909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4081</TotalTime>
  <Words>2874</Words>
  <Application>Microsoft Office PowerPoint</Application>
  <DocSecurity>0</DocSecurity>
  <PresentationFormat>Widescreen</PresentationFormat>
  <Paragraphs>260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Bitstream Charter</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Vjaceslavs Gromatovics</cp:lastModifiedBy>
  <cp:revision>11</cp:revision>
  <dcterms:created xsi:type="dcterms:W3CDTF">2026-09-18T13:20:54Z</dcterms:created>
  <dcterms:modified xsi:type="dcterms:W3CDTF">2026-09-21T13:00:36Z</dcterms:modified>
</cp:coreProperties>
</file>