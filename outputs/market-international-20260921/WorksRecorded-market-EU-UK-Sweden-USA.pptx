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4" r:id="rId19"/>
  </p:sldIdLst>
  <p:sldSz cx="12192000" cy="6858000"/>
  <p:notesSz cx="6858000" cy="9144000"/>
  <p:defaultText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B2EE-F28F-EBE7-C3C8-9C0412212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20B94-313B-60C6-822B-526F7E4BE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517A1-42B0-4816-5708-2FBB8F23BC6B}"/>
              </a:ext>
            </a:extLst>
          </p:cNvPr>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a:extLst>
              <a:ext uri="{FF2B5EF4-FFF2-40B4-BE49-F238E27FC236}">
                <a16:creationId xmlns:a16="http://schemas.microsoft.com/office/drawing/2014/main" id="{D212FD3D-95BE-56A8-DCDD-1FFE5C5551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26063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supplied by founder. Figures are founder-reported unless explicitly identified as calculations or proposed priorities.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sizing, researched 21 September 2026. Specialty trade construction firms/enterprises in the 10–49 employment band. This is a top-down segment opportunity at full adoption, not a sales forecast. EUR150/company/month is the founder's requested average revenue assumption, not a new pricing commitment. EUR1800 annual revenue per company. National pricing and demand remain unvalidated.</a:t>
            </a:r>
          </a:p>
          <a:p xmlns:a="http://schemas.openxmlformats.org/drawingml/2006/main">
            <a:r>
              <a:t/>
            </a:r>
          </a:p>
          <a:p xmlns:a="http://schemas.openxmlformats.org/drawingml/2006/main">
            <a:r>
              <a:t>EU-27: Eurostat SBS_SC_OVW, ENT_NR, NACE Rev.2 F43, 2023. Size 10–19: 101914. Size 20–49: 40000, flagged estimated. Total 141914. Potential EUR255445200/year. Sweden: same dataset, year, industry and bands, 2825 + 1410 = 4235. Potential EUR7623000/year. Sweden is already included in the EU-27 figure and is not added again. Enterprises were economically active during the reference year. People employed include working proprietors, so this is not strictly paid employees.</a:t>
            </a:r>
          </a:p>
          <a:p xmlns:a="http://schemas.openxmlformats.org/drawingml/2006/main">
            <a:r>
              <a:t>Source: https://ec.europa.eu/eurostat/api/dissemination/statistics/1.0/data/sbs_sc_ovw?geo=EU27_2020&amp;geo=SE&amp;nace_r2=F43&amp;indic_sbs=ENT_NR&amp;time=2023&amp;size_emp=10-19&amp;size_emp=20-49</a:t>
            </a:r>
          </a:p>
          <a:p xmlns:a="http://schemas.openxmlformats.org/drawingml/2006/main">
            <a:r>
              <a:t>Metadata: https://ec.europa.eu/eurostat/cache/metadata/en/sbs_esms.htm</a:t>
            </a:r>
          </a:p>
          <a:p xmlns:a="http://schemas.openxmlformats.org/drawingml/2006/main">
            <a:r>
              <a:t/>
            </a:r>
          </a:p>
          <a:p xmlns:a="http://schemas.openxmlformats.org/drawingml/2006/main">
            <a:r>
              <a:t>UK: ONS UK business: activity, size and location, 2025, Table 3, SIC 2007 division 43. UK VAT and/or PAYE registered enterprises at 14 March 2025. 10–19 employment = 8120, 20–49 = 3605. Total 11725. Counts are rounded to base 5. Potential EUR21105000/year. UK includes Northern Ireland. Great Britain alone = 7905 + 3505 = 11410. Measures registered enterprises, not local business units. Employment and enterprise definitions differ somewhat across national systems.</a:t>
            </a:r>
          </a:p>
          <a:p xmlns:a="http://schemas.openxmlformats.org/drawingml/2006/main">
            <a:r>
              <a:t>Source: https://www.ons.gov.uk/businessindustryandtrade/business/activitysizeandlocation/datasets/ukbusinessactivitysizeandlocation/2025</a:t>
            </a:r>
          </a:p>
          <a:p xmlns:a="http://schemas.openxmlformats.org/drawingml/2006/main">
            <a:r>
              <a:t>Workbook: https://www.ons.gov.uk/file?uri=%2Fbusinessindustryandtrade%2Fbusiness%2Factivitysizeandlocation%2Fdatasets%2Fukbusinessactivitysizeandlocation%2F2025%2Fukbusinessworkbook2025new.xlsx</a:t>
            </a:r>
          </a:p>
          <a:p xmlns:a="http://schemas.openxmlformats.org/drawingml/2006/main">
            <a:r>
              <a:t/>
            </a:r>
          </a:p>
          <a:p xmlns:a="http://schemas.openxmlformats.org/drawingml/2006/main">
            <a:r>
              <a:t>EU-27 + UK = 141914 + 11725 = 153639 enterprises. At EUR1800/year: EUR276550200, rounded EUR276.6M. These are different reference years and contain estimated/rounded components. Latvia is also inside the EU-27 total.</a:t>
            </a:r>
          </a:p>
          <a:p xmlns:a="http://schemas.openxmlformats.org/drawingml/2006/main">
            <a:r>
              <a:t/>
            </a:r>
          </a:p>
          <a:p xmlns:a="http://schemas.openxmlformats.org/drawingml/2006/main">
            <a:r>
              <a:t>USA is an additional proposed expansion market. Intended scope: NAICS 238 Specialty Trade Contractors, employer firms with 10–49 employees. A verified comparable firm count is pending and no US count or US revenue potential is included in the headline total. Do not substitute establishment/location counts or all-size totals. Census SUSB 2022 detailed employment table is the appropriate source to complete this estimate: https://www.census.gov/data/tables/2022/econ/susb/2022-susb-annual.html . NAICS 238 and NACE/SIC 43 have broadly similar specialty trade scope but are not identical classifications.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Target EUR300/company/month is not yet achieved.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Pitch deck(1).docx. DEPROM/DEPRMO spelling differs in source materials, so pilot name omitted. Latvijas Energoceltnieks churned after three months.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instructions: EUR50 per paying user per month, sometimes discounts and paid custom functions. Use EUR150/company/month as the average revenue assumption, equivalent to EUR1800/year. No EUR300 target is assumed. Only recurring fees belong in MRR. One-off custom work is separate. Exact user counts and custom-fee splits are not inferred from monthly company bills.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Founder-supplied acquisition history: over approximately one year, around 100 companies approached. Five currently paying, one former paying customer churned. One free pilot, one active trial. Mix of direct outreach and Facebook advertising. Reliable channel-level CAC unavailable. Calculations: 5/100~5% currently paying, (5+1)/100~6% ever paid. Approximate cumulative ratios are not cohort conversion rates, annual/monthly churn rates or channel-specific conversion. Deduplication and channel attribution of the ~100 denominator have not been independently verified. Do not treat the former payer as an annual churn estimate.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GTM experiments. Latvia remains the initial outbound market. Sweden, Great Britain and the USA are candidate expansion markets for small pilot cohorts. Track each country separately and compare paid conversion, retention and support effort before increasing spending. Expansion demand remains to be validated. Facebook should be a separately measured channel.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founder-supplied acquisition evidence already in the deck. This update changes only the revenue assumption to EUR150/month, EUR1800/year per company, consistent with the founder instruction to remove the EUR300 target. Track acquisition, retention and servicing effort by country and channel. Expansion demand remains to be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E5FC32-0DEE-4A21-B9C0-577B454F2882}"/>
              </a:ext>
            </a:extLst>
          </p:cNvPr>
          <p:cNvSpPr>
            <a:spLocks noGrp="1"/>
          </p:cNvSpPr>
          <p:nvPr/>
        </p:nvSpPr>
        <p:spPr>
          <a:xfrm>
            <a:off x="685800" y="904875"/>
            <a:ext cx="10477500" cy="1047750"/>
          </a:xfrm>
          <a:prstGeom prst="rect">
            <a:avLst/>
          </a:prstGeom>
          <a:noFill/>
          <a:ln w="0">
            <a:noFill/>
          </a:ln>
        </p:spPr>
        <p:txBody>
          <a:bodyPr>
            <a:noAutofit/>
          </a:bodyPr>
          <a:lstStyle/>
          <a:p>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a:ext uri="{FF2B5EF4-FFF2-40B4-BE49-F238E27FC236}">
                <a16:creationId xmlns:a16="http://schemas.microsoft.com/office/drawing/2014/main" id="{3C6033E0-0B5D-472C-810C-0F7D39581D1C}"/>
              </a:ext>
            </a:extLst>
          </p:cNvPr>
          <p:cNvSpPr>
            <a:spLocks noGrp="1"/>
          </p:cNvSpPr>
          <p:nvPr/>
        </p:nvSpPr>
        <p:spPr>
          <a:xfrm>
            <a:off x="685800" y="2619375"/>
            <a:ext cx="10191750" cy="1714500"/>
          </a:xfrm>
          <a:prstGeom prst="rect">
            <a:avLst/>
          </a:prstGeom>
          <a:noFill/>
          <a:ln w="0">
            <a:noFill/>
          </a:ln>
        </p:spPr>
        <p:txBody>
          <a:bodyPr>
            <a:noAutofit/>
          </a:bodyPr>
          <a:lstStyle/>
          <a:p>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a:ext uri="{FF2B5EF4-FFF2-40B4-BE49-F238E27FC236}">
                <a16:creationId xmlns:a16="http://schemas.microsoft.com/office/drawing/2014/main" id="{C5C52780-E57C-4F40-984A-4BD187FD2111}"/>
              </a:ext>
            </a:extLst>
          </p:cNvPr>
          <p:cNvSpPr>
            <a:spLocks noGrp="1"/>
          </p:cNvSpPr>
          <p:nvPr/>
        </p:nvSpPr>
        <p:spPr>
          <a:xfrm>
            <a:off x="723900" y="5095875"/>
            <a:ext cx="9048750" cy="523875"/>
          </a:xfrm>
          <a:prstGeom prst="rect">
            <a:avLst/>
          </a:prstGeom>
          <a:noFill/>
          <a:ln w="0">
            <a:noFill/>
          </a:ln>
        </p:spPr>
        <p:txBody>
          <a:bodyPr>
            <a:noAutofit/>
          </a:bodyPr>
          <a:lstStyle/>
          <a:p>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a:ext uri="{FF2B5EF4-FFF2-40B4-BE49-F238E27FC236}">
                <a16:creationId xmlns:a16="http://schemas.microsoft.com/office/drawing/2014/main" id="{C2FCABF3-F45B-4F20-8BD7-8C945E0A4605}"/>
              </a:ext>
            </a:extLst>
          </p:cNvPr>
          <p:cNvSpPr>
            <a:spLocks noGrp="1"/>
          </p:cNvSpPr>
          <p:nvPr/>
        </p:nvSpPr>
        <p:spPr>
          <a:xfrm>
            <a:off x="723900" y="6143625"/>
            <a:ext cx="9048750" cy="333375"/>
          </a:xfrm>
          <a:prstGeom prst="rect">
            <a:avLst/>
          </a:prstGeom>
          <a:noFill/>
          <a:ln w="0">
            <a:noFill/>
          </a:ln>
        </p:spPr>
        <p:txBody>
          <a:bodyPr>
            <a:noAutofit/>
          </a:bodyPr>
          <a:lstStyle/>
          <a:p>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056B9B50-45BB-4165-9D52-E87F2BF2703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C0778ED-BCB2-4B42-8D42-E530CCAADE3A}"/>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dirty="0">
                <a:solidFill>
                  <a:srgbClr val="122C32"/>
                </a:solidFill>
                <a:latin typeface="Bitstream Charter"/>
                <a:ea typeface="Bitstream Charter"/>
                <a:cs typeface="Bitstream Charter"/>
              </a:rPr>
              <a:t>Problem</a:t>
            </a:r>
            <a:r>
              <a:rPr lang="en-US" sz="3600" b="1" dirty="0">
                <a:solidFill>
                  <a:srgbClr val="122C32"/>
                </a:solidFill>
                <a:latin typeface="Bitstream Charter"/>
                <a:ea typeface="Bitstream Charter"/>
                <a:cs typeface="Bitstream Charter"/>
              </a:rPr>
              <a:t>: collecting and analyzing site data is time consuming</a:t>
            </a:r>
            <a:endParaRPr lang="en-US" sz="3600" b="1" dirty="0">
              <a:solidFill>
                <a:srgbClr val="122C32"/>
              </a:solidFill>
              <a:highlight>
                <a:srgbClr val="FFFF00"/>
              </a:highlight>
              <a:latin typeface="Bitstream Charter"/>
              <a:ea typeface="Bitstream Charter"/>
              <a:cs typeface="Bitstream Charter"/>
            </a:endParaRPr>
          </a:p>
        </p:txBody>
      </p:sp>
      <p:sp>
        <p:nvSpPr>
          <p:cNvPr id="3" name="Rectangle 2">
            <a:extLst>
              <a:ext uri="{FF2B5EF4-FFF2-40B4-BE49-F238E27FC236}">
                <a16:creationId xmlns:a16="http://schemas.microsoft.com/office/drawing/2014/main" id="{B0BDDCAD-D72E-4831-A6AD-FC36049E0588}"/>
              </a:ext>
            </a:extLst>
          </p:cNvPr>
          <p:cNvSpPr>
            <a:spLocks noGrp="1"/>
          </p:cNvSpPr>
          <p:nvPr/>
        </p:nvSpPr>
        <p:spPr>
          <a:xfrm>
            <a:off x="995362" y="2057400"/>
            <a:ext cx="10668000" cy="952500"/>
          </a:xfrm>
          <a:prstGeom prst="rect">
            <a:avLst/>
          </a:prstGeom>
          <a:noFill/>
          <a:ln w="0">
            <a:noFill/>
          </a:ln>
        </p:spPr>
        <p:txBody>
          <a:bodyPr>
            <a:noAutofit/>
          </a:bodyPr>
          <a:lstStyle/>
          <a:p>
            <a:pPr>
              <a:buNone/>
              <a:defRPr sz="2400" b="0">
                <a:solidFill>
                  <a:srgbClr val="122C32"/>
                </a:solidFill>
                <a:latin typeface="Bitstream Charter"/>
                <a:ea typeface="Bitstream Charter"/>
                <a:cs typeface="Bitstream Charter"/>
              </a:defRPr>
            </a:pPr>
            <a:r>
              <a:rPr lang="lv-LV" sz="2400" dirty="0">
                <a:solidFill>
                  <a:srgbClr val="122C32"/>
                </a:solidFill>
                <a:latin typeface="Bitstream Charter"/>
              </a:rPr>
              <a:t>WorksRecorded helps project managers save time by collecting and analysing site data for them</a:t>
            </a:r>
            <a:endParaRPr sz="2400" b="0" dirty="0">
              <a:solidFill>
                <a:srgbClr val="122C32"/>
              </a:solidFill>
              <a:latin typeface="Bitstream Charter"/>
              <a:ea typeface="Bitstream Charter"/>
              <a:cs typeface="Bitstream Charter"/>
            </a:endParaRPr>
          </a:p>
        </p:txBody>
      </p:sp>
      <p:sp>
        <p:nvSpPr>
          <p:cNvPr id="4" name="Rectangle 3">
            <a:extLst>
              <a:ext uri="{FF2B5EF4-FFF2-40B4-BE49-F238E27FC236}">
                <a16:creationId xmlns:a16="http://schemas.microsoft.com/office/drawing/2014/main" id="{DF9F14C3-3F94-4553-9594-7AE3726B09A3}"/>
              </a:ext>
            </a:extLst>
          </p:cNvPr>
          <p:cNvSpPr>
            <a:spLocks noGrp="1"/>
          </p:cNvSpPr>
          <p:nvPr/>
        </p:nvSpPr>
        <p:spPr>
          <a:xfrm>
            <a:off x="685800" y="31432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a:ext uri="{FF2B5EF4-FFF2-40B4-BE49-F238E27FC236}">
                <a16:creationId xmlns:a16="http://schemas.microsoft.com/office/drawing/2014/main" id="{4D940AC5-04DA-4D32-80C5-7AAEDD3311FE}"/>
              </a:ext>
            </a:extLst>
          </p:cNvPr>
          <p:cNvSpPr>
            <a:spLocks noGrp="1"/>
          </p:cNvSpPr>
          <p:nvPr/>
        </p:nvSpPr>
        <p:spPr>
          <a:xfrm>
            <a:off x="1524000" y="31432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Direct loses</a:t>
            </a:r>
            <a:endParaRPr sz="2250" b="1" dirty="0">
              <a:solidFill>
                <a:srgbClr val="122C32"/>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77C495F6-8883-43A7-BE1F-B21C1D694BB7}"/>
              </a:ext>
            </a:extLst>
          </p:cNvPr>
          <p:cNvSpPr>
            <a:spLocks noGrp="1"/>
          </p:cNvSpPr>
          <p:nvPr/>
        </p:nvSpPr>
        <p:spPr>
          <a:xfrm>
            <a:off x="1524000" y="36671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b="0" dirty="0">
                <a:solidFill>
                  <a:srgbClr val="52686B"/>
                </a:solidFill>
                <a:latin typeface="Bitstream Charter"/>
                <a:ea typeface="Bitstream Charter"/>
                <a:cs typeface="Bitstream Charter"/>
              </a:rPr>
              <a:t>Proper data collection on site activities for medium size project (10-15 workers) – is around 30 min a day + half a day a month to analyze = 15 hours a week. </a:t>
            </a:r>
            <a:endParaRPr sz="1875" b="0" dirty="0">
              <a:solidFill>
                <a:srgbClr val="52686B"/>
              </a:solidFill>
              <a:latin typeface="Bitstream Charter"/>
              <a:ea typeface="Bitstream Charter"/>
              <a:cs typeface="Bitstream Charter"/>
            </a:endParaRPr>
          </a:p>
        </p:txBody>
      </p:sp>
      <p:sp>
        <p:nvSpPr>
          <p:cNvPr id="7" name="Rectangle 6">
            <a:extLst>
              <a:ext uri="{FF2B5EF4-FFF2-40B4-BE49-F238E27FC236}">
                <a16:creationId xmlns:a16="http://schemas.microsoft.com/office/drawing/2014/main" id="{2E0EB585-E9C5-402A-A012-3AAF584131CF}"/>
              </a:ext>
            </a:extLst>
          </p:cNvPr>
          <p:cNvSpPr>
            <a:spLocks noGrp="1"/>
          </p:cNvSpPr>
          <p:nvPr/>
        </p:nvSpPr>
        <p:spPr>
          <a:xfrm>
            <a:off x="685800" y="46958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a:ext uri="{FF2B5EF4-FFF2-40B4-BE49-F238E27FC236}">
                <a16:creationId xmlns:a16="http://schemas.microsoft.com/office/drawing/2014/main" id="{5461938E-ED1C-4B79-89A4-1A63F100F5BB}"/>
              </a:ext>
            </a:extLst>
          </p:cNvPr>
          <p:cNvSpPr>
            <a:spLocks noGrp="1"/>
          </p:cNvSpPr>
          <p:nvPr/>
        </p:nvSpPr>
        <p:spPr>
          <a:xfrm>
            <a:off x="1524000" y="46958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Indirect losses</a:t>
            </a:r>
            <a:endParaRPr sz="2250" b="1" dirty="0">
              <a:solidFill>
                <a:srgbClr val="122C32"/>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AE14D021-5633-4CA7-B7BD-ADD9E092A521}"/>
              </a:ext>
            </a:extLst>
          </p:cNvPr>
          <p:cNvSpPr>
            <a:spLocks noGrp="1"/>
          </p:cNvSpPr>
          <p:nvPr/>
        </p:nvSpPr>
        <p:spPr>
          <a:xfrm>
            <a:off x="1524000" y="52197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lv-LV" sz="1875" dirty="0">
                <a:solidFill>
                  <a:srgbClr val="52686B"/>
                </a:solidFill>
                <a:latin typeface="Bitstream Charter"/>
                <a:ea typeface="Bitstream Charter"/>
                <a:cs typeface="Bitstream Charter"/>
              </a:rPr>
              <a:t>When managment overloaded, data analytics often is skipped, which negatviely affects planning and result in rewors/delays/additional work </a:t>
            </a:r>
            <a:endParaRPr sz="1875" b="0" dirty="0">
              <a:solidFill>
                <a:srgbClr val="52686B"/>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610D82F2-5E24-46A2-8063-9369D3AB2FAF}"/>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514FA7-0554-4316-91E5-30FDDE89B4EB}"/>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a:ext uri="{FF2B5EF4-FFF2-40B4-BE49-F238E27FC236}">
                <a16:creationId xmlns:a16="http://schemas.microsoft.com/office/drawing/2014/main" id="{766CF1E1-1D5C-4E3E-83B0-4C3E4D57E753}"/>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A2A7A93A-5549-496F-A374-F394A6EC4CA1}"/>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a:ext uri="{FF2B5EF4-FFF2-40B4-BE49-F238E27FC236}">
                <a16:creationId xmlns:a16="http://schemas.microsoft.com/office/drawing/2014/main" id="{33BCD30B-329D-4DCC-B4E1-0CE203F80E24}"/>
              </a:ext>
            </a:extLst>
          </p:cNvPr>
          <p:cNvSpPr>
            <a:spLocks noGrp="1"/>
          </p:cNvSpPr>
          <p:nvPr/>
        </p:nvSpPr>
        <p:spPr>
          <a:xfrm>
            <a:off x="1524000" y="238125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a:ext uri="{FF2B5EF4-FFF2-40B4-BE49-F238E27FC236}">
                <a16:creationId xmlns:a16="http://schemas.microsoft.com/office/drawing/2014/main" id="{A0C3026F-41DF-4EE6-953C-D66B620F47E0}"/>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72657F94-172D-49F9-9A94-8B8DEA8B55B7}"/>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a:ext uri="{FF2B5EF4-FFF2-40B4-BE49-F238E27FC236}">
                <a16:creationId xmlns:a16="http://schemas.microsoft.com/office/drawing/2014/main" id="{5CE9F297-D90B-4F83-B221-FC09E6E71972}"/>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a:ext uri="{FF2B5EF4-FFF2-40B4-BE49-F238E27FC236}">
                <a16:creationId xmlns:a16="http://schemas.microsoft.com/office/drawing/2014/main" id="{94A69771-EE8C-48B2-B62E-7FDE26F9F693}"/>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466E4A16-E5C9-48D9-976B-203573C4AE29}"/>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a:ext uri="{FF2B5EF4-FFF2-40B4-BE49-F238E27FC236}">
                <a16:creationId xmlns:a16="http://schemas.microsoft.com/office/drawing/2014/main" id="{A8AE9124-B3BD-463C-8E00-230CE3CFD146}"/>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Rectangle 12">
            <a:extLst>
              <a:ext uri="{FF2B5EF4-FFF2-40B4-BE49-F238E27FC236}">
                <a16:creationId xmlns:a16="http://schemas.microsoft.com/office/drawing/2014/main" id="{037EEB29-8E5F-4284-BB51-4C741FE5734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361D22E2-D781-3AC0-19FC-AF18102F03C4}"/>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a:ext uri="{FF2B5EF4-FFF2-40B4-BE49-F238E27FC236}">
                <a16:creationId xmlns:a16="http://schemas.microsoft.com/office/drawing/2014/main" id="{ADF20A53-2AD3-4CA3-6B21-D35FC07ED6D9}"/>
              </a:ext>
            </a:extLst>
          </p:cNvPr>
          <p:cNvSpPr>
            <a:spLocks noGrp="1"/>
          </p:cNvSpPr>
          <p:nvPr/>
        </p:nvSpPr>
        <p:spPr>
          <a:xfrm>
            <a:off x="1524000" y="2381250"/>
            <a:ext cx="9429750" cy="714375"/>
          </a:xfrm>
          <a:prstGeom prst="rect">
            <a:avLst/>
          </a:prstGeom>
          <a:noFill/>
          <a:ln w="0">
            <a:noFill/>
          </a:ln>
        </p:spPr>
        <p:txBody>
          <a:bodyPr>
            <a:noAutofit/>
          </a:bodyPr>
          <a:lstStyle/>
          <a:p>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a:ext uri="{FF2B5EF4-FFF2-40B4-BE49-F238E27FC236}">
                <a16:creationId xmlns:a16="http://schemas.microsoft.com/office/drawing/2014/main" id="{65EE6F05-0976-85CC-862D-D4FBA490DFEF}"/>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345F904B-50CB-29E8-96FB-0F3139356CF2}"/>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a:ext uri="{FF2B5EF4-FFF2-40B4-BE49-F238E27FC236}">
                <a16:creationId xmlns:a16="http://schemas.microsoft.com/office/drawing/2014/main" id="{00971A1E-9BC9-44EF-1A19-CBD10E29D59E}"/>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a:ext uri="{FF2B5EF4-FFF2-40B4-BE49-F238E27FC236}">
                <a16:creationId xmlns:a16="http://schemas.microsoft.com/office/drawing/2014/main" id="{49388B51-3B61-CACC-AC9B-480F0BB88D15}"/>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9BE9775C-1FDF-9F7C-68A7-1AC278BF4F5C}"/>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a:ext uri="{FF2B5EF4-FFF2-40B4-BE49-F238E27FC236}">
                <a16:creationId xmlns:a16="http://schemas.microsoft.com/office/drawing/2014/main" id="{21E616BF-B03A-854C-AB20-527C08EE5D24}"/>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Rectangle 12">
            <a:extLst>
              <a:ext uri="{FF2B5EF4-FFF2-40B4-BE49-F238E27FC236}">
                <a16:creationId xmlns:a16="http://schemas.microsoft.com/office/drawing/2014/main" id="{B99F35EB-7035-4015-BD9F-9D86C82538C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a:extLst>
            <a:ext uri="{FF2B5EF4-FFF2-40B4-BE49-F238E27FC236}">
              <a16:creationId xmlns:a16="http://schemas.microsoft.com/office/drawing/2014/main" id="{DFE438CB-1EB2-A8FB-7DEA-5CDECF3D1CD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9C1972E-2A37-44EB-4C78-2116FD17AE85}"/>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lang="lv-LV" sz="3600" b="1" dirty="0">
                <a:solidFill>
                  <a:srgbClr val="122C32"/>
                </a:solidFill>
                <a:latin typeface="Bitstream Charter"/>
                <a:ea typeface="Bitstream Charter"/>
                <a:cs typeface="Bitstream Charter"/>
              </a:rPr>
              <a:t>Why customers stay? </a:t>
            </a:r>
            <a:endParaRPr sz="3600" b="1" dirty="0">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4F7B2265-5A4D-194B-3263-D3160C3B492D}"/>
              </a:ext>
            </a:extLst>
          </p:cNvPr>
          <p:cNvSpPr>
            <a:spLocks noGrp="1"/>
          </p:cNvSpPr>
          <p:nvPr/>
        </p:nvSpPr>
        <p:spPr>
          <a:xfrm>
            <a:off x="685800" y="185737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a:ext uri="{FF2B5EF4-FFF2-40B4-BE49-F238E27FC236}">
                <a16:creationId xmlns:a16="http://schemas.microsoft.com/office/drawing/2014/main" id="{400B3647-875A-5206-BC58-0C51EF7E1F96}"/>
              </a:ext>
            </a:extLst>
          </p:cNvPr>
          <p:cNvSpPr>
            <a:spLocks noGrp="1"/>
          </p:cNvSpPr>
          <p:nvPr/>
        </p:nvSpPr>
        <p:spPr>
          <a:xfrm>
            <a:off x="1524000" y="185737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lv-LV" sz="2250" b="1" dirty="0">
                <a:solidFill>
                  <a:srgbClr val="122C32"/>
                </a:solidFill>
                <a:latin typeface="Bitstream Charter"/>
                <a:ea typeface="Bitstream Charter"/>
                <a:cs typeface="Bitstream Charter"/>
              </a:rPr>
              <a:t>Custom development</a:t>
            </a:r>
            <a:endParaRPr sz="2250" b="1" dirty="0">
              <a:solidFill>
                <a:srgbClr val="122C32"/>
              </a:solidFill>
              <a:latin typeface="Bitstream Charter"/>
              <a:ea typeface="Bitstream Charter"/>
              <a:cs typeface="Bitstream Charter"/>
            </a:endParaRPr>
          </a:p>
        </p:txBody>
      </p:sp>
      <p:sp>
        <p:nvSpPr>
          <p:cNvPr id="5" name="Rectangle 4">
            <a:extLst>
              <a:ext uri="{FF2B5EF4-FFF2-40B4-BE49-F238E27FC236}">
                <a16:creationId xmlns:a16="http://schemas.microsoft.com/office/drawing/2014/main" id="{CCDED8A0-AB21-ED5B-971D-E24062988BDC}"/>
              </a:ext>
            </a:extLst>
          </p:cNvPr>
          <p:cNvSpPr>
            <a:spLocks noGrp="1"/>
          </p:cNvSpPr>
          <p:nvPr/>
        </p:nvSpPr>
        <p:spPr>
          <a:xfrm>
            <a:off x="1524000" y="2381250"/>
            <a:ext cx="9429750" cy="714375"/>
          </a:xfrm>
          <a:prstGeom prst="rect">
            <a:avLst/>
          </a:prstGeom>
          <a:noFill/>
          <a:ln w="0">
            <a:noFill/>
          </a:ln>
        </p:spPr>
        <p:txBody>
          <a:bodyPr>
            <a:noAutofit/>
          </a:bodyPr>
          <a:lstStyle/>
          <a:p>
            <a:r>
              <a:rPr lang="lv-LV" sz="1875" dirty="0">
                <a:solidFill>
                  <a:srgbClr val="52686B"/>
                </a:solidFill>
                <a:latin typeface="Bitstream Charter"/>
                <a:ea typeface="Bitstream Charter"/>
                <a:cs typeface="Bitstream Charter"/>
              </a:rPr>
              <a:t>We sign contract for a year and offer free development as motivaition. This way we customize solution to client</a:t>
            </a:r>
            <a:r>
              <a:rPr lang="en-US" sz="1875" dirty="0">
                <a:solidFill>
                  <a:srgbClr val="52686B"/>
                </a:solidFill>
                <a:latin typeface="Bitstream Charter"/>
                <a:ea typeface="Bitstream Charter"/>
                <a:cs typeface="Bitstream Charter"/>
              </a:rPr>
              <a:t>s need making it harder to switch</a:t>
            </a:r>
            <a:endParaRPr sz="1875" dirty="0">
              <a:solidFill>
                <a:srgbClr val="52686B"/>
              </a:solidFill>
              <a:latin typeface="Bitstream Charter"/>
              <a:ea typeface="Bitstream Charter"/>
              <a:cs typeface="Bitstream Charter"/>
            </a:endParaRPr>
          </a:p>
        </p:txBody>
      </p:sp>
      <p:sp>
        <p:nvSpPr>
          <p:cNvPr id="6" name="Rectangle 5">
            <a:extLst>
              <a:ext uri="{FF2B5EF4-FFF2-40B4-BE49-F238E27FC236}">
                <a16:creationId xmlns:a16="http://schemas.microsoft.com/office/drawing/2014/main" id="{40188201-042A-AFD8-E3E9-95B97D64753A}"/>
              </a:ext>
            </a:extLst>
          </p:cNvPr>
          <p:cNvSpPr>
            <a:spLocks noGrp="1"/>
          </p:cNvSpPr>
          <p:nvPr/>
        </p:nvSpPr>
        <p:spPr>
          <a:xfrm>
            <a:off x="685800" y="3333750"/>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a:ext uri="{FF2B5EF4-FFF2-40B4-BE49-F238E27FC236}">
                <a16:creationId xmlns:a16="http://schemas.microsoft.com/office/drawing/2014/main" id="{8E39BBF1-1AE1-601B-E710-B1B5AD76D0E0}"/>
              </a:ext>
            </a:extLst>
          </p:cNvPr>
          <p:cNvSpPr>
            <a:spLocks noGrp="1"/>
          </p:cNvSpPr>
          <p:nvPr/>
        </p:nvSpPr>
        <p:spPr>
          <a:xfrm>
            <a:off x="1524000" y="3333750"/>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Data accumulation</a:t>
            </a:r>
            <a:endParaRPr sz="2250" b="1" dirty="0">
              <a:solidFill>
                <a:srgbClr val="122C32"/>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C385260F-1F00-15E5-D7C2-3733824DB786}"/>
              </a:ext>
            </a:extLst>
          </p:cNvPr>
          <p:cNvSpPr>
            <a:spLocks noGrp="1"/>
          </p:cNvSpPr>
          <p:nvPr/>
        </p:nvSpPr>
        <p:spPr>
          <a:xfrm>
            <a:off x="1524000" y="3857625"/>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When clients start using our solution, </a:t>
            </a:r>
            <a:r>
              <a:rPr lang="en-US" sz="1875" dirty="0">
                <a:solidFill>
                  <a:srgbClr val="52686B"/>
                </a:solidFill>
                <a:latin typeface="Bitstream Charter"/>
                <a:ea typeface="Bitstream Charter"/>
                <a:cs typeface="Bitstream Charter"/>
              </a:rPr>
              <a:t>data accumulates in </a:t>
            </a:r>
            <a:r>
              <a:rPr lang="en-US" sz="1875" dirty="0" err="1">
                <a:solidFill>
                  <a:srgbClr val="52686B"/>
                </a:solidFill>
                <a:latin typeface="Bitstream Charter"/>
                <a:ea typeface="Bitstream Charter"/>
                <a:cs typeface="Bitstream Charter"/>
              </a:rPr>
              <a:t>WorksRecorded</a:t>
            </a:r>
            <a:r>
              <a:rPr lang="en-US" sz="1875" dirty="0">
                <a:solidFill>
                  <a:srgbClr val="52686B"/>
                </a:solidFill>
                <a:latin typeface="Bitstream Charter"/>
                <a:ea typeface="Bitstream Charter"/>
                <a:cs typeface="Bitstream Charter"/>
              </a:rPr>
              <a:t> and it becomes more difficult to switch </a:t>
            </a:r>
            <a:endParaRPr sz="1875" b="0" dirty="0">
              <a:solidFill>
                <a:srgbClr val="52686B"/>
              </a:solidFill>
              <a:latin typeface="Bitstream Charter"/>
              <a:ea typeface="Bitstream Charter"/>
              <a:cs typeface="Bitstream Charter"/>
            </a:endParaRPr>
          </a:p>
        </p:txBody>
      </p:sp>
      <p:sp>
        <p:nvSpPr>
          <p:cNvPr id="9" name="Rectangle 8">
            <a:extLst>
              <a:ext uri="{FF2B5EF4-FFF2-40B4-BE49-F238E27FC236}">
                <a16:creationId xmlns:a16="http://schemas.microsoft.com/office/drawing/2014/main" id="{127C9896-980A-E4E2-BA01-25C77D49A7BA}"/>
              </a:ext>
            </a:extLst>
          </p:cNvPr>
          <p:cNvSpPr>
            <a:spLocks noGrp="1"/>
          </p:cNvSpPr>
          <p:nvPr/>
        </p:nvSpPr>
        <p:spPr>
          <a:xfrm>
            <a:off x="685800" y="4810125"/>
            <a:ext cx="619125" cy="571500"/>
          </a:xfrm>
          <a:prstGeom prst="rect">
            <a:avLst/>
          </a:prstGeom>
          <a:noFill/>
          <a:ln w="0">
            <a:noFill/>
          </a:ln>
        </p:spPr>
        <p:txBody>
          <a:bodyPr>
            <a:noAutofit/>
          </a:bodyPr>
          <a:lstStyle/>
          <a:p>
            <a:pPr>
              <a:buNone/>
              <a:defRPr sz="2550" b="1">
                <a:solidFill>
                  <a:srgbClr val="007F73"/>
                </a:solidFill>
                <a:latin typeface="Bitstream Charter"/>
                <a:ea typeface="Bitstream Charter"/>
                <a:cs typeface="Bitstream Charter"/>
              </a:defRPr>
            </a:pPr>
            <a:r>
              <a:rPr sz="2550" b="1" dirty="0">
                <a:solidFill>
                  <a:srgbClr val="007F73"/>
                </a:solidFill>
                <a:latin typeface="Bitstream Charter"/>
                <a:ea typeface="Bitstream Charter"/>
                <a:cs typeface="Bitstream Charter"/>
              </a:rPr>
              <a:t>03</a:t>
            </a:r>
          </a:p>
        </p:txBody>
      </p:sp>
      <p:sp>
        <p:nvSpPr>
          <p:cNvPr id="10" name="Rectangle 9">
            <a:extLst>
              <a:ext uri="{FF2B5EF4-FFF2-40B4-BE49-F238E27FC236}">
                <a16:creationId xmlns:a16="http://schemas.microsoft.com/office/drawing/2014/main" id="{8154F0B1-A459-7B82-740A-8F065DF06065}"/>
              </a:ext>
            </a:extLst>
          </p:cNvPr>
          <p:cNvSpPr>
            <a:spLocks noGrp="1"/>
          </p:cNvSpPr>
          <p:nvPr/>
        </p:nvSpPr>
        <p:spPr>
          <a:xfrm>
            <a:off x="1524000" y="4810125"/>
            <a:ext cx="9715500" cy="457200"/>
          </a:xfrm>
          <a:prstGeom prst="rect">
            <a:avLst/>
          </a:prstGeom>
          <a:noFill/>
          <a:ln w="0">
            <a:noFill/>
          </a:ln>
        </p:spPr>
        <p:txBody>
          <a:bodyPr>
            <a:noAutofit/>
          </a:bodyPr>
          <a:lstStyle/>
          <a:p>
            <a:pPr>
              <a:buNone/>
              <a:defRPr sz="2250" b="1">
                <a:solidFill>
                  <a:srgbClr val="122C32"/>
                </a:solidFill>
                <a:latin typeface="Bitstream Charter"/>
                <a:ea typeface="Bitstream Charter"/>
                <a:cs typeface="Bitstream Charter"/>
              </a:defRPr>
            </a:pPr>
            <a:r>
              <a:rPr lang="en-US" sz="2250" b="1" dirty="0">
                <a:solidFill>
                  <a:srgbClr val="122C32"/>
                </a:solidFill>
                <a:latin typeface="Bitstream Charter"/>
                <a:ea typeface="Bitstream Charter"/>
                <a:cs typeface="Bitstream Charter"/>
              </a:rPr>
              <a:t>AI mapping</a:t>
            </a:r>
            <a:endParaRPr sz="2250" b="1" dirty="0">
              <a:solidFill>
                <a:srgbClr val="122C32"/>
              </a:solidFill>
              <a:latin typeface="Bitstream Charter"/>
              <a:ea typeface="Bitstream Charter"/>
              <a:cs typeface="Bitstream Charter"/>
            </a:endParaRPr>
          </a:p>
        </p:txBody>
      </p:sp>
      <p:sp>
        <p:nvSpPr>
          <p:cNvPr id="11" name="Rectangle 10">
            <a:extLst>
              <a:ext uri="{FF2B5EF4-FFF2-40B4-BE49-F238E27FC236}">
                <a16:creationId xmlns:a16="http://schemas.microsoft.com/office/drawing/2014/main" id="{405B4002-EEF3-9CE4-00D2-057FD1FBC829}"/>
              </a:ext>
            </a:extLst>
          </p:cNvPr>
          <p:cNvSpPr>
            <a:spLocks noGrp="1"/>
          </p:cNvSpPr>
          <p:nvPr/>
        </p:nvSpPr>
        <p:spPr>
          <a:xfrm>
            <a:off x="1524000" y="5334000"/>
            <a:ext cx="9429750" cy="714375"/>
          </a:xfrm>
          <a:prstGeom prst="rect">
            <a:avLst/>
          </a:prstGeom>
          <a:noFill/>
          <a:ln w="0">
            <a:noFill/>
          </a:ln>
        </p:spPr>
        <p:txBody>
          <a:bodyPr>
            <a:noAutofit/>
          </a:bodyPr>
          <a:lstStyle/>
          <a:p>
            <a:pPr>
              <a:buNone/>
              <a:defRPr sz="1875" b="0">
                <a:solidFill>
                  <a:srgbClr val="52686B"/>
                </a:solidFill>
                <a:latin typeface="Bitstream Charter"/>
                <a:ea typeface="Bitstream Charter"/>
                <a:cs typeface="Bitstream Charter"/>
              </a:defRPr>
            </a:pPr>
            <a:r>
              <a:rPr lang="en-US" sz="1875" b="0" dirty="0">
                <a:solidFill>
                  <a:srgbClr val="52686B"/>
                </a:solidFill>
                <a:latin typeface="Bitstream Charter"/>
                <a:ea typeface="Bitstream Charter"/>
                <a:cs typeface="Bitstream Charter"/>
              </a:rPr>
              <a:t>We develop custom AI mapping which we improve as data is flowing, so with time it becomes more and more difficult to copy. In future we see training our own models as an option (as we </a:t>
            </a:r>
            <a:r>
              <a:rPr lang="en-US" sz="1875" b="0">
                <a:solidFill>
                  <a:srgbClr val="52686B"/>
                </a:solidFill>
                <a:latin typeface="Bitstream Charter"/>
                <a:ea typeface="Bitstream Charter"/>
                <a:cs typeface="Bitstream Charter"/>
              </a:rPr>
              <a:t>have data) </a:t>
            </a:r>
            <a:endParaRPr sz="1875" b="0" dirty="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A1BE075B-2A81-D858-DCB0-D37110AE7968}"/>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3081508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A645D17-DC3B-CD19-1A56-49C34E0154A6}"/>
              </a:ext>
            </a:extLst>
          </p:cNvPr>
          <p:cNvSpPr>
            <a:spLocks noGrp="1"/>
          </p:cNvSpPr>
          <p:nvPr/>
        </p:nvSpPr>
        <p:spPr>
          <a:xfrm>
            <a:off x="685800" y="571500"/>
            <a:ext cx="10820400" cy="952500"/>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a:ext uri="{FF2B5EF4-FFF2-40B4-BE49-F238E27FC236}">
                <a16:creationId xmlns:a16="http://schemas.microsoft.com/office/drawing/2014/main" id="{D8D09C23-A343-119D-0640-E09AAE2702C9}"/>
              </a:ext>
            </a:extLst>
          </p:cNvPr>
          <p:cNvSpPr>
            <a:spLocks noGrp="1"/>
          </p:cNvSpPr>
          <p:nvPr/>
        </p:nvSpPr>
        <p:spPr>
          <a:xfrm>
            <a:off x="685800" y="1628013"/>
            <a:ext cx="10477500" cy="333375"/>
          </a:xfrm>
          <a:prstGeom prst="rect">
            <a:avLst/>
          </a:prstGeom>
          <a:noFill/>
          <a:ln w="0">
            <a:noFill/>
          </a:ln>
        </p:spPr>
        <p:txBody>
          <a:bodyPr>
            <a:noAutofit/>
          </a:bodyPr>
          <a:lstStyle/>
          <a:p>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18" name="Picture 9"/>
          <p:cNvPicPr>
            <a:picLocks noChangeAspect="1"/>
          </p:cNvPicPr>
          <p:nvPr/>
        </p:nvPicPr>
        <p:blipFill>
          <a:blip r:embed="rId3"/>
          <a:stretch>
            <a:fillRect/>
          </a:stretch>
        </p:blipFill>
        <p:spPr>
          <a:xfrm>
            <a:off x="1511046" y="1628013"/>
            <a:ext cx="8827008" cy="4413504"/>
          </a:xfrm>
          <a:prstGeom prst="rect">
            <a:avLst/>
          </a:prstGeom>
        </p:spPr>
      </p:pic>
      <p:sp>
        <p:nvSpPr>
          <p:cNvPr id="14" name="Rectangle 13">
            <a:extLst>
              <a:ext uri="{FF2B5EF4-FFF2-40B4-BE49-F238E27FC236}">
                <a16:creationId xmlns:a16="http://schemas.microsoft.com/office/drawing/2014/main" id="{E69786E7-9BD7-49E1-8E00-D7DF88C0869A}"/>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8C0D80-D5DE-467F-A114-569B00F59906}"/>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a:ext uri="{FF2B5EF4-FFF2-40B4-BE49-F238E27FC236}">
                <a16:creationId xmlns:a16="http://schemas.microsoft.com/office/drawing/2014/main" id="{64E5D290-6F78-4046-A7CE-E38222F86C5D}"/>
              </a:ext>
            </a:extLst>
          </p:cNvPr>
          <p:cNvSpPr>
            <a:spLocks noGrp="1"/>
          </p:cNvSpPr>
          <p:nvPr/>
        </p:nvSpPr>
        <p:spPr>
          <a:xfrm>
            <a:off x="685800" y="1952625"/>
            <a:ext cx="5715000" cy="1333500"/>
          </a:xfrm>
          <a:prstGeom prst="rect">
            <a:avLst/>
          </a:prstGeom>
          <a:noFill/>
          <a:ln w="0">
            <a:noFill/>
          </a:ln>
        </p:spPr>
        <p:txBody>
          <a:bodyPr>
            <a:noAutofit/>
          </a:bodyPr>
          <a:lstStyle/>
          <a:p>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a:ext uri="{FF2B5EF4-FFF2-40B4-BE49-F238E27FC236}">
                <a16:creationId xmlns:a16="http://schemas.microsoft.com/office/drawing/2014/main" id="{BB7BDF1D-5A67-4F36-A377-4F8580A99F95}"/>
              </a:ext>
            </a:extLst>
          </p:cNvPr>
          <p:cNvSpPr>
            <a:spLocks noGrp="1"/>
          </p:cNvSpPr>
          <p:nvPr/>
        </p:nvSpPr>
        <p:spPr>
          <a:xfrm>
            <a:off x="723900" y="3362325"/>
            <a:ext cx="5905500" cy="523875"/>
          </a:xfrm>
          <a:prstGeom prst="rect">
            <a:avLst/>
          </a:prstGeom>
          <a:noFill/>
          <a:ln w="0">
            <a:noFill/>
          </a:ln>
        </p:spPr>
        <p:txBody>
          <a:bodyPr>
            <a:noAutofit/>
          </a:bodyPr>
          <a:lstStyle/>
          <a:p>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a:ext uri="{FF2B5EF4-FFF2-40B4-BE49-F238E27FC236}">
                <a16:creationId xmlns:a16="http://schemas.microsoft.com/office/drawing/2014/main" id="{4340E1A3-BC7F-4E71-A39C-55B522DA4B04}"/>
              </a:ext>
            </a:extLst>
          </p:cNvPr>
          <p:cNvSpPr>
            <a:spLocks noGrp="1"/>
          </p:cNvSpPr>
          <p:nvPr/>
        </p:nvSpPr>
        <p:spPr>
          <a:xfrm>
            <a:off x="6858000" y="2076450"/>
            <a:ext cx="4572000" cy="2762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a:endParaRPr sz="2325" b="0">
              <a:solidFill>
                <a:srgbClr val="122C32"/>
              </a:solidFill>
              <a:latin typeface="Bitstream Charter"/>
              <a:ea typeface="Bitstream Charter"/>
              <a:cs typeface="Bitstream Charter"/>
            </a:endParaRP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a:ext uri="{FF2B5EF4-FFF2-40B4-BE49-F238E27FC236}">
                <a16:creationId xmlns:a16="http://schemas.microsoft.com/office/drawing/2014/main" id="{8A16FE9C-5BF7-4D1C-AB9F-990B61CBF628}"/>
              </a:ext>
            </a:extLst>
          </p:cNvPr>
          <p:cNvSpPr>
            <a:spLocks noGrp="1"/>
          </p:cNvSpPr>
          <p:nvPr/>
        </p:nvSpPr>
        <p:spPr>
          <a:xfrm>
            <a:off x="723900" y="5381625"/>
            <a:ext cx="10477500" cy="666750"/>
          </a:xfrm>
          <a:prstGeom prst="rect">
            <a:avLst/>
          </a:prstGeom>
          <a:noFill/>
          <a:ln w="0">
            <a:noFill/>
          </a:ln>
        </p:spPr>
        <p:txBody>
          <a:bodyPr>
            <a:noAutofit/>
          </a:bodyPr>
          <a:lstStyle/>
          <a:p>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Rectangle 7">
            <a:extLst>
              <a:ext uri="{FF2B5EF4-FFF2-40B4-BE49-F238E27FC236}">
                <a16:creationId xmlns:a16="http://schemas.microsoft.com/office/drawing/2014/main" id="{38A13C7B-5C67-4031-9A6C-983B9E173DD9}"/>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clrMapOvr>
    <a:masterClrMapping/>
  </p:clrMapOvr>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4C317D-E8EF-42F7-A4B8-E521B631748D}"/>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F35"/>
                </a:solidFill>
                <a:latin typeface="Calibri"/>
                <a:ea typeface="Calibri"/>
                <a:cs typeface="Calibri"/>
              </a:defRPr>
            </a:pPr>
            <a:r>
              <a:rPr sz="3150" b="1">
                <a:solidFill>
                  <a:srgbClr val="142F35"/>
                </a:solidFill>
                <a:latin typeface="Calibri"/>
                <a:ea typeface="Calibri"/>
                <a:cs typeface="Calibri"/>
              </a:rPr>
              <a:t>Market size</a:t>
            </a:r>
          </a:p>
        </p:txBody>
      </p:sp>
      <p:sp>
        <p:nvSpPr>
          <p:cNvPr id="2" name="">
            <a:extLst xmlns:a="http://schemas.openxmlformats.org/drawingml/2006/main">
              <a:ext uri="{FF2B5EF4-FFF2-40B4-BE49-F238E27FC236}">
                <a16:creationId xmlns:a16="http://schemas.microsoft.com/office/drawing/2014/main" id="{3EE285EB-C9BC-4304-9866-25E6A70D1815}"/>
              </a:ext>
            </a:extLst>
          </p:cNvPr>
          <p:cNvSpPr>
            <a:spLocks xmlns:a="http://schemas.openxmlformats.org/drawingml/2006/main" noGrp="1"/>
          </p:cNvSpPr>
          <p:nvPr/>
        </p:nvSpPr>
        <p:spPr>
          <a:xfrm xmlns:a="http://schemas.openxmlformats.org/drawingml/2006/main">
            <a:off x="723900" y="1257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5"/>
                </a:solidFill>
                <a:latin typeface="Calibri"/>
                <a:ea typeface="Calibri"/>
                <a:cs typeface="Calibri"/>
              </a:defRPr>
            </a:pPr>
            <a:r>
              <a:rPr sz="1950" b="0">
                <a:solidFill>
                  <a:srgbClr val="142F35"/>
                </a:solidFill>
                <a:latin typeface="Calibri"/>
                <a:ea typeface="Calibri"/>
                <a:cs typeface="Calibri"/>
              </a:rPr>
              <a:t>Specialty trade contractors with 10–49 people employed</a:t>
            </a:r>
          </a:p>
        </p:txBody>
      </p:sp>
      <p:sp>
        <p:nvSpPr>
          <p:cNvPr id="3" name="">
            <a:extLst xmlns:a="http://schemas.openxmlformats.org/drawingml/2006/main">
              <a:ext uri="{FF2B5EF4-FFF2-40B4-BE49-F238E27FC236}">
                <a16:creationId xmlns:a16="http://schemas.microsoft.com/office/drawing/2014/main" id="{5380B6D2-5FF0-485D-9E18-909AC785BC83}"/>
              </a:ext>
            </a:extLst>
          </p:cNvPr>
          <p:cNvSpPr>
            <a:spLocks xmlns:a="http://schemas.openxmlformats.org/drawingml/2006/main" noGrp="1"/>
          </p:cNvSpPr>
          <p:nvPr/>
        </p:nvSpPr>
        <p:spPr>
          <a:xfrm xmlns:a="http://schemas.openxmlformats.org/drawingml/2006/main">
            <a:off x="723900" y="1819275"/>
            <a:ext cx="600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008579"/>
                </a:solidFill>
                <a:latin typeface="Calibri"/>
                <a:ea typeface="Calibri"/>
                <a:cs typeface="Calibri"/>
              </a:defRPr>
            </a:pPr>
            <a:r>
              <a:rPr sz="4500" b="1">
                <a:solidFill>
                  <a:srgbClr val="008579"/>
                </a:solidFill>
                <a:latin typeface="Calibri"/>
                <a:ea typeface="Calibri"/>
                <a:cs typeface="Calibri"/>
              </a:rPr>
              <a:t>€276.6M / year</a:t>
            </a:r>
          </a:p>
        </p:txBody>
      </p:sp>
      <p:sp>
        <p:nvSpPr>
          <p:cNvPr id="4" name="">
            <a:extLst xmlns:a="http://schemas.openxmlformats.org/drawingml/2006/main">
              <a:ext uri="{FF2B5EF4-FFF2-40B4-BE49-F238E27FC236}">
                <a16:creationId xmlns:a16="http://schemas.microsoft.com/office/drawing/2014/main" id="{1EF495F3-BE02-48A6-A537-1376F1413150}"/>
              </a:ext>
            </a:extLst>
          </p:cNvPr>
          <p:cNvSpPr>
            <a:spLocks xmlns:a="http://schemas.openxmlformats.org/drawingml/2006/main" noGrp="1"/>
          </p:cNvSpPr>
          <p:nvPr/>
        </p:nvSpPr>
        <p:spPr>
          <a:xfrm xmlns:a="http://schemas.openxmlformats.org/drawingml/2006/main">
            <a:off x="7086600" y="19145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F35"/>
                </a:solidFill>
                <a:latin typeface="Calibri"/>
                <a:ea typeface="Calibri"/>
                <a:cs typeface="Calibri"/>
              </a:defRPr>
            </a:pPr>
            <a:r>
              <a:rPr sz="1875" b="0">
                <a:solidFill>
                  <a:srgbClr val="142F35"/>
                </a:solidFill>
                <a:latin typeface="Calibri"/>
                <a:ea typeface="Calibri"/>
                <a:cs typeface="Calibri"/>
              </a:rPr>
              <a:t>EU-27 + UK: ~154,000 companies</a:t>
            </a:r>
          </a:p>
          <a:p xmlns:a="http://schemas.openxmlformats.org/drawingml/2006/main">
            <a:pPr>
              <a:defRPr sz="1875" b="0">
                <a:solidFill>
                  <a:srgbClr val="142F35"/>
                </a:solidFill>
                <a:latin typeface="Calibri"/>
                <a:ea typeface="Calibri"/>
                <a:cs typeface="Calibri"/>
              </a:defRPr>
            </a:pPr>
            <a:r>
              <a:rPr sz="1875" b="0">
                <a:solidFill>
                  <a:srgbClr val="142F35"/>
                </a:solidFill>
                <a:latin typeface="Calibri"/>
                <a:ea typeface="Calibri"/>
                <a:cs typeface="Calibri"/>
              </a:rPr>
              <a:t>At €150 per company per month</a:t>
            </a:r>
          </a:p>
        </p:txBody>
      </p:sp>
      <p:graphicFrame>
        <p:nvGraphicFramePr>
          <p:cNvPr id="14" name=""/>
          <p:cNvGraphicFramePr/>
          <p:nvPr/>
        </p:nvGraphicFramePr>
        <p:xfrm>
          <a:off xmlns:a="http://schemas.openxmlformats.org/drawingml/2006/main" x="762000" y="2857500"/>
          <a:ext xmlns:a="http://schemas.openxmlformats.org/drawingml/2006/main" cx="10668000" cy="2381250"/>
        </p:xfrm>
        <a:graphic xmlns:a="http://schemas.openxmlformats.org/drawingml/2006/main">
          <a:graphicData uri="http://schemas.openxmlformats.org/drawingml/2006/table">
            <a:tbl>
              <a:tblPr/>
              <a:tblGrid>
                <a:gridCol w="5000625"/>
                <a:gridCol w="2619375"/>
                <a:gridCol w="3048000"/>
              </a:tblGrid>
              <a:tr h="476250">
                <a:tc>
                  <a:txBody>
                    <a:bodyPr/>
                    <a:lstStyle/>
                    <a:p>
                      <a:r>
                        <a:rPr sz="1800" b="1">
                          <a:solidFill>
                            <a:srgbClr val="FFFFFF"/>
                          </a:solidFill>
                          <a:latin typeface="Calibri"/>
                          <a:ea typeface="Calibri"/>
                          <a:cs typeface="Calibri"/>
                        </a:rPr>
                        <a:t>Market / reference year</a:t>
                      </a:r>
                    </a:p>
                  </a:txBody>
                  <a:tcPr marL="91440" marR="91440" marT="45720" marB="45720">
                    <a:solidFill>
                      <a:srgbClr val="142F35"/>
                    </a:solidFill>
                  </a:tcPr>
                </a:tc>
                <a:tc>
                  <a:txBody>
                    <a:bodyPr/>
                    <a:lstStyle/>
                    <a:p>
                      <a:r>
                        <a:rPr sz="1800" b="1">
                          <a:solidFill>
                            <a:srgbClr val="FFFFFF"/>
                          </a:solidFill>
                          <a:latin typeface="Calibri"/>
                          <a:ea typeface="Calibri"/>
                          <a:cs typeface="Calibri"/>
                        </a:rPr>
                        <a:t>Companies</a:t>
                      </a:r>
                    </a:p>
                  </a:txBody>
                  <a:tcPr marL="91440" marR="91440" marT="45720" marB="45720">
                    <a:solidFill>
                      <a:srgbClr val="142F35"/>
                    </a:solidFill>
                  </a:tcPr>
                </a:tc>
                <a:tc>
                  <a:txBody>
                    <a:bodyPr/>
                    <a:lstStyle/>
                    <a:p>
                      <a:r>
                        <a:rPr sz="1800" b="1">
                          <a:solidFill>
                            <a:srgbClr val="FFFFFF"/>
                          </a:solidFill>
                          <a:latin typeface="Calibri"/>
                          <a:ea typeface="Calibri"/>
                          <a:cs typeface="Calibri"/>
                        </a:rPr>
                        <a:t>Annual potential</a:t>
                      </a:r>
                    </a:p>
                  </a:txBody>
                  <a:tcPr marL="91440" marR="91440" marT="45720" marB="45720">
                    <a:solidFill>
                      <a:srgbClr val="142F35"/>
                    </a:solidFill>
                  </a:tcPr>
                </a:tc>
              </a:tr>
              <a:tr h="476250">
                <a:tc>
                  <a:txBody>
                    <a:bodyPr/>
                    <a:lstStyle/>
                    <a:p>
                      <a:r>
                        <a:rPr sz="1800" b="0">
                          <a:solidFill>
                            <a:srgbClr val="142F35"/>
                          </a:solidFill>
                          <a:latin typeface="Calibri"/>
                          <a:ea typeface="Calibri"/>
                          <a:cs typeface="Calibri"/>
                        </a:rPr>
                        <a:t>EU-27 / 2023</a:t>
                      </a:r>
                    </a:p>
                  </a:txBody>
                  <a:tcPr marL="91440" marR="91440" marT="45720" marB="45720">
                    <a:solidFill>
                      <a:srgbClr val="F6F4EE"/>
                    </a:solidFill>
                  </a:tcPr>
                </a:tc>
                <a:tc>
                  <a:txBody>
                    <a:bodyPr/>
                    <a:lstStyle/>
                    <a:p>
                      <a:r>
                        <a:rPr sz="1800" b="0">
                          <a:solidFill>
                            <a:srgbClr val="142F35"/>
                          </a:solidFill>
                          <a:latin typeface="Calibri"/>
                          <a:ea typeface="Calibri"/>
                          <a:cs typeface="Calibri"/>
                        </a:rPr>
                        <a:t>141,914</a:t>
                      </a:r>
                    </a:p>
                  </a:txBody>
                  <a:tcPr marL="91440" marR="91440" marT="45720" marB="45720">
                    <a:solidFill>
                      <a:srgbClr val="F6F4EE"/>
                    </a:solidFill>
                  </a:tcPr>
                </a:tc>
                <a:tc>
                  <a:txBody>
                    <a:bodyPr/>
                    <a:lstStyle/>
                    <a:p>
                      <a:r>
                        <a:rPr sz="1800" b="0">
                          <a:solidFill>
                            <a:srgbClr val="142F35"/>
                          </a:solidFill>
                          <a:latin typeface="Calibri"/>
                          <a:ea typeface="Calibri"/>
                          <a:cs typeface="Calibri"/>
                        </a:rPr>
                        <a:t>€255.4M</a:t>
                      </a:r>
                    </a:p>
                  </a:txBody>
                  <a:tcPr marL="91440" marR="91440" marT="45720" marB="45720">
                    <a:solidFill>
                      <a:srgbClr val="F6F4EE"/>
                    </a:solidFill>
                  </a:tcPr>
                </a:tc>
              </a:tr>
              <a:tr h="476250">
                <a:tc>
                  <a:txBody>
                    <a:bodyPr/>
                    <a:lstStyle/>
                    <a:p>
                      <a:r>
                        <a:rPr sz="1800" b="0">
                          <a:solidFill>
                            <a:srgbClr val="142F35"/>
                          </a:solidFill>
                          <a:latin typeface="Calibri"/>
                          <a:ea typeface="Calibri"/>
                          <a:cs typeface="Calibri"/>
                        </a:rPr>
                        <a:t>UK / 2025</a:t>
                      </a:r>
                    </a:p>
                  </a:txBody>
                  <a:tcPr marL="91440" marR="91440" marT="45720" marB="45720">
                    <a:solidFill>
                      <a:srgbClr val="F6F4EE"/>
                    </a:solidFill>
                  </a:tcPr>
                </a:tc>
                <a:tc>
                  <a:txBody>
                    <a:bodyPr/>
                    <a:lstStyle/>
                    <a:p>
                      <a:r>
                        <a:rPr sz="1800" b="0">
                          <a:solidFill>
                            <a:srgbClr val="142F35"/>
                          </a:solidFill>
                          <a:latin typeface="Calibri"/>
                          <a:ea typeface="Calibri"/>
                          <a:cs typeface="Calibri"/>
                        </a:rPr>
                        <a:t>11,725</a:t>
                      </a:r>
                    </a:p>
                  </a:txBody>
                  <a:tcPr marL="91440" marR="91440" marT="45720" marB="45720">
                    <a:solidFill>
                      <a:srgbClr val="F6F4EE"/>
                    </a:solidFill>
                  </a:tcPr>
                </a:tc>
                <a:tc>
                  <a:txBody>
                    <a:bodyPr/>
                    <a:lstStyle/>
                    <a:p>
                      <a:r>
                        <a:rPr sz="1800" b="0">
                          <a:solidFill>
                            <a:srgbClr val="142F35"/>
                          </a:solidFill>
                          <a:latin typeface="Calibri"/>
                          <a:ea typeface="Calibri"/>
                          <a:cs typeface="Calibri"/>
                        </a:rPr>
                        <a:t>€21.1M</a:t>
                      </a:r>
                    </a:p>
                  </a:txBody>
                  <a:tcPr marL="91440" marR="91440" marT="45720" marB="45720">
                    <a:solidFill>
                      <a:srgbClr val="F6F4EE"/>
                    </a:solidFill>
                  </a:tcPr>
                </a:tc>
              </a:tr>
              <a:tr h="476250">
                <a:tc>
                  <a:txBody>
                    <a:bodyPr/>
                    <a:lstStyle/>
                    <a:p>
                      <a:r>
                        <a:rPr sz="1800" b="0">
                          <a:solidFill>
                            <a:srgbClr val="142F35"/>
                          </a:solidFill>
                          <a:latin typeface="Calibri"/>
                          <a:ea typeface="Calibri"/>
                          <a:cs typeface="Calibri"/>
                        </a:rPr>
                        <a:t>Sweden / 2023 (within EU-27)</a:t>
                      </a:r>
                    </a:p>
                  </a:txBody>
                  <a:tcPr marL="91440" marR="91440" marT="45720" marB="45720">
                    <a:solidFill>
                      <a:srgbClr val="F6F4EE"/>
                    </a:solidFill>
                  </a:tcPr>
                </a:tc>
                <a:tc>
                  <a:txBody>
                    <a:bodyPr/>
                    <a:lstStyle/>
                    <a:p>
                      <a:r>
                        <a:rPr sz="1800" b="0">
                          <a:solidFill>
                            <a:srgbClr val="142F35"/>
                          </a:solidFill>
                          <a:latin typeface="Calibri"/>
                          <a:ea typeface="Calibri"/>
                          <a:cs typeface="Calibri"/>
                        </a:rPr>
                        <a:t>4,235</a:t>
                      </a:r>
                    </a:p>
                  </a:txBody>
                  <a:tcPr marL="91440" marR="91440" marT="45720" marB="45720">
                    <a:solidFill>
                      <a:srgbClr val="F6F4EE"/>
                    </a:solidFill>
                  </a:tcPr>
                </a:tc>
                <a:tc>
                  <a:txBody>
                    <a:bodyPr/>
                    <a:lstStyle/>
                    <a:p>
                      <a:r>
                        <a:rPr sz="1800" b="0">
                          <a:solidFill>
                            <a:srgbClr val="142F35"/>
                          </a:solidFill>
                          <a:latin typeface="Calibri"/>
                          <a:ea typeface="Calibri"/>
                          <a:cs typeface="Calibri"/>
                        </a:rPr>
                        <a:t>€7.6M</a:t>
                      </a:r>
                    </a:p>
                  </a:txBody>
                  <a:tcPr marL="91440" marR="91440" marT="45720" marB="45720">
                    <a:solidFill>
                      <a:srgbClr val="F6F4EE"/>
                    </a:solidFill>
                  </a:tcPr>
                </a:tc>
              </a:tr>
              <a:tr h="476250">
                <a:tc>
                  <a:txBody>
                    <a:bodyPr/>
                    <a:lstStyle/>
                    <a:p>
                      <a:r>
                        <a:rPr sz="1800" b="0">
                          <a:solidFill>
                            <a:srgbClr val="536B70"/>
                          </a:solidFill>
                          <a:latin typeface="Calibri"/>
                          <a:ea typeface="Calibri"/>
                          <a:cs typeface="Calibri"/>
                        </a:rPr>
                        <a:t>USA / expansion market</a:t>
                      </a:r>
                    </a:p>
                  </a:txBody>
                  <a:tcPr marL="91440" marR="91440" marT="45720" marB="45720">
                    <a:solidFill>
                      <a:srgbClr val="F6F4EE"/>
                    </a:solidFill>
                  </a:tcPr>
                </a:tc>
                <a:tc>
                  <a:txBody>
                    <a:bodyPr/>
                    <a:lstStyle/>
                    <a:p>
                      <a:r>
                        <a:rPr sz="1800" b="0">
                          <a:solidFill>
                            <a:srgbClr val="536B70"/>
                          </a:solidFill>
                          <a:latin typeface="Calibri"/>
                          <a:ea typeface="Calibri"/>
                          <a:cs typeface="Calibri"/>
                        </a:rPr>
                        <a:t>Count to verify</a:t>
                      </a:r>
                    </a:p>
                  </a:txBody>
                  <a:tcPr marL="91440" marR="91440" marT="45720" marB="45720">
                    <a:solidFill>
                      <a:srgbClr val="F6F4EE"/>
                    </a:solidFill>
                  </a:tcPr>
                </a:tc>
                <a:tc>
                  <a:txBody>
                    <a:bodyPr/>
                    <a:lstStyle/>
                    <a:p>
                      <a:r>
                        <a:rPr sz="1800" b="0">
                          <a:solidFill>
                            <a:srgbClr val="536B70"/>
                          </a:solidFill>
                          <a:latin typeface="Calibri"/>
                          <a:ea typeface="Calibri"/>
                          <a:cs typeface="Calibri"/>
                        </a:rPr>
                        <a:t>Sizing pending</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4AEDB218-8BC2-48A0-9A06-0901A77E245D}"/>
              </a:ext>
            </a:extLst>
          </p:cNvPr>
          <p:cNvSpPr>
            <a:spLocks xmlns:a="http://schemas.openxmlformats.org/drawingml/2006/main" noGrp="1"/>
          </p:cNvSpPr>
          <p:nvPr/>
        </p:nvSpPr>
        <p:spPr>
          <a:xfrm xmlns:a="http://schemas.openxmlformats.org/drawingml/2006/main">
            <a:off x="762000" y="54102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F35"/>
                </a:solidFill>
                <a:latin typeface="Calibri"/>
                <a:ea typeface="Calibri"/>
                <a:cs typeface="Calibri"/>
              </a:defRPr>
            </a:pPr>
            <a:r>
              <a:rPr sz="1725" b="0">
                <a:solidFill>
                  <a:srgbClr val="142F35"/>
                </a:solidFill>
                <a:latin typeface="Calibri"/>
                <a:ea typeface="Calibri"/>
                <a:cs typeface="Calibri"/>
              </a:rPr>
              <a:t>Sweden is included in EU-27. The quantified total excludes the USA.</a:t>
            </a:r>
          </a:p>
        </p:txBody>
      </p:sp>
      <p:sp>
        <p:nvSpPr>
          <p:cNvPr id="7" name="">
            <a:extLst xmlns:a="http://schemas.openxmlformats.org/drawingml/2006/main">
              <a:ext uri="{FF2B5EF4-FFF2-40B4-BE49-F238E27FC236}">
                <a16:creationId xmlns:a16="http://schemas.microsoft.com/office/drawing/2014/main" id="{65C880CE-DB36-46B7-B39E-13AF1A46302F}"/>
              </a:ext>
            </a:extLst>
          </p:cNvPr>
          <p:cNvSpPr>
            <a:spLocks xmlns:a="http://schemas.openxmlformats.org/drawingml/2006/main" noGrp="1"/>
          </p:cNvSpPr>
          <p:nvPr/>
        </p:nvSpPr>
        <p:spPr>
          <a:xfrm xmlns:a="http://schemas.openxmlformats.org/drawingml/2006/main">
            <a:off x="762000" y="578167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B70"/>
                </a:solidFill>
                <a:latin typeface="Calibri"/>
                <a:ea typeface="Calibri"/>
                <a:cs typeface="Calibri"/>
              </a:defRPr>
            </a:pPr>
            <a:r>
              <a:rPr sz="1500" b="0">
                <a:solidFill>
                  <a:srgbClr val="536B70"/>
                </a:solidFill>
                <a:latin typeface="Calibri"/>
                <a:ea typeface="Calibri"/>
                <a:cs typeface="Calibri"/>
              </a:rPr>
              <a:t>Full penetration potential. Actual sales depend on adoption and retention.</a:t>
            </a:r>
          </a:p>
        </p:txBody>
      </p:sp>
      <p:sp>
        <p:nvSpPr>
          <p:cNvPr id="8" name="">
            <a:extLst xmlns:a="http://schemas.openxmlformats.org/drawingml/2006/main">
              <a:ext uri="{FF2B5EF4-FFF2-40B4-BE49-F238E27FC236}">
                <a16:creationId xmlns:a16="http://schemas.microsoft.com/office/drawing/2014/main" id="{E640D36C-E855-476B-9C1F-40B52879C45F}"/>
              </a:ext>
            </a:extLst>
          </p:cNvPr>
          <p:cNvSpPr>
            <a:spLocks xmlns:a="http://schemas.openxmlformats.org/drawingml/2006/main" noGrp="1"/>
          </p:cNvSpPr>
          <p:nvPr/>
        </p:nvSpPr>
        <p:spPr>
          <a:xfrm xmlns:a="http://schemas.openxmlformats.org/drawingml/2006/main">
            <a:off x="762000" y="6191250"/>
            <a:ext cx="10096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B70"/>
                </a:solidFill>
                <a:latin typeface="Calibri"/>
                <a:ea typeface="Calibri"/>
                <a:cs typeface="Calibri"/>
              </a:defRPr>
            </a:pPr>
            <a:r>
              <a:rPr sz="1275" b="0">
                <a:solidFill>
                  <a:srgbClr val="536B70"/>
                </a:solidFill>
                <a:latin typeface="Calibri"/>
                <a:ea typeface="Calibri"/>
                <a:cs typeface="Calibri"/>
              </a:rPr>
              <a:t>Sources: Eurostat SBS and ONS IDBR. EU includes an estimate. Definitions and links in notes.</a:t>
            </a:r>
          </a:p>
        </p:txBody>
      </p:sp>
      <p:sp>
        <p:nvSpPr>
          <p:cNvPr id="9" name="">
            <a:extLst xmlns:a="http://schemas.openxmlformats.org/drawingml/2006/main">
              <a:ext uri="{FF2B5EF4-FFF2-40B4-BE49-F238E27FC236}">
                <a16:creationId xmlns:a16="http://schemas.microsoft.com/office/drawing/2014/main" id="{AE01457F-986A-4EFE-A387-92776DA4D417}"/>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2C3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E2CD63-474A-4D05-8791-4CB3A9401BC7}"/>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a:ext uri="{FF2B5EF4-FFF2-40B4-BE49-F238E27FC236}">
                <a16:creationId xmlns:a16="http://schemas.microsoft.com/office/drawing/2014/main" id="{B5384B42-24A6-4938-ABBF-849F9A0A764B}"/>
              </a:ext>
            </a:extLst>
          </p:cNvPr>
          <p:cNvSpPr>
            <a:spLocks noGrp="1"/>
          </p:cNvSpPr>
          <p:nvPr/>
        </p:nvSpPr>
        <p:spPr>
          <a:xfrm>
            <a:off x="685800" y="2000250"/>
            <a:ext cx="6858000" cy="1619250"/>
          </a:xfrm>
          <a:prstGeom prst="rect">
            <a:avLst/>
          </a:prstGeom>
          <a:noFill/>
          <a:ln w="0">
            <a:noFill/>
          </a:ln>
        </p:spPr>
        <p:txBody>
          <a:bodyPr>
            <a:noAutofit/>
          </a:bodyPr>
          <a:lstStyle/>
          <a:p>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a:ext uri="{FF2B5EF4-FFF2-40B4-BE49-F238E27FC236}">
                <a16:creationId xmlns:a16="http://schemas.microsoft.com/office/drawing/2014/main" id="{F2F1FC68-FB05-41C1-B3AD-5587689647BB}"/>
              </a:ext>
            </a:extLst>
          </p:cNvPr>
          <p:cNvSpPr>
            <a:spLocks noGrp="1"/>
          </p:cNvSpPr>
          <p:nvPr/>
        </p:nvSpPr>
        <p:spPr>
          <a:xfrm>
            <a:off x="742950" y="3667125"/>
            <a:ext cx="7810500" cy="571500"/>
          </a:xfrm>
          <a:prstGeom prst="rect">
            <a:avLst/>
          </a:prstGeom>
          <a:noFill/>
          <a:ln w="0">
            <a:noFill/>
          </a:ln>
        </p:spPr>
        <p:txBody>
          <a:bodyPr>
            <a:noAutofit/>
          </a:bodyPr>
          <a:lstStyle/>
          <a:p>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a:ext uri="{FF2B5EF4-FFF2-40B4-BE49-F238E27FC236}">
                <a16:creationId xmlns:a16="http://schemas.microsoft.com/office/drawing/2014/main" id="{79BDBE97-186D-481C-B712-0D6E406B13B2}"/>
              </a:ext>
            </a:extLst>
          </p:cNvPr>
          <p:cNvSpPr>
            <a:spLocks noGrp="1"/>
          </p:cNvSpPr>
          <p:nvPr/>
        </p:nvSpPr>
        <p:spPr>
          <a:xfrm>
            <a:off x="8143875" y="2362200"/>
            <a:ext cx="3333750" cy="952500"/>
          </a:xfrm>
          <a:prstGeom prst="rect">
            <a:avLst/>
          </a:prstGeom>
          <a:noFill/>
          <a:ln w="0">
            <a:noFill/>
          </a:ln>
        </p:spPr>
        <p:txBody>
          <a:bodyPr>
            <a:noAutofit/>
          </a:bodyPr>
          <a:lstStyle/>
          <a:p>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a:ext uri="{FF2B5EF4-FFF2-40B4-BE49-F238E27FC236}">
                <a16:creationId xmlns:a16="http://schemas.microsoft.com/office/drawing/2014/main" id="{235E0144-25AA-42AA-BDA4-B2E3C18CE7D1}"/>
              </a:ext>
            </a:extLst>
          </p:cNvPr>
          <p:cNvSpPr>
            <a:spLocks noGrp="1"/>
          </p:cNvSpPr>
          <p:nvPr/>
        </p:nvSpPr>
        <p:spPr>
          <a:xfrm>
            <a:off x="8143875" y="3429000"/>
            <a:ext cx="3143250" cy="952500"/>
          </a:xfrm>
          <a:prstGeom prst="rect">
            <a:avLst/>
          </a:prstGeom>
          <a:noFill/>
          <a:ln w="0">
            <a:noFill/>
          </a:ln>
        </p:spPr>
        <p:txBody>
          <a:bodyPr>
            <a:noAutofit/>
          </a:bodyPr>
          <a:lstStyle/>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a:ext uri="{FF2B5EF4-FFF2-40B4-BE49-F238E27FC236}">
                <a16:creationId xmlns:a16="http://schemas.microsoft.com/office/drawing/2014/main" id="{1720956F-9F3C-4BD3-AE98-3C4EC7155A8D}"/>
              </a:ext>
            </a:extLst>
          </p:cNvPr>
          <p:cNvSpPr>
            <a:spLocks noGrp="1"/>
          </p:cNvSpPr>
          <p:nvPr/>
        </p:nvSpPr>
        <p:spPr>
          <a:xfrm>
            <a:off x="742950" y="5391150"/>
            <a:ext cx="10477500" cy="666750"/>
          </a:xfrm>
          <a:prstGeom prst="rect">
            <a:avLst/>
          </a:prstGeom>
          <a:noFill/>
          <a:ln w="0">
            <a:noFill/>
          </a:ln>
        </p:spPr>
        <p:txBody>
          <a:bodyPr>
            <a:noAutofit/>
          </a:bodyPr>
          <a:lstStyle/>
          <a:p>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Rectangle 8">
            <a:extLst>
              <a:ext uri="{FF2B5EF4-FFF2-40B4-BE49-F238E27FC236}">
                <a16:creationId xmlns:a16="http://schemas.microsoft.com/office/drawing/2014/main" id="{4A1E6458-941F-4B9F-8AD0-499E257FE82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8EDF8BD-E63E-43D5-A36A-2354C150D192}"/>
              </a:ext>
            </a:extLst>
          </p:cNvPr>
          <p:cNvSpPr>
            <a:spLocks noGrp="1"/>
          </p:cNvSpPr>
          <p:nvPr/>
        </p:nvSpPr>
        <p:spPr>
          <a:xfrm>
            <a:off x="685800" y="571500"/>
            <a:ext cx="10820400" cy="1095375"/>
          </a:xfrm>
          <a:prstGeom prst="rect">
            <a:avLst/>
          </a:prstGeom>
          <a:noFill/>
          <a:ln w="0">
            <a:noFill/>
          </a:ln>
        </p:spPr>
        <p:txBody>
          <a:bodyPr>
            <a:noAutofit/>
          </a:bodyPr>
          <a:lstStyle/>
          <a:p>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a:ext uri="{FF2B5EF4-FFF2-40B4-BE49-F238E27FC236}">
                <a16:creationId xmlns:a16="http://schemas.microsoft.com/office/drawing/2014/main" id="{455E1E9E-8924-44E0-B6FA-FE20ED7744AA}"/>
              </a:ext>
            </a:extLst>
          </p:cNvPr>
          <p:cNvSpPr>
            <a:spLocks noGrp="1"/>
          </p:cNvSpPr>
          <p:nvPr/>
        </p:nvSpPr>
        <p:spPr>
          <a:xfrm>
            <a:off x="762000" y="19050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a:ext uri="{FF2B5EF4-FFF2-40B4-BE49-F238E27FC236}">
                <a16:creationId xmlns:a16="http://schemas.microsoft.com/office/drawing/2014/main" id="{4635259B-5CA7-49B9-AB23-5C07881DF03A}"/>
              </a:ext>
            </a:extLst>
          </p:cNvPr>
          <p:cNvSpPr>
            <a:spLocks noGrp="1"/>
          </p:cNvSpPr>
          <p:nvPr/>
        </p:nvSpPr>
        <p:spPr>
          <a:xfrm>
            <a:off x="7905750" y="19050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a:ext uri="{FF2B5EF4-FFF2-40B4-BE49-F238E27FC236}">
                <a16:creationId xmlns:a16="http://schemas.microsoft.com/office/drawing/2014/main" id="{4E4D18B8-14E2-441A-BE4B-22E964B5ED8D}"/>
              </a:ext>
            </a:extLst>
          </p:cNvPr>
          <p:cNvSpPr>
            <a:spLocks noGrp="1"/>
          </p:cNvSpPr>
          <p:nvPr/>
        </p:nvSpPr>
        <p:spPr>
          <a:xfrm>
            <a:off x="762000" y="25812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a:ext uri="{FF2B5EF4-FFF2-40B4-BE49-F238E27FC236}">
                <a16:creationId xmlns:a16="http://schemas.microsoft.com/office/drawing/2014/main" id="{47C73B40-7A06-4F57-B3FD-4EE294C5913E}"/>
              </a:ext>
            </a:extLst>
          </p:cNvPr>
          <p:cNvSpPr>
            <a:spLocks noGrp="1"/>
          </p:cNvSpPr>
          <p:nvPr/>
        </p:nvSpPr>
        <p:spPr>
          <a:xfrm>
            <a:off x="7905750" y="25812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a:ext uri="{FF2B5EF4-FFF2-40B4-BE49-F238E27FC236}">
                <a16:creationId xmlns:a16="http://schemas.microsoft.com/office/drawing/2014/main" id="{71CA1260-6304-4A1C-9460-E9221790A96F}"/>
              </a:ext>
            </a:extLst>
          </p:cNvPr>
          <p:cNvSpPr>
            <a:spLocks noGrp="1"/>
          </p:cNvSpPr>
          <p:nvPr/>
        </p:nvSpPr>
        <p:spPr>
          <a:xfrm>
            <a:off x="762000" y="325755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a:ext uri="{FF2B5EF4-FFF2-40B4-BE49-F238E27FC236}">
                <a16:creationId xmlns:a16="http://schemas.microsoft.com/office/drawing/2014/main" id="{CFF2BA1E-5CFA-41EF-9053-5A168087E686}"/>
              </a:ext>
            </a:extLst>
          </p:cNvPr>
          <p:cNvSpPr>
            <a:spLocks noGrp="1"/>
          </p:cNvSpPr>
          <p:nvPr/>
        </p:nvSpPr>
        <p:spPr>
          <a:xfrm>
            <a:off x="7905750" y="325755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a:ext uri="{FF2B5EF4-FFF2-40B4-BE49-F238E27FC236}">
                <a16:creationId xmlns:a16="http://schemas.microsoft.com/office/drawing/2014/main" id="{4024057A-317B-4D08-975C-B2CF5F21A23A}"/>
              </a:ext>
            </a:extLst>
          </p:cNvPr>
          <p:cNvSpPr>
            <a:spLocks noGrp="1"/>
          </p:cNvSpPr>
          <p:nvPr/>
        </p:nvSpPr>
        <p:spPr>
          <a:xfrm>
            <a:off x="762000" y="393382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a:ext uri="{FF2B5EF4-FFF2-40B4-BE49-F238E27FC236}">
                <a16:creationId xmlns:a16="http://schemas.microsoft.com/office/drawing/2014/main" id="{C9F33BDC-B105-43E4-B07F-D346123128EA}"/>
              </a:ext>
            </a:extLst>
          </p:cNvPr>
          <p:cNvSpPr>
            <a:spLocks noGrp="1"/>
          </p:cNvSpPr>
          <p:nvPr/>
        </p:nvSpPr>
        <p:spPr>
          <a:xfrm>
            <a:off x="7905750" y="393382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a:ext uri="{FF2B5EF4-FFF2-40B4-BE49-F238E27FC236}">
                <a16:creationId xmlns:a16="http://schemas.microsoft.com/office/drawing/2014/main" id="{D1415E4E-9ABF-4A78-BFAE-904108F9C394}"/>
              </a:ext>
            </a:extLst>
          </p:cNvPr>
          <p:cNvSpPr>
            <a:spLocks noGrp="1"/>
          </p:cNvSpPr>
          <p:nvPr/>
        </p:nvSpPr>
        <p:spPr>
          <a:xfrm>
            <a:off x="762000" y="4610100"/>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a:ext uri="{FF2B5EF4-FFF2-40B4-BE49-F238E27FC236}">
                <a16:creationId xmlns:a16="http://schemas.microsoft.com/office/drawing/2014/main" id="{E88EA2D7-39A3-4FCE-BA45-17026E61D91C}"/>
              </a:ext>
            </a:extLst>
          </p:cNvPr>
          <p:cNvSpPr>
            <a:spLocks noGrp="1"/>
          </p:cNvSpPr>
          <p:nvPr/>
        </p:nvSpPr>
        <p:spPr>
          <a:xfrm>
            <a:off x="7905750" y="4610100"/>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a:ext uri="{FF2B5EF4-FFF2-40B4-BE49-F238E27FC236}">
                <a16:creationId xmlns:a16="http://schemas.microsoft.com/office/drawing/2014/main" id="{D60AD922-7A01-4877-8EE9-C53F1F8DF59B}"/>
              </a:ext>
            </a:extLst>
          </p:cNvPr>
          <p:cNvSpPr>
            <a:spLocks noGrp="1"/>
          </p:cNvSpPr>
          <p:nvPr/>
        </p:nvSpPr>
        <p:spPr>
          <a:xfrm>
            <a:off x="762000" y="6011418"/>
            <a:ext cx="10572750" cy="552450"/>
          </a:xfrm>
          <a:prstGeom prst="rect">
            <a:avLst/>
          </a:prstGeom>
          <a:noFill/>
          <a:ln w="0">
            <a:noFill/>
          </a:ln>
        </p:spPr>
        <p:txBody>
          <a:bodyPr>
            <a:noAutofit/>
          </a:bodyPr>
          <a:lstStyle/>
          <a:p>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a:ext uri="{FF2B5EF4-FFF2-40B4-BE49-F238E27FC236}">
                <a16:creationId xmlns:a16="http://schemas.microsoft.com/office/drawing/2014/main" id="{2C874276-C8AD-7D00-C92C-338B0347F467}"/>
              </a:ext>
            </a:extLst>
          </p:cNvPr>
          <p:cNvSpPr>
            <a:spLocks noGrp="1"/>
          </p:cNvSpPr>
          <p:nvPr/>
        </p:nvSpPr>
        <p:spPr>
          <a:xfrm>
            <a:off x="762000" y="5286375"/>
            <a:ext cx="6191250" cy="476250"/>
          </a:xfrm>
          <a:prstGeom prst="rect">
            <a:avLst/>
          </a:prstGeom>
          <a:noFill/>
          <a:ln w="0">
            <a:noFill/>
          </a:ln>
        </p:spPr>
        <p:txBody>
          <a:bodyPr>
            <a:noAutofit/>
          </a:bodyPr>
          <a:lstStyle/>
          <a:p>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a:ext uri="{FF2B5EF4-FFF2-40B4-BE49-F238E27FC236}">
                <a16:creationId xmlns:a16="http://schemas.microsoft.com/office/drawing/2014/main" id="{D4FEF6AF-BCD3-47B9-DD7F-3A5362E97F46}"/>
              </a:ext>
            </a:extLst>
          </p:cNvPr>
          <p:cNvSpPr>
            <a:spLocks noGrp="1"/>
          </p:cNvSpPr>
          <p:nvPr/>
        </p:nvSpPr>
        <p:spPr>
          <a:xfrm>
            <a:off x="7905750" y="5286375"/>
            <a:ext cx="3333750" cy="476250"/>
          </a:xfrm>
          <a:prstGeom prst="rect">
            <a:avLst/>
          </a:prstGeom>
          <a:noFill/>
          <a:ln w="0">
            <a:noFill/>
          </a:ln>
        </p:spPr>
        <p:txBody>
          <a:bodyPr>
            <a:noAutofit/>
          </a:bodyPr>
          <a:lstStyle/>
          <a:p>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Rectangle 18">
            <a:extLst>
              <a:ext uri="{FF2B5EF4-FFF2-40B4-BE49-F238E27FC236}">
                <a16:creationId xmlns:a16="http://schemas.microsoft.com/office/drawing/2014/main" id="{DBBEF601-AE91-438F-9B34-1F4B12D218D0}"/>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1C1F6D-50F7-43EB-81EA-45E208266C3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revenue assumptions</a:t>
            </a:r>
          </a:p>
        </p:txBody>
      </p:sp>
      <p:sp>
        <p:nvSpPr>
          <p:cNvPr id="2" name="Rectangle 1">
            <a:extLst>
              <a:ext uri="{FF2B5EF4-FFF2-40B4-BE49-F238E27FC236}">
                <a16:creationId xmlns:a16="http://schemas.microsoft.com/office/drawing/2014/main" id="{A634716D-3CF2-4E33-A036-4E86B4376F9F}"/>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Current average revenue is about €150 per company per month.</a:t>
            </a:r>
          </a:p>
        </p:txBody>
      </p:sp>
      <p:sp>
        <p:nvSpPr>
          <p:cNvPr id="3" name="Rectangle 2">
            <a:extLst>
              <a:ext uri="{FF2B5EF4-FFF2-40B4-BE49-F238E27FC236}">
                <a16:creationId xmlns:a16="http://schemas.microsoft.com/office/drawing/2014/main" id="{2A5A5C0A-30B5-4865-9B58-490686C672E0}"/>
              </a:ext>
            </a:extLst>
          </p:cNvPr>
          <p:cNvSpPr>
            <a:spLocks noGrp="1"/>
          </p:cNvSpPr>
          <p:nvPr/>
        </p:nvSpPr>
        <p:spPr>
          <a:xfrm>
            <a:off x="723900" y="2152650"/>
            <a:ext cx="4572000" cy="1047750"/>
          </a:xfrm>
          <a:prstGeom prst="rect">
            <a:avLst/>
          </a:prstGeom>
          <a:noFill/>
          <a:ln w="0">
            <a:noFill/>
          </a:ln>
        </p:spPr>
        <p:txBody>
          <a:bodyPr>
            <a:noAutofit/>
          </a:bodyPr>
          <a:lstStyle/>
          <a:p>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Rectangle 3">
            <a:extLst>
              <a:ext uri="{FF2B5EF4-FFF2-40B4-BE49-F238E27FC236}">
                <a16:creationId xmlns:a16="http://schemas.microsoft.com/office/drawing/2014/main" id="{4C43FCC6-23FB-4949-8D7D-686D8D9B1CAC}"/>
              </a:ext>
            </a:extLst>
          </p:cNvPr>
          <p:cNvSpPr>
            <a:spLocks noGrp="1"/>
          </p:cNvSpPr>
          <p:nvPr/>
        </p:nvSpPr>
        <p:spPr>
          <a:xfrm>
            <a:off x="762000" y="3219450"/>
            <a:ext cx="4857750" cy="523875"/>
          </a:xfrm>
          <a:prstGeom prst="rect">
            <a:avLst/>
          </a:prstGeom>
          <a:noFill/>
          <a:ln w="0">
            <a:noFill/>
          </a:ln>
        </p:spPr>
        <p:txBody>
          <a:bodyPr>
            <a:noAutofit/>
          </a:bodyPr>
          <a:lstStyle/>
          <a:p>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Rectangle 4">
            <a:extLst>
              <a:ext uri="{FF2B5EF4-FFF2-40B4-BE49-F238E27FC236}">
                <a16:creationId xmlns:a16="http://schemas.microsoft.com/office/drawing/2014/main" id="{BE599F16-4A26-4C69-9D2F-49191BC86578}"/>
              </a:ext>
            </a:extLst>
          </p:cNvPr>
          <p:cNvSpPr>
            <a:spLocks noGrp="1"/>
          </p:cNvSpPr>
          <p:nvPr/>
        </p:nvSpPr>
        <p:spPr>
          <a:xfrm>
            <a:off x="6572250" y="2209800"/>
            <a:ext cx="4762500" cy="476250"/>
          </a:xfrm>
          <a:prstGeom prst="rect">
            <a:avLst/>
          </a:prstGeom>
          <a:noFill/>
          <a:ln w="0">
            <a:noFill/>
          </a:ln>
        </p:spPr>
        <p:txBody>
          <a:bodyPr>
            <a:noAutofit/>
          </a:bodyPr>
          <a:lstStyle/>
          <a:p>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charge</a:t>
            </a:r>
          </a:p>
        </p:txBody>
      </p:sp>
      <p:sp>
        <p:nvSpPr>
          <p:cNvPr id="6" name="Rectangle 5">
            <a:extLst>
              <a:ext uri="{FF2B5EF4-FFF2-40B4-BE49-F238E27FC236}">
                <a16:creationId xmlns:a16="http://schemas.microsoft.com/office/drawing/2014/main" id="{1C4B0DDD-3FC2-41A4-A276-D990A2B30725}"/>
              </a:ext>
            </a:extLst>
          </p:cNvPr>
          <p:cNvSpPr>
            <a:spLocks noGrp="1"/>
          </p:cNvSpPr>
          <p:nvPr/>
        </p:nvSpPr>
        <p:spPr>
          <a:xfrm>
            <a:off x="6572250" y="2819400"/>
            <a:ext cx="4762500" cy="1476375"/>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€50 per paying user per month</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Agreed discounts</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Paid custom functionality</a:t>
            </a:r>
          </a:p>
        </p:txBody>
      </p:sp>
      <p:graphicFrame>
        <p:nvGraphicFramePr>
          <p:cNvPr id="18" name="Table 17"/>
          <p:cNvGraphicFramePr/>
          <p:nvPr/>
        </p:nvGraphicFramePr>
        <p:xfrm>
          <a:off x="762000" y="4400550"/>
          <a:ext cx="10668000" cy="1028700"/>
        </p:xfrm>
        <a:graphic>
          <a:graphicData uri="http://schemas.openxmlformats.org/drawingml/2006/table">
            <a:tbl>
              <a:tblPr/>
              <a:tblGrid>
                <a:gridCol w="4762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466725">
                <a:tc>
                  <a:txBody>
                    <a:bodyPr/>
                    <a:lstStyle/>
                    <a:p>
                      <a:r>
                        <a:rPr sz="1875" b="1">
                          <a:solidFill>
                            <a:srgbClr val="FFFFFF"/>
                          </a:solidFill>
                          <a:latin typeface="Calibri"/>
                          <a:ea typeface="Calibri"/>
                          <a:cs typeface="Calibri"/>
                        </a:rPr>
                        <a:t>Company revenue</a:t>
                      </a:r>
                    </a:p>
                  </a:txBody>
                  <a:tcPr>
                    <a:solidFill>
                      <a:srgbClr val="142F35"/>
                    </a:solidFill>
                  </a:tcPr>
                </a:tc>
                <a:tc>
                  <a:txBody>
                    <a:bodyPr/>
                    <a:lstStyle/>
                    <a:p>
                      <a:r>
                        <a:rPr sz="1875" b="1">
                          <a:solidFill>
                            <a:srgbClr val="FFFFFF"/>
                          </a:solidFill>
                          <a:latin typeface="Calibri"/>
                          <a:ea typeface="Calibri"/>
                          <a:cs typeface="Calibri"/>
                        </a:rPr>
                        <a:t>Current average</a:t>
                      </a:r>
                    </a:p>
                  </a:txBody>
                  <a:tcPr>
                    <a:solidFill>
                      <a:srgbClr val="142F35"/>
                    </a:solidFill>
                  </a:tcPr>
                </a:tc>
                <a:tc>
                  <a:txBody>
                    <a:bodyPr/>
                    <a:lstStyle/>
                    <a:p>
                      <a:r>
                        <a:rPr sz="1875" b="1">
                          <a:solidFill>
                            <a:srgbClr val="FFFFFF"/>
                          </a:solidFill>
                          <a:latin typeface="Calibri"/>
                          <a:ea typeface="Calibri"/>
                          <a:cs typeface="Calibri"/>
                        </a:rPr>
                        <a:t>Sizing assumption</a:t>
                      </a:r>
                    </a:p>
                  </a:txBody>
                  <a:tcPr>
                    <a:solidFill>
                      <a:srgbClr val="142F35"/>
                    </a:solidFill>
                  </a:tcPr>
                </a:tc>
                <a:extLst>
                  <a:ext uri="{0D108BD9-81ED-4DB2-BD59-A6C34878D82A}">
                    <a16:rowId xmlns:a16="http://schemas.microsoft.com/office/drawing/2014/main" val="10000"/>
                  </a:ext>
                </a:extLst>
              </a:tr>
              <a:tr h="561975">
                <a:tc>
                  <a:txBody>
                    <a:bodyPr/>
                    <a:lstStyle/>
                    <a:p>
                      <a:r>
                        <a:rPr sz="1875" b="0">
                          <a:solidFill>
                            <a:srgbClr val="142F35"/>
                          </a:solidFill>
                          <a:latin typeface="Calibri"/>
                          <a:ea typeface="Calibri"/>
                          <a:cs typeface="Calibri"/>
                        </a:rPr>
                        <a:t>Annual revenue per company</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tc>
                  <a:txBody>
                    <a:bodyPr/>
                    <a:lstStyle/>
                    <a:p>
                      <a:r>
                        <a:rPr sz="1875" b="0">
                          <a:solidFill>
                            <a:srgbClr val="142F35"/>
                          </a:solidFill>
                          <a:latin typeface="Calibri"/>
                          <a:ea typeface="Calibri"/>
                          <a:cs typeface="Calibri"/>
                        </a:rPr>
                        <a:t>€1,800</a:t>
                      </a:r>
                    </a:p>
                  </a:txBody>
                  <a:tcPr>
                    <a:solidFill>
                      <a:srgbClr val="F6F4EE"/>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2D1C5C2D-7BA8-4DF6-AA00-E0BB226B2F40}"/>
              </a:ext>
            </a:extLst>
          </p:cNvPr>
          <p:cNvSpPr>
            <a:spLocks noGrp="1"/>
          </p:cNvSpPr>
          <p:nvPr/>
        </p:nvSpPr>
        <p:spPr>
          <a:xfrm>
            <a:off x="762000" y="5572125"/>
            <a:ext cx="10572750" cy="638175"/>
          </a:xfrm>
          <a:prstGeom prst="rect">
            <a:avLst/>
          </a:prstGeom>
          <a:noFill/>
          <a:ln w="0">
            <a:noFill/>
          </a:ln>
        </p:spPr>
        <p:txBody>
          <a:bodyPr>
            <a:noAutofit/>
          </a:bodyPr>
          <a:lstStyle/>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Market sizing and acquisition scenarios use €150/company/month.</a:t>
            </a:r>
          </a:p>
          <a:p>
            <a:pPr>
              <a:buNone/>
              <a:defRPr sz="1725" b="0">
                <a:solidFill>
                  <a:srgbClr val="536B70"/>
                </a:solidFill>
                <a:latin typeface="Calibri"/>
                <a:ea typeface="Calibri"/>
                <a:cs typeface="Calibri"/>
              </a:defRPr>
            </a:pPr>
            <a:r>
              <a:rPr sz="1725" b="0">
                <a:solidFill>
                  <a:srgbClr val="536B70"/>
                </a:solidFill>
                <a:latin typeface="Calibri"/>
                <a:ea typeface="Calibri"/>
                <a:cs typeface="Calibri"/>
              </a:rPr>
              <a:t>Track recurring subscription revenue separately from one-off custom work.</a:t>
            </a:r>
          </a:p>
        </p:txBody>
      </p:sp>
      <p:sp>
        <p:nvSpPr>
          <p:cNvPr id="9" name="Rectangle 8">
            <a:extLst>
              <a:ext uri="{FF2B5EF4-FFF2-40B4-BE49-F238E27FC236}">
                <a16:creationId xmlns:a16="http://schemas.microsoft.com/office/drawing/2014/main" id="{98CA1597-5DF9-41E0-99C0-D56FD7C48563}"/>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02C4CDE-1EAC-4166-8622-C9F1E0CAD3CA}"/>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Rectangle 1">
            <a:extLst>
              <a:ext uri="{FF2B5EF4-FFF2-40B4-BE49-F238E27FC236}">
                <a16:creationId xmlns:a16="http://schemas.microsoft.com/office/drawing/2014/main" id="{3CB986C6-87D8-4983-BA87-1006353DCF1B}"/>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0" name="Table 9"/>
          <p:cNvGraphicFramePr/>
          <p:nvPr/>
        </p:nvGraphicFramePr>
        <p:xfrm>
          <a:off x="762000" y="2200275"/>
          <a:ext cx="10668000" cy="3181350"/>
        </p:xfrm>
        <a:graphic>
          <a:graphicData uri="http://schemas.openxmlformats.org/drawingml/2006/table">
            <a:tbl>
              <a:tblPr/>
              <a:tblGrid>
                <a:gridCol w="2190750">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Alternative</a:t>
                      </a:r>
                    </a:p>
                  </a:txBody>
                  <a:tcPr>
                    <a:solidFill>
                      <a:srgbClr val="142F35"/>
                    </a:solidFill>
                  </a:tcPr>
                </a:tc>
                <a:tc>
                  <a:txBody>
                    <a:bodyPr/>
                    <a:lstStyle/>
                    <a:p>
                      <a:r>
                        <a:rPr sz="1800" b="1">
                          <a:solidFill>
                            <a:srgbClr val="FFFFFF"/>
                          </a:solidFill>
                          <a:latin typeface="Calibri"/>
                          <a:ea typeface="Calibri"/>
                          <a:cs typeface="Calibri"/>
                        </a:rPr>
                        <a:t>What it offers</a:t>
                      </a:r>
                    </a:p>
                  </a:txBody>
                  <a:tcPr>
                    <a:solidFill>
                      <a:srgbClr val="142F35"/>
                    </a:solidFill>
                  </a:tcPr>
                </a:tc>
                <a:tc>
                  <a:txBody>
                    <a:bodyPr/>
                    <a:lstStyle/>
                    <a:p>
                      <a:r>
                        <a:rPr sz="1800" b="1">
                          <a:solidFill>
                            <a:srgbClr val="FFFFFF"/>
                          </a:solidFill>
                          <a:latin typeface="Calibri"/>
                          <a:ea typeface="Calibri"/>
                          <a:cs typeface="Calibri"/>
                        </a:rPr>
                        <a:t>Our focus for a small contractor</a:t>
                      </a:r>
                    </a:p>
                  </a:txBody>
                  <a:tcPr>
                    <a:solidFill>
                      <a:srgbClr val="142F35"/>
                    </a:solidFill>
                  </a:tcPr>
                </a:tc>
                <a:extLst>
                  <a:ext uri="{0D108BD9-81ED-4DB2-BD59-A6C34878D82A}">
                    <a16:rowId xmlns:a16="http://schemas.microsoft.com/office/drawing/2014/main" val="10000"/>
                  </a:ext>
                </a:extLst>
              </a:tr>
              <a:tr h="885825">
                <a:tc>
                  <a:txBody>
                    <a:bodyPr/>
                    <a:lstStyle/>
                    <a:p>
                      <a:r>
                        <a:rPr sz="1800" b="0">
                          <a:solidFill>
                            <a:srgbClr val="142F35"/>
                          </a:solidFill>
                          <a:latin typeface="Calibri"/>
                          <a:ea typeface="Calibri"/>
                          <a:cs typeface="Calibri"/>
                        </a:rPr>
                        <a:t>WhatsApp + Excel</a:t>
                      </a:r>
                    </a:p>
                  </a:txBody>
                  <a:tcPr>
                    <a:solidFill>
                      <a:srgbClr val="F6F4EE"/>
                    </a:solidFill>
                  </a:tcPr>
                </a:tc>
                <a:tc>
                  <a:txBody>
                    <a:bodyPr/>
                    <a:lstStyle/>
                    <a:p>
                      <a:r>
                        <a:rPr sz="1800" b="0">
                          <a:solidFill>
                            <a:srgbClr val="142F35"/>
                          </a:solidFill>
                          <a:latin typeface="Calibri"/>
                          <a:ea typeface="Calibri"/>
                          <a:cs typeface="Calibri"/>
                        </a:rPr>
                        <a:t>Messages and flexible spreadsheets</a:t>
                      </a:r>
                    </a:p>
                  </a:txBody>
                  <a:tcPr>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a:solidFill>
                      <a:srgbClr val="F6F4EE"/>
                    </a:solidFill>
                  </a:tcPr>
                </a:tc>
                <a:extLst>
                  <a:ext uri="{0D108BD9-81ED-4DB2-BD59-A6C34878D82A}">
                    <a16:rowId xmlns:a16="http://schemas.microsoft.com/office/drawing/2014/main" val="10001"/>
                  </a:ext>
                </a:extLst>
              </a:tr>
              <a:tr h="885825">
                <a:tc>
                  <a:txBody>
                    <a:bodyPr/>
                    <a:lstStyle/>
                    <a:p>
                      <a:r>
                        <a:rPr sz="1800" b="0">
                          <a:solidFill>
                            <a:srgbClr val="142F35"/>
                          </a:solidFill>
                          <a:latin typeface="Calibri"/>
                          <a:ea typeface="Calibri"/>
                          <a:cs typeface="Calibri"/>
                        </a:rPr>
                        <a:t>Fieldwire</a:t>
                      </a:r>
                    </a:p>
                  </a:txBody>
                  <a:tcPr>
                    <a:solidFill>
                      <a:srgbClr val="F6F4EE"/>
                    </a:solidFill>
                  </a:tcPr>
                </a:tc>
                <a:tc>
                  <a:txBody>
                    <a:bodyPr/>
                    <a:lstStyle/>
                    <a:p>
                      <a:r>
                        <a:rPr sz="1800" b="0">
                          <a:solidFill>
                            <a:srgbClr val="142F35"/>
                          </a:solidFill>
                          <a:latin typeface="Calibri"/>
                          <a:ea typeface="Calibri"/>
                          <a:cs typeface="Calibri"/>
                        </a:rPr>
                        <a:t>Plans, tasks, reports and forms</a:t>
                      </a:r>
                    </a:p>
                  </a:txBody>
                  <a:tcPr>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a:solidFill>
                      <a:srgbClr val="F6F4EE"/>
                    </a:solidFill>
                  </a:tcPr>
                </a:tc>
                <a:extLst>
                  <a:ext uri="{0D108BD9-81ED-4DB2-BD59-A6C34878D82A}">
                    <a16:rowId xmlns:a16="http://schemas.microsoft.com/office/drawing/2014/main" val="10002"/>
                  </a:ext>
                </a:extLst>
              </a:tr>
              <a:tr h="885825">
                <a:tc>
                  <a:txBody>
                    <a:bodyPr/>
                    <a:lstStyle/>
                    <a:p>
                      <a:r>
                        <a:rPr sz="1800" b="0">
                          <a:solidFill>
                            <a:srgbClr val="142F35"/>
                          </a:solidFill>
                          <a:latin typeface="Calibri"/>
                          <a:ea typeface="Calibri"/>
                          <a:cs typeface="Calibri"/>
                        </a:rPr>
                        <a:t>Buildertrend</a:t>
                      </a:r>
                    </a:p>
                  </a:txBody>
                  <a:tcPr>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5A5C58D-18D0-4561-8DAB-3E8189A85027}"/>
              </a:ext>
            </a:extLst>
          </p:cNvPr>
          <p:cNvSpPr>
            <a:spLocks noGrp="1"/>
          </p:cNvSpPr>
          <p:nvPr/>
        </p:nvSpPr>
        <p:spPr>
          <a:xfrm>
            <a:off x="762000" y="5753100"/>
            <a:ext cx="10477500" cy="523875"/>
          </a:xfrm>
          <a:prstGeom prst="rect">
            <a:avLst/>
          </a:prstGeom>
          <a:noFill/>
          <a:ln w="0">
            <a:noFill/>
          </a:ln>
        </p:spPr>
        <p:txBody>
          <a:bodyPr>
            <a:noAutofit/>
          </a:bodyPr>
          <a:lstStyle/>
          <a:p>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5" name="Rectangle 4">
            <a:extLst>
              <a:ext uri="{FF2B5EF4-FFF2-40B4-BE49-F238E27FC236}">
                <a16:creationId xmlns:a16="http://schemas.microsoft.com/office/drawing/2014/main" id="{2A162997-DDAC-4734-BE8D-D2937CA16DD5}"/>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46F360-6998-41FD-BEF4-2EF9DB4B52E4}"/>
              </a:ext>
            </a:extLst>
          </p:cNvPr>
          <p:cNvSpPr>
            <a:spLocks noGrp="1"/>
          </p:cNvSpPr>
          <p:nvPr/>
        </p:nvSpPr>
        <p:spPr>
          <a:xfrm>
            <a:off x="685800" y="571500"/>
            <a:ext cx="10820400" cy="619125"/>
          </a:xfrm>
          <a:prstGeom prst="rect">
            <a:avLst/>
          </a:prstGeom>
          <a:noFill/>
          <a:ln w="0">
            <a:noFill/>
          </a:ln>
        </p:spPr>
        <p:txBody>
          <a:bodyPr>
            <a:noAutofit/>
          </a:bodyPr>
          <a:lstStyle/>
          <a:p>
            <a:pPr>
              <a:defRPr sz="3150" b="1">
                <a:solidFill>
                  <a:srgbClr val="142F35"/>
                </a:solidFill>
                <a:latin typeface="Calibri"/>
                <a:ea typeface="Calibri"/>
                <a:cs typeface="Calibri"/>
              </a:defRPr>
            </a:pPr>
            <a:r>
              <a:rPr sz="3150" b="1" dirty="0">
                <a:solidFill>
                  <a:srgbClr val="142F35"/>
                </a:solidFill>
                <a:latin typeface="Calibri"/>
                <a:ea typeface="Calibri"/>
                <a:cs typeface="Calibri"/>
              </a:rPr>
              <a:t>What </a:t>
            </a:r>
            <a:r>
              <a:rPr lang="lv-LV" sz="3150" b="1" dirty="0">
                <a:solidFill>
                  <a:srgbClr val="142F35"/>
                </a:solidFill>
                <a:latin typeface="Calibri"/>
                <a:ea typeface="Calibri"/>
                <a:cs typeface="Calibri"/>
              </a:rPr>
              <a:t>6 months </a:t>
            </a:r>
            <a:r>
              <a:rPr sz="3150" b="1" dirty="0">
                <a:solidFill>
                  <a:srgbClr val="142F35"/>
                </a:solidFill>
                <a:latin typeface="Calibri"/>
                <a:ea typeface="Calibri"/>
                <a:cs typeface="Calibri"/>
              </a:rPr>
              <a:t>of outreach has shown</a:t>
            </a:r>
          </a:p>
        </p:txBody>
      </p:sp>
      <p:sp>
        <p:nvSpPr>
          <p:cNvPr id="2" name="Rectangle 1">
            <a:extLst>
              <a:ext uri="{FF2B5EF4-FFF2-40B4-BE49-F238E27FC236}">
                <a16:creationId xmlns:a16="http://schemas.microsoft.com/office/drawing/2014/main" id="{5C4F8EBF-BE18-47D3-AC17-D0BA450EB929}"/>
              </a:ext>
            </a:extLst>
          </p:cNvPr>
          <p:cNvSpPr>
            <a:spLocks noGrp="1"/>
          </p:cNvSpPr>
          <p:nvPr/>
        </p:nvSpPr>
        <p:spPr>
          <a:xfrm>
            <a:off x="723900" y="1276350"/>
            <a:ext cx="10668000" cy="762000"/>
          </a:xfrm>
          <a:prstGeom prst="rect">
            <a:avLst/>
          </a:prstGeom>
          <a:noFill/>
          <a:ln w="0">
            <a:noFill/>
          </a:ln>
        </p:spPr>
        <p:txBody>
          <a:bodyPr>
            <a:noAutofit/>
          </a:bodyPr>
          <a:lstStyle/>
          <a:p>
            <a:pPr>
              <a:defRPr sz="2025" b="0">
                <a:solidFill>
                  <a:srgbClr val="536B70"/>
                </a:solidFill>
                <a:latin typeface="Calibri"/>
                <a:ea typeface="Calibri"/>
                <a:cs typeface="Calibri"/>
              </a:defRPr>
            </a:pPr>
            <a:r>
              <a:rPr sz="2025" b="0">
                <a:solidFill>
                  <a:srgbClr val="536B70"/>
                </a:solidFill>
                <a:latin typeface="Calibri"/>
                <a:ea typeface="Calibri"/>
                <a:cs typeface="Calibri"/>
              </a:rPr>
              <a:t>Approximately 100 companies approached through direct outreach and Facebook advertising.</a:t>
            </a:r>
          </a:p>
        </p:txBody>
      </p:sp>
      <p:sp>
        <p:nvSpPr>
          <p:cNvPr id="3" name="Rectangle 2">
            <a:extLst>
              <a:ext uri="{FF2B5EF4-FFF2-40B4-BE49-F238E27FC236}">
                <a16:creationId xmlns:a16="http://schemas.microsoft.com/office/drawing/2014/main" id="{91AFFBC1-2680-4948-9A99-3FF5483CC1FB}"/>
              </a:ext>
            </a:extLst>
          </p:cNvPr>
          <p:cNvSpPr>
            <a:spLocks noGrp="1"/>
          </p:cNvSpPr>
          <p:nvPr/>
        </p:nvSpPr>
        <p:spPr>
          <a:xfrm>
            <a:off x="723900" y="2238375"/>
            <a:ext cx="3238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~100</a:t>
            </a:r>
          </a:p>
        </p:txBody>
      </p:sp>
      <p:sp>
        <p:nvSpPr>
          <p:cNvPr id="4" name="Rectangle 3">
            <a:extLst>
              <a:ext uri="{FF2B5EF4-FFF2-40B4-BE49-F238E27FC236}">
                <a16:creationId xmlns:a16="http://schemas.microsoft.com/office/drawing/2014/main" id="{65C90AC9-029B-4EE4-A8B2-95CBDA0716AB}"/>
              </a:ext>
            </a:extLst>
          </p:cNvPr>
          <p:cNvSpPr>
            <a:spLocks noGrp="1"/>
          </p:cNvSpPr>
          <p:nvPr/>
        </p:nvSpPr>
        <p:spPr>
          <a:xfrm>
            <a:off x="762000" y="3286125"/>
            <a:ext cx="3429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Rectangle 4">
            <a:extLst>
              <a:ext uri="{FF2B5EF4-FFF2-40B4-BE49-F238E27FC236}">
                <a16:creationId xmlns:a16="http://schemas.microsoft.com/office/drawing/2014/main" id="{3DB5FDE8-BE3D-400C-B52D-76B45201C223}"/>
              </a:ext>
            </a:extLst>
          </p:cNvPr>
          <p:cNvSpPr>
            <a:spLocks noGrp="1"/>
          </p:cNvSpPr>
          <p:nvPr/>
        </p:nvSpPr>
        <p:spPr>
          <a:xfrm>
            <a:off x="4762500" y="2238375"/>
            <a:ext cx="285750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Rectangle 5">
            <a:extLst>
              <a:ext uri="{FF2B5EF4-FFF2-40B4-BE49-F238E27FC236}">
                <a16:creationId xmlns:a16="http://schemas.microsoft.com/office/drawing/2014/main" id="{9A8040C2-3985-43BC-AB24-DA4E0B9EC590}"/>
              </a:ext>
            </a:extLst>
          </p:cNvPr>
          <p:cNvSpPr>
            <a:spLocks noGrp="1"/>
          </p:cNvSpPr>
          <p:nvPr/>
        </p:nvSpPr>
        <p:spPr>
          <a:xfrm>
            <a:off x="4800600" y="3286125"/>
            <a:ext cx="3048000" cy="61912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Rectangle 6">
            <a:extLst>
              <a:ext uri="{FF2B5EF4-FFF2-40B4-BE49-F238E27FC236}">
                <a16:creationId xmlns:a16="http://schemas.microsoft.com/office/drawing/2014/main" id="{076000FC-BCC2-4C16-A6B0-09DB9C789B06}"/>
              </a:ext>
            </a:extLst>
          </p:cNvPr>
          <p:cNvSpPr>
            <a:spLocks noGrp="1"/>
          </p:cNvSpPr>
          <p:nvPr/>
        </p:nvSpPr>
        <p:spPr>
          <a:xfrm>
            <a:off x="8629650" y="2238375"/>
            <a:ext cx="2762250" cy="1000125"/>
          </a:xfrm>
          <a:prstGeom prst="rect">
            <a:avLst/>
          </a:prstGeom>
          <a:noFill/>
          <a:ln w="0">
            <a:noFill/>
          </a:ln>
        </p:spPr>
        <p:txBody>
          <a:bodyPr>
            <a:noAutofit/>
          </a:bodyPr>
          <a:lstStyle/>
          <a:p>
            <a:pPr>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Rectangle 7">
            <a:extLst>
              <a:ext uri="{FF2B5EF4-FFF2-40B4-BE49-F238E27FC236}">
                <a16:creationId xmlns:a16="http://schemas.microsoft.com/office/drawing/2014/main" id="{3C074390-DD9D-4776-87A8-244589A2A673}"/>
              </a:ext>
            </a:extLst>
          </p:cNvPr>
          <p:cNvSpPr>
            <a:spLocks noGrp="1"/>
          </p:cNvSpPr>
          <p:nvPr/>
        </p:nvSpPr>
        <p:spPr>
          <a:xfrm>
            <a:off x="8667750" y="3286125"/>
            <a:ext cx="2857500" cy="714375"/>
          </a:xfrm>
          <a:prstGeom prst="rect">
            <a:avLst/>
          </a:prstGeom>
          <a:noFill/>
          <a:ln w="0">
            <a:noFill/>
          </a:ln>
        </p:spPr>
        <p:txBody>
          <a:bodyPr>
            <a:noAutofit/>
          </a:bodyPr>
          <a:lstStyle/>
          <a:p>
            <a:pPr>
              <a:defRPr sz="2100" b="0">
                <a:solidFill>
                  <a:srgbClr val="142F35"/>
                </a:solidFill>
                <a:latin typeface="Calibri"/>
                <a:ea typeface="Calibri"/>
                <a:cs typeface="Calibri"/>
              </a:defRPr>
            </a:pPr>
            <a:r>
              <a:rPr sz="2100" b="0" dirty="0">
                <a:solidFill>
                  <a:srgbClr val="142F35"/>
                </a:solidFill>
                <a:latin typeface="Calibri"/>
                <a:ea typeface="Calibri"/>
                <a:cs typeface="Calibri"/>
              </a:rPr>
              <a:t>former payer churned</a:t>
            </a:r>
          </a:p>
        </p:txBody>
      </p:sp>
      <p:sp>
        <p:nvSpPr>
          <p:cNvPr id="9" name="Rectangle 8">
            <a:extLst>
              <a:ext uri="{FF2B5EF4-FFF2-40B4-BE49-F238E27FC236}">
                <a16:creationId xmlns:a16="http://schemas.microsoft.com/office/drawing/2014/main" id="{F444A170-84E2-4BB8-A33C-3277DCC6A8CA}"/>
              </a:ext>
            </a:extLst>
          </p:cNvPr>
          <p:cNvSpPr>
            <a:spLocks noGrp="1"/>
          </p:cNvSpPr>
          <p:nvPr/>
        </p:nvSpPr>
        <p:spPr>
          <a:xfrm>
            <a:off x="762000" y="4276725"/>
            <a:ext cx="10572750" cy="495300"/>
          </a:xfrm>
          <a:prstGeom prst="rect">
            <a:avLst/>
          </a:prstGeom>
          <a:noFill/>
          <a:ln w="0">
            <a:noFill/>
          </a:ln>
        </p:spPr>
        <p:txBody>
          <a:bodyPr>
            <a:noAutofit/>
          </a:bodyPr>
          <a:lstStyle/>
          <a:p>
            <a:pPr>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Rectangle 9">
            <a:extLst>
              <a:ext uri="{FF2B5EF4-FFF2-40B4-BE49-F238E27FC236}">
                <a16:creationId xmlns:a16="http://schemas.microsoft.com/office/drawing/2014/main" id="{6DCD413D-F16D-480E-B616-537261583343}"/>
              </a:ext>
            </a:extLst>
          </p:cNvPr>
          <p:cNvSpPr>
            <a:spLocks noGrp="1"/>
          </p:cNvSpPr>
          <p:nvPr/>
        </p:nvSpPr>
        <p:spPr>
          <a:xfrm>
            <a:off x="762000" y="5076825"/>
            <a:ext cx="10572750" cy="942975"/>
          </a:xfrm>
          <a:prstGeom prst="rect">
            <a:avLst/>
          </a:prstGeom>
          <a:noFill/>
          <a:ln w="0">
            <a:noFill/>
          </a:ln>
        </p:spPr>
        <p:txBody>
          <a:bodyPr>
            <a:noAutofit/>
          </a:bodyPr>
          <a:lstStyle/>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~5% currently paying / approached. ~6% have paid at some point.</a:t>
            </a:r>
          </a:p>
          <a:p>
            <a:pPr>
              <a:defRPr sz="1950" b="0">
                <a:solidFill>
                  <a:srgbClr val="536B70"/>
                </a:solidFill>
                <a:latin typeface="Calibri"/>
                <a:ea typeface="Calibri"/>
                <a:cs typeface="Calibri"/>
              </a:defRPr>
            </a:pPr>
            <a:r>
              <a:rPr sz="1950" b="0" dirty="0">
                <a:solidFill>
                  <a:srgbClr val="536B70"/>
                </a:solidFill>
                <a:latin typeface="Calibri"/>
                <a:ea typeface="Calibri"/>
                <a:cs typeface="Calibri"/>
              </a:rPr>
              <a:t>These are approximate cumulative ratios. Reliable channel CAC is not yet available.</a:t>
            </a:r>
            <a:endParaRPr lang="lv-LV" sz="1950" b="0" dirty="0">
              <a:solidFill>
                <a:srgbClr val="536B70"/>
              </a:solidFill>
              <a:latin typeface="Calibri"/>
              <a:ea typeface="Calibri"/>
              <a:cs typeface="Calibri"/>
            </a:endParaRPr>
          </a:p>
          <a:p>
            <a:pPr>
              <a:defRPr sz="1950" b="0">
                <a:solidFill>
                  <a:srgbClr val="536B70"/>
                </a:solidFill>
                <a:latin typeface="Calibri"/>
                <a:ea typeface="Calibri"/>
                <a:cs typeface="Calibri"/>
              </a:defRPr>
            </a:pPr>
            <a:r>
              <a:rPr lang="lv-LV" sz="1950" dirty="0">
                <a:solidFill>
                  <a:srgbClr val="536B70"/>
                </a:solidFill>
                <a:latin typeface="Calibri"/>
                <a:ea typeface="Calibri"/>
                <a:cs typeface="Calibri"/>
              </a:rPr>
              <a:t>Churned user informed that they can’t force their workers to use the product. </a:t>
            </a:r>
            <a:endParaRPr sz="1950" b="0" dirty="0">
              <a:solidFill>
                <a:srgbClr val="536B70"/>
              </a:solidFill>
              <a:latin typeface="Calibri"/>
              <a:ea typeface="Calibri"/>
              <a:cs typeface="Calibri"/>
            </a:endParaRPr>
          </a:p>
        </p:txBody>
      </p:sp>
      <p:sp>
        <p:nvSpPr>
          <p:cNvPr id="11" name="Rectangle 10">
            <a:extLst>
              <a:ext uri="{FF2B5EF4-FFF2-40B4-BE49-F238E27FC236}">
                <a16:creationId xmlns:a16="http://schemas.microsoft.com/office/drawing/2014/main" id="{7112398C-2D51-47F3-827F-DCF461BFE64E}"/>
              </a:ext>
            </a:extLst>
          </p:cNvPr>
          <p:cNvSpPr>
            <a:spLocks noGrp="1"/>
          </p:cNvSpPr>
          <p:nvPr/>
        </p:nvSpPr>
        <p:spPr>
          <a:xfrm>
            <a:off x="11001375" y="6238875"/>
            <a:ext cx="571500" cy="285750"/>
          </a:xfrm>
          <a:prstGeom prst="rect">
            <a:avLst/>
          </a:prstGeom>
          <a:noFill/>
          <a:ln w="0">
            <a:noFill/>
          </a:ln>
        </p:spPr>
        <p:txBody>
          <a:bodyPr>
            <a:noAutofit/>
          </a:bodyPr>
          <a:lstStyle/>
          <a:p>
            <a:pPr>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ECE95E-B0E7-433B-BCDE-044062BCD5D3}"/>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Rectangle 1">
            <a:extLst>
              <a:ext uri="{FF2B5EF4-FFF2-40B4-BE49-F238E27FC236}">
                <a16:creationId xmlns:a16="http://schemas.microsoft.com/office/drawing/2014/main" id="{B5F17BDE-5728-4346-80CA-AA2A1B63D268}"/>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Rectangle 2">
            <a:extLst>
              <a:ext uri="{FF2B5EF4-FFF2-40B4-BE49-F238E27FC236}">
                <a16:creationId xmlns:a16="http://schemas.microsoft.com/office/drawing/2014/main" id="{798CF8A3-4355-49B6-9B37-1363B737460C}"/>
              </a:ext>
            </a:extLst>
          </p:cNvPr>
          <p:cNvSpPr>
            <a:spLocks noGrp="1"/>
          </p:cNvSpPr>
          <p:nvPr/>
        </p:nvSpPr>
        <p:spPr>
          <a:xfrm>
            <a:off x="762000" y="213360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Rectangle 3">
            <a:extLst>
              <a:ext uri="{FF2B5EF4-FFF2-40B4-BE49-F238E27FC236}">
                <a16:creationId xmlns:a16="http://schemas.microsoft.com/office/drawing/2014/main" id="{A71FA044-5D49-4E48-86C5-BF6615928F9C}"/>
              </a:ext>
            </a:extLst>
          </p:cNvPr>
          <p:cNvSpPr>
            <a:spLocks noGrp="1"/>
          </p:cNvSpPr>
          <p:nvPr/>
        </p:nvSpPr>
        <p:spPr>
          <a:xfrm>
            <a:off x="762000" y="260032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Rectangle 4">
            <a:extLst>
              <a:ext uri="{FF2B5EF4-FFF2-40B4-BE49-F238E27FC236}">
                <a16:creationId xmlns:a16="http://schemas.microsoft.com/office/drawing/2014/main" id="{0BA357FD-3CE3-4E88-81B3-A0B445B0EA0E}"/>
              </a:ext>
            </a:extLst>
          </p:cNvPr>
          <p:cNvSpPr>
            <a:spLocks noGrp="1"/>
          </p:cNvSpPr>
          <p:nvPr/>
        </p:nvSpPr>
        <p:spPr>
          <a:xfrm>
            <a:off x="762000" y="3457575"/>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Rectangle 5">
            <a:extLst>
              <a:ext uri="{FF2B5EF4-FFF2-40B4-BE49-F238E27FC236}">
                <a16:creationId xmlns:a16="http://schemas.microsoft.com/office/drawing/2014/main" id="{A94C35E2-5177-4751-863A-558948AD756D}"/>
              </a:ext>
            </a:extLst>
          </p:cNvPr>
          <p:cNvSpPr>
            <a:spLocks noGrp="1"/>
          </p:cNvSpPr>
          <p:nvPr/>
        </p:nvSpPr>
        <p:spPr>
          <a:xfrm>
            <a:off x="762000" y="3924300"/>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Rectangle 6">
            <a:extLst>
              <a:ext uri="{FF2B5EF4-FFF2-40B4-BE49-F238E27FC236}">
                <a16:creationId xmlns:a16="http://schemas.microsoft.com/office/drawing/2014/main" id="{461BACA2-3C4E-4617-8462-AEA285D5FB5B}"/>
              </a:ext>
            </a:extLst>
          </p:cNvPr>
          <p:cNvSpPr>
            <a:spLocks noGrp="1"/>
          </p:cNvSpPr>
          <p:nvPr/>
        </p:nvSpPr>
        <p:spPr>
          <a:xfrm>
            <a:off x="762000" y="4781550"/>
            <a:ext cx="10572750" cy="428625"/>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Expansion tests: Sweden, Great Britain and the USA</a:t>
            </a:r>
          </a:p>
        </p:txBody>
      </p:sp>
      <p:sp>
        <p:nvSpPr>
          <p:cNvPr id="8" name="Rectangle 7">
            <a:extLst>
              <a:ext uri="{FF2B5EF4-FFF2-40B4-BE49-F238E27FC236}">
                <a16:creationId xmlns:a16="http://schemas.microsoft.com/office/drawing/2014/main" id="{7879436E-9935-4CE1-863C-68E07788F929}"/>
              </a:ext>
            </a:extLst>
          </p:cNvPr>
          <p:cNvSpPr>
            <a:spLocks noGrp="1"/>
          </p:cNvSpPr>
          <p:nvPr/>
        </p:nvSpPr>
        <p:spPr>
          <a:xfrm>
            <a:off x="762000" y="5248275"/>
            <a:ext cx="10382250" cy="781050"/>
          </a:xfrm>
          <a:prstGeom prst="rect">
            <a:avLst/>
          </a:prstGeom>
          <a:noFill/>
          <a:ln w="0">
            <a:noFill/>
          </a:ln>
        </p:spPr>
        <p:txBody>
          <a:bodyPr>
            <a:noAutofit/>
          </a:bodyPr>
          <a:lstStyle/>
          <a:p>
            <a:pPr>
              <a:buNone/>
              <a:defRPr sz="2025" b="0">
                <a:solidFill>
                  <a:srgbClr val="142F35"/>
                </a:solidFill>
                <a:latin typeface="Calibri"/>
                <a:ea typeface="Calibri"/>
                <a:cs typeface="Calibri"/>
              </a:defRPr>
            </a:pPr>
            <a:r>
              <a:rPr sz="2025" b="0">
                <a:solidFill>
                  <a:srgbClr val="142F35"/>
                </a:solidFill>
                <a:latin typeface="Calibri"/>
                <a:ea typeface="Calibri"/>
                <a:cs typeface="Calibri"/>
              </a:rPr>
              <a:t>Run small pilot cohorts through targeted outreach. Compare paid conversion and support effort in each country before increasing spend.</a:t>
            </a:r>
          </a:p>
        </p:txBody>
      </p:sp>
      <p:sp>
        <p:nvSpPr>
          <p:cNvPr id="9" name="Rectangle 8">
            <a:extLst>
              <a:ext uri="{FF2B5EF4-FFF2-40B4-BE49-F238E27FC236}">
                <a16:creationId xmlns:a16="http://schemas.microsoft.com/office/drawing/2014/main" id="{A1E4C12A-0C5A-4E06-829B-ECB7BD9F6B87}"/>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259193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B485CE-993E-4557-A124-AE7E65281CF5}"/>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Rectangle 1">
            <a:extLst>
              <a:ext uri="{FF2B5EF4-FFF2-40B4-BE49-F238E27FC236}">
                <a16:creationId xmlns:a16="http://schemas.microsoft.com/office/drawing/2014/main" id="{E699C6B5-3B0F-4627-9DCF-97FB3DEE0721}"/>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1" name="Table 10"/>
          <p:cNvGraphicFramePr/>
          <p:nvPr>
            <p:extLst>
              <p:ext uri="{D42A27DB-BD31-4B8C-83A1-F6EECF244321}">
                <p14:modId xmlns:p14="http://schemas.microsoft.com/office/powerpoint/2010/main" val="2883056401"/>
              </p:ext>
            </p:extLst>
          </p:nvPr>
        </p:nvGraphicFramePr>
        <p:xfrm>
          <a:off x="762000" y="2133600"/>
          <a:ext cx="10668000" cy="2667000"/>
        </p:xfrm>
        <a:graphic>
          <a:graphicData uri="http://schemas.openxmlformats.org/drawingml/2006/table">
            <a:tbl>
              <a:tblPr/>
              <a:tblGrid>
                <a:gridCol w="2857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23875">
                <a:tc>
                  <a:txBody>
                    <a:bodyPr/>
                    <a:lstStyle/>
                    <a:p>
                      <a:r>
                        <a:rPr sz="1800" b="1">
                          <a:solidFill>
                            <a:srgbClr val="FFFFFF"/>
                          </a:solidFill>
                          <a:latin typeface="Calibri"/>
                          <a:ea typeface="Calibri"/>
                          <a:cs typeface="Calibri"/>
                        </a:rPr>
                        <a:t>Evidence / channel</a:t>
                      </a:r>
                    </a:p>
                  </a:txBody>
                  <a:tcPr>
                    <a:solidFill>
                      <a:srgbClr val="142F35"/>
                    </a:solidFill>
                  </a:tcPr>
                </a:tc>
                <a:tc>
                  <a:txBody>
                    <a:bodyPr/>
                    <a:lstStyle/>
                    <a:p>
                      <a:r>
                        <a:rPr sz="1800" b="1">
                          <a:solidFill>
                            <a:srgbClr val="FFFFFF"/>
                          </a:solidFill>
                          <a:latin typeface="Calibri"/>
                          <a:ea typeface="Calibri"/>
                          <a:cs typeface="Calibri"/>
                        </a:rPr>
                        <a:t>Observed so far</a:t>
                      </a:r>
                    </a:p>
                  </a:txBody>
                  <a:tcPr>
                    <a:solidFill>
                      <a:srgbClr val="142F35"/>
                    </a:solidFill>
                  </a:tcPr>
                </a:tc>
                <a:tc>
                  <a:txBody>
                    <a:bodyPr/>
                    <a:lstStyle/>
                    <a:p>
                      <a:r>
                        <a:rPr sz="1800" b="1">
                          <a:solidFill>
                            <a:srgbClr val="FFFFFF"/>
                          </a:solidFill>
                          <a:latin typeface="Calibri"/>
                          <a:ea typeface="Calibri"/>
                          <a:cs typeface="Calibri"/>
                        </a:rPr>
                        <a:t>Measure next</a:t>
                      </a:r>
                    </a:p>
                  </a:txBody>
                  <a:tcPr>
                    <a:solidFill>
                      <a:srgbClr val="142F35"/>
                    </a:solidFill>
                  </a:tcPr>
                </a:tc>
                <a:extLst>
                  <a:ext uri="{0D108BD9-81ED-4DB2-BD59-A6C34878D82A}">
                    <a16:rowId xmlns:a16="http://schemas.microsoft.com/office/drawing/2014/main" val="10000"/>
                  </a:ext>
                </a:extLst>
              </a:tr>
              <a:tr h="714375">
                <a:tc>
                  <a:txBody>
                    <a:bodyPr/>
                    <a:lstStyle/>
                    <a:p>
                      <a:r>
                        <a:rPr sz="1800" b="0" dirty="0">
                          <a:solidFill>
                            <a:srgbClr val="142F35"/>
                          </a:solidFill>
                          <a:latin typeface="Calibri"/>
                          <a:ea typeface="Calibri"/>
                          <a:cs typeface="Calibri"/>
                        </a:rPr>
                        <a:t>All outreach, ~</a:t>
                      </a:r>
                      <a:r>
                        <a:rPr lang="lv-LV" sz="1800" b="0" dirty="0">
                          <a:solidFill>
                            <a:srgbClr val="142F35"/>
                          </a:solidFill>
                          <a:latin typeface="Calibri"/>
                          <a:ea typeface="Calibri"/>
                          <a:cs typeface="Calibri"/>
                        </a:rPr>
                        <a:t>6 month</a:t>
                      </a:r>
                      <a:endParaRPr sz="1800" b="0" dirty="0">
                        <a:solidFill>
                          <a:srgbClr val="142F35"/>
                        </a:solidFill>
                        <a:latin typeface="Calibri"/>
                        <a:ea typeface="Calibri"/>
                        <a:cs typeface="Calibri"/>
                      </a:endParaRPr>
                    </a:p>
                  </a:txBody>
                  <a:tcPr>
                    <a:solidFill>
                      <a:srgbClr val="F6F4EE"/>
                    </a:solidFill>
                  </a:tcPr>
                </a:tc>
                <a:tc>
                  <a:txBody>
                    <a:bodyPr/>
                    <a:lstStyle/>
                    <a:p>
                      <a:r>
                        <a:rPr sz="1800" b="0">
                          <a:solidFill>
                            <a:srgbClr val="142F35"/>
                          </a:solidFill>
                          <a:latin typeface="Calibri"/>
                          <a:ea typeface="Calibri"/>
                          <a:cs typeface="Calibri"/>
                        </a:rPr>
                        <a:t>~100 approached, 6 ever paid</a:t>
                      </a:r>
                    </a:p>
                  </a:txBody>
                  <a:tcPr>
                    <a:solidFill>
                      <a:srgbClr val="F6F4EE"/>
                    </a:solidFill>
                  </a:tcPr>
                </a:tc>
                <a:tc>
                  <a:txBody>
                    <a:bodyPr/>
                    <a:lstStyle/>
                    <a:p>
                      <a:r>
                        <a:rPr sz="1800" b="0" dirty="0">
                          <a:solidFill>
                            <a:srgbClr val="142F35"/>
                          </a:solidFill>
                          <a:latin typeface="Calibri"/>
                          <a:ea typeface="Calibri"/>
                          <a:cs typeface="Calibri"/>
                        </a:rPr>
                        <a:t>5 current, 1 churned; cohort retention</a:t>
                      </a:r>
                    </a:p>
                  </a:txBody>
                  <a:tcPr>
                    <a:solidFill>
                      <a:srgbClr val="F6F4EE"/>
                    </a:solidFill>
                  </a:tcPr>
                </a:tc>
                <a:extLst>
                  <a:ext uri="{0D108BD9-81ED-4DB2-BD59-A6C34878D82A}">
                    <a16:rowId xmlns:a16="http://schemas.microsoft.com/office/drawing/2014/main" val="10001"/>
                  </a:ext>
                </a:extLst>
              </a:tr>
              <a:tr h="714375">
                <a:tc>
                  <a:txBody>
                    <a:bodyPr/>
                    <a:lstStyle/>
                    <a:p>
                      <a:r>
                        <a:rPr sz="1800" b="0">
                          <a:solidFill>
                            <a:srgbClr val="142F35"/>
                          </a:solidFill>
                          <a:latin typeface="Calibri"/>
                          <a:ea typeface="Calibri"/>
                          <a:cs typeface="Calibri"/>
                        </a:rPr>
                        <a:t>Direct outreach sample</a:t>
                      </a:r>
                    </a:p>
                  </a:txBody>
                  <a:tcPr>
                    <a:solidFill>
                      <a:srgbClr val="F6F4EE"/>
                    </a:solidFill>
                  </a:tcPr>
                </a:tc>
                <a:tc>
                  <a:txBody>
                    <a:bodyPr/>
                    <a:lstStyle/>
                    <a:p>
                      <a:r>
                        <a:rPr sz="1800" b="0">
                          <a:solidFill>
                            <a:srgbClr val="142F35"/>
                          </a:solidFill>
                          <a:latin typeface="Calibri"/>
                          <a:ea typeface="Calibri"/>
                          <a:cs typeface="Calibri"/>
                        </a:rPr>
                        <a:t>55 calls, 7 demos booked</a:t>
                      </a:r>
                    </a:p>
                  </a:txBody>
                  <a:tcPr>
                    <a:solidFill>
                      <a:srgbClr val="F6F4EE"/>
                    </a:solidFill>
                  </a:tcPr>
                </a:tc>
                <a:tc>
                  <a:txBody>
                    <a:bodyPr/>
                    <a:lstStyle/>
                    <a:p>
                      <a:r>
                        <a:rPr sz="1800" b="0">
                          <a:solidFill>
                            <a:srgbClr val="142F35"/>
                          </a:solidFill>
                          <a:latin typeface="Calibri"/>
                          <a:ea typeface="Calibri"/>
                          <a:cs typeface="Calibri"/>
                        </a:rPr>
                        <a:t>Trials and paid conversion by cohort</a:t>
                      </a:r>
                    </a:p>
                  </a:txBody>
                  <a:tcPr>
                    <a:solidFill>
                      <a:srgbClr val="F6F4EE"/>
                    </a:solidFill>
                  </a:tcPr>
                </a:tc>
                <a:extLst>
                  <a:ext uri="{0D108BD9-81ED-4DB2-BD59-A6C34878D82A}">
                    <a16:rowId xmlns:a16="http://schemas.microsoft.com/office/drawing/2014/main" val="10002"/>
                  </a:ext>
                </a:extLst>
              </a:tr>
              <a:tr h="714375">
                <a:tc>
                  <a:txBody>
                    <a:bodyPr/>
                    <a:lstStyle/>
                    <a:p>
                      <a:r>
                        <a:rPr sz="1800" b="0">
                          <a:solidFill>
                            <a:srgbClr val="142F35"/>
                          </a:solidFill>
                          <a:latin typeface="Calibri"/>
                          <a:ea typeface="Calibri"/>
                          <a:cs typeface="Calibri"/>
                        </a:rPr>
                        <a:t>Facebook advertising</a:t>
                      </a:r>
                    </a:p>
                  </a:txBody>
                  <a:tcPr>
                    <a:solidFill>
                      <a:srgbClr val="F6F4EE"/>
                    </a:solidFill>
                  </a:tcPr>
                </a:tc>
                <a:tc>
                  <a:txBody>
                    <a:bodyPr/>
                    <a:lstStyle/>
                    <a:p>
                      <a:r>
                        <a:rPr sz="1800" b="0">
                          <a:solidFill>
                            <a:srgbClr val="142F35"/>
                          </a:solidFill>
                          <a:latin typeface="Calibri"/>
                          <a:ea typeface="Calibri"/>
                          <a:cs typeface="Calibri"/>
                        </a:rPr>
                        <a:t>Paying customers reported</a:t>
                      </a:r>
                    </a:p>
                  </a:txBody>
                  <a:tcPr>
                    <a:solidFill>
                      <a:srgbClr val="F6F4EE"/>
                    </a:solidFill>
                  </a:tcPr>
                </a:tc>
                <a:tc>
                  <a:txBody>
                    <a:bodyPr/>
                    <a:lstStyle/>
                    <a:p>
                      <a:r>
                        <a:rPr sz="1800" b="0" dirty="0">
                          <a:solidFill>
                            <a:srgbClr val="142F35"/>
                          </a:solidFill>
                          <a:latin typeface="Calibri"/>
                          <a:ea typeface="Calibri"/>
                          <a:cs typeface="Calibri"/>
                        </a:rPr>
                        <a:t>Attributed spend, new payers and CAC</a:t>
                      </a:r>
                    </a:p>
                  </a:txBody>
                  <a:tcPr>
                    <a:solidFill>
                      <a:srgbClr val="F6F4E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FEB56EF1-AD44-4ED7-9976-6DB3D8E8DA62}"/>
              </a:ext>
            </a:extLst>
          </p:cNvPr>
          <p:cNvSpPr>
            <a:spLocks noGrp="1"/>
          </p:cNvSpPr>
          <p:nvPr/>
        </p:nvSpPr>
        <p:spPr>
          <a:xfrm>
            <a:off x="762000" y="5057775"/>
            <a:ext cx="10668000" cy="409575"/>
          </a:xfrm>
          <a:prstGeom prst="rect">
            <a:avLst/>
          </a:prstGeom>
          <a:noFill/>
          <a:ln w="0">
            <a:noFill/>
          </a:ln>
        </p:spPr>
        <p:txBody>
          <a:bodyPr>
            <a:noAutofit/>
          </a:bodyPr>
          <a:lstStyle/>
          <a:p>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Rectangle 4">
            <a:extLst>
              <a:ext uri="{FF2B5EF4-FFF2-40B4-BE49-F238E27FC236}">
                <a16:creationId xmlns:a16="http://schemas.microsoft.com/office/drawing/2014/main" id="{C388DCC3-3BE3-4163-99F1-3D33675AC5CC}"/>
              </a:ext>
            </a:extLst>
          </p:cNvPr>
          <p:cNvSpPr>
            <a:spLocks noGrp="1"/>
          </p:cNvSpPr>
          <p:nvPr/>
        </p:nvSpPr>
        <p:spPr>
          <a:xfrm>
            <a:off x="762000" y="5553075"/>
            <a:ext cx="10668000" cy="695325"/>
          </a:xfrm>
          <a:prstGeom prst="rect">
            <a:avLst/>
          </a:prstGeom>
          <a:noFill/>
          <a:ln w="0">
            <a:noFill/>
          </a:ln>
        </p:spPr>
        <p:txBody>
          <a:bodyPr>
            <a:noAutofit/>
          </a:bodyPr>
          <a:lstStyle/>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6" name="Rectangle 5">
            <a:extLst>
              <a:ext uri="{FF2B5EF4-FFF2-40B4-BE49-F238E27FC236}">
                <a16:creationId xmlns:a16="http://schemas.microsoft.com/office/drawing/2014/main" id="{88D80AE8-F3DA-4AAF-B344-98ACAC37FE8C}"/>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1854655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88435C8-77CC-492C-9A50-B5E787DE2757}"/>
              </a:ext>
            </a:extLst>
          </p:cNvPr>
          <p:cNvSpPr>
            <a:spLocks noGrp="1"/>
          </p:cNvSpPr>
          <p:nvPr/>
        </p:nvSpPr>
        <p:spPr>
          <a:xfrm>
            <a:off x="685800" y="571500"/>
            <a:ext cx="10820400" cy="619125"/>
          </a:xfrm>
          <a:prstGeom prst="rect">
            <a:avLst/>
          </a:prstGeom>
          <a:noFill/>
          <a:ln w="0">
            <a:noFill/>
          </a:ln>
        </p:spPr>
        <p:txBody>
          <a:bodyPr>
            <a:noAutofit/>
          </a:bodyPr>
          <a:lstStyle/>
          <a:p>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Rectangle 1">
            <a:extLst>
              <a:ext uri="{FF2B5EF4-FFF2-40B4-BE49-F238E27FC236}">
                <a16:creationId xmlns:a16="http://schemas.microsoft.com/office/drawing/2014/main" id="{9EBD675A-F49A-431A-9FF1-89FE6C01F81E}"/>
              </a:ext>
            </a:extLst>
          </p:cNvPr>
          <p:cNvSpPr>
            <a:spLocks noGrp="1"/>
          </p:cNvSpPr>
          <p:nvPr/>
        </p:nvSpPr>
        <p:spPr>
          <a:xfrm>
            <a:off x="723900" y="1276350"/>
            <a:ext cx="10668000" cy="685800"/>
          </a:xfrm>
          <a:prstGeom prst="rect">
            <a:avLst/>
          </a:prstGeom>
          <a:noFill/>
          <a:ln w="0">
            <a:noFill/>
          </a:ln>
        </p:spPr>
        <p:txBody>
          <a:bodyPr>
            <a:noAutofit/>
          </a:bodyPr>
          <a:lstStyle/>
          <a:p>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Rectangle 2">
            <a:extLst>
              <a:ext uri="{FF2B5EF4-FFF2-40B4-BE49-F238E27FC236}">
                <a16:creationId xmlns:a16="http://schemas.microsoft.com/office/drawing/2014/main" id="{F5287D3A-EE14-497D-A6B8-14B4C2621E5E}"/>
              </a:ext>
            </a:extLst>
          </p:cNvPr>
          <p:cNvSpPr>
            <a:spLocks noGrp="1"/>
          </p:cNvSpPr>
          <p:nvPr/>
        </p:nvSpPr>
        <p:spPr>
          <a:xfrm>
            <a:off x="762000" y="2152650"/>
            <a:ext cx="485775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Rectangle 3">
            <a:extLst>
              <a:ext uri="{FF2B5EF4-FFF2-40B4-BE49-F238E27FC236}">
                <a16:creationId xmlns:a16="http://schemas.microsoft.com/office/drawing/2014/main" id="{A7F8475C-2904-4744-B03E-5E4CDBE33D9C}"/>
              </a:ext>
            </a:extLst>
          </p:cNvPr>
          <p:cNvSpPr>
            <a:spLocks noGrp="1"/>
          </p:cNvSpPr>
          <p:nvPr/>
        </p:nvSpPr>
        <p:spPr>
          <a:xfrm>
            <a:off x="762000" y="2743200"/>
            <a:ext cx="495300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Rectangle 4">
            <a:extLst>
              <a:ext uri="{FF2B5EF4-FFF2-40B4-BE49-F238E27FC236}">
                <a16:creationId xmlns:a16="http://schemas.microsoft.com/office/drawing/2014/main" id="{3F94CEA4-22D9-4F31-930D-72255E2BE1E5}"/>
              </a:ext>
            </a:extLst>
          </p:cNvPr>
          <p:cNvSpPr>
            <a:spLocks noGrp="1"/>
          </p:cNvSpPr>
          <p:nvPr/>
        </p:nvSpPr>
        <p:spPr>
          <a:xfrm>
            <a:off x="6572250" y="2152650"/>
            <a:ext cx="4762500" cy="476250"/>
          </a:xfrm>
          <a:prstGeom prst="rect">
            <a:avLst/>
          </a:prstGeom>
          <a:noFill/>
          <a:ln w="0">
            <a:noFill/>
          </a:ln>
        </p:spPr>
        <p:txBody>
          <a:bodyPr>
            <a:noAutofit/>
          </a:bodyPr>
          <a:lstStyle/>
          <a:p>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Rectangle 5">
            <a:extLst>
              <a:ext uri="{FF2B5EF4-FFF2-40B4-BE49-F238E27FC236}">
                <a16:creationId xmlns:a16="http://schemas.microsoft.com/office/drawing/2014/main" id="{313EAE4E-51C7-4D97-80A8-0CB9AE6AB8FC}"/>
              </a:ext>
            </a:extLst>
          </p:cNvPr>
          <p:cNvSpPr>
            <a:spLocks noGrp="1"/>
          </p:cNvSpPr>
          <p:nvPr/>
        </p:nvSpPr>
        <p:spPr>
          <a:xfrm>
            <a:off x="6572250" y="2743200"/>
            <a:ext cx="4857750" cy="1047750"/>
          </a:xfrm>
          <a:prstGeom prst="rect">
            <a:avLst/>
          </a:prstGeom>
          <a:noFill/>
          <a:ln w="0">
            <a:noFill/>
          </a:ln>
        </p:spPr>
        <p:txBody>
          <a:bodyPr>
            <a:noAutofit/>
          </a:bodyPr>
          <a:lstStyle/>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Rectangle 6">
            <a:extLst>
              <a:ext uri="{FF2B5EF4-FFF2-40B4-BE49-F238E27FC236}">
                <a16:creationId xmlns:a16="http://schemas.microsoft.com/office/drawing/2014/main" id="{4A20ACE9-1E39-4FB4-9B54-10BF6ACCABF3}"/>
              </a:ext>
            </a:extLst>
          </p:cNvPr>
          <p:cNvSpPr>
            <a:spLocks noGrp="1"/>
          </p:cNvSpPr>
          <p:nvPr/>
        </p:nvSpPr>
        <p:spPr>
          <a:xfrm>
            <a:off x="762000" y="4295775"/>
            <a:ext cx="10477500" cy="447675"/>
          </a:xfrm>
          <a:prstGeom prst="rect">
            <a:avLst/>
          </a:prstGeom>
          <a:noFill/>
          <a:ln w="0">
            <a:noFill/>
          </a:ln>
        </p:spPr>
        <p:txBody>
          <a:bodyPr>
            <a:noAutofit/>
          </a:bodyPr>
          <a:lstStyle/>
          <a:p>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Rectangle 7">
            <a:extLst>
              <a:ext uri="{FF2B5EF4-FFF2-40B4-BE49-F238E27FC236}">
                <a16:creationId xmlns:a16="http://schemas.microsoft.com/office/drawing/2014/main" id="{B32B7306-0889-4BC8-AA8B-B902CC7115C2}"/>
              </a:ext>
            </a:extLst>
          </p:cNvPr>
          <p:cNvSpPr>
            <a:spLocks noGrp="1"/>
          </p:cNvSpPr>
          <p:nvPr/>
        </p:nvSpPr>
        <p:spPr>
          <a:xfrm>
            <a:off x="762000" y="4857750"/>
            <a:ext cx="10477500" cy="1009650"/>
          </a:xfrm>
          <a:prstGeom prst="rect">
            <a:avLst/>
          </a:prstGeom>
          <a:noFill/>
          <a:ln w="0">
            <a:noFill/>
          </a:ln>
        </p:spPr>
        <p:txBody>
          <a:bodyPr>
            <a:noAutofit/>
          </a:bodyPr>
          <a:lstStyle/>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9" name="Rectangle 8">
            <a:extLst>
              <a:ext uri="{FF2B5EF4-FFF2-40B4-BE49-F238E27FC236}">
                <a16:creationId xmlns:a16="http://schemas.microsoft.com/office/drawing/2014/main" id="{081A73FD-961C-4DE9-82BE-1D9EC5F966E4}"/>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23689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5BA4CD-5C4E-4732-A2A9-759D110AA252}"/>
              </a:ext>
            </a:extLst>
          </p:cNvPr>
          <p:cNvSpPr>
            <a:spLocks noGrp="1"/>
          </p:cNvSpPr>
          <p:nvPr/>
        </p:nvSpPr>
        <p:spPr>
          <a:xfrm>
            <a:off x="685800" y="571500"/>
            <a:ext cx="10820400" cy="9525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a:ext uri="{FF2B5EF4-FFF2-40B4-BE49-F238E27FC236}">
                <a16:creationId xmlns:a16="http://schemas.microsoft.com/office/drawing/2014/main" id="{B127BB7F-75C3-4988-BA77-6FEBD1E928D9}"/>
              </a:ext>
            </a:extLst>
          </p:cNvPr>
          <p:cNvSpPr>
            <a:spLocks noGrp="1"/>
          </p:cNvSpPr>
          <p:nvPr/>
        </p:nvSpPr>
        <p:spPr>
          <a:xfrm>
            <a:off x="685800" y="1809750"/>
            <a:ext cx="5095875"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a:ext uri="{FF2B5EF4-FFF2-40B4-BE49-F238E27FC236}">
                <a16:creationId xmlns:a16="http://schemas.microsoft.com/office/drawing/2014/main" id="{9A392C90-1DB6-4B05-802B-1CF647FFE0AB}"/>
              </a:ext>
            </a:extLst>
          </p:cNvPr>
          <p:cNvSpPr>
            <a:spLocks noGrp="1"/>
          </p:cNvSpPr>
          <p:nvPr/>
        </p:nvSpPr>
        <p:spPr>
          <a:xfrm>
            <a:off x="685800" y="3190875"/>
            <a:ext cx="5143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a:ext uri="{FF2B5EF4-FFF2-40B4-BE49-F238E27FC236}">
                <a16:creationId xmlns:a16="http://schemas.microsoft.com/office/drawing/2014/main" id="{1508F114-2165-43E5-9F7B-FBCFE7D19450}"/>
              </a:ext>
            </a:extLst>
          </p:cNvPr>
          <p:cNvSpPr>
            <a:spLocks noGrp="1"/>
          </p:cNvSpPr>
          <p:nvPr/>
        </p:nvSpPr>
        <p:spPr>
          <a:xfrm>
            <a:off x="685800" y="3924300"/>
            <a:ext cx="5286375" cy="876300"/>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a:ext uri="{FF2B5EF4-FFF2-40B4-BE49-F238E27FC236}">
                <a16:creationId xmlns:a16="http://schemas.microsoft.com/office/drawing/2014/main" id="{DEB1E63E-44C7-41C4-B4A9-57405C400FCF}"/>
              </a:ext>
            </a:extLst>
          </p:cNvPr>
          <p:cNvSpPr>
            <a:spLocks noGrp="1"/>
          </p:cNvSpPr>
          <p:nvPr/>
        </p:nvSpPr>
        <p:spPr>
          <a:xfrm>
            <a:off x="685800" y="5048250"/>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a:ext uri="{FF2B5EF4-FFF2-40B4-BE49-F238E27FC236}">
                <a16:creationId xmlns:a16="http://schemas.microsoft.com/office/drawing/2014/main" id="{80F50FFB-D2AA-4373-8BB3-C8BE5842B85C}"/>
              </a:ext>
            </a:extLst>
          </p:cNvPr>
          <p:cNvSpPr>
            <a:spLocks noGrp="1"/>
          </p:cNvSpPr>
          <p:nvPr/>
        </p:nvSpPr>
        <p:spPr>
          <a:xfrm>
            <a:off x="685800" y="5791200"/>
            <a:ext cx="5095875"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a:ext uri="{FF2B5EF4-FFF2-40B4-BE49-F238E27FC236}">
                <a16:creationId xmlns:a16="http://schemas.microsoft.com/office/drawing/2014/main" id="{D8CED15D-0ACF-4BCF-B8E8-55FFA9754638}"/>
              </a:ext>
            </a:extLst>
          </p:cNvPr>
          <p:cNvSpPr>
            <a:spLocks noGrp="1"/>
          </p:cNvSpPr>
          <p:nvPr/>
        </p:nvSpPr>
        <p:spPr>
          <a:xfrm>
            <a:off x="6762750" y="1809750"/>
            <a:ext cx="4762500" cy="1143000"/>
          </a:xfrm>
          <a:prstGeom prst="rect">
            <a:avLst/>
          </a:prstGeom>
          <a:noFill/>
          <a:ln w="0">
            <a:noFill/>
          </a:ln>
        </p:spPr>
        <p:txBody>
          <a:bodyPr>
            <a:noAutofit/>
          </a:bodyPr>
          <a:lstStyle/>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a:ext uri="{FF2B5EF4-FFF2-40B4-BE49-F238E27FC236}">
                <a16:creationId xmlns:a16="http://schemas.microsoft.com/office/drawing/2014/main" id="{92CC7D36-CA00-490F-80BC-B7215D712883}"/>
              </a:ext>
            </a:extLst>
          </p:cNvPr>
          <p:cNvSpPr>
            <a:spLocks noGrp="1"/>
          </p:cNvSpPr>
          <p:nvPr/>
        </p:nvSpPr>
        <p:spPr>
          <a:xfrm>
            <a:off x="6762750" y="3190875"/>
            <a:ext cx="4762500" cy="476250"/>
          </a:xfrm>
          <a:prstGeom prst="rect">
            <a:avLst/>
          </a:prstGeom>
          <a:noFill/>
          <a:ln w="0">
            <a:noFill/>
          </a:ln>
        </p:spPr>
        <p:txBody>
          <a:bodyPr>
            <a:noAutofit/>
          </a:bodyPr>
          <a:lstStyle/>
          <a:p>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a:ext uri="{FF2B5EF4-FFF2-40B4-BE49-F238E27FC236}">
                <a16:creationId xmlns:a16="http://schemas.microsoft.com/office/drawing/2014/main" id="{5588DBD3-9DF8-4BB0-901D-8973D3E8DC97}"/>
              </a:ext>
            </a:extLst>
          </p:cNvPr>
          <p:cNvSpPr>
            <a:spLocks noGrp="1"/>
          </p:cNvSpPr>
          <p:nvPr/>
        </p:nvSpPr>
        <p:spPr>
          <a:xfrm>
            <a:off x="6762750" y="3924300"/>
            <a:ext cx="4762500" cy="571500"/>
          </a:xfrm>
          <a:prstGeom prst="rect">
            <a:avLst/>
          </a:prstGeom>
          <a:noFill/>
          <a:ln w="0">
            <a:noFill/>
          </a:ln>
        </p:spPr>
        <p:txBody>
          <a:bodyPr>
            <a:noAutofit/>
          </a:bodyPr>
          <a:lstStyle/>
          <a:p>
            <a:pPr>
              <a:buNone/>
              <a:defRPr sz="2025" b="0">
                <a:solidFill>
                  <a:srgbClr val="143037"/>
                </a:solidFill>
                <a:latin typeface="Bitstream Charter"/>
                <a:ea typeface="Bitstream Charter"/>
                <a:cs typeface="Bitstream Charter"/>
              </a:defRPr>
            </a:pPr>
            <a:r>
              <a:rPr sz="2025" b="0" dirty="0">
                <a:solidFill>
                  <a:srgbClr val="143037"/>
                </a:solidFill>
                <a:latin typeface="Bitstream Charter"/>
                <a:ea typeface="Bitstream Charter"/>
                <a:cs typeface="Bitstream Charter"/>
              </a:rPr>
              <a:t>Senior JavaScript developer</a:t>
            </a:r>
          </a:p>
        </p:txBody>
      </p:sp>
      <p:sp>
        <p:nvSpPr>
          <p:cNvPr id="11" name="Rectangle 10">
            <a:extLst>
              <a:ext uri="{FF2B5EF4-FFF2-40B4-BE49-F238E27FC236}">
                <a16:creationId xmlns:a16="http://schemas.microsoft.com/office/drawing/2014/main" id="{DA33AE3B-7944-4879-BD3D-AD5DEE002A8F}"/>
              </a:ext>
            </a:extLst>
          </p:cNvPr>
          <p:cNvSpPr>
            <a:spLocks noGrp="1"/>
          </p:cNvSpPr>
          <p:nvPr/>
        </p:nvSpPr>
        <p:spPr>
          <a:xfrm>
            <a:off x="6762750" y="5791200"/>
            <a:ext cx="4762500" cy="476250"/>
          </a:xfrm>
          <a:prstGeom prst="rect">
            <a:avLst/>
          </a:prstGeom>
          <a:noFill/>
          <a:ln w="0">
            <a:noFill/>
          </a:ln>
        </p:spPr>
        <p:txBody>
          <a:bodyPr>
            <a:noAutofit/>
          </a:bodyPr>
          <a:lstStyle/>
          <a:p>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Rectangle 12">
            <a:extLst>
              <a:ext uri="{FF2B5EF4-FFF2-40B4-BE49-F238E27FC236}">
                <a16:creationId xmlns:a16="http://schemas.microsoft.com/office/drawing/2014/main" id="{EAD27A24-1A2D-4920-9FD9-B87F06D0E372}"/>
              </a:ext>
            </a:extLst>
          </p:cNvPr>
          <p:cNvSpPr>
            <a:spLocks noGrp="1"/>
          </p:cNvSpPr>
          <p:nvPr/>
        </p:nvSpPr>
        <p:spPr>
          <a:xfrm>
            <a:off x="11001375" y="6238875"/>
            <a:ext cx="571500" cy="285750"/>
          </a:xfrm>
          <a:prstGeom prst="rect">
            <a:avLst/>
          </a:prstGeom>
          <a:noFill/>
          <a:ln w="0">
            <a:noFill/>
          </a:ln>
        </p:spPr>
        <p:txBody>
          <a:bodyPr>
            <a:noAutofit/>
          </a:bodyPr>
          <a:lstStyle/>
          <a:p>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
        <p:nvSpPr>
          <p:cNvPr id="16" name="Rectangle 15">
            <a:extLst>
              <a:ext uri="{FF2B5EF4-FFF2-40B4-BE49-F238E27FC236}">
                <a16:creationId xmlns:a16="http://schemas.microsoft.com/office/drawing/2014/main" id="{3800F88D-6591-5F04-1505-8B76A5B0EE47}"/>
              </a:ext>
            </a:extLst>
          </p:cNvPr>
          <p:cNvSpPr>
            <a:spLocks noGrp="1"/>
          </p:cNvSpPr>
          <p:nvPr/>
        </p:nvSpPr>
        <p:spPr>
          <a:xfrm>
            <a:off x="6762750" y="5043487"/>
            <a:ext cx="5334000" cy="523875"/>
          </a:xfrm>
          <a:prstGeom prst="rect">
            <a:avLst/>
          </a:prstGeom>
          <a:noFill/>
          <a:ln w="0">
            <a:noFill/>
          </a:ln>
        </p:spPr>
        <p:txBody>
          <a:bodyPr>
            <a:noAutofit/>
          </a:bodyPr>
          <a:lstStyle/>
          <a:p>
            <a:pPr>
              <a:buNone/>
              <a:defRPr sz="1875" b="0">
                <a:solidFill>
                  <a:srgbClr val="143037"/>
                </a:solidFill>
                <a:latin typeface="Bitstream Charter"/>
                <a:ea typeface="Bitstream Charter"/>
                <a:cs typeface="Bitstream Charter"/>
              </a:defRPr>
            </a:pPr>
            <a:r>
              <a:rPr lang="lv-LV" sz="1875" b="0" dirty="0">
                <a:solidFill>
                  <a:srgbClr val="143037"/>
                </a:solidFill>
                <a:latin typeface="Bitstream Charter"/>
                <a:ea typeface="Bitstream Charter"/>
                <a:cs typeface="Bitstream Charter"/>
              </a:rPr>
              <a:t>Part-time CTO</a:t>
            </a:r>
            <a:endParaRPr sz="1875" b="0" dirty="0">
              <a:solidFill>
                <a:srgbClr val="143037"/>
              </a:solidFill>
              <a:latin typeface="Bitstream Charter"/>
              <a:ea typeface="Bitstream Charter"/>
              <a:cs typeface="Bitstream Charter"/>
            </a:endParaRPr>
          </a:p>
        </p:txBody>
      </p:sp>
    </p:spTree>
    <p:extLst>
      <p:ext uri="{BB962C8B-B14F-4D97-AF65-F5344CB8AC3E}">
        <p14:creationId xmlns:p14="http://schemas.microsoft.com/office/powerpoint/2010/main" val="1732788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738C983-CC17-4EDB-A96A-1BDB484FF158}"/>
              </a:ext>
            </a:extLst>
          </p:cNvPr>
          <p:cNvSpPr>
            <a:spLocks noGrp="1"/>
          </p:cNvSpPr>
          <p:nvPr/>
        </p:nvSpPr>
        <p:spPr>
          <a:xfrm>
            <a:off x="685800" y="523875"/>
            <a:ext cx="10820400" cy="619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150" b="1">
                <a:solidFill>
                  <a:srgbClr val="142F35"/>
                </a:solidFill>
                <a:latin typeface="Calibri"/>
                <a:ea typeface="Calibri"/>
                <a:cs typeface="Calibri"/>
              </a:defRPr>
            </a:pPr>
            <a:r>
              <a:rPr kumimoji="0" sz="3150" b="1" i="0" u="none" strike="noStrike" kern="1200" cap="none" spc="0" normalizeH="0" baseline="0" noProof="0">
                <a:ln>
                  <a:noFill/>
                </a:ln>
                <a:solidFill>
                  <a:srgbClr val="142F35"/>
                </a:solidFill>
                <a:effectLst/>
                <a:uLnTx/>
                <a:uFillTx/>
                <a:latin typeface="Calibri"/>
                <a:ea typeface="Calibri"/>
                <a:cs typeface="Calibri"/>
              </a:rPr>
              <a:t>Investment ask</a:t>
            </a:r>
          </a:p>
        </p:txBody>
      </p:sp>
      <p:sp>
        <p:nvSpPr>
          <p:cNvPr id="2" name="Rectangle 1">
            <a:extLst>
              <a:ext uri="{FF2B5EF4-FFF2-40B4-BE49-F238E27FC236}">
                <a16:creationId xmlns:a16="http://schemas.microsoft.com/office/drawing/2014/main" id="{6ED44287-5D49-43F7-A8B3-59DEED943E6E}"/>
              </a:ext>
            </a:extLst>
          </p:cNvPr>
          <p:cNvSpPr>
            <a:spLocks noGrp="1"/>
          </p:cNvSpPr>
          <p:nvPr/>
        </p:nvSpPr>
        <p:spPr>
          <a:xfrm>
            <a:off x="723900" y="1257300"/>
            <a:ext cx="10668000" cy="838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4500" b="1">
                <a:solidFill>
                  <a:srgbClr val="008579"/>
                </a:solidFill>
                <a:latin typeface="Calibri"/>
                <a:ea typeface="Calibri"/>
                <a:cs typeface="Calibri"/>
              </a:defRPr>
            </a:pPr>
            <a:r>
              <a:rPr kumimoji="0" sz="4500" b="1" i="0" u="none" strike="noStrike" kern="1200" cap="none" spc="0" normalizeH="0" baseline="0" noProof="0">
                <a:ln>
                  <a:noFill/>
                </a:ln>
                <a:solidFill>
                  <a:srgbClr val="008579"/>
                </a:solidFill>
                <a:effectLst/>
                <a:uLnTx/>
                <a:uFillTx/>
                <a:latin typeface="Calibri"/>
                <a:ea typeface="Calibri"/>
                <a:cs typeface="Calibri"/>
              </a:rPr>
              <a:t>€30,000 for 10% equity</a:t>
            </a:r>
          </a:p>
        </p:txBody>
      </p:sp>
      <p:sp>
        <p:nvSpPr>
          <p:cNvPr id="3" name="Rectangle 2">
            <a:extLst>
              <a:ext uri="{FF2B5EF4-FFF2-40B4-BE49-F238E27FC236}">
                <a16:creationId xmlns:a16="http://schemas.microsoft.com/office/drawing/2014/main" id="{F4A7EFCA-4705-4D22-9B23-90115F0D1511}"/>
              </a:ext>
            </a:extLst>
          </p:cNvPr>
          <p:cNvSpPr>
            <a:spLocks noGrp="1"/>
          </p:cNvSpPr>
          <p:nvPr/>
        </p:nvSpPr>
        <p:spPr>
          <a:xfrm>
            <a:off x="762000" y="2114550"/>
            <a:ext cx="10572750" cy="4762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536B70"/>
                </a:solidFill>
                <a:latin typeface="Calibri"/>
                <a:ea typeface="Calibri"/>
                <a:cs typeface="Calibri"/>
              </a:defRPr>
            </a:pPr>
            <a:r>
              <a:rPr kumimoji="0" sz="1950" b="0" i="0" u="none" strike="noStrike" kern="1200" cap="none" spc="0" normalizeH="0" baseline="0" noProof="0">
                <a:ln>
                  <a:noFill/>
                </a:ln>
                <a:solidFill>
                  <a:srgbClr val="536B70"/>
                </a:solidFill>
                <a:effectLst/>
                <a:uLnTx/>
                <a:uFillTx/>
                <a:latin typeface="Calibri"/>
                <a:ea typeface="Calibri"/>
                <a:cs typeface="Calibri"/>
              </a:rPr>
              <a:t>Proposed terms: €270,000 pre-money valuation. Six-month validation budget.</a:t>
            </a:r>
          </a:p>
        </p:txBody>
      </p:sp>
      <p:sp>
        <p:nvSpPr>
          <p:cNvPr id="4" name="Rectangle 3">
            <a:extLst>
              <a:ext uri="{FF2B5EF4-FFF2-40B4-BE49-F238E27FC236}">
                <a16:creationId xmlns:a16="http://schemas.microsoft.com/office/drawing/2014/main" id="{554B6378-9CEB-4304-85FA-D1EA22A5B71B}"/>
              </a:ext>
            </a:extLst>
          </p:cNvPr>
          <p:cNvSpPr>
            <a:spLocks noGrp="1"/>
          </p:cNvSpPr>
          <p:nvPr/>
        </p:nvSpPr>
        <p:spPr>
          <a:xfrm>
            <a:off x="762000" y="2838450"/>
            <a:ext cx="4810125"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Use of funds</a:t>
            </a:r>
          </a:p>
        </p:txBody>
      </p:sp>
      <p:sp>
        <p:nvSpPr>
          <p:cNvPr id="5" name="Rectangle 4">
            <a:extLst>
              <a:ext uri="{FF2B5EF4-FFF2-40B4-BE49-F238E27FC236}">
                <a16:creationId xmlns:a16="http://schemas.microsoft.com/office/drawing/2014/main" id="{02042D68-73D3-4864-9E60-1F14854E7BAC}"/>
              </a:ext>
            </a:extLst>
          </p:cNvPr>
          <p:cNvSpPr>
            <a:spLocks noGrp="1"/>
          </p:cNvSpPr>
          <p:nvPr/>
        </p:nvSpPr>
        <p:spPr>
          <a:xfrm>
            <a:off x="762000" y="33623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Founder time</a:t>
            </a:r>
          </a:p>
        </p:txBody>
      </p:sp>
      <p:sp>
        <p:nvSpPr>
          <p:cNvPr id="6" name="Rectangle 5">
            <a:extLst>
              <a:ext uri="{FF2B5EF4-FFF2-40B4-BE49-F238E27FC236}">
                <a16:creationId xmlns:a16="http://schemas.microsoft.com/office/drawing/2014/main" id="{3C1D0AFE-10BA-49A5-B417-96D4E157145C}"/>
              </a:ext>
            </a:extLst>
          </p:cNvPr>
          <p:cNvSpPr>
            <a:spLocks noGrp="1"/>
          </p:cNvSpPr>
          <p:nvPr/>
        </p:nvSpPr>
        <p:spPr>
          <a:xfrm>
            <a:off x="4429125" y="33623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€18,000</a:t>
            </a:r>
          </a:p>
        </p:txBody>
      </p:sp>
      <p:sp>
        <p:nvSpPr>
          <p:cNvPr id="7" name="Rectangle 6">
            <a:extLst>
              <a:ext uri="{FF2B5EF4-FFF2-40B4-BE49-F238E27FC236}">
                <a16:creationId xmlns:a16="http://schemas.microsoft.com/office/drawing/2014/main" id="{5682D533-9443-41CA-9DAB-1E88EE141779}"/>
              </a:ext>
            </a:extLst>
          </p:cNvPr>
          <p:cNvSpPr>
            <a:spLocks noGrp="1"/>
          </p:cNvSpPr>
          <p:nvPr/>
        </p:nvSpPr>
        <p:spPr>
          <a:xfrm>
            <a:off x="762000" y="37052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Product and onboarding</a:t>
            </a:r>
          </a:p>
        </p:txBody>
      </p:sp>
      <p:sp>
        <p:nvSpPr>
          <p:cNvPr id="8" name="Rectangle 7">
            <a:extLst>
              <a:ext uri="{FF2B5EF4-FFF2-40B4-BE49-F238E27FC236}">
                <a16:creationId xmlns:a16="http://schemas.microsoft.com/office/drawing/2014/main" id="{02495F71-861D-4371-A5B9-40DD7C1ED927}"/>
              </a:ext>
            </a:extLst>
          </p:cNvPr>
          <p:cNvSpPr>
            <a:spLocks noGrp="1"/>
          </p:cNvSpPr>
          <p:nvPr/>
        </p:nvSpPr>
        <p:spPr>
          <a:xfrm>
            <a:off x="4429125" y="37052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€6,000</a:t>
            </a:r>
          </a:p>
        </p:txBody>
      </p:sp>
      <p:sp>
        <p:nvSpPr>
          <p:cNvPr id="9" name="Rectangle 8">
            <a:extLst>
              <a:ext uri="{FF2B5EF4-FFF2-40B4-BE49-F238E27FC236}">
                <a16:creationId xmlns:a16="http://schemas.microsoft.com/office/drawing/2014/main" id="{E6C092B1-39AC-4513-837F-229F54F2CB99}"/>
              </a:ext>
            </a:extLst>
          </p:cNvPr>
          <p:cNvSpPr>
            <a:spLocks noGrp="1"/>
          </p:cNvSpPr>
          <p:nvPr/>
        </p:nvSpPr>
        <p:spPr>
          <a:xfrm>
            <a:off x="762000" y="40481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Acquisition tests</a:t>
            </a:r>
          </a:p>
        </p:txBody>
      </p:sp>
      <p:sp>
        <p:nvSpPr>
          <p:cNvPr id="10" name="Rectangle 9">
            <a:extLst>
              <a:ext uri="{FF2B5EF4-FFF2-40B4-BE49-F238E27FC236}">
                <a16:creationId xmlns:a16="http://schemas.microsoft.com/office/drawing/2014/main" id="{2388459B-3D44-4407-979C-4739841355C9}"/>
              </a:ext>
            </a:extLst>
          </p:cNvPr>
          <p:cNvSpPr>
            <a:spLocks noGrp="1"/>
          </p:cNvSpPr>
          <p:nvPr/>
        </p:nvSpPr>
        <p:spPr>
          <a:xfrm>
            <a:off x="4429125" y="40481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€3,000</a:t>
            </a:r>
          </a:p>
        </p:txBody>
      </p:sp>
      <p:sp>
        <p:nvSpPr>
          <p:cNvPr id="11" name="Rectangle 10">
            <a:extLst>
              <a:ext uri="{FF2B5EF4-FFF2-40B4-BE49-F238E27FC236}">
                <a16:creationId xmlns:a16="http://schemas.microsoft.com/office/drawing/2014/main" id="{E6EFF58F-41C0-40E8-A399-6CC51506ED99}"/>
              </a:ext>
            </a:extLst>
          </p:cNvPr>
          <p:cNvSpPr>
            <a:spLocks noGrp="1"/>
          </p:cNvSpPr>
          <p:nvPr/>
        </p:nvSpPr>
        <p:spPr>
          <a:xfrm>
            <a:off x="762000" y="43910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Software and administration</a:t>
            </a:r>
          </a:p>
        </p:txBody>
      </p:sp>
      <p:sp>
        <p:nvSpPr>
          <p:cNvPr id="12" name="Rectangle 11">
            <a:extLst>
              <a:ext uri="{FF2B5EF4-FFF2-40B4-BE49-F238E27FC236}">
                <a16:creationId xmlns:a16="http://schemas.microsoft.com/office/drawing/2014/main" id="{883B0505-929C-44C2-B89B-8688E21F82BD}"/>
              </a:ext>
            </a:extLst>
          </p:cNvPr>
          <p:cNvSpPr>
            <a:spLocks noGrp="1"/>
          </p:cNvSpPr>
          <p:nvPr/>
        </p:nvSpPr>
        <p:spPr>
          <a:xfrm>
            <a:off x="4429125" y="43910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3" name="Rectangle 12">
            <a:extLst>
              <a:ext uri="{FF2B5EF4-FFF2-40B4-BE49-F238E27FC236}">
                <a16:creationId xmlns:a16="http://schemas.microsoft.com/office/drawing/2014/main" id="{C01CEE1A-22DA-4270-9B81-97A18D4BF7D0}"/>
              </a:ext>
            </a:extLst>
          </p:cNvPr>
          <p:cNvSpPr>
            <a:spLocks noGrp="1"/>
          </p:cNvSpPr>
          <p:nvPr/>
        </p:nvSpPr>
        <p:spPr>
          <a:xfrm>
            <a:off x="762000" y="4733925"/>
            <a:ext cx="3286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Contingency</a:t>
            </a:r>
          </a:p>
        </p:txBody>
      </p:sp>
      <p:sp>
        <p:nvSpPr>
          <p:cNvPr id="14" name="Rectangle 13">
            <a:extLst>
              <a:ext uri="{FF2B5EF4-FFF2-40B4-BE49-F238E27FC236}">
                <a16:creationId xmlns:a16="http://schemas.microsoft.com/office/drawing/2014/main" id="{4F8E492B-D3CD-459E-A1FF-BE4AFB73B990}"/>
              </a:ext>
            </a:extLst>
          </p:cNvPr>
          <p:cNvSpPr>
            <a:spLocks noGrp="1"/>
          </p:cNvSpPr>
          <p:nvPr/>
        </p:nvSpPr>
        <p:spPr>
          <a:xfrm>
            <a:off x="4429125" y="4733925"/>
            <a:ext cx="1381125" cy="3810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€1,500</a:t>
            </a:r>
          </a:p>
        </p:txBody>
      </p:sp>
      <p:sp>
        <p:nvSpPr>
          <p:cNvPr id="15" name="Rectangle 14">
            <a:extLst>
              <a:ext uri="{FF2B5EF4-FFF2-40B4-BE49-F238E27FC236}">
                <a16:creationId xmlns:a16="http://schemas.microsoft.com/office/drawing/2014/main" id="{757E543A-6655-4B73-AEE6-6E62E3FABBA8}"/>
              </a:ext>
            </a:extLst>
          </p:cNvPr>
          <p:cNvSpPr>
            <a:spLocks noGrp="1"/>
          </p:cNvSpPr>
          <p:nvPr/>
        </p:nvSpPr>
        <p:spPr>
          <a:xfrm>
            <a:off x="6572250" y="2838450"/>
            <a:ext cx="4857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42F35"/>
                </a:solidFill>
                <a:latin typeface="Calibri"/>
                <a:ea typeface="Calibri"/>
                <a:cs typeface="Calibri"/>
              </a:defRPr>
            </a:pPr>
            <a:r>
              <a:rPr kumimoji="0" sz="2250" b="1" i="0" u="none" strike="noStrike" kern="1200" cap="none" spc="0" normalizeH="0" baseline="0" noProof="0">
                <a:ln>
                  <a:noFill/>
                </a:ln>
                <a:solidFill>
                  <a:srgbClr val="142F35"/>
                </a:solidFill>
                <a:effectLst/>
                <a:uLnTx/>
                <a:uFillTx/>
                <a:latin typeface="Calibri"/>
                <a:ea typeface="Calibri"/>
                <a:cs typeface="Calibri"/>
              </a:rPr>
              <a:t>Six-month milestones</a:t>
            </a:r>
          </a:p>
        </p:txBody>
      </p:sp>
      <p:sp>
        <p:nvSpPr>
          <p:cNvPr id="16" name="Rectangle 15">
            <a:extLst>
              <a:ext uri="{FF2B5EF4-FFF2-40B4-BE49-F238E27FC236}">
                <a16:creationId xmlns:a16="http://schemas.microsoft.com/office/drawing/2014/main" id="{BF4F5E3D-93E7-45CF-B2F0-5EEE218F8A35}"/>
              </a:ext>
            </a:extLst>
          </p:cNvPr>
          <p:cNvSpPr>
            <a:spLocks noGrp="1"/>
          </p:cNvSpPr>
          <p:nvPr/>
        </p:nvSpPr>
        <p:spPr>
          <a:xfrm>
            <a:off x="6572250" y="336232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15 paying companies in total</a:t>
            </a:r>
          </a:p>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008579"/>
                </a:solidFill>
                <a:latin typeface="Calibri"/>
                <a:ea typeface="Calibri"/>
                <a:cs typeface="Calibri"/>
              </a:defRPr>
            </a:pPr>
            <a:r>
              <a:rPr kumimoji="0" sz="2025" b="1" i="0" u="none" strike="noStrike" kern="1200" cap="none" spc="0" normalizeH="0" baseline="0" noProof="0">
                <a:ln>
                  <a:noFill/>
                </a:ln>
                <a:solidFill>
                  <a:srgbClr val="008579"/>
                </a:solidFill>
                <a:effectLst/>
                <a:uLnTx/>
                <a:uFillTx/>
                <a:latin typeface="Calibri"/>
                <a:ea typeface="Calibri"/>
                <a:cs typeface="Calibri"/>
              </a:rPr>
              <a:t>~€2,250 MRR at €150/company</a:t>
            </a:r>
          </a:p>
        </p:txBody>
      </p:sp>
      <p:sp>
        <p:nvSpPr>
          <p:cNvPr id="17" name="Rectangle 16">
            <a:extLst>
              <a:ext uri="{FF2B5EF4-FFF2-40B4-BE49-F238E27FC236}">
                <a16:creationId xmlns:a16="http://schemas.microsoft.com/office/drawing/2014/main" id="{E425EE4B-7304-40E9-A7A9-4E8F46EF2754}"/>
              </a:ext>
            </a:extLst>
          </p:cNvPr>
          <p:cNvSpPr>
            <a:spLocks noGrp="1"/>
          </p:cNvSpPr>
          <p:nvPr/>
        </p:nvSpPr>
        <p:spPr>
          <a:xfrm>
            <a:off x="6572250" y="4181475"/>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80% retention after 8 weeks</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Across eligible new paying customers</a:t>
            </a:r>
          </a:p>
        </p:txBody>
      </p:sp>
      <p:sp>
        <p:nvSpPr>
          <p:cNvPr id="18" name="Rectangle 17">
            <a:extLst>
              <a:ext uri="{FF2B5EF4-FFF2-40B4-BE49-F238E27FC236}">
                <a16:creationId xmlns:a16="http://schemas.microsoft.com/office/drawing/2014/main" id="{34F434AF-88A4-4BC5-9680-34D212B49864}"/>
              </a:ext>
            </a:extLst>
          </p:cNvPr>
          <p:cNvSpPr>
            <a:spLocks noGrp="1"/>
          </p:cNvSpPr>
          <p:nvPr/>
        </p:nvSpPr>
        <p:spPr>
          <a:xfrm>
            <a:off x="6572250" y="4991100"/>
            <a:ext cx="48577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Support ≤30 min/client/week</a:t>
            </a:r>
          </a:p>
          <a:p>
            <a:pPr marL="0" marR="0" lvl="0" indent="0" algn="l" defTabSz="914400" rtl="0" eaLnBrk="1" fontAlgn="auto" latinLnBrk="0" hangingPunct="1">
              <a:lnSpc>
                <a:spcPct val="100000"/>
              </a:lnSpc>
              <a:spcBef>
                <a:spcPts val="0"/>
              </a:spcBef>
              <a:spcAft>
                <a:spcPts val="0"/>
              </a:spcAft>
              <a:buClrTx/>
              <a:buSzTx/>
              <a:buFontTx/>
              <a:buNone/>
              <a:tabLst/>
              <a:defRPr sz="1950" b="0">
                <a:solidFill>
                  <a:srgbClr val="142F35"/>
                </a:solidFill>
                <a:latin typeface="Calibri"/>
                <a:ea typeface="Calibri"/>
                <a:cs typeface="Calibri"/>
              </a:defRPr>
            </a:pPr>
            <a:r>
              <a:rPr kumimoji="0" sz="1950" b="0" i="0" u="none" strike="noStrike" kern="1200" cap="none" spc="0" normalizeH="0" baseline="0" noProof="0">
                <a:ln>
                  <a:noFill/>
                </a:ln>
                <a:solidFill>
                  <a:srgbClr val="142F35"/>
                </a:solidFill>
                <a:effectLst/>
                <a:uLnTx/>
                <a:uFillTx/>
                <a:latin typeface="Calibri"/>
                <a:ea typeface="Calibri"/>
                <a:cs typeface="Calibri"/>
              </a:rPr>
              <a:t>Measured across paying customers</a:t>
            </a:r>
          </a:p>
        </p:txBody>
      </p:sp>
      <p:sp>
        <p:nvSpPr>
          <p:cNvPr id="19" name="Rectangle 18">
            <a:extLst>
              <a:ext uri="{FF2B5EF4-FFF2-40B4-BE49-F238E27FC236}">
                <a16:creationId xmlns:a16="http://schemas.microsoft.com/office/drawing/2014/main" id="{96E4007B-964B-4451-BF33-2C267B854825}"/>
              </a:ext>
            </a:extLst>
          </p:cNvPr>
          <p:cNvSpPr>
            <a:spLocks noGrp="1"/>
          </p:cNvSpPr>
          <p:nvPr/>
        </p:nvSpPr>
        <p:spPr>
          <a:xfrm>
            <a:off x="762000" y="5943600"/>
            <a:ext cx="10477500" cy="5429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Planning assumptions: €3,000/month founder cost and €1,000/month product budget.</a:t>
            </a:r>
          </a:p>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36B70"/>
                </a:solidFill>
                <a:latin typeface="Calibri"/>
                <a:ea typeface="Calibri"/>
                <a:cs typeface="Calibri"/>
              </a:defRPr>
            </a:pPr>
            <a:r>
              <a:rPr kumimoji="0" sz="1500" b="0" i="0" u="none" strike="noStrike" kern="1200" cap="none" spc="0" normalizeH="0" baseline="0" noProof="0">
                <a:ln>
                  <a:noFill/>
                </a:ln>
                <a:solidFill>
                  <a:srgbClr val="536B70"/>
                </a:solidFill>
                <a:effectLst/>
                <a:uLnTx/>
                <a:uFillTx/>
                <a:latin typeface="Calibri"/>
                <a:ea typeface="Calibri"/>
                <a:cs typeface="Calibri"/>
              </a:rPr>
              <a:t>Milestones are targets. Existing revenue is additional buffer. Terms are negotiable.</a:t>
            </a:r>
          </a:p>
        </p:txBody>
      </p:sp>
      <p:sp>
        <p:nvSpPr>
          <p:cNvPr id="20" name="Rectangle 19">
            <a:extLst>
              <a:ext uri="{FF2B5EF4-FFF2-40B4-BE49-F238E27FC236}">
                <a16:creationId xmlns:a16="http://schemas.microsoft.com/office/drawing/2014/main" id="{B9E601F6-C23E-47E1-9483-EB83969D5DDB}"/>
              </a:ext>
            </a:extLst>
          </p:cNvPr>
          <p:cNvSpPr>
            <a:spLocks noGrp="1"/>
          </p:cNvSpPr>
          <p:nvPr/>
        </p:nvSpPr>
        <p:spPr>
          <a:xfrm>
            <a:off x="11001375" y="6524625"/>
            <a:ext cx="571500" cy="2381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536B70"/>
                </a:solidFill>
                <a:latin typeface="Calibri"/>
                <a:ea typeface="Calibri"/>
                <a:cs typeface="Calibri"/>
              </a:defRPr>
            </a:pPr>
            <a:r>
              <a:rPr kumimoji="0" sz="1200" b="0" i="0" u="none" strike="noStrike" kern="1200" cap="none" spc="0" normalizeH="0" baseline="0" noProof="0">
                <a:ln>
                  <a:noFill/>
                </a:ln>
                <a:solidFill>
                  <a:srgbClr val="536B70"/>
                </a:solidFill>
                <a:effectLst/>
                <a:uLnTx/>
                <a:uFillTx/>
                <a:latin typeface="Calibri"/>
                <a:ea typeface="Calibri"/>
                <a:cs typeface="Calibri"/>
              </a:rPr>
              <a:t>19</a:t>
            </a:r>
          </a:p>
        </p:txBody>
      </p:sp>
    </p:spTree>
    <p:extLst>
      <p:ext uri="{BB962C8B-B14F-4D97-AF65-F5344CB8AC3E}">
        <p14:creationId xmlns:p14="http://schemas.microsoft.com/office/powerpoint/2010/main" val="6702909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4076</TotalTime>
  <Words>2615</Words>
  <Application>Microsoft Office PowerPoint</Application>
  <DocSecurity>0</DocSecurity>
  <PresentationFormat>Widescreen</PresentationFormat>
  <Paragraphs>239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Vjaceslavs Gromatovics</cp:lastModifiedBy>
  <cp:revision>10</cp:revision>
  <dcterms:created xsi:type="dcterms:W3CDTF">2026-09-18T13:20:54Z</dcterms:created>
  <dcterms:modified xsi:type="dcterms:W3CDTF">2026-09-21T11:46:42Z</dcterms:modified>
</cp:coreProperties>
</file>