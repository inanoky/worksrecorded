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58" r:id="rId4"/>
    <p:sldId id="259" r:id="rId5"/>
    <p:sldId id="275"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4" r:id="rId19"/>
  </p:sldIdLst>
  <p:sldSz cx="12192000" cy="6858000"/>
  <p:notesSz cx="6858000" cy="9144000"/>
  <p:defaultTextStyle>
    <a:defPPr>
      <a:defRPr lang="lv-LV"/>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Pitch deck(1).docx, supplied by founder. Figures are founder-reported unless explicitly identified as calculations or proposed priorities.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Pitch deck(1).docx, supplied by founder. Figures are founder-reported unless explicitly identified as calculations or proposed priorities.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Pitch deck(1).docx, supplied by founder. Figures are founder-reported unless explicitly identified as calculations or proposed priorities.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Pitch deck(1).docx, supplied by founder. Figures are founder-reported unless explicitly identified as calculations or proposed priorities.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2B2EE-F28F-EBE7-C3C8-9C0412212A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D20B94-313B-60C6-822B-526F7E4BEF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3517A1-42B0-4816-5708-2FBB8F23BC6B}"/>
              </a:ext>
            </a:extLst>
          </p:cNvPr>
          <p:cNvSpPr>
            <a:spLocks noGrp="1"/>
          </p:cNvSpPr>
          <p:nvPr>
            <p:ph type="body" idx="1"/>
          </p:nvPr>
        </p:nvSpPr>
        <p:spPr/>
        <p:txBody>
          <a:bodyPr/>
          <a:lstStyle/>
          <a:p>
            <a:r>
              <a:t>Source: Pitch deck(1).docx, supplied by founder. Figures are founder-reported unless explicitly identified as calculations or proposed priorities.</a:t>
            </a:r>
          </a:p>
        </p:txBody>
      </p:sp>
      <p:sp>
        <p:nvSpPr>
          <p:cNvPr id="4" name="Slide Number Placeholder 3">
            <a:extLst>
              <a:ext uri="{FF2B5EF4-FFF2-40B4-BE49-F238E27FC236}">
                <a16:creationId xmlns:a16="http://schemas.microsoft.com/office/drawing/2014/main" id="{D212FD3D-95BE-56A8-DCDD-1FFE5C5551B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3260638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Illustrative input and output, not a customer case study or product screenshot. Arithmetic: 4 people × 8 hours = 32 labour-hours; 32 / 20 panels = 1.6 labour-hours per panel. No delay cost or cost saving is inferred.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Pitch deck(1).docx, supplied by founder. Figures are founder-reported unless explicitly identified as calculations or proposed priorities.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Eurostat SBS_SC_OVW, ENT_NR, F43, size_emp 10-19 and 20-49. Latvia 2024: 408+208=616. EU27 2023: 101914+40000=141914, with 40000 flagged estimated. EU 2024 aggregate unavailable at retrieval on 18 September 2026. Sources: https://ec.europa.eu/eurostat/api/dissemination/statistics/1.0/data/sbs_sc_ovw?geo=LV&amp;nace_r2=F43&amp;indic_sbs=ENT_NR&amp;time=2024&amp;size_emp=10-19&amp;size_emp=20-49 and https://ec.europa.eu/eurostat/api/dissemination/statistics/1.0/data/sbs_sc_ovw?geo=EU27_2020&amp;nace_r2=F43&amp;indic_sbs=ENT_NR&amp;time=2023&amp;size_emp=10-19&amp;size_emp=20-49 . Founder target price EUR300/company/month, annual EUR3600. Latvia=EUR2217600; EU=EUR510890400. Full penetration market potential, not expected revenue. At current rounded EUR150/company/month the corresponding benchmarks are EUR1108800 and EUR255445200. Latvia is included in EU. UK and non-EU Europe excluded. Persons employed may include owners.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Founder describes current average company revenue as EUR150/month, rounded. Existing five listed subscriptions sum to EUR780 MRR and EUR156 exact mean. Keep actual total rather than replacing with 5*150. Annualised recurring revenue EUR9360, not annual revenue collected. Current customers have only 1–2 months of payment history per original deck, while total outreach spans approximately one year. Five current paying, one former payer churned, one free pilot and one active trial. Target EUR300/company/month is not yet achieved.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Pitch deck(1).docx. DEPROM/DEPRMO spelling differs in source materials, so pilot name omitted. Latvijas Energoceltnieks churned after three months.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Founder update: approximately EUR150 current monthly revenue per company, intended EUR300 per company monthly. Exact current average from source subscriptions EUR156. Previously founder confirmed EUR50/user with discounts and custom-function upsells. Present current billing and planned company subscription separately. Do not claim EUR300 is current achieved ARPA or that every customer will upgrade. Package scope and recurring versus one-off custom charges remain to define. Target ACV=300*12=3600. Current rounded ACV=150*12=1800, exact current=1872.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Official competitor sources, 18 September 2026: https://www.fieldwire.com/pricing/ and https://help.fieldwire.com/hc/en-us/articles/360000574203-Introduction-to-Task-Reports-in-Fieldwire ; https://buildertrend.com/pricing/ and https://buildertrend.com/help-article/daily-logs-overview/ . WhatsApp plus Excel is a workflow alternative. Named brands are relevant alternatives, not verified tools used by current customers. WorksRecorded positioning needs validation. No claim that competitors cannot support voice, AI or integrations.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Founder-supplied acquisition history: over approximately one year, around 100 companies approached. Five currently paying, one former paying customer churned. One free pilot, one active trial. Mix of direct outreach and Facebook advertising. Reliable channel-level CAC unavailable. Calculations: 5/100~5% currently paying, (5+1)/100~6% ever paid. Approximate cumulative ratios are not cohort conversion rates, annual/monthly churn rates or channel-specific conversion. Deduplication and channel attribution of the ~100 denominator have not been independently verified. Do not treat the former payer as an annual churn estimate.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GTM experiments. Latvia remains the initial outbound market. Sweden, Great Britain and the USA are candidate expansion markets for small pilot cohorts. Track each country separately and compare paid conversion, retention and support effort before increasing spending. Expansion demand remains to be validated. Facebook should be a separately measured channel.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Founder history: ~100 companies approached over ~one year, six ever paid, five remain paying, one former payer churned, free pilot and active trial. Previous one-month direct outreach sample:55 calls,7 demos booked=12.7%. Relationship of this sample to annual total not fully documented; do not sum the two. Target company subscription EUR300/month=EUR3600 ACV; current ~EUR150. Track monthly cohorts by geography and channel to establish comparable conversion and retention. Do not extrapolate the cumulative ~5% ratio as a stable forecast. Channel costs unavailable, so CAC remains uncalculated.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Original deck: 2h onboarding +1h AI adjustment, ongoing &lt;1h/week/client, USD80 monthly software. Facebook spend ambiguous: EUR150/month with wording spend to date. Omit until reconciled. Founder/developer compensation and labour cost not supplied. Runway and margin not established.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Team details supplied by the founder. Vjaceslavs Gromatovics: BEng in Civil Engineering, five years as a construction site manager and five years as a project manager, working full-time on WorksRecorded, 80% ownership. Deivids Berkolds: BEng in Computer Science, senior JavaScript developer, 20% ownership. The supplied abbreviation Bent has been interpreted as BEng.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investor ask, not agreed transaction terms or independent valuation. Raise EUR30000 through a new equity investment for10% post-money ownership. Implied post-money EUR300000 and pre-money EUR270000. Budget six months: founder/company cost EUR3000/month=18000; product/onboarding EUR1000/month=6000; acquisition EUR500/month=3000; software/admin EUR250/month=1500;contingency EUR1500. Total EUR30000. These are planning allocations, not confirmed compensation or vendor quotes. Founder cost is total company cost, not a promised net salary. Revenue not deducted from funding requirement or assumed guaranteed; actual continued revenue provides additional buffer. Targets:15 total paying companies from current5, approximately EUR2250 MRR at EUR150 average per company;&gt;=80%8-week retention among new paid cohorts old enough to measure;average ongoing support&lt;=30min per paying client per week. Neither targets nor acquisition rates guaranteed. Existing80-contact sample supports5current paying and6ever-paid;at6.25% snapshot ratio10extra payers could require roughly160additional comparable contacts before future churn. This is a workload illustration, not a validated forecast. Valuation and investment terms are an opening proposal, subject to agreement.</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2C3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E5FC32-0DEE-4A21-B9C0-577B454F2882}"/>
              </a:ext>
            </a:extLst>
          </p:cNvPr>
          <p:cNvSpPr>
            <a:spLocks noGrp="1"/>
          </p:cNvSpPr>
          <p:nvPr/>
        </p:nvSpPr>
        <p:spPr>
          <a:xfrm>
            <a:off x="685800" y="904875"/>
            <a:ext cx="10477500" cy="1047750"/>
          </a:xfrm>
          <a:prstGeom prst="rect">
            <a:avLst/>
          </a:prstGeom>
          <a:noFill/>
          <a:ln w="0">
            <a:noFill/>
          </a:ln>
        </p:spPr>
        <p:txBody>
          <a:bodyPr>
            <a:noAutofit/>
          </a:bodyPr>
          <a:lstStyle/>
          <a:p>
            <a:pPr>
              <a:buNone/>
              <a:defRPr sz="5700" b="1">
                <a:solidFill>
                  <a:srgbClr val="FFFFFF"/>
                </a:solidFill>
                <a:latin typeface="Bitstream Charter"/>
                <a:ea typeface="Bitstream Charter"/>
                <a:cs typeface="Bitstream Charter"/>
              </a:defRPr>
            </a:pPr>
            <a:r>
              <a:rPr sz="5700" b="1">
                <a:solidFill>
                  <a:srgbClr val="FFFFFF"/>
                </a:solidFill>
                <a:latin typeface="Bitstream Charter"/>
                <a:ea typeface="Bitstream Charter"/>
                <a:cs typeface="Bitstream Charter"/>
              </a:rPr>
              <a:t>WorksRecorded</a:t>
            </a:r>
          </a:p>
        </p:txBody>
      </p:sp>
      <p:sp>
        <p:nvSpPr>
          <p:cNvPr id="3" name="Rectangle 2">
            <a:extLst>
              <a:ext uri="{FF2B5EF4-FFF2-40B4-BE49-F238E27FC236}">
                <a16:creationId xmlns:a16="http://schemas.microsoft.com/office/drawing/2014/main" id="{3C6033E0-0B5D-472C-810C-0F7D39581D1C}"/>
              </a:ext>
            </a:extLst>
          </p:cNvPr>
          <p:cNvSpPr>
            <a:spLocks noGrp="1"/>
          </p:cNvSpPr>
          <p:nvPr/>
        </p:nvSpPr>
        <p:spPr>
          <a:xfrm>
            <a:off x="685800" y="2619375"/>
            <a:ext cx="10191750" cy="1714500"/>
          </a:xfrm>
          <a:prstGeom prst="rect">
            <a:avLst/>
          </a:prstGeom>
          <a:noFill/>
          <a:ln w="0">
            <a:noFill/>
          </a:ln>
        </p:spPr>
        <p:txBody>
          <a:bodyPr>
            <a:noAutofit/>
          </a:bodyPr>
          <a:lstStyle/>
          <a:p>
            <a:pPr>
              <a:buNone/>
              <a:defRPr sz="4350" b="1">
                <a:solidFill>
                  <a:srgbClr val="FFFFFF"/>
                </a:solidFill>
                <a:latin typeface="Bitstream Charter"/>
                <a:ea typeface="Bitstream Charter"/>
                <a:cs typeface="Bitstream Charter"/>
              </a:defRPr>
            </a:pPr>
            <a:r>
              <a:rPr sz="4350" b="1">
                <a:solidFill>
                  <a:srgbClr val="FFFFFF"/>
                </a:solidFill>
                <a:latin typeface="Bitstream Charter"/>
                <a:ea typeface="Bitstream Charter"/>
                <a:cs typeface="Bitstream Charter"/>
              </a:rPr>
              <a:t>Construction site data analytics</a:t>
            </a:r>
          </a:p>
        </p:txBody>
      </p:sp>
      <p:sp>
        <p:nvSpPr>
          <p:cNvPr id="4" name="Rectangle 3">
            <a:extLst>
              <a:ext uri="{FF2B5EF4-FFF2-40B4-BE49-F238E27FC236}">
                <a16:creationId xmlns:a16="http://schemas.microsoft.com/office/drawing/2014/main" id="{C5C52780-E57C-4F40-984A-4BD187FD2111}"/>
              </a:ext>
            </a:extLst>
          </p:cNvPr>
          <p:cNvSpPr>
            <a:spLocks noGrp="1"/>
          </p:cNvSpPr>
          <p:nvPr/>
        </p:nvSpPr>
        <p:spPr>
          <a:xfrm>
            <a:off x="723900" y="5095875"/>
            <a:ext cx="9048750" cy="523875"/>
          </a:xfrm>
          <a:prstGeom prst="rect">
            <a:avLst/>
          </a:prstGeom>
          <a:noFill/>
          <a:ln w="0">
            <a:noFill/>
          </a:ln>
        </p:spPr>
        <p:txBody>
          <a:bodyPr>
            <a:noAutofit/>
          </a:bodyPr>
          <a:lstStyle/>
          <a:p>
            <a:pPr>
              <a:buNone/>
              <a:defRPr sz="2100" b="0">
                <a:solidFill>
                  <a:srgbClr val="B9DCD5"/>
                </a:solidFill>
                <a:latin typeface="Bitstream Charter"/>
                <a:ea typeface="Bitstream Charter"/>
                <a:cs typeface="Bitstream Charter"/>
              </a:defRPr>
            </a:pPr>
            <a:r>
              <a:rPr sz="2100" b="0">
                <a:solidFill>
                  <a:srgbClr val="B9DCD5"/>
                </a:solidFill>
                <a:latin typeface="Bitstream Charter"/>
                <a:ea typeface="Bitstream Charter"/>
                <a:cs typeface="Bitstream Charter"/>
              </a:rPr>
              <a:t>For construction contractors</a:t>
            </a:r>
          </a:p>
        </p:txBody>
      </p:sp>
      <p:sp>
        <p:nvSpPr>
          <p:cNvPr id="5" name="Rectangle 4">
            <a:extLst>
              <a:ext uri="{FF2B5EF4-FFF2-40B4-BE49-F238E27FC236}">
                <a16:creationId xmlns:a16="http://schemas.microsoft.com/office/drawing/2014/main" id="{C2FCABF3-F45B-4F20-8BD7-8C945E0A4605}"/>
              </a:ext>
            </a:extLst>
          </p:cNvPr>
          <p:cNvSpPr>
            <a:spLocks noGrp="1"/>
          </p:cNvSpPr>
          <p:nvPr/>
        </p:nvSpPr>
        <p:spPr>
          <a:xfrm>
            <a:off x="723900" y="6143625"/>
            <a:ext cx="9048750" cy="333375"/>
          </a:xfrm>
          <a:prstGeom prst="rect">
            <a:avLst/>
          </a:prstGeom>
          <a:noFill/>
          <a:ln w="0">
            <a:noFill/>
          </a:ln>
        </p:spPr>
        <p:txBody>
          <a:bodyPr>
            <a:noAutofit/>
          </a:bodyPr>
          <a:lstStyle/>
          <a:p>
            <a:pPr>
              <a:buNone/>
              <a:defRPr sz="1350" b="0">
                <a:solidFill>
                  <a:srgbClr val="B9DCD5"/>
                </a:solidFill>
                <a:latin typeface="Bitstream Charter"/>
                <a:ea typeface="Bitstream Charter"/>
                <a:cs typeface="Bitstream Charter"/>
              </a:defRPr>
            </a:pPr>
            <a:r>
              <a:rPr sz="1350" b="0">
                <a:solidFill>
                  <a:srgbClr val="B9DCD5"/>
                </a:solidFill>
                <a:latin typeface="Bitstream Charter"/>
                <a:ea typeface="Bitstream Charter"/>
                <a:cs typeface="Bitstream Charter"/>
              </a:rPr>
              <a:t>Investor presentation | September 2026</a:t>
            </a:r>
            <a:r>
              <a:rPr sz="1350">
                <a:solidFill>
                  <a:srgbClr val="B9DCD5"/>
                </a:solidFill>
                <a:latin typeface="Bitstream Charter"/>
                <a:ea typeface="Bitstream Charter"/>
                <a:cs typeface="Bitstream Charter"/>
              </a:rPr>
              <a:t> |  https://www.worksrecorded.com/</a:t>
            </a:r>
            <a:endParaRPr sz="1350" b="0">
              <a:solidFill>
                <a:srgbClr val="B9DCD5"/>
              </a:solidFill>
              <a:latin typeface="Bitstream Charter"/>
              <a:ea typeface="Bitstream Charter"/>
              <a:cs typeface="Bitstream Charter"/>
            </a:endParaRPr>
          </a:p>
        </p:txBody>
      </p:sp>
      <p:sp>
        <p:nvSpPr>
          <p:cNvPr id="6" name="Rectangle 5">
            <a:extLst>
              <a:ext uri="{FF2B5EF4-FFF2-40B4-BE49-F238E27FC236}">
                <a16:creationId xmlns:a16="http://schemas.microsoft.com/office/drawing/2014/main" id="{056B9B50-45BB-4165-9D52-E87F2BF27035}"/>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AEC2C5"/>
                </a:solidFill>
                <a:latin typeface="Calibri"/>
                <a:ea typeface="Calibri"/>
                <a:cs typeface="Calibri"/>
              </a:defRPr>
            </a:pPr>
            <a:r>
              <a:rPr sz="1200" b="0">
                <a:solidFill>
                  <a:srgbClr val="AEC2C5"/>
                </a:solidFill>
                <a:latin typeface="Calibri"/>
                <a:ea typeface="Calibri"/>
                <a:cs typeface="Calibri"/>
              </a:rPr>
              <a:t>01</a:t>
            </a:r>
          </a:p>
        </p:txBody>
      </p:sp>
    </p:spTree>
    <p:extLst>
      <p:ext uri="{BB962C8B-B14F-4D97-AF65-F5344CB8AC3E}">
        <p14:creationId xmlns:p14="http://schemas.microsoft.com/office/powerpoint/2010/main" val="11485627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C0778ED-BCB2-4B42-8D42-E530CCAADE3A}"/>
              </a:ext>
            </a:extLst>
          </p:cNvPr>
          <p:cNvSpPr>
            <a:spLocks noGrp="1"/>
          </p:cNvSpPr>
          <p:nvPr/>
        </p:nvSpPr>
        <p:spPr>
          <a:xfrm>
            <a:off x="685800" y="571500"/>
            <a:ext cx="10820400" cy="1095375"/>
          </a:xfrm>
          <a:prstGeom prst="rect">
            <a:avLst/>
          </a:prstGeom>
          <a:noFill/>
          <a:ln w="0">
            <a:noFill/>
          </a:ln>
        </p:spPr>
        <p:txBody>
          <a:bodyPr>
            <a:noAutofit/>
          </a:bodyPr>
          <a:lstStyle/>
          <a:p>
            <a:pPr>
              <a:buNone/>
              <a:defRPr sz="3600" b="1">
                <a:solidFill>
                  <a:srgbClr val="122C32"/>
                </a:solidFill>
                <a:latin typeface="Bitstream Charter"/>
                <a:ea typeface="Bitstream Charter"/>
                <a:cs typeface="Bitstream Charter"/>
              </a:defRPr>
            </a:pPr>
            <a:r>
              <a:rPr sz="3600" b="1" dirty="0">
                <a:solidFill>
                  <a:srgbClr val="122C32"/>
                </a:solidFill>
                <a:latin typeface="Bitstream Charter"/>
                <a:ea typeface="Bitstream Charter"/>
                <a:cs typeface="Bitstream Charter"/>
              </a:rPr>
              <a:t>Problem</a:t>
            </a:r>
            <a:r>
              <a:rPr lang="en-US" sz="3600" b="1" dirty="0">
                <a:solidFill>
                  <a:srgbClr val="122C32"/>
                </a:solidFill>
                <a:latin typeface="Bitstream Charter"/>
                <a:ea typeface="Bitstream Charter"/>
                <a:cs typeface="Bitstream Charter"/>
              </a:rPr>
              <a:t>: collecting and analyzing site data is time consuming</a:t>
            </a:r>
            <a:endParaRPr lang="en-US" sz="3600" b="1" dirty="0">
              <a:solidFill>
                <a:srgbClr val="122C32"/>
              </a:solidFill>
              <a:highlight>
                <a:srgbClr val="FFFF00"/>
              </a:highlight>
              <a:latin typeface="Bitstream Charter"/>
              <a:ea typeface="Bitstream Charter"/>
              <a:cs typeface="Bitstream Charter"/>
            </a:endParaRPr>
          </a:p>
        </p:txBody>
      </p:sp>
      <p:sp>
        <p:nvSpPr>
          <p:cNvPr id="3" name="Rectangle 2">
            <a:extLst>
              <a:ext uri="{FF2B5EF4-FFF2-40B4-BE49-F238E27FC236}">
                <a16:creationId xmlns:a16="http://schemas.microsoft.com/office/drawing/2014/main" id="{B0BDDCAD-D72E-4831-A6AD-FC36049E0588}"/>
              </a:ext>
            </a:extLst>
          </p:cNvPr>
          <p:cNvSpPr>
            <a:spLocks noGrp="1"/>
          </p:cNvSpPr>
          <p:nvPr/>
        </p:nvSpPr>
        <p:spPr>
          <a:xfrm>
            <a:off x="995362" y="2057400"/>
            <a:ext cx="10668000" cy="952500"/>
          </a:xfrm>
          <a:prstGeom prst="rect">
            <a:avLst/>
          </a:prstGeom>
          <a:noFill/>
          <a:ln w="0">
            <a:noFill/>
          </a:ln>
        </p:spPr>
        <p:txBody>
          <a:bodyPr>
            <a:noAutofit/>
          </a:bodyPr>
          <a:lstStyle/>
          <a:p>
            <a:pPr>
              <a:buNone/>
              <a:defRPr sz="2400" b="0">
                <a:solidFill>
                  <a:srgbClr val="122C32"/>
                </a:solidFill>
                <a:latin typeface="Bitstream Charter"/>
                <a:ea typeface="Bitstream Charter"/>
                <a:cs typeface="Bitstream Charter"/>
              </a:defRPr>
            </a:pPr>
            <a:r>
              <a:rPr lang="lv-LV" sz="2400" dirty="0">
                <a:solidFill>
                  <a:srgbClr val="122C32"/>
                </a:solidFill>
                <a:latin typeface="Bitstream Charter"/>
              </a:rPr>
              <a:t>WorksRecorded helps project managers save time by collecting and analysing site data for them</a:t>
            </a:r>
            <a:endParaRPr sz="2400" b="0" dirty="0">
              <a:solidFill>
                <a:srgbClr val="122C32"/>
              </a:solidFill>
              <a:latin typeface="Bitstream Charter"/>
              <a:ea typeface="Bitstream Charter"/>
              <a:cs typeface="Bitstream Charter"/>
            </a:endParaRPr>
          </a:p>
        </p:txBody>
      </p:sp>
      <p:sp>
        <p:nvSpPr>
          <p:cNvPr id="4" name="Rectangle 3">
            <a:extLst>
              <a:ext uri="{FF2B5EF4-FFF2-40B4-BE49-F238E27FC236}">
                <a16:creationId xmlns:a16="http://schemas.microsoft.com/office/drawing/2014/main" id="{DF9F14C3-3F94-4553-9594-7AE3726B09A3}"/>
              </a:ext>
            </a:extLst>
          </p:cNvPr>
          <p:cNvSpPr>
            <a:spLocks noGrp="1"/>
          </p:cNvSpPr>
          <p:nvPr/>
        </p:nvSpPr>
        <p:spPr>
          <a:xfrm>
            <a:off x="685800" y="3143250"/>
            <a:ext cx="619125" cy="571500"/>
          </a:xfrm>
          <a:prstGeom prst="rect">
            <a:avLst/>
          </a:prstGeom>
          <a:noFill/>
          <a:ln w="0">
            <a:noFill/>
          </a:ln>
        </p:spPr>
        <p:txBody>
          <a:bodyPr>
            <a:noAutofit/>
          </a:bodyPr>
          <a:lstStyle/>
          <a:p>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01</a:t>
            </a:r>
          </a:p>
        </p:txBody>
      </p:sp>
      <p:sp>
        <p:nvSpPr>
          <p:cNvPr id="5" name="Rectangle 4">
            <a:extLst>
              <a:ext uri="{FF2B5EF4-FFF2-40B4-BE49-F238E27FC236}">
                <a16:creationId xmlns:a16="http://schemas.microsoft.com/office/drawing/2014/main" id="{4D940AC5-04DA-4D32-80C5-7AAEDD3311FE}"/>
              </a:ext>
            </a:extLst>
          </p:cNvPr>
          <p:cNvSpPr>
            <a:spLocks noGrp="1"/>
          </p:cNvSpPr>
          <p:nvPr/>
        </p:nvSpPr>
        <p:spPr>
          <a:xfrm>
            <a:off x="1524000" y="3143250"/>
            <a:ext cx="9715500" cy="457200"/>
          </a:xfrm>
          <a:prstGeom prst="rect">
            <a:avLst/>
          </a:prstGeom>
          <a:noFill/>
          <a:ln w="0">
            <a:noFill/>
          </a:ln>
        </p:spPr>
        <p:txBody>
          <a:bodyPr>
            <a:noAutofit/>
          </a:bodyPr>
          <a:lstStyle/>
          <a:p>
            <a:pPr>
              <a:buNone/>
              <a:defRPr sz="2250" b="1">
                <a:solidFill>
                  <a:srgbClr val="122C32"/>
                </a:solidFill>
                <a:latin typeface="Bitstream Charter"/>
                <a:ea typeface="Bitstream Charter"/>
                <a:cs typeface="Bitstream Charter"/>
              </a:defRPr>
            </a:pPr>
            <a:r>
              <a:rPr lang="lv-LV" sz="2250" b="1" dirty="0">
                <a:solidFill>
                  <a:srgbClr val="122C32"/>
                </a:solidFill>
                <a:latin typeface="Bitstream Charter"/>
                <a:ea typeface="Bitstream Charter"/>
                <a:cs typeface="Bitstream Charter"/>
              </a:rPr>
              <a:t>Direct loses</a:t>
            </a:r>
            <a:endParaRPr sz="2250" b="1" dirty="0">
              <a:solidFill>
                <a:srgbClr val="122C32"/>
              </a:solidFill>
              <a:latin typeface="Bitstream Charter"/>
              <a:ea typeface="Bitstream Charter"/>
              <a:cs typeface="Bitstream Charter"/>
            </a:endParaRPr>
          </a:p>
        </p:txBody>
      </p:sp>
      <p:sp>
        <p:nvSpPr>
          <p:cNvPr id="6" name="Rectangle 5">
            <a:extLst>
              <a:ext uri="{FF2B5EF4-FFF2-40B4-BE49-F238E27FC236}">
                <a16:creationId xmlns:a16="http://schemas.microsoft.com/office/drawing/2014/main" id="{77C495F6-8883-43A7-BE1F-B21C1D694BB7}"/>
              </a:ext>
            </a:extLst>
          </p:cNvPr>
          <p:cNvSpPr>
            <a:spLocks noGrp="1"/>
          </p:cNvSpPr>
          <p:nvPr/>
        </p:nvSpPr>
        <p:spPr>
          <a:xfrm>
            <a:off x="1524000" y="3667125"/>
            <a:ext cx="9429750" cy="714375"/>
          </a:xfrm>
          <a:prstGeom prst="rect">
            <a:avLst/>
          </a:prstGeom>
          <a:noFill/>
          <a:ln w="0">
            <a:noFill/>
          </a:ln>
        </p:spPr>
        <p:txBody>
          <a:bodyPr>
            <a:noAutofit/>
          </a:bodyPr>
          <a:lstStyle/>
          <a:p>
            <a:pPr>
              <a:buNone/>
              <a:defRPr sz="1875" b="0">
                <a:solidFill>
                  <a:srgbClr val="52686B"/>
                </a:solidFill>
                <a:latin typeface="Bitstream Charter"/>
                <a:ea typeface="Bitstream Charter"/>
                <a:cs typeface="Bitstream Charter"/>
              </a:defRPr>
            </a:pPr>
            <a:r>
              <a:rPr lang="lv-LV" sz="1875" b="0" dirty="0">
                <a:solidFill>
                  <a:srgbClr val="52686B"/>
                </a:solidFill>
                <a:latin typeface="Bitstream Charter"/>
                <a:ea typeface="Bitstream Charter"/>
                <a:cs typeface="Bitstream Charter"/>
              </a:rPr>
              <a:t>Proper data collection on site activities for medium size project (10-15 workers) – is around 30 min a day + half a day a month to analyze = 15 hours a week. </a:t>
            </a:r>
            <a:endParaRPr sz="1875" b="0" dirty="0">
              <a:solidFill>
                <a:srgbClr val="52686B"/>
              </a:solidFill>
              <a:latin typeface="Bitstream Charter"/>
              <a:ea typeface="Bitstream Charter"/>
              <a:cs typeface="Bitstream Charter"/>
            </a:endParaRPr>
          </a:p>
        </p:txBody>
      </p:sp>
      <p:sp>
        <p:nvSpPr>
          <p:cNvPr id="7" name="Rectangle 6">
            <a:extLst>
              <a:ext uri="{FF2B5EF4-FFF2-40B4-BE49-F238E27FC236}">
                <a16:creationId xmlns:a16="http://schemas.microsoft.com/office/drawing/2014/main" id="{2E0EB585-E9C5-402A-A012-3AAF584131CF}"/>
              </a:ext>
            </a:extLst>
          </p:cNvPr>
          <p:cNvSpPr>
            <a:spLocks noGrp="1"/>
          </p:cNvSpPr>
          <p:nvPr/>
        </p:nvSpPr>
        <p:spPr>
          <a:xfrm>
            <a:off x="685800" y="4695825"/>
            <a:ext cx="619125" cy="571500"/>
          </a:xfrm>
          <a:prstGeom prst="rect">
            <a:avLst/>
          </a:prstGeom>
          <a:noFill/>
          <a:ln w="0">
            <a:noFill/>
          </a:ln>
        </p:spPr>
        <p:txBody>
          <a:bodyPr>
            <a:noAutofit/>
          </a:bodyPr>
          <a:lstStyle/>
          <a:p>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02</a:t>
            </a:r>
          </a:p>
        </p:txBody>
      </p:sp>
      <p:sp>
        <p:nvSpPr>
          <p:cNvPr id="8" name="Rectangle 7">
            <a:extLst>
              <a:ext uri="{FF2B5EF4-FFF2-40B4-BE49-F238E27FC236}">
                <a16:creationId xmlns:a16="http://schemas.microsoft.com/office/drawing/2014/main" id="{5461938E-ED1C-4B79-89A4-1A63F100F5BB}"/>
              </a:ext>
            </a:extLst>
          </p:cNvPr>
          <p:cNvSpPr>
            <a:spLocks noGrp="1"/>
          </p:cNvSpPr>
          <p:nvPr/>
        </p:nvSpPr>
        <p:spPr>
          <a:xfrm>
            <a:off x="1524000" y="4695825"/>
            <a:ext cx="9715500" cy="457200"/>
          </a:xfrm>
          <a:prstGeom prst="rect">
            <a:avLst/>
          </a:prstGeom>
          <a:noFill/>
          <a:ln w="0">
            <a:noFill/>
          </a:ln>
        </p:spPr>
        <p:txBody>
          <a:bodyPr>
            <a:noAutofit/>
          </a:bodyPr>
          <a:lstStyle/>
          <a:p>
            <a:pPr>
              <a:buNone/>
              <a:defRPr sz="2250" b="1">
                <a:solidFill>
                  <a:srgbClr val="122C32"/>
                </a:solidFill>
                <a:latin typeface="Bitstream Charter"/>
                <a:ea typeface="Bitstream Charter"/>
                <a:cs typeface="Bitstream Charter"/>
              </a:defRPr>
            </a:pPr>
            <a:r>
              <a:rPr lang="lv-LV" sz="2250" b="1" dirty="0">
                <a:solidFill>
                  <a:srgbClr val="122C32"/>
                </a:solidFill>
                <a:latin typeface="Bitstream Charter"/>
                <a:ea typeface="Bitstream Charter"/>
                <a:cs typeface="Bitstream Charter"/>
              </a:rPr>
              <a:t>Indirect losses</a:t>
            </a:r>
            <a:endParaRPr sz="2250" b="1" dirty="0">
              <a:solidFill>
                <a:srgbClr val="122C32"/>
              </a:solidFill>
              <a:latin typeface="Bitstream Charter"/>
              <a:ea typeface="Bitstream Charter"/>
              <a:cs typeface="Bitstream Charter"/>
            </a:endParaRPr>
          </a:p>
        </p:txBody>
      </p:sp>
      <p:sp>
        <p:nvSpPr>
          <p:cNvPr id="9" name="Rectangle 8">
            <a:extLst>
              <a:ext uri="{FF2B5EF4-FFF2-40B4-BE49-F238E27FC236}">
                <a16:creationId xmlns:a16="http://schemas.microsoft.com/office/drawing/2014/main" id="{AE14D021-5633-4CA7-B7BD-ADD9E092A521}"/>
              </a:ext>
            </a:extLst>
          </p:cNvPr>
          <p:cNvSpPr>
            <a:spLocks noGrp="1"/>
          </p:cNvSpPr>
          <p:nvPr/>
        </p:nvSpPr>
        <p:spPr>
          <a:xfrm>
            <a:off x="1524000" y="5219700"/>
            <a:ext cx="9429750" cy="714375"/>
          </a:xfrm>
          <a:prstGeom prst="rect">
            <a:avLst/>
          </a:prstGeom>
          <a:noFill/>
          <a:ln w="0">
            <a:noFill/>
          </a:ln>
        </p:spPr>
        <p:txBody>
          <a:bodyPr>
            <a:noAutofit/>
          </a:bodyPr>
          <a:lstStyle/>
          <a:p>
            <a:pPr>
              <a:buNone/>
              <a:defRPr sz="1875" b="0">
                <a:solidFill>
                  <a:srgbClr val="52686B"/>
                </a:solidFill>
                <a:latin typeface="Bitstream Charter"/>
                <a:ea typeface="Bitstream Charter"/>
                <a:cs typeface="Bitstream Charter"/>
              </a:defRPr>
            </a:pPr>
            <a:r>
              <a:rPr lang="lv-LV" sz="1875" dirty="0">
                <a:solidFill>
                  <a:srgbClr val="52686B"/>
                </a:solidFill>
                <a:latin typeface="Bitstream Charter"/>
                <a:ea typeface="Bitstream Charter"/>
                <a:cs typeface="Bitstream Charter"/>
              </a:rPr>
              <a:t>When managment overloaded, data analytics often is skipped, which negatviely affects planning and result in rewors/delays/additional work </a:t>
            </a:r>
            <a:endParaRPr sz="1875" b="0" dirty="0">
              <a:solidFill>
                <a:srgbClr val="52686B"/>
              </a:solidFill>
              <a:latin typeface="Bitstream Charter"/>
              <a:ea typeface="Bitstream Charter"/>
              <a:cs typeface="Bitstream Charter"/>
            </a:endParaRPr>
          </a:p>
        </p:txBody>
      </p:sp>
      <p:sp>
        <p:nvSpPr>
          <p:cNvPr id="11" name="Rectangle 10">
            <a:extLst>
              <a:ext uri="{FF2B5EF4-FFF2-40B4-BE49-F238E27FC236}">
                <a16:creationId xmlns:a16="http://schemas.microsoft.com/office/drawing/2014/main" id="{610D82F2-5E24-46A2-8063-9369D3AB2FAF}"/>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536B70"/>
                </a:solidFill>
                <a:latin typeface="Calibri"/>
                <a:ea typeface="Calibri"/>
                <a:cs typeface="Calibri"/>
              </a:defRPr>
            </a:pPr>
            <a:r>
              <a:rPr sz="1200" b="0">
                <a:solidFill>
                  <a:srgbClr val="536B70"/>
                </a:solidFill>
                <a:latin typeface="Calibri"/>
                <a:ea typeface="Calibri"/>
                <a:cs typeface="Calibri"/>
              </a:rPr>
              <a:t>02</a:t>
            </a:r>
          </a:p>
        </p:txBody>
      </p:sp>
    </p:spTree>
    <p:extLst>
      <p:ext uri="{BB962C8B-B14F-4D97-AF65-F5344CB8AC3E}">
        <p14:creationId xmlns:p14="http://schemas.microsoft.com/office/powerpoint/2010/main" val="14646922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F514FA7-0554-4316-91E5-30FDDE89B4EB}"/>
              </a:ext>
            </a:extLst>
          </p:cNvPr>
          <p:cNvSpPr>
            <a:spLocks noGrp="1"/>
          </p:cNvSpPr>
          <p:nvPr/>
        </p:nvSpPr>
        <p:spPr>
          <a:xfrm>
            <a:off x="685800" y="571500"/>
            <a:ext cx="10820400" cy="1095375"/>
          </a:xfrm>
          <a:prstGeom prst="rect">
            <a:avLst/>
          </a:prstGeom>
          <a:noFill/>
          <a:ln w="0">
            <a:noFill/>
          </a:ln>
        </p:spPr>
        <p:txBody>
          <a:bodyPr>
            <a:noAutofit/>
          </a:bodyPr>
          <a:lstStyle/>
          <a:p>
            <a:pPr>
              <a:buNone/>
              <a:defRPr sz="3600" b="1">
                <a:solidFill>
                  <a:srgbClr val="122C32"/>
                </a:solidFill>
                <a:latin typeface="Bitstream Charter"/>
                <a:ea typeface="Bitstream Charter"/>
                <a:cs typeface="Bitstream Charter"/>
              </a:defRPr>
            </a:pPr>
            <a:r>
              <a:rPr sz="3600" b="1">
                <a:solidFill>
                  <a:srgbClr val="122C32"/>
                </a:solidFill>
                <a:latin typeface="Bitstream Charter"/>
                <a:ea typeface="Bitstream Charter"/>
                <a:cs typeface="Bitstream Charter"/>
              </a:rPr>
              <a:t>Why don’t contractors use data?</a:t>
            </a:r>
          </a:p>
        </p:txBody>
      </p:sp>
      <p:sp>
        <p:nvSpPr>
          <p:cNvPr id="3" name="Rectangle 2">
            <a:extLst>
              <a:ext uri="{FF2B5EF4-FFF2-40B4-BE49-F238E27FC236}">
                <a16:creationId xmlns:a16="http://schemas.microsoft.com/office/drawing/2014/main" id="{766CF1E1-1D5C-4E3E-83B0-4C3E4D57E753}"/>
              </a:ext>
            </a:extLst>
          </p:cNvPr>
          <p:cNvSpPr>
            <a:spLocks noGrp="1"/>
          </p:cNvSpPr>
          <p:nvPr/>
        </p:nvSpPr>
        <p:spPr>
          <a:xfrm>
            <a:off x="685800" y="1857375"/>
            <a:ext cx="619125" cy="571500"/>
          </a:xfrm>
          <a:prstGeom prst="rect">
            <a:avLst/>
          </a:prstGeom>
          <a:noFill/>
          <a:ln w="0">
            <a:noFill/>
          </a:ln>
        </p:spPr>
        <p:txBody>
          <a:bodyPr>
            <a:noAutofit/>
          </a:bodyPr>
          <a:lstStyle/>
          <a:p>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01</a:t>
            </a:r>
          </a:p>
        </p:txBody>
      </p:sp>
      <p:sp>
        <p:nvSpPr>
          <p:cNvPr id="4" name="Rectangle 3">
            <a:extLst>
              <a:ext uri="{FF2B5EF4-FFF2-40B4-BE49-F238E27FC236}">
                <a16:creationId xmlns:a16="http://schemas.microsoft.com/office/drawing/2014/main" id="{A2A7A93A-5549-496F-A374-F394A6EC4CA1}"/>
              </a:ext>
            </a:extLst>
          </p:cNvPr>
          <p:cNvSpPr>
            <a:spLocks noGrp="1"/>
          </p:cNvSpPr>
          <p:nvPr/>
        </p:nvSpPr>
        <p:spPr>
          <a:xfrm>
            <a:off x="1524000" y="1857375"/>
            <a:ext cx="9715500" cy="457200"/>
          </a:xfrm>
          <a:prstGeom prst="rect">
            <a:avLst/>
          </a:prstGeom>
          <a:noFill/>
          <a:ln w="0">
            <a:noFill/>
          </a:ln>
        </p:spPr>
        <p:txBody>
          <a:bodyPr>
            <a:noAutofit/>
          </a:bodyPr>
          <a:lstStyle/>
          <a:p>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Hard to collect</a:t>
            </a:r>
          </a:p>
        </p:txBody>
      </p:sp>
      <p:sp>
        <p:nvSpPr>
          <p:cNvPr id="5" name="Rectangle 4">
            <a:extLst>
              <a:ext uri="{FF2B5EF4-FFF2-40B4-BE49-F238E27FC236}">
                <a16:creationId xmlns:a16="http://schemas.microsoft.com/office/drawing/2014/main" id="{33BCD30B-329D-4DCC-B4E1-0CE203F80E24}"/>
              </a:ext>
            </a:extLst>
          </p:cNvPr>
          <p:cNvSpPr>
            <a:spLocks noGrp="1"/>
          </p:cNvSpPr>
          <p:nvPr/>
        </p:nvSpPr>
        <p:spPr>
          <a:xfrm>
            <a:off x="1524000" y="2381250"/>
            <a:ext cx="9429750" cy="714375"/>
          </a:xfrm>
          <a:prstGeom prst="rect">
            <a:avLst/>
          </a:prstGeom>
          <a:noFill/>
          <a:ln w="0">
            <a:noFill/>
          </a:ln>
        </p:spPr>
        <p:txBody>
          <a:bodyPr>
            <a:noAutofit/>
          </a:bodyPr>
          <a:lstStyle/>
          <a:p>
            <a:pPr>
              <a:buNone/>
              <a:defRPr sz="1875" b="0">
                <a:solidFill>
                  <a:srgbClr val="52686B"/>
                </a:solidFill>
                <a:latin typeface="Bitstream Charter"/>
                <a:ea typeface="Bitstream Charter"/>
                <a:cs typeface="Bitstream Charter"/>
              </a:defRPr>
            </a:pPr>
            <a:r>
              <a:rPr sz="1875">
                <a:solidFill>
                  <a:srgbClr val="52686B"/>
                </a:solidFill>
                <a:latin typeface="Bitstream Charter"/>
                <a:ea typeface="Bitstream Charter"/>
                <a:cs typeface="Bitstream Charter"/>
              </a:rPr>
              <a:t>How do you even track what 20 workers do during the day? </a:t>
            </a:r>
          </a:p>
        </p:txBody>
      </p:sp>
      <p:sp>
        <p:nvSpPr>
          <p:cNvPr id="6" name="Rectangle 5">
            <a:extLst>
              <a:ext uri="{FF2B5EF4-FFF2-40B4-BE49-F238E27FC236}">
                <a16:creationId xmlns:a16="http://schemas.microsoft.com/office/drawing/2014/main" id="{A0C3026F-41DF-4EE6-953C-D66B620F47E0}"/>
              </a:ext>
            </a:extLst>
          </p:cNvPr>
          <p:cNvSpPr>
            <a:spLocks noGrp="1"/>
          </p:cNvSpPr>
          <p:nvPr/>
        </p:nvSpPr>
        <p:spPr>
          <a:xfrm>
            <a:off x="685800" y="3333750"/>
            <a:ext cx="619125" cy="571500"/>
          </a:xfrm>
          <a:prstGeom prst="rect">
            <a:avLst/>
          </a:prstGeom>
          <a:noFill/>
          <a:ln w="0">
            <a:noFill/>
          </a:ln>
        </p:spPr>
        <p:txBody>
          <a:bodyPr>
            <a:noAutofit/>
          </a:bodyPr>
          <a:lstStyle/>
          <a:p>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02</a:t>
            </a:r>
          </a:p>
        </p:txBody>
      </p:sp>
      <p:sp>
        <p:nvSpPr>
          <p:cNvPr id="7" name="Rectangle 6">
            <a:extLst>
              <a:ext uri="{FF2B5EF4-FFF2-40B4-BE49-F238E27FC236}">
                <a16:creationId xmlns:a16="http://schemas.microsoft.com/office/drawing/2014/main" id="{72657F94-172D-49F9-9A94-8B8DEA8B55B7}"/>
              </a:ext>
            </a:extLst>
          </p:cNvPr>
          <p:cNvSpPr>
            <a:spLocks noGrp="1"/>
          </p:cNvSpPr>
          <p:nvPr/>
        </p:nvSpPr>
        <p:spPr>
          <a:xfrm>
            <a:off x="1524000" y="3333750"/>
            <a:ext cx="9715500" cy="457200"/>
          </a:xfrm>
          <a:prstGeom prst="rect">
            <a:avLst/>
          </a:prstGeom>
          <a:noFill/>
          <a:ln w="0">
            <a:noFill/>
          </a:ln>
        </p:spPr>
        <p:txBody>
          <a:bodyPr>
            <a:noAutofit/>
          </a:bodyPr>
          <a:lstStyle/>
          <a:p>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Hard to structure</a:t>
            </a:r>
          </a:p>
        </p:txBody>
      </p:sp>
      <p:sp>
        <p:nvSpPr>
          <p:cNvPr id="8" name="Rectangle 7">
            <a:extLst>
              <a:ext uri="{FF2B5EF4-FFF2-40B4-BE49-F238E27FC236}">
                <a16:creationId xmlns:a16="http://schemas.microsoft.com/office/drawing/2014/main" id="{5CE9F297-D90B-4F83-B221-FC09E6E71972}"/>
              </a:ext>
            </a:extLst>
          </p:cNvPr>
          <p:cNvSpPr>
            <a:spLocks noGrp="1"/>
          </p:cNvSpPr>
          <p:nvPr/>
        </p:nvSpPr>
        <p:spPr>
          <a:xfrm>
            <a:off x="1524000" y="3857625"/>
            <a:ext cx="9429750" cy="714375"/>
          </a:xfrm>
          <a:prstGeom prst="rect">
            <a:avLst/>
          </a:prstGeom>
          <a:noFill/>
          <a:ln w="0">
            <a:noFill/>
          </a:ln>
        </p:spPr>
        <p:txBody>
          <a:bodyPr>
            <a:noAutofit/>
          </a:bodyPr>
          <a:lstStyle/>
          <a:p>
            <a:pPr>
              <a:buNone/>
              <a:defRPr sz="1875" b="0">
                <a:solidFill>
                  <a:srgbClr val="52686B"/>
                </a:solidFill>
                <a:latin typeface="Bitstream Charter"/>
                <a:ea typeface="Bitstream Charter"/>
                <a:cs typeface="Bitstream Charter"/>
              </a:defRPr>
            </a:pPr>
            <a:r>
              <a:rPr sz="1875" b="0">
                <a:solidFill>
                  <a:srgbClr val="52686B"/>
                </a:solidFill>
                <a:latin typeface="Bitstream Charter"/>
                <a:ea typeface="Bitstream Charter"/>
                <a:cs typeface="Bitstream Charter"/>
              </a:rPr>
              <a:t>What do you record, and how?</a:t>
            </a:r>
          </a:p>
        </p:txBody>
      </p:sp>
      <p:sp>
        <p:nvSpPr>
          <p:cNvPr id="9" name="Rectangle 8">
            <a:extLst>
              <a:ext uri="{FF2B5EF4-FFF2-40B4-BE49-F238E27FC236}">
                <a16:creationId xmlns:a16="http://schemas.microsoft.com/office/drawing/2014/main" id="{94A69771-EE8C-48B2-B62E-7FDE26F9F693}"/>
              </a:ext>
            </a:extLst>
          </p:cNvPr>
          <p:cNvSpPr>
            <a:spLocks noGrp="1"/>
          </p:cNvSpPr>
          <p:nvPr/>
        </p:nvSpPr>
        <p:spPr>
          <a:xfrm>
            <a:off x="685800" y="4810125"/>
            <a:ext cx="619125" cy="571500"/>
          </a:xfrm>
          <a:prstGeom prst="rect">
            <a:avLst/>
          </a:prstGeom>
          <a:noFill/>
          <a:ln w="0">
            <a:noFill/>
          </a:ln>
        </p:spPr>
        <p:txBody>
          <a:bodyPr>
            <a:noAutofit/>
          </a:bodyPr>
          <a:lstStyle/>
          <a:p>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03</a:t>
            </a:r>
          </a:p>
        </p:txBody>
      </p:sp>
      <p:sp>
        <p:nvSpPr>
          <p:cNvPr id="10" name="Rectangle 9">
            <a:extLst>
              <a:ext uri="{FF2B5EF4-FFF2-40B4-BE49-F238E27FC236}">
                <a16:creationId xmlns:a16="http://schemas.microsoft.com/office/drawing/2014/main" id="{466E4A16-E5C9-48D9-976B-203573C4AE29}"/>
              </a:ext>
            </a:extLst>
          </p:cNvPr>
          <p:cNvSpPr>
            <a:spLocks noGrp="1"/>
          </p:cNvSpPr>
          <p:nvPr/>
        </p:nvSpPr>
        <p:spPr>
          <a:xfrm>
            <a:off x="1524000" y="4810125"/>
            <a:ext cx="9715500" cy="457200"/>
          </a:xfrm>
          <a:prstGeom prst="rect">
            <a:avLst/>
          </a:prstGeom>
          <a:noFill/>
          <a:ln w="0">
            <a:noFill/>
          </a:ln>
        </p:spPr>
        <p:txBody>
          <a:bodyPr>
            <a:noAutofit/>
          </a:bodyPr>
          <a:lstStyle/>
          <a:p>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Hard to analyze</a:t>
            </a:r>
          </a:p>
        </p:txBody>
      </p:sp>
      <p:sp>
        <p:nvSpPr>
          <p:cNvPr id="11" name="Rectangle 10">
            <a:extLst>
              <a:ext uri="{FF2B5EF4-FFF2-40B4-BE49-F238E27FC236}">
                <a16:creationId xmlns:a16="http://schemas.microsoft.com/office/drawing/2014/main" id="{A8AE9124-B3BD-463C-8E00-230CE3CFD146}"/>
              </a:ext>
            </a:extLst>
          </p:cNvPr>
          <p:cNvSpPr>
            <a:spLocks noGrp="1"/>
          </p:cNvSpPr>
          <p:nvPr/>
        </p:nvSpPr>
        <p:spPr>
          <a:xfrm>
            <a:off x="1524000" y="5334000"/>
            <a:ext cx="9429750" cy="714375"/>
          </a:xfrm>
          <a:prstGeom prst="rect">
            <a:avLst/>
          </a:prstGeom>
          <a:noFill/>
          <a:ln w="0">
            <a:noFill/>
          </a:ln>
        </p:spPr>
        <p:txBody>
          <a:bodyPr>
            <a:noAutofit/>
          </a:bodyPr>
          <a:lstStyle/>
          <a:p>
            <a:pPr>
              <a:buNone/>
              <a:defRPr sz="1875" b="0">
                <a:solidFill>
                  <a:srgbClr val="52686B"/>
                </a:solidFill>
                <a:latin typeface="Bitstream Charter"/>
                <a:ea typeface="Bitstream Charter"/>
                <a:cs typeface="Bitstream Charter"/>
              </a:defRPr>
            </a:pPr>
            <a:r>
              <a:rPr sz="1875" b="0">
                <a:solidFill>
                  <a:srgbClr val="52686B"/>
                </a:solidFill>
                <a:latin typeface="Bitstream Charter"/>
                <a:ea typeface="Bitstream Charter"/>
                <a:cs typeface="Bitstream Charter"/>
              </a:rPr>
              <a:t>What do you do with 2,000 Excel rows after a year-long construction project?</a:t>
            </a:r>
          </a:p>
        </p:txBody>
      </p:sp>
      <p:sp>
        <p:nvSpPr>
          <p:cNvPr id="13" name="Rectangle 12">
            <a:extLst>
              <a:ext uri="{FF2B5EF4-FFF2-40B4-BE49-F238E27FC236}">
                <a16:creationId xmlns:a16="http://schemas.microsoft.com/office/drawing/2014/main" id="{037EEB29-8E5F-4284-BB51-4C741FE5734C}"/>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536B70"/>
                </a:solidFill>
                <a:latin typeface="Calibri"/>
                <a:ea typeface="Calibri"/>
                <a:cs typeface="Calibri"/>
              </a:defRPr>
            </a:pPr>
            <a:r>
              <a:rPr sz="1200" b="0">
                <a:solidFill>
                  <a:srgbClr val="536B70"/>
                </a:solidFill>
                <a:latin typeface="Calibri"/>
                <a:ea typeface="Calibri"/>
                <a:cs typeface="Calibri"/>
              </a:rPr>
              <a:t>03</a:t>
            </a:r>
          </a:p>
        </p:txBody>
      </p:sp>
    </p:spTree>
    <p:extLst>
      <p:ext uri="{BB962C8B-B14F-4D97-AF65-F5344CB8AC3E}">
        <p14:creationId xmlns:p14="http://schemas.microsoft.com/office/powerpoint/2010/main" val="20119820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A645D17-DC3B-CD19-1A56-49C34E0154A6}"/>
              </a:ext>
            </a:extLst>
          </p:cNvPr>
          <p:cNvSpPr>
            <a:spLocks noGrp="1"/>
          </p:cNvSpPr>
          <p:nvPr/>
        </p:nvSpPr>
        <p:spPr>
          <a:xfrm>
            <a:off x="685800" y="571500"/>
            <a:ext cx="10820400" cy="1095375"/>
          </a:xfrm>
          <a:prstGeom prst="rect">
            <a:avLst/>
          </a:prstGeom>
          <a:noFill/>
          <a:ln w="0">
            <a:noFill/>
          </a:ln>
        </p:spPr>
        <p:txBody>
          <a:bodyPr>
            <a:noAutofit/>
          </a:bodyPr>
          <a:lstStyle/>
          <a:p>
            <a:pPr>
              <a:buNone/>
              <a:defRPr sz="3600" b="1">
                <a:solidFill>
                  <a:srgbClr val="122C32"/>
                </a:solidFill>
                <a:latin typeface="Bitstream Charter"/>
                <a:ea typeface="Bitstream Charter"/>
                <a:cs typeface="Bitstream Charter"/>
              </a:defRPr>
            </a:pPr>
            <a:r>
              <a:rPr sz="3600" b="1">
                <a:solidFill>
                  <a:srgbClr val="122C32"/>
                </a:solidFill>
                <a:latin typeface="Bitstream Charter"/>
                <a:ea typeface="Bitstream Charter"/>
                <a:cs typeface="Bitstream Charter"/>
              </a:rPr>
              <a:t>How we help </a:t>
            </a:r>
          </a:p>
        </p:txBody>
      </p:sp>
      <p:sp>
        <p:nvSpPr>
          <p:cNvPr id="3" name="Rectangle 2">
            <a:extLst>
              <a:ext uri="{FF2B5EF4-FFF2-40B4-BE49-F238E27FC236}">
                <a16:creationId xmlns:a16="http://schemas.microsoft.com/office/drawing/2014/main" id="{D8D09C23-A343-119D-0640-E09AAE2702C9}"/>
              </a:ext>
            </a:extLst>
          </p:cNvPr>
          <p:cNvSpPr>
            <a:spLocks noGrp="1"/>
          </p:cNvSpPr>
          <p:nvPr/>
        </p:nvSpPr>
        <p:spPr>
          <a:xfrm>
            <a:off x="685800" y="1857375"/>
            <a:ext cx="619125" cy="571500"/>
          </a:xfrm>
          <a:prstGeom prst="rect">
            <a:avLst/>
          </a:prstGeom>
          <a:noFill/>
          <a:ln w="0">
            <a:noFill/>
          </a:ln>
        </p:spPr>
        <p:txBody>
          <a:bodyPr>
            <a:noAutofit/>
          </a:bodyPr>
          <a:lstStyle/>
          <a:p>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01</a:t>
            </a:r>
          </a:p>
        </p:txBody>
      </p:sp>
      <p:sp>
        <p:nvSpPr>
          <p:cNvPr id="4" name="Rectangle 3">
            <a:extLst>
              <a:ext uri="{FF2B5EF4-FFF2-40B4-BE49-F238E27FC236}">
                <a16:creationId xmlns:a16="http://schemas.microsoft.com/office/drawing/2014/main" id="{361D22E2-D781-3AC0-19FC-AF18102F03C4}"/>
              </a:ext>
            </a:extLst>
          </p:cNvPr>
          <p:cNvSpPr>
            <a:spLocks noGrp="1"/>
          </p:cNvSpPr>
          <p:nvPr/>
        </p:nvSpPr>
        <p:spPr>
          <a:xfrm>
            <a:off x="1524000" y="1857375"/>
            <a:ext cx="9715500" cy="457200"/>
          </a:xfrm>
          <a:prstGeom prst="rect">
            <a:avLst/>
          </a:prstGeom>
          <a:noFill/>
          <a:ln w="0">
            <a:noFill/>
          </a:ln>
        </p:spPr>
        <p:txBody>
          <a:bodyPr>
            <a:noAutofit/>
          </a:bodyPr>
          <a:lstStyle/>
          <a:p>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Provide a data collection tool – WhatsApp automation</a:t>
            </a:r>
          </a:p>
        </p:txBody>
      </p:sp>
      <p:sp>
        <p:nvSpPr>
          <p:cNvPr id="5" name="Rectangle 4">
            <a:extLst>
              <a:ext uri="{FF2B5EF4-FFF2-40B4-BE49-F238E27FC236}">
                <a16:creationId xmlns:a16="http://schemas.microsoft.com/office/drawing/2014/main" id="{ADF20A53-2AD3-4CA3-6B21-D35FC07ED6D9}"/>
              </a:ext>
            </a:extLst>
          </p:cNvPr>
          <p:cNvSpPr>
            <a:spLocks noGrp="1"/>
          </p:cNvSpPr>
          <p:nvPr/>
        </p:nvSpPr>
        <p:spPr>
          <a:xfrm>
            <a:off x="1524000" y="2381250"/>
            <a:ext cx="9429750" cy="714375"/>
          </a:xfrm>
          <a:prstGeom prst="rect">
            <a:avLst/>
          </a:prstGeom>
          <a:noFill/>
          <a:ln w="0">
            <a:noFill/>
          </a:ln>
        </p:spPr>
        <p:txBody>
          <a:bodyPr>
            <a:noAutofit/>
          </a:bodyPr>
          <a:lstStyle/>
          <a:p>
            <a:r>
              <a:rPr sz="1875">
                <a:solidFill>
                  <a:srgbClr val="52686B"/>
                </a:solidFill>
                <a:latin typeface="Bitstream Charter"/>
                <a:ea typeface="Bitstream Charter"/>
                <a:cs typeface="Bitstream Charter"/>
              </a:rPr>
              <a:t>The site manager sends a WhatsApp voice message describing the day’s work.</a:t>
            </a:r>
          </a:p>
        </p:txBody>
      </p:sp>
      <p:sp>
        <p:nvSpPr>
          <p:cNvPr id="6" name="Rectangle 5">
            <a:extLst>
              <a:ext uri="{FF2B5EF4-FFF2-40B4-BE49-F238E27FC236}">
                <a16:creationId xmlns:a16="http://schemas.microsoft.com/office/drawing/2014/main" id="{65EE6F05-0976-85CC-862D-D4FBA490DFEF}"/>
              </a:ext>
            </a:extLst>
          </p:cNvPr>
          <p:cNvSpPr>
            <a:spLocks noGrp="1"/>
          </p:cNvSpPr>
          <p:nvPr/>
        </p:nvSpPr>
        <p:spPr>
          <a:xfrm>
            <a:off x="685800" y="3333750"/>
            <a:ext cx="619125" cy="571500"/>
          </a:xfrm>
          <a:prstGeom prst="rect">
            <a:avLst/>
          </a:prstGeom>
          <a:noFill/>
          <a:ln w="0">
            <a:noFill/>
          </a:ln>
        </p:spPr>
        <p:txBody>
          <a:bodyPr>
            <a:noAutofit/>
          </a:bodyPr>
          <a:lstStyle/>
          <a:p>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02</a:t>
            </a:r>
          </a:p>
        </p:txBody>
      </p:sp>
      <p:sp>
        <p:nvSpPr>
          <p:cNvPr id="7" name="Rectangle 6">
            <a:extLst>
              <a:ext uri="{FF2B5EF4-FFF2-40B4-BE49-F238E27FC236}">
                <a16:creationId xmlns:a16="http://schemas.microsoft.com/office/drawing/2014/main" id="{345F904B-50CB-29E8-96FB-0F3139356CF2}"/>
              </a:ext>
            </a:extLst>
          </p:cNvPr>
          <p:cNvSpPr>
            <a:spLocks noGrp="1"/>
          </p:cNvSpPr>
          <p:nvPr/>
        </p:nvSpPr>
        <p:spPr>
          <a:xfrm>
            <a:off x="1524000" y="3333750"/>
            <a:ext cx="9715500" cy="457200"/>
          </a:xfrm>
          <a:prstGeom prst="rect">
            <a:avLst/>
          </a:prstGeom>
          <a:noFill/>
          <a:ln w="0">
            <a:noFill/>
          </a:ln>
        </p:spPr>
        <p:txBody>
          <a:bodyPr>
            <a:noAutofit/>
          </a:bodyPr>
          <a:lstStyle/>
          <a:p>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WorksRecorded analyzes and structures messages</a:t>
            </a:r>
          </a:p>
        </p:txBody>
      </p:sp>
      <p:sp>
        <p:nvSpPr>
          <p:cNvPr id="8" name="Rectangle 7">
            <a:extLst>
              <a:ext uri="{FF2B5EF4-FFF2-40B4-BE49-F238E27FC236}">
                <a16:creationId xmlns:a16="http://schemas.microsoft.com/office/drawing/2014/main" id="{00971A1E-9BC9-44EF-1A19-CBD10E29D59E}"/>
              </a:ext>
            </a:extLst>
          </p:cNvPr>
          <p:cNvSpPr>
            <a:spLocks noGrp="1"/>
          </p:cNvSpPr>
          <p:nvPr/>
        </p:nvSpPr>
        <p:spPr>
          <a:xfrm>
            <a:off x="1524000" y="3857625"/>
            <a:ext cx="9429750" cy="714375"/>
          </a:xfrm>
          <a:prstGeom prst="rect">
            <a:avLst/>
          </a:prstGeom>
          <a:noFill/>
          <a:ln w="0">
            <a:noFill/>
          </a:ln>
        </p:spPr>
        <p:txBody>
          <a:bodyPr>
            <a:noAutofit/>
          </a:bodyPr>
          <a:lstStyle/>
          <a:p>
            <a:pPr>
              <a:buNone/>
              <a:defRPr sz="1875" b="0">
                <a:solidFill>
                  <a:srgbClr val="52686B"/>
                </a:solidFill>
                <a:latin typeface="Bitstream Charter"/>
                <a:ea typeface="Bitstream Charter"/>
                <a:cs typeface="Bitstream Charter"/>
              </a:defRPr>
            </a:pPr>
            <a:r>
              <a:rPr sz="1875" b="0">
                <a:solidFill>
                  <a:srgbClr val="52686B"/>
                </a:solidFill>
                <a:latin typeface="Bitstream Charter"/>
                <a:ea typeface="Bitstream Charter"/>
                <a:cs typeface="Bitstream Charter"/>
              </a:rPr>
              <a:t>WorksRecorded turns messages into structured records and tracks costs against the budget.</a:t>
            </a:r>
          </a:p>
        </p:txBody>
      </p:sp>
      <p:sp>
        <p:nvSpPr>
          <p:cNvPr id="9" name="Rectangle 8">
            <a:extLst>
              <a:ext uri="{FF2B5EF4-FFF2-40B4-BE49-F238E27FC236}">
                <a16:creationId xmlns:a16="http://schemas.microsoft.com/office/drawing/2014/main" id="{49388B51-3B61-CACC-AC9B-480F0BB88D15}"/>
              </a:ext>
            </a:extLst>
          </p:cNvPr>
          <p:cNvSpPr>
            <a:spLocks noGrp="1"/>
          </p:cNvSpPr>
          <p:nvPr/>
        </p:nvSpPr>
        <p:spPr>
          <a:xfrm>
            <a:off x="685800" y="4810125"/>
            <a:ext cx="619125" cy="571500"/>
          </a:xfrm>
          <a:prstGeom prst="rect">
            <a:avLst/>
          </a:prstGeom>
          <a:noFill/>
          <a:ln w="0">
            <a:noFill/>
          </a:ln>
        </p:spPr>
        <p:txBody>
          <a:bodyPr>
            <a:noAutofit/>
          </a:bodyPr>
          <a:lstStyle/>
          <a:p>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03</a:t>
            </a:r>
          </a:p>
        </p:txBody>
      </p:sp>
      <p:sp>
        <p:nvSpPr>
          <p:cNvPr id="10" name="Rectangle 9">
            <a:extLst>
              <a:ext uri="{FF2B5EF4-FFF2-40B4-BE49-F238E27FC236}">
                <a16:creationId xmlns:a16="http://schemas.microsoft.com/office/drawing/2014/main" id="{9BE9775C-1FDF-9F7C-68A7-1AC278BF4F5C}"/>
              </a:ext>
            </a:extLst>
          </p:cNvPr>
          <p:cNvSpPr>
            <a:spLocks noGrp="1"/>
          </p:cNvSpPr>
          <p:nvPr/>
        </p:nvSpPr>
        <p:spPr>
          <a:xfrm>
            <a:off x="1524000" y="4810125"/>
            <a:ext cx="9715500" cy="457200"/>
          </a:xfrm>
          <a:prstGeom prst="rect">
            <a:avLst/>
          </a:prstGeom>
          <a:noFill/>
          <a:ln w="0">
            <a:noFill/>
          </a:ln>
        </p:spPr>
        <p:txBody>
          <a:bodyPr>
            <a:noAutofit/>
          </a:bodyPr>
          <a:lstStyle/>
          <a:p>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The project manager or owner receives analytics</a:t>
            </a:r>
          </a:p>
        </p:txBody>
      </p:sp>
      <p:sp>
        <p:nvSpPr>
          <p:cNvPr id="11" name="Rectangle 10">
            <a:extLst>
              <a:ext uri="{FF2B5EF4-FFF2-40B4-BE49-F238E27FC236}">
                <a16:creationId xmlns:a16="http://schemas.microsoft.com/office/drawing/2014/main" id="{21E616BF-B03A-854C-AB20-527C08EE5D24}"/>
              </a:ext>
            </a:extLst>
          </p:cNvPr>
          <p:cNvSpPr>
            <a:spLocks noGrp="1"/>
          </p:cNvSpPr>
          <p:nvPr/>
        </p:nvSpPr>
        <p:spPr>
          <a:xfrm>
            <a:off x="1524000" y="5334000"/>
            <a:ext cx="9429750" cy="714375"/>
          </a:xfrm>
          <a:prstGeom prst="rect">
            <a:avLst/>
          </a:prstGeom>
          <a:noFill/>
          <a:ln w="0">
            <a:noFill/>
          </a:ln>
        </p:spPr>
        <p:txBody>
          <a:bodyPr>
            <a:noAutofit/>
          </a:bodyPr>
          <a:lstStyle/>
          <a:p>
            <a:pPr>
              <a:buNone/>
              <a:defRPr sz="1875" b="0">
                <a:solidFill>
                  <a:srgbClr val="52686B"/>
                </a:solidFill>
                <a:latin typeface="Bitstream Charter"/>
                <a:ea typeface="Bitstream Charter"/>
                <a:cs typeface="Bitstream Charter"/>
              </a:defRPr>
            </a:pPr>
            <a:r>
              <a:rPr sz="1875" b="0">
                <a:solidFill>
                  <a:srgbClr val="52686B"/>
                </a:solidFill>
                <a:latin typeface="Bitstream Charter"/>
                <a:ea typeface="Bitstream Charter"/>
                <a:cs typeface="Bitstream Charter"/>
              </a:rPr>
              <a:t>Spending breakdowns, delays, additional work and progress reports – everything needed to make decisions based on data.</a:t>
            </a:r>
          </a:p>
        </p:txBody>
      </p:sp>
      <p:sp>
        <p:nvSpPr>
          <p:cNvPr id="13" name="Rectangle 12">
            <a:extLst>
              <a:ext uri="{FF2B5EF4-FFF2-40B4-BE49-F238E27FC236}">
                <a16:creationId xmlns:a16="http://schemas.microsoft.com/office/drawing/2014/main" id="{B99F35EB-7035-4015-BD9F-9D86C82538C4}"/>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536B70"/>
                </a:solidFill>
                <a:latin typeface="Calibri"/>
                <a:ea typeface="Calibri"/>
                <a:cs typeface="Calibri"/>
              </a:defRPr>
            </a:pPr>
            <a:r>
              <a:rPr sz="1200" b="0">
                <a:solidFill>
                  <a:srgbClr val="536B70"/>
                </a:solidFill>
                <a:latin typeface="Calibri"/>
                <a:ea typeface="Calibri"/>
                <a:cs typeface="Calibri"/>
              </a:rPr>
              <a:t>04</a:t>
            </a:r>
          </a:p>
        </p:txBody>
      </p:sp>
    </p:spTree>
    <p:extLst>
      <p:ext uri="{BB962C8B-B14F-4D97-AF65-F5344CB8AC3E}">
        <p14:creationId xmlns:p14="http://schemas.microsoft.com/office/powerpoint/2010/main" val="42069970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a:extLst>
            <a:ext uri="{FF2B5EF4-FFF2-40B4-BE49-F238E27FC236}">
              <a16:creationId xmlns:a16="http://schemas.microsoft.com/office/drawing/2014/main" id="{DFE438CB-1EB2-A8FB-7DEA-5CDECF3D1CD6}"/>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E9C1972E-2A37-44EB-4C78-2116FD17AE85}"/>
              </a:ext>
            </a:extLst>
          </p:cNvPr>
          <p:cNvSpPr>
            <a:spLocks noGrp="1"/>
          </p:cNvSpPr>
          <p:nvPr/>
        </p:nvSpPr>
        <p:spPr>
          <a:xfrm>
            <a:off x="685800" y="571500"/>
            <a:ext cx="10820400" cy="1095375"/>
          </a:xfrm>
          <a:prstGeom prst="rect">
            <a:avLst/>
          </a:prstGeom>
          <a:noFill/>
          <a:ln w="0">
            <a:noFill/>
          </a:ln>
        </p:spPr>
        <p:txBody>
          <a:bodyPr>
            <a:noAutofit/>
          </a:bodyPr>
          <a:lstStyle/>
          <a:p>
            <a:pPr>
              <a:buNone/>
              <a:defRPr sz="3600" b="1">
                <a:solidFill>
                  <a:srgbClr val="122C32"/>
                </a:solidFill>
                <a:latin typeface="Bitstream Charter"/>
                <a:ea typeface="Bitstream Charter"/>
                <a:cs typeface="Bitstream Charter"/>
              </a:defRPr>
            </a:pPr>
            <a:r>
              <a:rPr lang="lv-LV" sz="3600" b="1" dirty="0">
                <a:solidFill>
                  <a:srgbClr val="122C32"/>
                </a:solidFill>
                <a:latin typeface="Bitstream Charter"/>
                <a:ea typeface="Bitstream Charter"/>
                <a:cs typeface="Bitstream Charter"/>
              </a:rPr>
              <a:t>Why customers stay? </a:t>
            </a:r>
            <a:endParaRPr sz="3600" b="1" dirty="0">
              <a:solidFill>
                <a:srgbClr val="122C32"/>
              </a:solidFill>
              <a:latin typeface="Bitstream Charter"/>
              <a:ea typeface="Bitstream Charter"/>
              <a:cs typeface="Bitstream Charter"/>
            </a:endParaRPr>
          </a:p>
        </p:txBody>
      </p:sp>
      <p:sp>
        <p:nvSpPr>
          <p:cNvPr id="3" name="Rectangle 2">
            <a:extLst>
              <a:ext uri="{FF2B5EF4-FFF2-40B4-BE49-F238E27FC236}">
                <a16:creationId xmlns:a16="http://schemas.microsoft.com/office/drawing/2014/main" id="{4F7B2265-5A4D-194B-3263-D3160C3B492D}"/>
              </a:ext>
            </a:extLst>
          </p:cNvPr>
          <p:cNvSpPr>
            <a:spLocks noGrp="1"/>
          </p:cNvSpPr>
          <p:nvPr/>
        </p:nvSpPr>
        <p:spPr>
          <a:xfrm>
            <a:off x="685800" y="1857375"/>
            <a:ext cx="619125" cy="571500"/>
          </a:xfrm>
          <a:prstGeom prst="rect">
            <a:avLst/>
          </a:prstGeom>
          <a:noFill/>
          <a:ln w="0">
            <a:noFill/>
          </a:ln>
        </p:spPr>
        <p:txBody>
          <a:bodyPr>
            <a:noAutofit/>
          </a:bodyPr>
          <a:lstStyle/>
          <a:p>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01</a:t>
            </a:r>
          </a:p>
        </p:txBody>
      </p:sp>
      <p:sp>
        <p:nvSpPr>
          <p:cNvPr id="4" name="Rectangle 3">
            <a:extLst>
              <a:ext uri="{FF2B5EF4-FFF2-40B4-BE49-F238E27FC236}">
                <a16:creationId xmlns:a16="http://schemas.microsoft.com/office/drawing/2014/main" id="{400B3647-875A-5206-BC58-0C51EF7E1F96}"/>
              </a:ext>
            </a:extLst>
          </p:cNvPr>
          <p:cNvSpPr>
            <a:spLocks noGrp="1"/>
          </p:cNvSpPr>
          <p:nvPr/>
        </p:nvSpPr>
        <p:spPr>
          <a:xfrm>
            <a:off x="1524000" y="1857375"/>
            <a:ext cx="9715500" cy="457200"/>
          </a:xfrm>
          <a:prstGeom prst="rect">
            <a:avLst/>
          </a:prstGeom>
          <a:noFill/>
          <a:ln w="0">
            <a:noFill/>
          </a:ln>
        </p:spPr>
        <p:txBody>
          <a:bodyPr>
            <a:noAutofit/>
          </a:bodyPr>
          <a:lstStyle/>
          <a:p>
            <a:pPr>
              <a:buNone/>
              <a:defRPr sz="2250" b="1">
                <a:solidFill>
                  <a:srgbClr val="122C32"/>
                </a:solidFill>
                <a:latin typeface="Bitstream Charter"/>
                <a:ea typeface="Bitstream Charter"/>
                <a:cs typeface="Bitstream Charter"/>
              </a:defRPr>
            </a:pPr>
            <a:r>
              <a:rPr lang="lv-LV" sz="2250" b="1" dirty="0">
                <a:solidFill>
                  <a:srgbClr val="122C32"/>
                </a:solidFill>
                <a:latin typeface="Bitstream Charter"/>
                <a:ea typeface="Bitstream Charter"/>
                <a:cs typeface="Bitstream Charter"/>
              </a:rPr>
              <a:t>Custom development</a:t>
            </a:r>
            <a:endParaRPr sz="2250" b="1" dirty="0">
              <a:solidFill>
                <a:srgbClr val="122C32"/>
              </a:solidFill>
              <a:latin typeface="Bitstream Charter"/>
              <a:ea typeface="Bitstream Charter"/>
              <a:cs typeface="Bitstream Charter"/>
            </a:endParaRPr>
          </a:p>
        </p:txBody>
      </p:sp>
      <p:sp>
        <p:nvSpPr>
          <p:cNvPr id="5" name="Rectangle 4">
            <a:extLst>
              <a:ext uri="{FF2B5EF4-FFF2-40B4-BE49-F238E27FC236}">
                <a16:creationId xmlns:a16="http://schemas.microsoft.com/office/drawing/2014/main" id="{CCDED8A0-AB21-ED5B-971D-E24062988BDC}"/>
              </a:ext>
            </a:extLst>
          </p:cNvPr>
          <p:cNvSpPr>
            <a:spLocks noGrp="1"/>
          </p:cNvSpPr>
          <p:nvPr/>
        </p:nvSpPr>
        <p:spPr>
          <a:xfrm>
            <a:off x="1524000" y="2381250"/>
            <a:ext cx="9429750" cy="714375"/>
          </a:xfrm>
          <a:prstGeom prst="rect">
            <a:avLst/>
          </a:prstGeom>
          <a:noFill/>
          <a:ln w="0">
            <a:noFill/>
          </a:ln>
        </p:spPr>
        <p:txBody>
          <a:bodyPr>
            <a:noAutofit/>
          </a:bodyPr>
          <a:lstStyle/>
          <a:p>
            <a:r>
              <a:rPr lang="lv-LV" sz="1875" dirty="0">
                <a:solidFill>
                  <a:srgbClr val="52686B"/>
                </a:solidFill>
                <a:latin typeface="Bitstream Charter"/>
                <a:ea typeface="Bitstream Charter"/>
                <a:cs typeface="Bitstream Charter"/>
              </a:rPr>
              <a:t>We sign contract for a year and offer free development as motivaition. This way we customize solution to client</a:t>
            </a:r>
            <a:r>
              <a:rPr lang="en-US" sz="1875" dirty="0">
                <a:solidFill>
                  <a:srgbClr val="52686B"/>
                </a:solidFill>
                <a:latin typeface="Bitstream Charter"/>
                <a:ea typeface="Bitstream Charter"/>
                <a:cs typeface="Bitstream Charter"/>
              </a:rPr>
              <a:t>s need making it harder to switch</a:t>
            </a:r>
            <a:endParaRPr sz="1875" dirty="0">
              <a:solidFill>
                <a:srgbClr val="52686B"/>
              </a:solidFill>
              <a:latin typeface="Bitstream Charter"/>
              <a:ea typeface="Bitstream Charter"/>
              <a:cs typeface="Bitstream Charter"/>
            </a:endParaRPr>
          </a:p>
        </p:txBody>
      </p:sp>
      <p:sp>
        <p:nvSpPr>
          <p:cNvPr id="6" name="Rectangle 5">
            <a:extLst>
              <a:ext uri="{FF2B5EF4-FFF2-40B4-BE49-F238E27FC236}">
                <a16:creationId xmlns:a16="http://schemas.microsoft.com/office/drawing/2014/main" id="{40188201-042A-AFD8-E3E9-95B97D64753A}"/>
              </a:ext>
            </a:extLst>
          </p:cNvPr>
          <p:cNvSpPr>
            <a:spLocks noGrp="1"/>
          </p:cNvSpPr>
          <p:nvPr/>
        </p:nvSpPr>
        <p:spPr>
          <a:xfrm>
            <a:off x="685800" y="3333750"/>
            <a:ext cx="619125" cy="571500"/>
          </a:xfrm>
          <a:prstGeom prst="rect">
            <a:avLst/>
          </a:prstGeom>
          <a:noFill/>
          <a:ln w="0">
            <a:noFill/>
          </a:ln>
        </p:spPr>
        <p:txBody>
          <a:bodyPr>
            <a:noAutofit/>
          </a:bodyPr>
          <a:lstStyle/>
          <a:p>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02</a:t>
            </a:r>
          </a:p>
        </p:txBody>
      </p:sp>
      <p:sp>
        <p:nvSpPr>
          <p:cNvPr id="7" name="Rectangle 6">
            <a:extLst>
              <a:ext uri="{FF2B5EF4-FFF2-40B4-BE49-F238E27FC236}">
                <a16:creationId xmlns:a16="http://schemas.microsoft.com/office/drawing/2014/main" id="{8E39BBF1-1AE1-601B-E710-B1B5AD76D0E0}"/>
              </a:ext>
            </a:extLst>
          </p:cNvPr>
          <p:cNvSpPr>
            <a:spLocks noGrp="1"/>
          </p:cNvSpPr>
          <p:nvPr/>
        </p:nvSpPr>
        <p:spPr>
          <a:xfrm>
            <a:off x="1524000" y="3333750"/>
            <a:ext cx="9715500" cy="457200"/>
          </a:xfrm>
          <a:prstGeom prst="rect">
            <a:avLst/>
          </a:prstGeom>
          <a:noFill/>
          <a:ln w="0">
            <a:noFill/>
          </a:ln>
        </p:spPr>
        <p:txBody>
          <a:bodyPr>
            <a:noAutofit/>
          </a:bodyPr>
          <a:lstStyle/>
          <a:p>
            <a:pPr>
              <a:buNone/>
              <a:defRPr sz="2250" b="1">
                <a:solidFill>
                  <a:srgbClr val="122C32"/>
                </a:solidFill>
                <a:latin typeface="Bitstream Charter"/>
                <a:ea typeface="Bitstream Charter"/>
                <a:cs typeface="Bitstream Charter"/>
              </a:defRPr>
            </a:pPr>
            <a:r>
              <a:rPr lang="en-US" sz="2250" b="1" dirty="0">
                <a:solidFill>
                  <a:srgbClr val="122C32"/>
                </a:solidFill>
                <a:latin typeface="Bitstream Charter"/>
                <a:ea typeface="Bitstream Charter"/>
                <a:cs typeface="Bitstream Charter"/>
              </a:rPr>
              <a:t>Data accumulation</a:t>
            </a:r>
            <a:endParaRPr sz="2250" b="1" dirty="0">
              <a:solidFill>
                <a:srgbClr val="122C32"/>
              </a:solidFill>
              <a:latin typeface="Bitstream Charter"/>
              <a:ea typeface="Bitstream Charter"/>
              <a:cs typeface="Bitstream Charter"/>
            </a:endParaRPr>
          </a:p>
        </p:txBody>
      </p:sp>
      <p:sp>
        <p:nvSpPr>
          <p:cNvPr id="8" name="Rectangle 7">
            <a:extLst>
              <a:ext uri="{FF2B5EF4-FFF2-40B4-BE49-F238E27FC236}">
                <a16:creationId xmlns:a16="http://schemas.microsoft.com/office/drawing/2014/main" id="{C385260F-1F00-15E5-D7C2-3733824DB786}"/>
              </a:ext>
            </a:extLst>
          </p:cNvPr>
          <p:cNvSpPr>
            <a:spLocks noGrp="1"/>
          </p:cNvSpPr>
          <p:nvPr/>
        </p:nvSpPr>
        <p:spPr>
          <a:xfrm>
            <a:off x="1524000" y="3857625"/>
            <a:ext cx="9429750" cy="714375"/>
          </a:xfrm>
          <a:prstGeom prst="rect">
            <a:avLst/>
          </a:prstGeom>
          <a:noFill/>
          <a:ln w="0">
            <a:noFill/>
          </a:ln>
        </p:spPr>
        <p:txBody>
          <a:bodyPr>
            <a:noAutofit/>
          </a:bodyPr>
          <a:lstStyle/>
          <a:p>
            <a:pPr>
              <a:buNone/>
              <a:defRPr sz="1875" b="0">
                <a:solidFill>
                  <a:srgbClr val="52686B"/>
                </a:solidFill>
                <a:latin typeface="Bitstream Charter"/>
                <a:ea typeface="Bitstream Charter"/>
                <a:cs typeface="Bitstream Charter"/>
              </a:defRPr>
            </a:pPr>
            <a:r>
              <a:rPr lang="en-US" sz="1875" b="0" dirty="0">
                <a:solidFill>
                  <a:srgbClr val="52686B"/>
                </a:solidFill>
                <a:latin typeface="Bitstream Charter"/>
                <a:ea typeface="Bitstream Charter"/>
                <a:cs typeface="Bitstream Charter"/>
              </a:rPr>
              <a:t>When clients start using our solution, </a:t>
            </a:r>
            <a:r>
              <a:rPr lang="en-US" sz="1875" dirty="0">
                <a:solidFill>
                  <a:srgbClr val="52686B"/>
                </a:solidFill>
                <a:latin typeface="Bitstream Charter"/>
                <a:ea typeface="Bitstream Charter"/>
                <a:cs typeface="Bitstream Charter"/>
              </a:rPr>
              <a:t>data accumulates in </a:t>
            </a:r>
            <a:r>
              <a:rPr lang="en-US" sz="1875" dirty="0" err="1">
                <a:solidFill>
                  <a:srgbClr val="52686B"/>
                </a:solidFill>
                <a:latin typeface="Bitstream Charter"/>
                <a:ea typeface="Bitstream Charter"/>
                <a:cs typeface="Bitstream Charter"/>
              </a:rPr>
              <a:t>WorksRecorded</a:t>
            </a:r>
            <a:r>
              <a:rPr lang="en-US" sz="1875" dirty="0">
                <a:solidFill>
                  <a:srgbClr val="52686B"/>
                </a:solidFill>
                <a:latin typeface="Bitstream Charter"/>
                <a:ea typeface="Bitstream Charter"/>
                <a:cs typeface="Bitstream Charter"/>
              </a:rPr>
              <a:t> and it becomes more difficult to switch </a:t>
            </a:r>
            <a:endParaRPr sz="1875" b="0" dirty="0">
              <a:solidFill>
                <a:srgbClr val="52686B"/>
              </a:solidFill>
              <a:latin typeface="Bitstream Charter"/>
              <a:ea typeface="Bitstream Charter"/>
              <a:cs typeface="Bitstream Charter"/>
            </a:endParaRPr>
          </a:p>
        </p:txBody>
      </p:sp>
      <p:sp>
        <p:nvSpPr>
          <p:cNvPr id="9" name="Rectangle 8">
            <a:extLst>
              <a:ext uri="{FF2B5EF4-FFF2-40B4-BE49-F238E27FC236}">
                <a16:creationId xmlns:a16="http://schemas.microsoft.com/office/drawing/2014/main" id="{127C9896-980A-E4E2-BA01-25C77D49A7BA}"/>
              </a:ext>
            </a:extLst>
          </p:cNvPr>
          <p:cNvSpPr>
            <a:spLocks noGrp="1"/>
          </p:cNvSpPr>
          <p:nvPr/>
        </p:nvSpPr>
        <p:spPr>
          <a:xfrm>
            <a:off x="685800" y="4810125"/>
            <a:ext cx="619125" cy="571500"/>
          </a:xfrm>
          <a:prstGeom prst="rect">
            <a:avLst/>
          </a:prstGeom>
          <a:noFill/>
          <a:ln w="0">
            <a:noFill/>
          </a:ln>
        </p:spPr>
        <p:txBody>
          <a:bodyPr>
            <a:noAutofit/>
          </a:bodyPr>
          <a:lstStyle/>
          <a:p>
            <a:pPr>
              <a:buNone/>
              <a:defRPr sz="2550" b="1">
                <a:solidFill>
                  <a:srgbClr val="007F73"/>
                </a:solidFill>
                <a:latin typeface="Bitstream Charter"/>
                <a:ea typeface="Bitstream Charter"/>
                <a:cs typeface="Bitstream Charter"/>
              </a:defRPr>
            </a:pPr>
            <a:r>
              <a:rPr sz="2550" b="1" dirty="0">
                <a:solidFill>
                  <a:srgbClr val="007F73"/>
                </a:solidFill>
                <a:latin typeface="Bitstream Charter"/>
                <a:ea typeface="Bitstream Charter"/>
                <a:cs typeface="Bitstream Charter"/>
              </a:rPr>
              <a:t>03</a:t>
            </a:r>
          </a:p>
        </p:txBody>
      </p:sp>
      <p:sp>
        <p:nvSpPr>
          <p:cNvPr id="10" name="Rectangle 9">
            <a:extLst>
              <a:ext uri="{FF2B5EF4-FFF2-40B4-BE49-F238E27FC236}">
                <a16:creationId xmlns:a16="http://schemas.microsoft.com/office/drawing/2014/main" id="{8154F0B1-A459-7B82-740A-8F065DF06065}"/>
              </a:ext>
            </a:extLst>
          </p:cNvPr>
          <p:cNvSpPr>
            <a:spLocks noGrp="1"/>
          </p:cNvSpPr>
          <p:nvPr/>
        </p:nvSpPr>
        <p:spPr>
          <a:xfrm>
            <a:off x="1524000" y="4810125"/>
            <a:ext cx="9715500" cy="457200"/>
          </a:xfrm>
          <a:prstGeom prst="rect">
            <a:avLst/>
          </a:prstGeom>
          <a:noFill/>
          <a:ln w="0">
            <a:noFill/>
          </a:ln>
        </p:spPr>
        <p:txBody>
          <a:bodyPr>
            <a:noAutofit/>
          </a:bodyPr>
          <a:lstStyle/>
          <a:p>
            <a:pPr>
              <a:buNone/>
              <a:defRPr sz="2250" b="1">
                <a:solidFill>
                  <a:srgbClr val="122C32"/>
                </a:solidFill>
                <a:latin typeface="Bitstream Charter"/>
                <a:ea typeface="Bitstream Charter"/>
                <a:cs typeface="Bitstream Charter"/>
              </a:defRPr>
            </a:pPr>
            <a:r>
              <a:rPr lang="en-US" sz="2250" b="1" dirty="0">
                <a:solidFill>
                  <a:srgbClr val="122C32"/>
                </a:solidFill>
                <a:latin typeface="Bitstream Charter"/>
                <a:ea typeface="Bitstream Charter"/>
                <a:cs typeface="Bitstream Charter"/>
              </a:rPr>
              <a:t>AI mapping</a:t>
            </a:r>
            <a:endParaRPr sz="2250" b="1" dirty="0">
              <a:solidFill>
                <a:srgbClr val="122C32"/>
              </a:solidFill>
              <a:latin typeface="Bitstream Charter"/>
              <a:ea typeface="Bitstream Charter"/>
              <a:cs typeface="Bitstream Charter"/>
            </a:endParaRPr>
          </a:p>
        </p:txBody>
      </p:sp>
      <p:sp>
        <p:nvSpPr>
          <p:cNvPr id="11" name="Rectangle 10">
            <a:extLst>
              <a:ext uri="{FF2B5EF4-FFF2-40B4-BE49-F238E27FC236}">
                <a16:creationId xmlns:a16="http://schemas.microsoft.com/office/drawing/2014/main" id="{405B4002-EEF3-9CE4-00D2-057FD1FBC829}"/>
              </a:ext>
            </a:extLst>
          </p:cNvPr>
          <p:cNvSpPr>
            <a:spLocks noGrp="1"/>
          </p:cNvSpPr>
          <p:nvPr/>
        </p:nvSpPr>
        <p:spPr>
          <a:xfrm>
            <a:off x="1524000" y="5334000"/>
            <a:ext cx="9429750" cy="714375"/>
          </a:xfrm>
          <a:prstGeom prst="rect">
            <a:avLst/>
          </a:prstGeom>
          <a:noFill/>
          <a:ln w="0">
            <a:noFill/>
          </a:ln>
        </p:spPr>
        <p:txBody>
          <a:bodyPr>
            <a:noAutofit/>
          </a:bodyPr>
          <a:lstStyle/>
          <a:p>
            <a:pPr>
              <a:buNone/>
              <a:defRPr sz="1875" b="0">
                <a:solidFill>
                  <a:srgbClr val="52686B"/>
                </a:solidFill>
                <a:latin typeface="Bitstream Charter"/>
                <a:ea typeface="Bitstream Charter"/>
                <a:cs typeface="Bitstream Charter"/>
              </a:defRPr>
            </a:pPr>
            <a:r>
              <a:rPr lang="en-US" sz="1875" b="0" dirty="0">
                <a:solidFill>
                  <a:srgbClr val="52686B"/>
                </a:solidFill>
                <a:latin typeface="Bitstream Charter"/>
                <a:ea typeface="Bitstream Charter"/>
                <a:cs typeface="Bitstream Charter"/>
              </a:rPr>
              <a:t>We develop custom AI mapping which we improve as data is flowing, so with time it becomes more and more difficult to copy. In future we see training our own models as an option (as we </a:t>
            </a:r>
            <a:r>
              <a:rPr lang="en-US" sz="1875" b="0">
                <a:solidFill>
                  <a:srgbClr val="52686B"/>
                </a:solidFill>
                <a:latin typeface="Bitstream Charter"/>
                <a:ea typeface="Bitstream Charter"/>
                <a:cs typeface="Bitstream Charter"/>
              </a:rPr>
              <a:t>have data) </a:t>
            </a:r>
            <a:endParaRPr sz="1875" b="0" dirty="0">
              <a:solidFill>
                <a:srgbClr val="52686B"/>
              </a:solidFill>
              <a:latin typeface="Bitstream Charter"/>
              <a:ea typeface="Bitstream Charter"/>
              <a:cs typeface="Bitstream Charter"/>
            </a:endParaRPr>
          </a:p>
        </p:txBody>
      </p:sp>
      <p:sp>
        <p:nvSpPr>
          <p:cNvPr id="13" name="Rectangle 12">
            <a:extLst>
              <a:ext uri="{FF2B5EF4-FFF2-40B4-BE49-F238E27FC236}">
                <a16:creationId xmlns:a16="http://schemas.microsoft.com/office/drawing/2014/main" id="{A1BE075B-2A81-D858-DCB0-D37110AE7968}"/>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536B70"/>
                </a:solidFill>
                <a:latin typeface="Calibri"/>
                <a:ea typeface="Calibri"/>
                <a:cs typeface="Calibri"/>
              </a:defRPr>
            </a:pPr>
            <a:r>
              <a:rPr sz="1200" b="0">
                <a:solidFill>
                  <a:srgbClr val="536B70"/>
                </a:solidFill>
                <a:latin typeface="Calibri"/>
                <a:ea typeface="Calibri"/>
                <a:cs typeface="Calibri"/>
              </a:rPr>
              <a:t>04</a:t>
            </a:r>
          </a:p>
        </p:txBody>
      </p:sp>
    </p:spTree>
    <p:extLst>
      <p:ext uri="{BB962C8B-B14F-4D97-AF65-F5344CB8AC3E}">
        <p14:creationId xmlns:p14="http://schemas.microsoft.com/office/powerpoint/2010/main" val="30815089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A645D17-DC3B-CD19-1A56-49C34E0154A6}"/>
              </a:ext>
            </a:extLst>
          </p:cNvPr>
          <p:cNvSpPr>
            <a:spLocks noGrp="1"/>
          </p:cNvSpPr>
          <p:nvPr/>
        </p:nvSpPr>
        <p:spPr>
          <a:xfrm>
            <a:off x="685800" y="571500"/>
            <a:ext cx="10820400" cy="952500"/>
          </a:xfrm>
          <a:prstGeom prst="rect">
            <a:avLst/>
          </a:prstGeom>
          <a:noFill/>
          <a:ln w="0">
            <a:noFill/>
          </a:ln>
        </p:spPr>
        <p:txBody>
          <a:bodyPr>
            <a:noAutofit/>
          </a:bodyPr>
          <a:lstStyle/>
          <a:p>
            <a:pPr marL="0" marR="0" lvl="0" indent="0" algn="l" defTabSz="914400">
              <a:lnSpc>
                <a:spcPct val="100000"/>
              </a:lnSpc>
              <a:spcBef>
                <a:spcPts val="0"/>
              </a:spcBef>
              <a:spcAft>
                <a:spcPts val="0"/>
              </a:spcAft>
              <a:buClrTx/>
              <a:buSzTx/>
              <a:buFontTx/>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StoneAndTree (client) example </a:t>
            </a:r>
            <a:endParaRPr sz="3600" b="1" i="0" u="none" kern="1200" cap="none" spc="0" baseline="0">
              <a:ln>
                <a:noFill/>
              </a:ln>
              <a:solidFill>
                <a:srgbClr val="122C32"/>
              </a:solidFill>
              <a:latin typeface="Bitstream Charter"/>
              <a:ea typeface="Bitstream Charter"/>
              <a:cs typeface="Bitstream Charter"/>
            </a:endParaRPr>
          </a:p>
        </p:txBody>
      </p:sp>
      <p:sp>
        <p:nvSpPr>
          <p:cNvPr id="3" name="Rectangle 2">
            <a:extLst>
              <a:ext uri="{FF2B5EF4-FFF2-40B4-BE49-F238E27FC236}">
                <a16:creationId xmlns:a16="http://schemas.microsoft.com/office/drawing/2014/main" id="{D8D09C23-A343-119D-0640-E09AAE2702C9}"/>
              </a:ext>
            </a:extLst>
          </p:cNvPr>
          <p:cNvSpPr>
            <a:spLocks noGrp="1"/>
          </p:cNvSpPr>
          <p:nvPr/>
        </p:nvSpPr>
        <p:spPr>
          <a:xfrm>
            <a:off x="685800" y="1628013"/>
            <a:ext cx="10477500" cy="333375"/>
          </a:xfrm>
          <a:prstGeom prst="rect">
            <a:avLst/>
          </a:prstGeom>
          <a:noFill/>
          <a:ln w="0">
            <a:noFill/>
          </a:ln>
        </p:spPr>
        <p:txBody>
          <a:bodyPr>
            <a:noAutofit/>
          </a:bodyPr>
          <a:lstStyle/>
          <a:p>
            <a:pPr marL="0" marR="0" lvl="0" indent="0" algn="l" defTabSz="914400">
              <a:lnSpc>
                <a:spcPct val="100000"/>
              </a:lnSpc>
              <a:spcBef>
                <a:spcPts val="0"/>
              </a:spcBef>
              <a:spcAft>
                <a:spcPts val="0"/>
              </a:spcAft>
              <a:buClrTx/>
              <a:buSzTx/>
              <a:buFontTx/>
              <a:buNone/>
              <a:defRPr sz="1350" b="1">
                <a:solidFill>
                  <a:srgbClr val="008B80"/>
                </a:solidFill>
                <a:latin typeface="Bitstream Charter"/>
                <a:ea typeface="Bitstream Charter"/>
                <a:cs typeface="Bitstream Charter"/>
              </a:defRPr>
            </a:pPr>
            <a:endParaRPr sz="1350" b="1" i="0" u="none" cap="none" spc="0">
              <a:ln>
                <a:noFill/>
              </a:ln>
              <a:solidFill>
                <a:srgbClr val="008B80"/>
              </a:solidFill>
              <a:latin typeface="Bitstream Charter"/>
              <a:ea typeface="Bitstream Charter"/>
              <a:cs typeface="Bitstream Charter"/>
            </a:endParaRPr>
          </a:p>
        </p:txBody>
      </p:sp>
      <p:pic>
        <p:nvPicPr>
          <p:cNvPr id="18" name="Picture 9"/>
          <p:cNvPicPr>
            <a:picLocks noChangeAspect="1"/>
          </p:cNvPicPr>
          <p:nvPr/>
        </p:nvPicPr>
        <p:blipFill>
          <a:blip r:embed="rId3"/>
          <a:stretch>
            <a:fillRect/>
          </a:stretch>
        </p:blipFill>
        <p:spPr>
          <a:xfrm>
            <a:off x="1511046" y="1628013"/>
            <a:ext cx="8827008" cy="4413504"/>
          </a:xfrm>
          <a:prstGeom prst="rect">
            <a:avLst/>
          </a:prstGeom>
        </p:spPr>
      </p:pic>
      <p:sp>
        <p:nvSpPr>
          <p:cNvPr id="14" name="Rectangle 13">
            <a:extLst>
              <a:ext uri="{FF2B5EF4-FFF2-40B4-BE49-F238E27FC236}">
                <a16:creationId xmlns:a16="http://schemas.microsoft.com/office/drawing/2014/main" id="{E69786E7-9BD7-49E1-8E00-D7DF88C0869A}"/>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536B70"/>
                </a:solidFill>
                <a:latin typeface="Calibri"/>
                <a:ea typeface="Calibri"/>
                <a:cs typeface="Calibri"/>
              </a:defRPr>
            </a:pPr>
            <a:r>
              <a:rPr sz="1200" b="0">
                <a:solidFill>
                  <a:srgbClr val="536B70"/>
                </a:solidFill>
                <a:latin typeface="Calibri"/>
                <a:ea typeface="Calibri"/>
                <a:cs typeface="Calibri"/>
              </a:rPr>
              <a:t>05</a:t>
            </a:r>
          </a:p>
        </p:txBody>
      </p:sp>
    </p:spTree>
    <p:extLst>
      <p:ext uri="{BB962C8B-B14F-4D97-AF65-F5344CB8AC3E}">
        <p14:creationId xmlns:p14="http://schemas.microsoft.com/office/powerpoint/2010/main" val="19046997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78C0D80-D5DE-467F-A114-569B00F59906}"/>
              </a:ext>
            </a:extLst>
          </p:cNvPr>
          <p:cNvSpPr>
            <a:spLocks noGrp="1"/>
          </p:cNvSpPr>
          <p:nvPr/>
        </p:nvSpPr>
        <p:spPr>
          <a:xfrm>
            <a:off x="685800" y="571500"/>
            <a:ext cx="10820400" cy="1095375"/>
          </a:xfrm>
          <a:prstGeom prst="rect">
            <a:avLst/>
          </a:prstGeom>
          <a:noFill/>
          <a:ln w="0">
            <a:noFill/>
          </a:ln>
        </p:spPr>
        <p:txBody>
          <a:bodyPr>
            <a:noAutofit/>
          </a:bodyPr>
          <a:lstStyle/>
          <a:p>
            <a:pPr>
              <a:buNone/>
              <a:defRPr sz="3600" b="1">
                <a:solidFill>
                  <a:srgbClr val="122C32"/>
                </a:solidFill>
                <a:latin typeface="Bitstream Charter"/>
                <a:ea typeface="Bitstream Charter"/>
                <a:cs typeface="Bitstream Charter"/>
              </a:defRPr>
            </a:pPr>
            <a:r>
              <a:rPr sz="3600" b="1">
                <a:solidFill>
                  <a:srgbClr val="122C32"/>
                </a:solidFill>
                <a:latin typeface="Bitstream Charter"/>
                <a:ea typeface="Bitstream Charter"/>
                <a:cs typeface="Bitstream Charter"/>
              </a:rPr>
              <a:t>ICP - specialty trade contractors</a:t>
            </a:r>
          </a:p>
        </p:txBody>
      </p:sp>
      <p:sp>
        <p:nvSpPr>
          <p:cNvPr id="3" name="Rectangle 2">
            <a:extLst>
              <a:ext uri="{FF2B5EF4-FFF2-40B4-BE49-F238E27FC236}">
                <a16:creationId xmlns:a16="http://schemas.microsoft.com/office/drawing/2014/main" id="{64E5D290-6F78-4046-A7CE-E38222F86C5D}"/>
              </a:ext>
            </a:extLst>
          </p:cNvPr>
          <p:cNvSpPr>
            <a:spLocks noGrp="1"/>
          </p:cNvSpPr>
          <p:nvPr/>
        </p:nvSpPr>
        <p:spPr>
          <a:xfrm>
            <a:off x="685800" y="1952625"/>
            <a:ext cx="5715000" cy="1333500"/>
          </a:xfrm>
          <a:prstGeom prst="rect">
            <a:avLst/>
          </a:prstGeom>
          <a:noFill/>
          <a:ln w="0">
            <a:noFill/>
          </a:ln>
        </p:spPr>
        <p:txBody>
          <a:bodyPr>
            <a:noAutofit/>
          </a:bodyPr>
          <a:lstStyle/>
          <a:p>
            <a:pPr>
              <a:buNone/>
              <a:defRPr sz="7950" b="1">
                <a:solidFill>
                  <a:srgbClr val="007F73"/>
                </a:solidFill>
                <a:latin typeface="Bitstream Charter"/>
                <a:ea typeface="Bitstream Charter"/>
                <a:cs typeface="Bitstream Charter"/>
              </a:defRPr>
            </a:pPr>
            <a:r>
              <a:rPr sz="7950" b="1">
                <a:solidFill>
                  <a:srgbClr val="007F73"/>
                </a:solidFill>
                <a:latin typeface="Bitstream Charter"/>
                <a:ea typeface="Bitstream Charter"/>
                <a:cs typeface="Bitstream Charter"/>
              </a:rPr>
              <a:t>10–49 </a:t>
            </a:r>
          </a:p>
        </p:txBody>
      </p:sp>
      <p:sp>
        <p:nvSpPr>
          <p:cNvPr id="4" name="Rectangle 3">
            <a:extLst>
              <a:ext uri="{FF2B5EF4-FFF2-40B4-BE49-F238E27FC236}">
                <a16:creationId xmlns:a16="http://schemas.microsoft.com/office/drawing/2014/main" id="{BB7BDF1D-5A67-4F36-A377-4F8580A99F95}"/>
              </a:ext>
            </a:extLst>
          </p:cNvPr>
          <p:cNvSpPr>
            <a:spLocks noGrp="1"/>
          </p:cNvSpPr>
          <p:nvPr/>
        </p:nvSpPr>
        <p:spPr>
          <a:xfrm>
            <a:off x="723900" y="3362325"/>
            <a:ext cx="5905500" cy="523875"/>
          </a:xfrm>
          <a:prstGeom prst="rect">
            <a:avLst/>
          </a:prstGeom>
          <a:noFill/>
          <a:ln w="0">
            <a:noFill/>
          </a:ln>
        </p:spPr>
        <p:txBody>
          <a:bodyPr>
            <a:noAutofit/>
          </a:bodyPr>
          <a:lstStyle/>
          <a:p>
            <a:pPr>
              <a:buNone/>
              <a:defRPr sz="2250" b="0">
                <a:solidFill>
                  <a:srgbClr val="122C32"/>
                </a:solidFill>
                <a:latin typeface="Bitstream Charter"/>
                <a:ea typeface="Bitstream Charter"/>
                <a:cs typeface="Bitstream Charter"/>
              </a:defRPr>
            </a:pPr>
            <a:r>
              <a:rPr sz="2250" b="0">
                <a:solidFill>
                  <a:srgbClr val="122C32"/>
                </a:solidFill>
                <a:latin typeface="Bitstream Charter"/>
                <a:ea typeface="Bitstream Charter"/>
                <a:cs typeface="Bitstream Charter"/>
              </a:rPr>
              <a:t>Employees in the company </a:t>
            </a:r>
          </a:p>
        </p:txBody>
      </p:sp>
      <p:sp>
        <p:nvSpPr>
          <p:cNvPr id="5" name="Rectangle 4">
            <a:extLst>
              <a:ext uri="{FF2B5EF4-FFF2-40B4-BE49-F238E27FC236}">
                <a16:creationId xmlns:a16="http://schemas.microsoft.com/office/drawing/2014/main" id="{4340E1A3-BC7F-4E71-A39C-55B522DA4B04}"/>
              </a:ext>
            </a:extLst>
          </p:cNvPr>
          <p:cNvSpPr>
            <a:spLocks noGrp="1"/>
          </p:cNvSpPr>
          <p:nvPr/>
        </p:nvSpPr>
        <p:spPr>
          <a:xfrm>
            <a:off x="6858000" y="2076450"/>
            <a:ext cx="4572000" cy="2762250"/>
          </a:xfrm>
          <a:prstGeom prst="rect">
            <a:avLst/>
          </a:prstGeom>
          <a:noFill/>
          <a:ln w="0">
            <a:noFill/>
          </a:ln>
        </p:spPr>
        <p:txBody>
          <a:bodyPr>
            <a:noAutofit/>
          </a:bodyPr>
          <a:lstStyle/>
          <a:p>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Enough operational complexity</a:t>
            </a:r>
          </a:p>
          <a:p>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to need better records.</a:t>
            </a:r>
          </a:p>
          <a:p>
            <a:endParaRPr sz="2325" b="0">
              <a:solidFill>
                <a:srgbClr val="122C32"/>
              </a:solidFill>
              <a:latin typeface="Bitstream Charter"/>
              <a:ea typeface="Bitstream Charter"/>
              <a:cs typeface="Bitstream Charter"/>
            </a:endParaRPr>
          </a:p>
          <a:p>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Limited capacity to build and</a:t>
            </a:r>
          </a:p>
          <a:p>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maintain an internal system.</a:t>
            </a:r>
          </a:p>
        </p:txBody>
      </p:sp>
      <p:sp>
        <p:nvSpPr>
          <p:cNvPr id="6" name="Rectangle 5">
            <a:extLst>
              <a:ext uri="{FF2B5EF4-FFF2-40B4-BE49-F238E27FC236}">
                <a16:creationId xmlns:a16="http://schemas.microsoft.com/office/drawing/2014/main" id="{8A16FE9C-5BF7-4D1C-AB9F-990B61CBF628}"/>
              </a:ext>
            </a:extLst>
          </p:cNvPr>
          <p:cNvSpPr>
            <a:spLocks noGrp="1"/>
          </p:cNvSpPr>
          <p:nvPr/>
        </p:nvSpPr>
        <p:spPr>
          <a:xfrm>
            <a:off x="723900" y="5381625"/>
            <a:ext cx="10477500" cy="666750"/>
          </a:xfrm>
          <a:prstGeom prst="rect">
            <a:avLst/>
          </a:prstGeom>
          <a:noFill/>
          <a:ln w="0">
            <a:noFill/>
          </a:ln>
        </p:spPr>
        <p:txBody>
          <a:bodyPr>
            <a:noAutofit/>
          </a:bodyPr>
          <a:lstStyle/>
          <a:p>
            <a:pPr>
              <a:buNone/>
              <a:defRPr sz="1950" b="0">
                <a:solidFill>
                  <a:srgbClr val="52686B"/>
                </a:solidFill>
                <a:latin typeface="Bitstream Charter"/>
                <a:ea typeface="Bitstream Charter"/>
                <a:cs typeface="Bitstream Charter"/>
              </a:defRPr>
            </a:pPr>
            <a:r>
              <a:rPr sz="1950" b="0">
                <a:solidFill>
                  <a:srgbClr val="52686B"/>
                </a:solidFill>
                <a:latin typeface="Bitstream Charter"/>
                <a:ea typeface="Bitstream Charter"/>
                <a:cs typeface="Bitstream Charter"/>
              </a:rPr>
              <a:t>Adjacent opportunity: medium-sized manufacturers, with ZTC as an early customer.</a:t>
            </a:r>
          </a:p>
        </p:txBody>
      </p:sp>
      <p:sp>
        <p:nvSpPr>
          <p:cNvPr id="8" name="Rectangle 7">
            <a:extLst>
              <a:ext uri="{FF2B5EF4-FFF2-40B4-BE49-F238E27FC236}">
                <a16:creationId xmlns:a16="http://schemas.microsoft.com/office/drawing/2014/main" id="{38A13C7B-5C67-4031-9A6C-983B9E173DD9}"/>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536B70"/>
                </a:solidFill>
                <a:latin typeface="Calibri"/>
                <a:ea typeface="Calibri"/>
                <a:cs typeface="Calibri"/>
              </a:defRPr>
            </a:pPr>
            <a:r>
              <a:rPr sz="1200" b="0">
                <a:solidFill>
                  <a:srgbClr val="536B70"/>
                </a:solidFill>
                <a:latin typeface="Calibri"/>
                <a:ea typeface="Calibri"/>
                <a:cs typeface="Calibri"/>
              </a:rPr>
              <a:t>06</a:t>
            </a:r>
          </a:p>
        </p:txBody>
      </p:sp>
    </p:spTree>
    <p:extLst>
      <p:ext uri="{BB962C8B-B14F-4D97-AF65-F5344CB8AC3E}">
        <p14:creationId xmlns:p14="http://schemas.microsoft.com/office/powerpoint/2010/main" val="11990435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B364AFB-16BF-F4EF-3178-6AEA19547355}"/>
              </a:ext>
            </a:extLst>
          </p:cNvPr>
          <p:cNvSpPr>
            <a:spLocks noGrp="1"/>
          </p:cNvSpPr>
          <p:nvPr/>
        </p:nvSpPr>
        <p:spPr>
          <a:xfrm>
            <a:off x="685800" y="571500"/>
            <a:ext cx="10820400" cy="1095375"/>
          </a:xfrm>
          <a:prstGeom prst="rect">
            <a:avLst/>
          </a:prstGeom>
          <a:noFill/>
          <a:ln w="0">
            <a:noFill/>
          </a:ln>
        </p:spPr>
        <p:txBody>
          <a:bodyPr>
            <a:noAutofit/>
          </a:bodyPr>
          <a:lstStyle/>
          <a:p>
            <a:pPr>
              <a:buNone/>
              <a:defRPr sz="3600" b="1">
                <a:solidFill>
                  <a:srgbClr val="122C32"/>
                </a:solidFill>
                <a:latin typeface="Bitstream Charter"/>
                <a:ea typeface="Bitstream Charter"/>
                <a:cs typeface="Bitstream Charter"/>
              </a:defRPr>
            </a:pPr>
            <a:r>
              <a:rPr sz="3600" b="1">
                <a:solidFill>
                  <a:srgbClr val="122C32"/>
                </a:solidFill>
                <a:latin typeface="Bitstream Charter"/>
                <a:ea typeface="Bitstream Charter"/>
                <a:cs typeface="Bitstream Charter"/>
              </a:rPr>
              <a:t>Market size </a:t>
            </a:r>
          </a:p>
        </p:txBody>
      </p:sp>
      <p:sp>
        <p:nvSpPr>
          <p:cNvPr id="3" name="Rectangle 2">
            <a:extLst>
              <a:ext uri="{FF2B5EF4-FFF2-40B4-BE49-F238E27FC236}">
                <a16:creationId xmlns:a16="http://schemas.microsoft.com/office/drawing/2014/main" id="{0BE60FE1-845C-7487-4A26-426E652B8CD9}"/>
              </a:ext>
            </a:extLst>
          </p:cNvPr>
          <p:cNvSpPr>
            <a:spLocks noGrp="1"/>
          </p:cNvSpPr>
          <p:nvPr/>
        </p:nvSpPr>
        <p:spPr>
          <a:xfrm>
            <a:off x="685800" y="2143125"/>
            <a:ext cx="4762500" cy="1000125"/>
          </a:xfrm>
          <a:prstGeom prst="rect">
            <a:avLst/>
          </a:prstGeom>
          <a:noFill/>
          <a:ln w="0">
            <a:noFill/>
          </a:ln>
        </p:spPr>
        <p:txBody>
          <a:bodyPr>
            <a:noAutofit/>
          </a:bodyPr>
          <a:lstStyle/>
          <a:p>
            <a:pPr>
              <a:buNone/>
              <a:defRPr sz="6600" b="1">
                <a:solidFill>
                  <a:srgbClr val="008579"/>
                </a:solidFill>
                <a:latin typeface="Calibri"/>
                <a:ea typeface="Calibri"/>
                <a:cs typeface="Calibri"/>
              </a:defRPr>
            </a:pPr>
            <a:r>
              <a:rPr sz="6600" b="1">
                <a:solidFill>
                  <a:srgbClr val="008579"/>
                </a:solidFill>
                <a:latin typeface="Calibri"/>
                <a:ea typeface="Calibri"/>
                <a:cs typeface="Calibri"/>
              </a:rPr>
              <a:t>616</a:t>
            </a:r>
          </a:p>
        </p:txBody>
      </p:sp>
      <p:sp>
        <p:nvSpPr>
          <p:cNvPr id="4" name="Rectangle 3">
            <a:extLst>
              <a:ext uri="{FF2B5EF4-FFF2-40B4-BE49-F238E27FC236}">
                <a16:creationId xmlns:a16="http://schemas.microsoft.com/office/drawing/2014/main" id="{9AB11E46-278C-EBFF-5C4E-458F6ED0551D}"/>
              </a:ext>
            </a:extLst>
          </p:cNvPr>
          <p:cNvSpPr>
            <a:spLocks noGrp="1"/>
          </p:cNvSpPr>
          <p:nvPr/>
        </p:nvSpPr>
        <p:spPr>
          <a:xfrm>
            <a:off x="723900" y="1762125"/>
            <a:ext cx="4762500" cy="457200"/>
          </a:xfrm>
          <a:prstGeom prst="rect">
            <a:avLst/>
          </a:prstGeom>
          <a:noFill/>
          <a:ln w="0">
            <a:noFill/>
          </a:ln>
        </p:spPr>
        <p:txBody>
          <a:bodyPr>
            <a:noAutofit/>
          </a:bodyPr>
          <a:lstStyle/>
          <a:p>
            <a:pPr>
              <a:buNone/>
              <a:defRPr sz="2100" b="1">
                <a:solidFill>
                  <a:srgbClr val="142F35"/>
                </a:solidFill>
                <a:latin typeface="Calibri"/>
                <a:ea typeface="Calibri"/>
                <a:cs typeface="Calibri"/>
              </a:defRPr>
            </a:pPr>
            <a:r>
              <a:rPr sz="2100" b="1">
                <a:solidFill>
                  <a:srgbClr val="142F35"/>
                </a:solidFill>
                <a:latin typeface="Calibri"/>
                <a:ea typeface="Calibri"/>
                <a:cs typeface="Calibri"/>
              </a:rPr>
              <a:t>Latvia: initial market</a:t>
            </a:r>
            <a:endParaRPr sz="2250" b="0">
              <a:solidFill>
                <a:srgbClr val="122C32"/>
              </a:solidFill>
              <a:latin typeface="Bitstream Charter"/>
              <a:ea typeface="Bitstream Charter"/>
              <a:cs typeface="Bitstream Charter"/>
            </a:endParaRPr>
          </a:p>
        </p:txBody>
      </p:sp>
      <p:sp>
        <p:nvSpPr>
          <p:cNvPr id="6" name="Rectangle 5">
            <a:extLst>
              <a:ext uri="{FF2B5EF4-FFF2-40B4-BE49-F238E27FC236}">
                <a16:creationId xmlns:a16="http://schemas.microsoft.com/office/drawing/2014/main" id="{718A1BE3-7B39-CA6F-4775-D4C9A4690FC5}"/>
              </a:ext>
            </a:extLst>
          </p:cNvPr>
          <p:cNvSpPr>
            <a:spLocks noGrp="1"/>
          </p:cNvSpPr>
          <p:nvPr/>
        </p:nvSpPr>
        <p:spPr>
          <a:xfrm>
            <a:off x="723900" y="5286375"/>
            <a:ext cx="10715625" cy="819150"/>
          </a:xfrm>
          <a:prstGeom prst="rect">
            <a:avLst/>
          </a:prstGeom>
          <a:noFill/>
          <a:ln w="0">
            <a:noFill/>
          </a:ln>
        </p:spPr>
        <p:txBody>
          <a:bodyPr>
            <a:noAutofit/>
          </a:bodyPr>
          <a:lstStyle/>
          <a:p>
            <a:pPr>
              <a:buNone/>
              <a:defRPr sz="1425" b="0">
                <a:solidFill>
                  <a:srgbClr val="536B70"/>
                </a:solidFill>
                <a:latin typeface="Calibri"/>
                <a:ea typeface="Calibri"/>
                <a:cs typeface="Calibri"/>
              </a:defRPr>
            </a:pPr>
            <a:r>
              <a:rPr sz="1425" b="0">
                <a:solidFill>
                  <a:srgbClr val="536B70"/>
                </a:solidFill>
                <a:latin typeface="Calibri"/>
                <a:ea typeface="Calibri"/>
                <a:cs typeface="Calibri"/>
              </a:rPr>
              <a:t>Sizing at target price: €300/company/month. Annual potential at full penetration.</a:t>
            </a:r>
          </a:p>
          <a:p>
            <a:pPr>
              <a:buNone/>
              <a:defRPr sz="1425" b="0">
                <a:solidFill>
                  <a:srgbClr val="536B70"/>
                </a:solidFill>
                <a:latin typeface="Calibri"/>
                <a:ea typeface="Calibri"/>
                <a:cs typeface="Calibri"/>
              </a:defRPr>
            </a:pPr>
            <a:r>
              <a:rPr sz="1425" b="0">
                <a:solidFill>
                  <a:srgbClr val="536B70"/>
                </a:solidFill>
                <a:latin typeface="Calibri"/>
                <a:ea typeface="Calibri"/>
                <a:cs typeface="Calibri"/>
              </a:rPr>
              <a:t>Eurostat, NACE 43, 10–49 people employed. Latvia: 2024. EU-27: 2023, includes estimates.</a:t>
            </a:r>
          </a:p>
        </p:txBody>
      </p:sp>
      <p:sp>
        <p:nvSpPr>
          <p:cNvPr id="8" name="Rectangle 7">
            <a:extLst>
              <a:ext uri="{FF2B5EF4-FFF2-40B4-BE49-F238E27FC236}">
                <a16:creationId xmlns:a16="http://schemas.microsoft.com/office/drawing/2014/main" id="{9B4E1047-7A69-45E8-968D-5E7CE38EB8AC}"/>
              </a:ext>
            </a:extLst>
          </p:cNvPr>
          <p:cNvSpPr>
            <a:spLocks noGrp="1"/>
          </p:cNvSpPr>
          <p:nvPr/>
        </p:nvSpPr>
        <p:spPr>
          <a:xfrm>
            <a:off x="723900" y="1247775"/>
            <a:ext cx="10715625" cy="457200"/>
          </a:xfrm>
          <a:prstGeom prst="rect">
            <a:avLst/>
          </a:prstGeom>
          <a:noFill/>
          <a:ln w="0">
            <a:noFill/>
          </a:ln>
        </p:spPr>
        <p:txBody>
          <a:bodyPr>
            <a:noAutofit/>
          </a:bodyPr>
          <a:lstStyle/>
          <a:p>
            <a:pPr>
              <a:buNone/>
              <a:defRPr sz="2025" b="0">
                <a:solidFill>
                  <a:srgbClr val="142F35"/>
                </a:solidFill>
                <a:latin typeface="Calibri"/>
                <a:ea typeface="Calibri"/>
                <a:cs typeface="Calibri"/>
              </a:defRPr>
            </a:pPr>
            <a:r>
              <a:rPr sz="2025" b="0">
                <a:solidFill>
                  <a:srgbClr val="142F35"/>
                </a:solidFill>
                <a:latin typeface="Calibri"/>
                <a:ea typeface="Calibri"/>
                <a:cs typeface="Calibri"/>
              </a:rPr>
              <a:t>Specialty construction enterprises with 10–49 people employed</a:t>
            </a:r>
          </a:p>
        </p:txBody>
      </p:sp>
      <p:sp>
        <p:nvSpPr>
          <p:cNvPr id="9" name="Rectangle 8">
            <a:extLst>
              <a:ext uri="{FF2B5EF4-FFF2-40B4-BE49-F238E27FC236}">
                <a16:creationId xmlns:a16="http://schemas.microsoft.com/office/drawing/2014/main" id="{A06AD83F-7468-490A-A930-8211664FA294}"/>
              </a:ext>
            </a:extLst>
          </p:cNvPr>
          <p:cNvSpPr>
            <a:spLocks noGrp="1"/>
          </p:cNvSpPr>
          <p:nvPr/>
        </p:nvSpPr>
        <p:spPr>
          <a:xfrm>
            <a:off x="6619875" y="1762125"/>
            <a:ext cx="4762500" cy="457200"/>
          </a:xfrm>
          <a:prstGeom prst="rect">
            <a:avLst/>
          </a:prstGeom>
          <a:noFill/>
          <a:ln w="0">
            <a:noFill/>
          </a:ln>
        </p:spPr>
        <p:txBody>
          <a:bodyPr>
            <a:noAutofit/>
          </a:bodyPr>
          <a:lstStyle/>
          <a:p>
            <a:pPr>
              <a:buNone/>
              <a:defRPr sz="2100" b="1">
                <a:solidFill>
                  <a:srgbClr val="142F35"/>
                </a:solidFill>
                <a:latin typeface="Calibri"/>
                <a:ea typeface="Calibri"/>
                <a:cs typeface="Calibri"/>
              </a:defRPr>
            </a:pPr>
            <a:r>
              <a:rPr sz="2100" b="1">
                <a:solidFill>
                  <a:srgbClr val="142F35"/>
                </a:solidFill>
                <a:latin typeface="Calibri"/>
                <a:ea typeface="Calibri"/>
                <a:cs typeface="Calibri"/>
              </a:rPr>
              <a:t>Europe: EU-27 market</a:t>
            </a:r>
          </a:p>
        </p:txBody>
      </p:sp>
      <p:sp>
        <p:nvSpPr>
          <p:cNvPr id="10" name="Rectangle 9">
            <a:extLst>
              <a:ext uri="{FF2B5EF4-FFF2-40B4-BE49-F238E27FC236}">
                <a16:creationId xmlns:a16="http://schemas.microsoft.com/office/drawing/2014/main" id="{EAA65947-32FB-4098-BFA3-759A1FB234BD}"/>
              </a:ext>
            </a:extLst>
          </p:cNvPr>
          <p:cNvSpPr>
            <a:spLocks noGrp="1"/>
          </p:cNvSpPr>
          <p:nvPr/>
        </p:nvSpPr>
        <p:spPr>
          <a:xfrm>
            <a:off x="6581775" y="2143125"/>
            <a:ext cx="4953000" cy="1000125"/>
          </a:xfrm>
          <a:prstGeom prst="rect">
            <a:avLst/>
          </a:prstGeom>
          <a:noFill/>
          <a:ln w="0">
            <a:noFill/>
          </a:ln>
        </p:spPr>
        <p:txBody>
          <a:bodyPr>
            <a:noAutofit/>
          </a:bodyPr>
          <a:lstStyle/>
          <a:p>
            <a:pPr>
              <a:buNone/>
              <a:defRPr sz="6600" b="1">
                <a:solidFill>
                  <a:srgbClr val="008579"/>
                </a:solidFill>
                <a:latin typeface="Calibri"/>
                <a:ea typeface="Calibri"/>
                <a:cs typeface="Calibri"/>
              </a:defRPr>
            </a:pPr>
            <a:r>
              <a:rPr sz="6600" b="1">
                <a:solidFill>
                  <a:srgbClr val="008579"/>
                </a:solidFill>
                <a:latin typeface="Calibri"/>
                <a:ea typeface="Calibri"/>
                <a:cs typeface="Calibri"/>
              </a:rPr>
              <a:t>~142,000</a:t>
            </a:r>
          </a:p>
        </p:txBody>
      </p:sp>
      <p:sp>
        <p:nvSpPr>
          <p:cNvPr id="11" name="Rectangle 10">
            <a:extLst>
              <a:ext uri="{FF2B5EF4-FFF2-40B4-BE49-F238E27FC236}">
                <a16:creationId xmlns:a16="http://schemas.microsoft.com/office/drawing/2014/main" id="{9C0B9765-8382-445A-BA16-16D453F48D5F}"/>
              </a:ext>
            </a:extLst>
          </p:cNvPr>
          <p:cNvSpPr>
            <a:spLocks noGrp="1"/>
          </p:cNvSpPr>
          <p:nvPr/>
        </p:nvSpPr>
        <p:spPr>
          <a:xfrm>
            <a:off x="723900" y="3162300"/>
            <a:ext cx="4762500" cy="400050"/>
          </a:xfrm>
          <a:prstGeom prst="rect">
            <a:avLst/>
          </a:prstGeom>
          <a:noFill/>
          <a:ln w="0">
            <a:noFill/>
          </a:ln>
        </p:spPr>
        <p:txBody>
          <a:bodyPr>
            <a:noAutofit/>
          </a:bodyPr>
          <a:lstStyle/>
          <a:p>
            <a:pPr>
              <a:buNone/>
              <a:defRPr sz="2025" b="0">
                <a:solidFill>
                  <a:srgbClr val="142F35"/>
                </a:solidFill>
                <a:latin typeface="Calibri"/>
                <a:ea typeface="Calibri"/>
                <a:cs typeface="Calibri"/>
              </a:defRPr>
            </a:pPr>
            <a:r>
              <a:rPr sz="2025" b="0">
                <a:solidFill>
                  <a:srgbClr val="142F35"/>
                </a:solidFill>
                <a:latin typeface="Calibri"/>
                <a:ea typeface="Calibri"/>
                <a:cs typeface="Calibri"/>
              </a:rPr>
              <a:t>enterprises</a:t>
            </a:r>
          </a:p>
        </p:txBody>
      </p:sp>
      <p:sp>
        <p:nvSpPr>
          <p:cNvPr id="12" name="Rectangle 11">
            <a:extLst>
              <a:ext uri="{FF2B5EF4-FFF2-40B4-BE49-F238E27FC236}">
                <a16:creationId xmlns:a16="http://schemas.microsoft.com/office/drawing/2014/main" id="{73B0AF8E-71AC-49E1-9AD2-C49556F525A2}"/>
              </a:ext>
            </a:extLst>
          </p:cNvPr>
          <p:cNvSpPr>
            <a:spLocks noGrp="1"/>
          </p:cNvSpPr>
          <p:nvPr/>
        </p:nvSpPr>
        <p:spPr>
          <a:xfrm>
            <a:off x="6619875" y="3162300"/>
            <a:ext cx="4762500" cy="400050"/>
          </a:xfrm>
          <a:prstGeom prst="rect">
            <a:avLst/>
          </a:prstGeom>
          <a:noFill/>
          <a:ln w="0">
            <a:noFill/>
          </a:ln>
        </p:spPr>
        <p:txBody>
          <a:bodyPr>
            <a:noAutofit/>
          </a:bodyPr>
          <a:lstStyle/>
          <a:p>
            <a:pPr>
              <a:buNone/>
              <a:defRPr sz="2025" b="0">
                <a:solidFill>
                  <a:srgbClr val="142F35"/>
                </a:solidFill>
                <a:latin typeface="Calibri"/>
                <a:ea typeface="Calibri"/>
                <a:cs typeface="Calibri"/>
              </a:defRPr>
            </a:pPr>
            <a:r>
              <a:rPr sz="2025" b="0">
                <a:solidFill>
                  <a:srgbClr val="142F35"/>
                </a:solidFill>
                <a:latin typeface="Calibri"/>
                <a:ea typeface="Calibri"/>
                <a:cs typeface="Calibri"/>
              </a:rPr>
              <a:t>enterprises</a:t>
            </a:r>
          </a:p>
        </p:txBody>
      </p:sp>
      <p:sp>
        <p:nvSpPr>
          <p:cNvPr id="13" name="Rectangle 12">
            <a:extLst>
              <a:ext uri="{FF2B5EF4-FFF2-40B4-BE49-F238E27FC236}">
                <a16:creationId xmlns:a16="http://schemas.microsoft.com/office/drawing/2014/main" id="{AD8CA223-3E1A-45B1-94F5-E6903AF3BD36}"/>
              </a:ext>
            </a:extLst>
          </p:cNvPr>
          <p:cNvSpPr>
            <a:spLocks noGrp="1"/>
          </p:cNvSpPr>
          <p:nvPr/>
        </p:nvSpPr>
        <p:spPr>
          <a:xfrm>
            <a:off x="723900" y="3867150"/>
            <a:ext cx="4762500" cy="590550"/>
          </a:xfrm>
          <a:prstGeom prst="rect">
            <a:avLst/>
          </a:prstGeom>
          <a:noFill/>
          <a:ln w="0">
            <a:noFill/>
          </a:ln>
        </p:spPr>
        <p:txBody>
          <a:bodyPr>
            <a:noAutofit/>
          </a:bodyPr>
          <a:lstStyle/>
          <a:p>
            <a:pPr>
              <a:buNone/>
              <a:defRPr sz="3150" b="1">
                <a:solidFill>
                  <a:srgbClr val="142F35"/>
                </a:solidFill>
                <a:latin typeface="Calibri"/>
                <a:ea typeface="Calibri"/>
                <a:cs typeface="Calibri"/>
              </a:defRPr>
            </a:pPr>
            <a:r>
              <a:rPr sz="3150" b="1">
                <a:solidFill>
                  <a:srgbClr val="142F35"/>
                </a:solidFill>
                <a:latin typeface="Calibri"/>
                <a:ea typeface="Calibri"/>
                <a:cs typeface="Calibri"/>
              </a:rPr>
              <a:t>€2.22M / year</a:t>
            </a:r>
          </a:p>
        </p:txBody>
      </p:sp>
      <p:sp>
        <p:nvSpPr>
          <p:cNvPr id="14" name="Rectangle 13">
            <a:extLst>
              <a:ext uri="{FF2B5EF4-FFF2-40B4-BE49-F238E27FC236}">
                <a16:creationId xmlns:a16="http://schemas.microsoft.com/office/drawing/2014/main" id="{24CDE4BC-C25F-4124-8528-379009162667}"/>
              </a:ext>
            </a:extLst>
          </p:cNvPr>
          <p:cNvSpPr>
            <a:spLocks noGrp="1"/>
          </p:cNvSpPr>
          <p:nvPr/>
        </p:nvSpPr>
        <p:spPr>
          <a:xfrm>
            <a:off x="6619875" y="3867150"/>
            <a:ext cx="4762500" cy="590550"/>
          </a:xfrm>
          <a:prstGeom prst="rect">
            <a:avLst/>
          </a:prstGeom>
          <a:noFill/>
          <a:ln w="0">
            <a:noFill/>
          </a:ln>
        </p:spPr>
        <p:txBody>
          <a:bodyPr>
            <a:noAutofit/>
          </a:bodyPr>
          <a:lstStyle/>
          <a:p>
            <a:pPr>
              <a:buNone/>
              <a:defRPr sz="3150" b="1">
                <a:solidFill>
                  <a:srgbClr val="142F35"/>
                </a:solidFill>
                <a:latin typeface="Calibri"/>
                <a:ea typeface="Calibri"/>
                <a:cs typeface="Calibri"/>
              </a:defRPr>
            </a:pPr>
            <a:r>
              <a:rPr sz="3150" b="1">
                <a:solidFill>
                  <a:srgbClr val="142F35"/>
                </a:solidFill>
                <a:latin typeface="Calibri"/>
                <a:ea typeface="Calibri"/>
                <a:cs typeface="Calibri"/>
              </a:rPr>
              <a:t>~€511M / year</a:t>
            </a:r>
          </a:p>
        </p:txBody>
      </p:sp>
      <p:sp>
        <p:nvSpPr>
          <p:cNvPr id="15" name="Rectangle 14">
            <a:extLst>
              <a:ext uri="{FF2B5EF4-FFF2-40B4-BE49-F238E27FC236}">
                <a16:creationId xmlns:a16="http://schemas.microsoft.com/office/drawing/2014/main" id="{4BB14F53-9F2D-400C-B29F-A599DFB9C285}"/>
              </a:ext>
            </a:extLst>
          </p:cNvPr>
          <p:cNvSpPr>
            <a:spLocks noGrp="1"/>
          </p:cNvSpPr>
          <p:nvPr/>
        </p:nvSpPr>
        <p:spPr>
          <a:xfrm>
            <a:off x="723900" y="4467225"/>
            <a:ext cx="4762500" cy="428625"/>
          </a:xfrm>
          <a:prstGeom prst="rect">
            <a:avLst/>
          </a:prstGeom>
          <a:noFill/>
          <a:ln w="0">
            <a:noFill/>
          </a:ln>
        </p:spPr>
        <p:txBody>
          <a:bodyPr>
            <a:noAutofit/>
          </a:bodyPr>
          <a:lstStyle/>
          <a:p>
            <a:pPr>
              <a:buNone/>
              <a:defRPr sz="1875" b="0">
                <a:solidFill>
                  <a:srgbClr val="536B70"/>
                </a:solidFill>
                <a:latin typeface="Calibri"/>
                <a:ea typeface="Calibri"/>
                <a:cs typeface="Calibri"/>
              </a:defRPr>
            </a:pPr>
            <a:r>
              <a:rPr sz="1875" b="0">
                <a:solidFill>
                  <a:srgbClr val="536B70"/>
                </a:solidFill>
                <a:latin typeface="Calibri"/>
                <a:ea typeface="Calibri"/>
                <a:cs typeface="Calibri"/>
              </a:rPr>
              <a:t>annual software opportunity</a:t>
            </a:r>
          </a:p>
        </p:txBody>
      </p:sp>
      <p:sp>
        <p:nvSpPr>
          <p:cNvPr id="16" name="Rectangle 15">
            <a:extLst>
              <a:ext uri="{FF2B5EF4-FFF2-40B4-BE49-F238E27FC236}">
                <a16:creationId xmlns:a16="http://schemas.microsoft.com/office/drawing/2014/main" id="{2E857783-EE91-463F-858F-92B98E83F6A8}"/>
              </a:ext>
            </a:extLst>
          </p:cNvPr>
          <p:cNvSpPr>
            <a:spLocks noGrp="1"/>
          </p:cNvSpPr>
          <p:nvPr/>
        </p:nvSpPr>
        <p:spPr>
          <a:xfrm>
            <a:off x="6619875" y="4467225"/>
            <a:ext cx="4762500" cy="428625"/>
          </a:xfrm>
          <a:prstGeom prst="rect">
            <a:avLst/>
          </a:prstGeom>
          <a:noFill/>
          <a:ln w="0">
            <a:noFill/>
          </a:ln>
        </p:spPr>
        <p:txBody>
          <a:bodyPr>
            <a:noAutofit/>
          </a:bodyPr>
          <a:lstStyle/>
          <a:p>
            <a:pPr>
              <a:buNone/>
              <a:defRPr sz="1875" b="0">
                <a:solidFill>
                  <a:srgbClr val="536B70"/>
                </a:solidFill>
                <a:latin typeface="Calibri"/>
                <a:ea typeface="Calibri"/>
                <a:cs typeface="Calibri"/>
              </a:defRPr>
            </a:pPr>
            <a:r>
              <a:rPr sz="1875" b="0">
                <a:solidFill>
                  <a:srgbClr val="536B70"/>
                </a:solidFill>
                <a:latin typeface="Calibri"/>
                <a:ea typeface="Calibri"/>
                <a:cs typeface="Calibri"/>
              </a:rPr>
              <a:t>annual software opportunity</a:t>
            </a:r>
          </a:p>
        </p:txBody>
      </p:sp>
      <p:sp>
        <p:nvSpPr>
          <p:cNvPr id="17" name="Rectangle 16">
            <a:extLst>
              <a:ext uri="{FF2B5EF4-FFF2-40B4-BE49-F238E27FC236}">
                <a16:creationId xmlns:a16="http://schemas.microsoft.com/office/drawing/2014/main" id="{3A922960-3E58-44F0-8275-7975C75D0EAC}"/>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536B70"/>
                </a:solidFill>
                <a:latin typeface="Calibri"/>
                <a:ea typeface="Calibri"/>
                <a:cs typeface="Calibri"/>
              </a:defRPr>
            </a:pPr>
            <a:r>
              <a:rPr sz="1200" b="0">
                <a:solidFill>
                  <a:srgbClr val="536B70"/>
                </a:solidFill>
                <a:latin typeface="Calibri"/>
                <a:ea typeface="Calibri"/>
                <a:cs typeface="Calibri"/>
              </a:rPr>
              <a:t>07</a:t>
            </a:r>
          </a:p>
        </p:txBody>
      </p:sp>
    </p:spTree>
    <p:extLst>
      <p:ext uri="{BB962C8B-B14F-4D97-AF65-F5344CB8AC3E}">
        <p14:creationId xmlns:p14="http://schemas.microsoft.com/office/powerpoint/2010/main" val="8481917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22C3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0E2CD63-474A-4D05-8791-4CB3A9401BC7}"/>
              </a:ext>
            </a:extLst>
          </p:cNvPr>
          <p:cNvSpPr>
            <a:spLocks noGrp="1"/>
          </p:cNvSpPr>
          <p:nvPr/>
        </p:nvSpPr>
        <p:spPr>
          <a:xfrm>
            <a:off x="685800" y="571500"/>
            <a:ext cx="10820400" cy="1095375"/>
          </a:xfrm>
          <a:prstGeom prst="rect">
            <a:avLst/>
          </a:prstGeom>
          <a:noFill/>
          <a:ln w="0">
            <a:noFill/>
          </a:ln>
        </p:spPr>
        <p:txBody>
          <a:bodyPr>
            <a:noAutofit/>
          </a:bodyPr>
          <a:lstStyle/>
          <a:p>
            <a:pPr>
              <a:buNone/>
              <a:defRPr sz="3600" b="1">
                <a:solidFill>
                  <a:srgbClr val="FFFFFF"/>
                </a:solidFill>
                <a:latin typeface="Bitstream Charter"/>
                <a:ea typeface="Bitstream Charter"/>
                <a:cs typeface="Bitstream Charter"/>
              </a:defRPr>
            </a:pPr>
            <a:r>
              <a:rPr sz="3600" b="1">
                <a:solidFill>
                  <a:srgbClr val="FFFFFF"/>
                </a:solidFill>
                <a:latin typeface="Bitstream Charter"/>
                <a:ea typeface="Bitstream Charter"/>
                <a:cs typeface="Bitstream Charter"/>
              </a:rPr>
              <a:t>Five active subscriptions</a:t>
            </a:r>
          </a:p>
        </p:txBody>
      </p:sp>
      <p:sp>
        <p:nvSpPr>
          <p:cNvPr id="3" name="Rectangle 2">
            <a:extLst>
              <a:ext uri="{FF2B5EF4-FFF2-40B4-BE49-F238E27FC236}">
                <a16:creationId xmlns:a16="http://schemas.microsoft.com/office/drawing/2014/main" id="{B5384B42-24A6-4938-ABBF-849F9A0A764B}"/>
              </a:ext>
            </a:extLst>
          </p:cNvPr>
          <p:cNvSpPr>
            <a:spLocks noGrp="1"/>
          </p:cNvSpPr>
          <p:nvPr/>
        </p:nvSpPr>
        <p:spPr>
          <a:xfrm>
            <a:off x="685800" y="2000250"/>
            <a:ext cx="6858000" cy="1619250"/>
          </a:xfrm>
          <a:prstGeom prst="rect">
            <a:avLst/>
          </a:prstGeom>
          <a:noFill/>
          <a:ln w="0">
            <a:noFill/>
          </a:ln>
        </p:spPr>
        <p:txBody>
          <a:bodyPr>
            <a:noAutofit/>
          </a:bodyPr>
          <a:lstStyle/>
          <a:p>
            <a:pPr>
              <a:buNone/>
              <a:defRPr sz="9600" b="1">
                <a:solidFill>
                  <a:srgbClr val="FFFFFF"/>
                </a:solidFill>
                <a:latin typeface="Bitstream Charter"/>
                <a:ea typeface="Bitstream Charter"/>
                <a:cs typeface="Bitstream Charter"/>
              </a:defRPr>
            </a:pPr>
            <a:r>
              <a:rPr sz="9600" b="1">
                <a:solidFill>
                  <a:srgbClr val="FFFFFF"/>
                </a:solidFill>
                <a:latin typeface="Bitstream Charter"/>
                <a:ea typeface="Bitstream Charter"/>
                <a:cs typeface="Bitstream Charter"/>
              </a:rPr>
              <a:t>€780</a:t>
            </a:r>
          </a:p>
        </p:txBody>
      </p:sp>
      <p:sp>
        <p:nvSpPr>
          <p:cNvPr id="4" name="Rectangle 3">
            <a:extLst>
              <a:ext uri="{FF2B5EF4-FFF2-40B4-BE49-F238E27FC236}">
                <a16:creationId xmlns:a16="http://schemas.microsoft.com/office/drawing/2014/main" id="{F2F1FC68-FB05-41C1-B3AD-5587689647BB}"/>
              </a:ext>
            </a:extLst>
          </p:cNvPr>
          <p:cNvSpPr>
            <a:spLocks noGrp="1"/>
          </p:cNvSpPr>
          <p:nvPr/>
        </p:nvSpPr>
        <p:spPr>
          <a:xfrm>
            <a:off x="742950" y="3667125"/>
            <a:ext cx="7810500" cy="571500"/>
          </a:xfrm>
          <a:prstGeom prst="rect">
            <a:avLst/>
          </a:prstGeom>
          <a:noFill/>
          <a:ln w="0">
            <a:noFill/>
          </a:ln>
        </p:spPr>
        <p:txBody>
          <a:bodyPr>
            <a:noAutofit/>
          </a:bodyPr>
          <a:lstStyle/>
          <a:p>
            <a:pPr>
              <a:buNone/>
              <a:defRPr sz="2550" b="0">
                <a:solidFill>
                  <a:srgbClr val="B9DCD5"/>
                </a:solidFill>
                <a:latin typeface="Bitstream Charter"/>
                <a:ea typeface="Bitstream Charter"/>
                <a:cs typeface="Bitstream Charter"/>
              </a:defRPr>
            </a:pPr>
            <a:r>
              <a:rPr sz="2550" b="0">
                <a:solidFill>
                  <a:srgbClr val="B9DCD5"/>
                </a:solidFill>
                <a:latin typeface="Bitstream Charter"/>
                <a:ea typeface="Bitstream Charter"/>
                <a:cs typeface="Bitstream Charter"/>
              </a:rPr>
              <a:t>monthly recurring revenue</a:t>
            </a:r>
          </a:p>
        </p:txBody>
      </p:sp>
      <p:sp>
        <p:nvSpPr>
          <p:cNvPr id="5" name="Rectangle 4">
            <a:extLst>
              <a:ext uri="{FF2B5EF4-FFF2-40B4-BE49-F238E27FC236}">
                <a16:creationId xmlns:a16="http://schemas.microsoft.com/office/drawing/2014/main" id="{79BDBE97-186D-481C-B712-0D6E406B13B2}"/>
              </a:ext>
            </a:extLst>
          </p:cNvPr>
          <p:cNvSpPr>
            <a:spLocks noGrp="1"/>
          </p:cNvSpPr>
          <p:nvPr/>
        </p:nvSpPr>
        <p:spPr>
          <a:xfrm>
            <a:off x="8143875" y="2362200"/>
            <a:ext cx="3333750" cy="952500"/>
          </a:xfrm>
          <a:prstGeom prst="rect">
            <a:avLst/>
          </a:prstGeom>
          <a:noFill/>
          <a:ln w="0">
            <a:noFill/>
          </a:ln>
        </p:spPr>
        <p:txBody>
          <a:bodyPr>
            <a:noAutofit/>
          </a:bodyPr>
          <a:lstStyle/>
          <a:p>
            <a:pPr>
              <a:buNone/>
              <a:defRPr sz="4950" b="1">
                <a:solidFill>
                  <a:srgbClr val="FFFFFF"/>
                </a:solidFill>
                <a:latin typeface="Bitstream Charter"/>
                <a:ea typeface="Bitstream Charter"/>
                <a:cs typeface="Bitstream Charter"/>
              </a:defRPr>
            </a:pPr>
            <a:r>
              <a:rPr sz="4950" b="1">
                <a:solidFill>
                  <a:srgbClr val="FFFFFF"/>
                </a:solidFill>
                <a:latin typeface="Bitstream Charter"/>
                <a:ea typeface="Bitstream Charter"/>
                <a:cs typeface="Bitstream Charter"/>
              </a:rPr>
              <a:t>~€150</a:t>
            </a:r>
          </a:p>
        </p:txBody>
      </p:sp>
      <p:sp>
        <p:nvSpPr>
          <p:cNvPr id="6" name="Rectangle 5">
            <a:extLst>
              <a:ext uri="{FF2B5EF4-FFF2-40B4-BE49-F238E27FC236}">
                <a16:creationId xmlns:a16="http://schemas.microsoft.com/office/drawing/2014/main" id="{235E0144-25AA-42AA-BDA4-B2E3C18CE7D1}"/>
              </a:ext>
            </a:extLst>
          </p:cNvPr>
          <p:cNvSpPr>
            <a:spLocks noGrp="1"/>
          </p:cNvSpPr>
          <p:nvPr/>
        </p:nvSpPr>
        <p:spPr>
          <a:xfrm>
            <a:off x="8143875" y="3429000"/>
            <a:ext cx="3143250" cy="952500"/>
          </a:xfrm>
          <a:prstGeom prst="rect">
            <a:avLst/>
          </a:prstGeom>
          <a:noFill/>
          <a:ln w="0">
            <a:noFill/>
          </a:ln>
        </p:spPr>
        <p:txBody>
          <a:bodyPr>
            <a:noAutofit/>
          </a:bodyPr>
          <a:lstStyle/>
          <a:p>
            <a:pPr>
              <a:buNone/>
              <a:defRPr sz="2025" b="0">
                <a:solidFill>
                  <a:srgbClr val="B9DCD5"/>
                </a:solidFill>
                <a:latin typeface="Bitstream Charter"/>
                <a:ea typeface="Bitstream Charter"/>
                <a:cs typeface="Bitstream Charter"/>
              </a:defRPr>
            </a:pPr>
            <a:r>
              <a:rPr sz="2025" b="0">
                <a:solidFill>
                  <a:srgbClr val="B9DCD5"/>
                </a:solidFill>
                <a:latin typeface="Bitstream Charter"/>
                <a:ea typeface="Bitstream Charter"/>
                <a:cs typeface="Bitstream Charter"/>
              </a:rPr>
              <a:t>average monthly revenue</a:t>
            </a:r>
          </a:p>
          <a:p>
            <a:pPr>
              <a:buNone/>
              <a:defRPr sz="2025" b="0">
                <a:solidFill>
                  <a:srgbClr val="B9DCD5"/>
                </a:solidFill>
                <a:latin typeface="Bitstream Charter"/>
                <a:ea typeface="Bitstream Charter"/>
                <a:cs typeface="Bitstream Charter"/>
              </a:defRPr>
            </a:pPr>
            <a:r>
              <a:rPr sz="2025" b="0">
                <a:solidFill>
                  <a:srgbClr val="B9DCD5"/>
                </a:solidFill>
                <a:latin typeface="Bitstream Charter"/>
                <a:ea typeface="Bitstream Charter"/>
                <a:cs typeface="Bitstream Charter"/>
              </a:rPr>
              <a:t>per company</a:t>
            </a:r>
          </a:p>
        </p:txBody>
      </p:sp>
      <p:sp>
        <p:nvSpPr>
          <p:cNvPr id="7" name="Rectangle 6">
            <a:extLst>
              <a:ext uri="{FF2B5EF4-FFF2-40B4-BE49-F238E27FC236}">
                <a16:creationId xmlns:a16="http://schemas.microsoft.com/office/drawing/2014/main" id="{1720956F-9F3C-4BD3-AE98-3C4EC7155A8D}"/>
              </a:ext>
            </a:extLst>
          </p:cNvPr>
          <p:cNvSpPr>
            <a:spLocks noGrp="1"/>
          </p:cNvSpPr>
          <p:nvPr/>
        </p:nvSpPr>
        <p:spPr>
          <a:xfrm>
            <a:off x="742950" y="5391150"/>
            <a:ext cx="10477500" cy="666750"/>
          </a:xfrm>
          <a:prstGeom prst="rect">
            <a:avLst/>
          </a:prstGeom>
          <a:noFill/>
          <a:ln w="0">
            <a:noFill/>
          </a:ln>
        </p:spPr>
        <p:txBody>
          <a:bodyPr>
            <a:noAutofit/>
          </a:bodyPr>
          <a:lstStyle/>
          <a:p>
            <a:pPr>
              <a:buNone/>
              <a:defRPr sz="1875" b="0">
                <a:solidFill>
                  <a:srgbClr val="B9DCD5"/>
                </a:solidFill>
                <a:latin typeface="Bitstream Charter"/>
                <a:ea typeface="Bitstream Charter"/>
                <a:cs typeface="Bitstream Charter"/>
              </a:defRPr>
            </a:pPr>
            <a:r>
              <a:rPr sz="1875" b="0">
                <a:solidFill>
                  <a:srgbClr val="B9DCD5"/>
                </a:solidFill>
                <a:latin typeface="Bitstream Charter"/>
                <a:ea typeface="Bitstream Charter"/>
                <a:cs typeface="Bitstream Charter"/>
              </a:rPr>
              <a:t>€9,360 annualised revenue. Exact current average: €156/company/month.</a:t>
            </a:r>
          </a:p>
        </p:txBody>
      </p:sp>
      <p:sp>
        <p:nvSpPr>
          <p:cNvPr id="9" name="Rectangle 8">
            <a:extLst>
              <a:ext uri="{FF2B5EF4-FFF2-40B4-BE49-F238E27FC236}">
                <a16:creationId xmlns:a16="http://schemas.microsoft.com/office/drawing/2014/main" id="{4A1E6458-941F-4B9F-8AD0-499E257FE823}"/>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AEC2C5"/>
                </a:solidFill>
                <a:latin typeface="Calibri"/>
                <a:ea typeface="Calibri"/>
                <a:cs typeface="Calibri"/>
              </a:defRPr>
            </a:pPr>
            <a:r>
              <a:rPr sz="1200" b="0">
                <a:solidFill>
                  <a:srgbClr val="AEC2C5"/>
                </a:solidFill>
                <a:latin typeface="Calibri"/>
                <a:ea typeface="Calibri"/>
                <a:cs typeface="Calibri"/>
              </a:rPr>
              <a:t>08</a:t>
            </a:r>
          </a:p>
        </p:txBody>
      </p:sp>
    </p:spTree>
    <p:extLst>
      <p:ext uri="{BB962C8B-B14F-4D97-AF65-F5344CB8AC3E}">
        <p14:creationId xmlns:p14="http://schemas.microsoft.com/office/powerpoint/2010/main" val="1813662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08EDF8BD-E63E-43D5-A36A-2354C150D192}"/>
              </a:ext>
            </a:extLst>
          </p:cNvPr>
          <p:cNvSpPr>
            <a:spLocks noGrp="1"/>
          </p:cNvSpPr>
          <p:nvPr/>
        </p:nvSpPr>
        <p:spPr>
          <a:xfrm>
            <a:off x="685800" y="571500"/>
            <a:ext cx="10820400" cy="1095375"/>
          </a:xfrm>
          <a:prstGeom prst="rect">
            <a:avLst/>
          </a:prstGeom>
          <a:noFill/>
          <a:ln w="0">
            <a:noFill/>
          </a:ln>
        </p:spPr>
        <p:txBody>
          <a:bodyPr>
            <a:noAutofit/>
          </a:bodyPr>
          <a:lstStyle/>
          <a:p>
            <a:pPr>
              <a:buNone/>
              <a:defRPr sz="3600" b="1">
                <a:solidFill>
                  <a:srgbClr val="122C32"/>
                </a:solidFill>
                <a:latin typeface="Bitstream Charter"/>
                <a:ea typeface="Bitstream Charter"/>
                <a:cs typeface="Bitstream Charter"/>
              </a:defRPr>
            </a:pPr>
            <a:r>
              <a:rPr sz="3600" b="1">
                <a:solidFill>
                  <a:srgbClr val="122C32"/>
                </a:solidFill>
                <a:latin typeface="Bitstream Charter"/>
                <a:ea typeface="Bitstream Charter"/>
                <a:cs typeface="Bitstream Charter"/>
              </a:rPr>
              <a:t>Current customer revenue</a:t>
            </a:r>
          </a:p>
        </p:txBody>
      </p:sp>
      <p:sp>
        <p:nvSpPr>
          <p:cNvPr id="3" name="Rectangle 2">
            <a:extLst>
              <a:ext uri="{FF2B5EF4-FFF2-40B4-BE49-F238E27FC236}">
                <a16:creationId xmlns:a16="http://schemas.microsoft.com/office/drawing/2014/main" id="{455E1E9E-8924-44E0-B6FA-FE20ED7744AA}"/>
              </a:ext>
            </a:extLst>
          </p:cNvPr>
          <p:cNvSpPr>
            <a:spLocks noGrp="1"/>
          </p:cNvSpPr>
          <p:nvPr/>
        </p:nvSpPr>
        <p:spPr>
          <a:xfrm>
            <a:off x="762000" y="1905000"/>
            <a:ext cx="6191250" cy="476250"/>
          </a:xfrm>
          <a:prstGeom prst="rect">
            <a:avLst/>
          </a:prstGeom>
          <a:noFill/>
          <a:ln w="0">
            <a:noFill/>
          </a:ln>
        </p:spPr>
        <p:txBody>
          <a:bodyPr>
            <a:noAutofit/>
          </a:bodyPr>
          <a:lstStyle/>
          <a:p>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TGEM</a:t>
            </a:r>
          </a:p>
        </p:txBody>
      </p:sp>
      <p:sp>
        <p:nvSpPr>
          <p:cNvPr id="4" name="Rectangle 3">
            <a:extLst>
              <a:ext uri="{FF2B5EF4-FFF2-40B4-BE49-F238E27FC236}">
                <a16:creationId xmlns:a16="http://schemas.microsoft.com/office/drawing/2014/main" id="{4635259B-5CA7-49B9-AB23-5C07881DF03A}"/>
              </a:ext>
            </a:extLst>
          </p:cNvPr>
          <p:cNvSpPr>
            <a:spLocks noGrp="1"/>
          </p:cNvSpPr>
          <p:nvPr/>
        </p:nvSpPr>
        <p:spPr>
          <a:xfrm>
            <a:off x="7905750" y="1905000"/>
            <a:ext cx="3333750" cy="476250"/>
          </a:xfrm>
          <a:prstGeom prst="rect">
            <a:avLst/>
          </a:prstGeom>
          <a:noFill/>
          <a:ln w="0">
            <a:noFill/>
          </a:ln>
        </p:spPr>
        <p:txBody>
          <a:bodyPr>
            <a:noAutofit/>
          </a:bodyPr>
          <a:lstStyle/>
          <a:p>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€250 / month</a:t>
            </a:r>
          </a:p>
        </p:txBody>
      </p:sp>
      <p:sp>
        <p:nvSpPr>
          <p:cNvPr id="5" name="Rectangle 4">
            <a:extLst>
              <a:ext uri="{FF2B5EF4-FFF2-40B4-BE49-F238E27FC236}">
                <a16:creationId xmlns:a16="http://schemas.microsoft.com/office/drawing/2014/main" id="{4E4D18B8-14E2-441A-BE4B-22E964B5ED8D}"/>
              </a:ext>
            </a:extLst>
          </p:cNvPr>
          <p:cNvSpPr>
            <a:spLocks noGrp="1"/>
          </p:cNvSpPr>
          <p:nvPr/>
        </p:nvSpPr>
        <p:spPr>
          <a:xfrm>
            <a:off x="762000" y="2581275"/>
            <a:ext cx="6191250" cy="476250"/>
          </a:xfrm>
          <a:prstGeom prst="rect">
            <a:avLst/>
          </a:prstGeom>
          <a:noFill/>
          <a:ln w="0">
            <a:noFill/>
          </a:ln>
        </p:spPr>
        <p:txBody>
          <a:bodyPr>
            <a:noAutofit/>
          </a:bodyPr>
          <a:lstStyle/>
          <a:p>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Limeni.lv</a:t>
            </a:r>
          </a:p>
        </p:txBody>
      </p:sp>
      <p:sp>
        <p:nvSpPr>
          <p:cNvPr id="6" name="Rectangle 5">
            <a:extLst>
              <a:ext uri="{FF2B5EF4-FFF2-40B4-BE49-F238E27FC236}">
                <a16:creationId xmlns:a16="http://schemas.microsoft.com/office/drawing/2014/main" id="{47C73B40-7A06-4F57-B3FD-4EE294C5913E}"/>
              </a:ext>
            </a:extLst>
          </p:cNvPr>
          <p:cNvSpPr>
            <a:spLocks noGrp="1"/>
          </p:cNvSpPr>
          <p:nvPr/>
        </p:nvSpPr>
        <p:spPr>
          <a:xfrm>
            <a:off x="7905750" y="2581275"/>
            <a:ext cx="3333750" cy="476250"/>
          </a:xfrm>
          <a:prstGeom prst="rect">
            <a:avLst/>
          </a:prstGeom>
          <a:noFill/>
          <a:ln w="0">
            <a:noFill/>
          </a:ln>
        </p:spPr>
        <p:txBody>
          <a:bodyPr>
            <a:noAutofit/>
          </a:bodyPr>
          <a:lstStyle/>
          <a:p>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€180 / month</a:t>
            </a:r>
          </a:p>
        </p:txBody>
      </p:sp>
      <p:sp>
        <p:nvSpPr>
          <p:cNvPr id="7" name="Rectangle 6">
            <a:extLst>
              <a:ext uri="{FF2B5EF4-FFF2-40B4-BE49-F238E27FC236}">
                <a16:creationId xmlns:a16="http://schemas.microsoft.com/office/drawing/2014/main" id="{71CA1260-6304-4A1C-9460-E9221790A96F}"/>
              </a:ext>
            </a:extLst>
          </p:cNvPr>
          <p:cNvSpPr>
            <a:spLocks noGrp="1"/>
          </p:cNvSpPr>
          <p:nvPr/>
        </p:nvSpPr>
        <p:spPr>
          <a:xfrm>
            <a:off x="762000" y="3257550"/>
            <a:ext cx="6191250" cy="476250"/>
          </a:xfrm>
          <a:prstGeom prst="rect">
            <a:avLst/>
          </a:prstGeom>
          <a:noFill/>
          <a:ln w="0">
            <a:noFill/>
          </a:ln>
        </p:spPr>
        <p:txBody>
          <a:bodyPr>
            <a:noAutofit/>
          </a:bodyPr>
          <a:lstStyle/>
          <a:p>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ZTC</a:t>
            </a:r>
          </a:p>
        </p:txBody>
      </p:sp>
      <p:sp>
        <p:nvSpPr>
          <p:cNvPr id="8" name="Rectangle 7">
            <a:extLst>
              <a:ext uri="{FF2B5EF4-FFF2-40B4-BE49-F238E27FC236}">
                <a16:creationId xmlns:a16="http://schemas.microsoft.com/office/drawing/2014/main" id="{CFF2BA1E-5CFA-41EF-9053-5A168087E686}"/>
              </a:ext>
            </a:extLst>
          </p:cNvPr>
          <p:cNvSpPr>
            <a:spLocks noGrp="1"/>
          </p:cNvSpPr>
          <p:nvPr/>
        </p:nvSpPr>
        <p:spPr>
          <a:xfrm>
            <a:off x="7905750" y="3257550"/>
            <a:ext cx="3333750" cy="476250"/>
          </a:xfrm>
          <a:prstGeom prst="rect">
            <a:avLst/>
          </a:prstGeom>
          <a:noFill/>
          <a:ln w="0">
            <a:noFill/>
          </a:ln>
        </p:spPr>
        <p:txBody>
          <a:bodyPr>
            <a:noAutofit/>
          </a:bodyPr>
          <a:lstStyle/>
          <a:p>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€150 / month</a:t>
            </a:r>
          </a:p>
        </p:txBody>
      </p:sp>
      <p:sp>
        <p:nvSpPr>
          <p:cNvPr id="9" name="Rectangle 8">
            <a:extLst>
              <a:ext uri="{FF2B5EF4-FFF2-40B4-BE49-F238E27FC236}">
                <a16:creationId xmlns:a16="http://schemas.microsoft.com/office/drawing/2014/main" id="{4024057A-317B-4D08-975C-B2CF5F21A23A}"/>
              </a:ext>
            </a:extLst>
          </p:cNvPr>
          <p:cNvSpPr>
            <a:spLocks noGrp="1"/>
          </p:cNvSpPr>
          <p:nvPr/>
        </p:nvSpPr>
        <p:spPr>
          <a:xfrm>
            <a:off x="762000" y="3933825"/>
            <a:ext cx="6191250" cy="476250"/>
          </a:xfrm>
          <a:prstGeom prst="rect">
            <a:avLst/>
          </a:prstGeom>
          <a:noFill/>
          <a:ln w="0">
            <a:noFill/>
          </a:ln>
        </p:spPr>
        <p:txBody>
          <a:bodyPr>
            <a:noAutofit/>
          </a:bodyPr>
          <a:lstStyle/>
          <a:p>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Stone and Tree</a:t>
            </a:r>
          </a:p>
        </p:txBody>
      </p:sp>
      <p:sp>
        <p:nvSpPr>
          <p:cNvPr id="10" name="Rectangle 9">
            <a:extLst>
              <a:ext uri="{FF2B5EF4-FFF2-40B4-BE49-F238E27FC236}">
                <a16:creationId xmlns:a16="http://schemas.microsoft.com/office/drawing/2014/main" id="{C9F33BDC-B105-43E4-B07F-D346123128EA}"/>
              </a:ext>
            </a:extLst>
          </p:cNvPr>
          <p:cNvSpPr>
            <a:spLocks noGrp="1"/>
          </p:cNvSpPr>
          <p:nvPr/>
        </p:nvSpPr>
        <p:spPr>
          <a:xfrm>
            <a:off x="7905750" y="3933825"/>
            <a:ext cx="3333750" cy="476250"/>
          </a:xfrm>
          <a:prstGeom prst="rect">
            <a:avLst/>
          </a:prstGeom>
          <a:noFill/>
          <a:ln w="0">
            <a:noFill/>
          </a:ln>
        </p:spPr>
        <p:txBody>
          <a:bodyPr>
            <a:noAutofit/>
          </a:bodyPr>
          <a:lstStyle/>
          <a:p>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€120 / month</a:t>
            </a:r>
          </a:p>
        </p:txBody>
      </p:sp>
      <p:sp>
        <p:nvSpPr>
          <p:cNvPr id="11" name="Rectangle 10">
            <a:extLst>
              <a:ext uri="{FF2B5EF4-FFF2-40B4-BE49-F238E27FC236}">
                <a16:creationId xmlns:a16="http://schemas.microsoft.com/office/drawing/2014/main" id="{D1415E4E-9ABF-4A78-BFAE-904108F9C394}"/>
              </a:ext>
            </a:extLst>
          </p:cNvPr>
          <p:cNvSpPr>
            <a:spLocks noGrp="1"/>
          </p:cNvSpPr>
          <p:nvPr/>
        </p:nvSpPr>
        <p:spPr>
          <a:xfrm>
            <a:off x="762000" y="4610100"/>
            <a:ext cx="6191250" cy="476250"/>
          </a:xfrm>
          <a:prstGeom prst="rect">
            <a:avLst/>
          </a:prstGeom>
          <a:noFill/>
          <a:ln w="0">
            <a:noFill/>
          </a:ln>
        </p:spPr>
        <p:txBody>
          <a:bodyPr>
            <a:noAutofit/>
          </a:bodyPr>
          <a:lstStyle/>
          <a:p>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SIA 1212</a:t>
            </a:r>
          </a:p>
        </p:txBody>
      </p:sp>
      <p:sp>
        <p:nvSpPr>
          <p:cNvPr id="12" name="Rectangle 11">
            <a:extLst>
              <a:ext uri="{FF2B5EF4-FFF2-40B4-BE49-F238E27FC236}">
                <a16:creationId xmlns:a16="http://schemas.microsoft.com/office/drawing/2014/main" id="{E88EA2D7-39A3-4FCE-BA45-17026E61D91C}"/>
              </a:ext>
            </a:extLst>
          </p:cNvPr>
          <p:cNvSpPr>
            <a:spLocks noGrp="1"/>
          </p:cNvSpPr>
          <p:nvPr/>
        </p:nvSpPr>
        <p:spPr>
          <a:xfrm>
            <a:off x="7905750" y="4610100"/>
            <a:ext cx="3333750" cy="476250"/>
          </a:xfrm>
          <a:prstGeom prst="rect">
            <a:avLst/>
          </a:prstGeom>
          <a:noFill/>
          <a:ln w="0">
            <a:noFill/>
          </a:ln>
        </p:spPr>
        <p:txBody>
          <a:bodyPr>
            <a:noAutofit/>
          </a:bodyPr>
          <a:lstStyle/>
          <a:p>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€80 / month</a:t>
            </a:r>
          </a:p>
        </p:txBody>
      </p:sp>
      <p:sp>
        <p:nvSpPr>
          <p:cNvPr id="13" name="Rectangle 12">
            <a:extLst>
              <a:ext uri="{FF2B5EF4-FFF2-40B4-BE49-F238E27FC236}">
                <a16:creationId xmlns:a16="http://schemas.microsoft.com/office/drawing/2014/main" id="{D60AD922-7A01-4877-8EE9-C53F1F8DF59B}"/>
              </a:ext>
            </a:extLst>
          </p:cNvPr>
          <p:cNvSpPr>
            <a:spLocks noGrp="1"/>
          </p:cNvSpPr>
          <p:nvPr/>
        </p:nvSpPr>
        <p:spPr>
          <a:xfrm>
            <a:off x="762000" y="6011418"/>
            <a:ext cx="10572750" cy="552450"/>
          </a:xfrm>
          <a:prstGeom prst="rect">
            <a:avLst/>
          </a:prstGeom>
          <a:noFill/>
          <a:ln w="0">
            <a:noFill/>
          </a:ln>
        </p:spPr>
        <p:txBody>
          <a:bodyPr>
            <a:noAutofit/>
          </a:bodyPr>
          <a:lstStyle/>
          <a:p>
            <a:pPr>
              <a:buNone/>
              <a:defRPr sz="1725" b="0">
                <a:solidFill>
                  <a:srgbClr val="52686B"/>
                </a:solidFill>
                <a:latin typeface="Bitstream Charter"/>
                <a:ea typeface="Bitstream Charter"/>
                <a:cs typeface="Bitstream Charter"/>
              </a:defRPr>
            </a:pPr>
            <a:r>
              <a:rPr sz="1725" b="0">
                <a:solidFill>
                  <a:srgbClr val="52686B"/>
                </a:solidFill>
                <a:latin typeface="Bitstream Charter"/>
                <a:ea typeface="Bitstream Charter"/>
                <a:cs typeface="Bitstream Charter"/>
              </a:rPr>
              <a:t>Outside MRR: one free pilot, one active trial and one former paying customer.</a:t>
            </a:r>
          </a:p>
        </p:txBody>
      </p:sp>
      <p:sp>
        <p:nvSpPr>
          <p:cNvPr id="16" name="Rectangle 15">
            <a:extLst>
              <a:ext uri="{FF2B5EF4-FFF2-40B4-BE49-F238E27FC236}">
                <a16:creationId xmlns:a16="http://schemas.microsoft.com/office/drawing/2014/main" id="{2C874276-C8AD-7D00-C92C-338B0347F467}"/>
              </a:ext>
            </a:extLst>
          </p:cNvPr>
          <p:cNvSpPr>
            <a:spLocks noGrp="1"/>
          </p:cNvSpPr>
          <p:nvPr/>
        </p:nvSpPr>
        <p:spPr>
          <a:xfrm>
            <a:off x="762000" y="5286375"/>
            <a:ext cx="6191250" cy="476250"/>
          </a:xfrm>
          <a:prstGeom prst="rect">
            <a:avLst/>
          </a:prstGeom>
          <a:noFill/>
          <a:ln w="0">
            <a:noFill/>
          </a:ln>
        </p:spPr>
        <p:txBody>
          <a:bodyPr>
            <a:noAutofit/>
          </a:bodyPr>
          <a:lstStyle/>
          <a:p>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SB STOMME (trial ongoing)</a:t>
            </a:r>
          </a:p>
        </p:txBody>
      </p:sp>
      <p:sp>
        <p:nvSpPr>
          <p:cNvPr id="18" name="Rectangle 17">
            <a:extLst>
              <a:ext uri="{FF2B5EF4-FFF2-40B4-BE49-F238E27FC236}">
                <a16:creationId xmlns:a16="http://schemas.microsoft.com/office/drawing/2014/main" id="{D4FEF6AF-BCD3-47B9-DD7F-3A5362E97F46}"/>
              </a:ext>
            </a:extLst>
          </p:cNvPr>
          <p:cNvSpPr>
            <a:spLocks noGrp="1"/>
          </p:cNvSpPr>
          <p:nvPr/>
        </p:nvSpPr>
        <p:spPr>
          <a:xfrm>
            <a:off x="7905750" y="5286375"/>
            <a:ext cx="3333750" cy="476250"/>
          </a:xfrm>
          <a:prstGeom prst="rect">
            <a:avLst/>
          </a:prstGeom>
          <a:noFill/>
          <a:ln w="0">
            <a:noFill/>
          </a:ln>
        </p:spPr>
        <p:txBody>
          <a:bodyPr>
            <a:noAutofit/>
          </a:bodyPr>
          <a:lstStyle/>
          <a:p>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€90 / month after trial</a:t>
            </a:r>
          </a:p>
        </p:txBody>
      </p:sp>
      <p:sp>
        <p:nvSpPr>
          <p:cNvPr id="19" name="Rectangle 18">
            <a:extLst>
              <a:ext uri="{FF2B5EF4-FFF2-40B4-BE49-F238E27FC236}">
                <a16:creationId xmlns:a16="http://schemas.microsoft.com/office/drawing/2014/main" id="{DBBEF601-AE91-438F-9B34-1F4B12D218D0}"/>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536B70"/>
                </a:solidFill>
                <a:latin typeface="Calibri"/>
                <a:ea typeface="Calibri"/>
                <a:cs typeface="Calibri"/>
              </a:defRPr>
            </a:pPr>
            <a:r>
              <a:rPr sz="1200" b="0">
                <a:solidFill>
                  <a:srgbClr val="536B70"/>
                </a:solidFill>
                <a:latin typeface="Calibri"/>
                <a:ea typeface="Calibri"/>
                <a:cs typeface="Calibri"/>
              </a:rPr>
              <a:t>09</a:t>
            </a:r>
          </a:p>
        </p:txBody>
      </p:sp>
    </p:spTree>
    <p:extLst>
      <p:ext uri="{BB962C8B-B14F-4D97-AF65-F5344CB8AC3E}">
        <p14:creationId xmlns:p14="http://schemas.microsoft.com/office/powerpoint/2010/main" val="7886354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D1C1F6D-50F7-43EB-81EA-45E208266C35}"/>
              </a:ext>
            </a:extLst>
          </p:cNvPr>
          <p:cNvSpPr>
            <a:spLocks noGrp="1"/>
          </p:cNvSpPr>
          <p:nvPr/>
        </p:nvSpPr>
        <p:spPr>
          <a:xfrm>
            <a:off x="685800" y="571500"/>
            <a:ext cx="10820400" cy="619125"/>
          </a:xfrm>
          <a:prstGeom prst="rect">
            <a:avLst/>
          </a:prstGeom>
          <a:noFill/>
          <a:ln w="0">
            <a:noFill/>
          </a:ln>
        </p:spPr>
        <p:txBody>
          <a:bodyPr>
            <a:noAutofit/>
          </a:bodyPr>
          <a:lstStyle/>
          <a:p>
            <a:pPr>
              <a:buNone/>
              <a:defRPr sz="3150" b="1">
                <a:solidFill>
                  <a:srgbClr val="142F35"/>
                </a:solidFill>
                <a:latin typeface="Calibri"/>
                <a:ea typeface="Calibri"/>
                <a:cs typeface="Calibri"/>
              </a:defRPr>
            </a:pPr>
            <a:r>
              <a:rPr sz="3150" b="1">
                <a:solidFill>
                  <a:srgbClr val="142F35"/>
                </a:solidFill>
                <a:latin typeface="Calibri"/>
                <a:ea typeface="Calibri"/>
                <a:cs typeface="Calibri"/>
              </a:rPr>
              <a:t>Current pricing and target pricing</a:t>
            </a:r>
          </a:p>
        </p:txBody>
      </p:sp>
      <p:sp>
        <p:nvSpPr>
          <p:cNvPr id="2" name="Rectangle 1">
            <a:extLst>
              <a:ext uri="{FF2B5EF4-FFF2-40B4-BE49-F238E27FC236}">
                <a16:creationId xmlns:a16="http://schemas.microsoft.com/office/drawing/2014/main" id="{A634716D-3CF2-4E33-A036-4E86B4376F9F}"/>
              </a:ext>
            </a:extLst>
          </p:cNvPr>
          <p:cNvSpPr>
            <a:spLocks noGrp="1"/>
          </p:cNvSpPr>
          <p:nvPr/>
        </p:nvSpPr>
        <p:spPr>
          <a:xfrm>
            <a:off x="723900" y="1276350"/>
            <a:ext cx="10668000" cy="685800"/>
          </a:xfrm>
          <a:prstGeom prst="rect">
            <a:avLst/>
          </a:prstGeom>
          <a:noFill/>
          <a:ln w="0">
            <a:noFill/>
          </a:ln>
        </p:spPr>
        <p:txBody>
          <a:bodyPr>
            <a:noAutofit/>
          </a:bodyPr>
          <a:lstStyle/>
          <a:p>
            <a:pPr>
              <a:buNone/>
              <a:defRPr sz="1950" b="0">
                <a:solidFill>
                  <a:srgbClr val="536B70"/>
                </a:solidFill>
                <a:latin typeface="Calibri"/>
                <a:ea typeface="Calibri"/>
                <a:cs typeface="Calibri"/>
              </a:defRPr>
            </a:pPr>
            <a:r>
              <a:rPr sz="1950" b="0">
                <a:solidFill>
                  <a:srgbClr val="536B70"/>
                </a:solidFill>
                <a:latin typeface="Calibri"/>
                <a:ea typeface="Calibri"/>
                <a:cs typeface="Calibri"/>
              </a:rPr>
              <a:t>Current average revenue is about €150/company/month. Target: €300/company/month.</a:t>
            </a:r>
          </a:p>
        </p:txBody>
      </p:sp>
      <p:sp>
        <p:nvSpPr>
          <p:cNvPr id="3" name="Rectangle 2">
            <a:extLst>
              <a:ext uri="{FF2B5EF4-FFF2-40B4-BE49-F238E27FC236}">
                <a16:creationId xmlns:a16="http://schemas.microsoft.com/office/drawing/2014/main" id="{2A5A5C0A-30B5-4865-9B58-490686C672E0}"/>
              </a:ext>
            </a:extLst>
          </p:cNvPr>
          <p:cNvSpPr>
            <a:spLocks noGrp="1"/>
          </p:cNvSpPr>
          <p:nvPr/>
        </p:nvSpPr>
        <p:spPr>
          <a:xfrm>
            <a:off x="723900" y="2152650"/>
            <a:ext cx="4572000" cy="1047750"/>
          </a:xfrm>
          <a:prstGeom prst="rect">
            <a:avLst/>
          </a:prstGeom>
          <a:noFill/>
          <a:ln w="0">
            <a:noFill/>
          </a:ln>
        </p:spPr>
        <p:txBody>
          <a:bodyPr>
            <a:noAutofit/>
          </a:bodyPr>
          <a:lstStyle/>
          <a:p>
            <a:pPr>
              <a:buNone/>
              <a:defRPr sz="6600" b="1">
                <a:solidFill>
                  <a:srgbClr val="008579"/>
                </a:solidFill>
                <a:latin typeface="Calibri"/>
                <a:ea typeface="Calibri"/>
                <a:cs typeface="Calibri"/>
              </a:defRPr>
            </a:pPr>
            <a:r>
              <a:rPr sz="6600" b="1">
                <a:solidFill>
                  <a:srgbClr val="008579"/>
                </a:solidFill>
                <a:latin typeface="Calibri"/>
                <a:ea typeface="Calibri"/>
                <a:cs typeface="Calibri"/>
              </a:rPr>
              <a:t>~€150</a:t>
            </a:r>
          </a:p>
        </p:txBody>
      </p:sp>
      <p:sp>
        <p:nvSpPr>
          <p:cNvPr id="4" name="Rectangle 3">
            <a:extLst>
              <a:ext uri="{FF2B5EF4-FFF2-40B4-BE49-F238E27FC236}">
                <a16:creationId xmlns:a16="http://schemas.microsoft.com/office/drawing/2014/main" id="{4C43FCC6-23FB-4949-8D7D-686D8D9B1CAC}"/>
              </a:ext>
            </a:extLst>
          </p:cNvPr>
          <p:cNvSpPr>
            <a:spLocks noGrp="1"/>
          </p:cNvSpPr>
          <p:nvPr/>
        </p:nvSpPr>
        <p:spPr>
          <a:xfrm>
            <a:off x="762000" y="3219450"/>
            <a:ext cx="4857750" cy="523875"/>
          </a:xfrm>
          <a:prstGeom prst="rect">
            <a:avLst/>
          </a:prstGeom>
          <a:noFill/>
          <a:ln w="0">
            <a:noFill/>
          </a:ln>
        </p:spPr>
        <p:txBody>
          <a:bodyPr>
            <a:noAutofit/>
          </a:bodyPr>
          <a:lstStyle/>
          <a:p>
            <a:pPr>
              <a:buNone/>
              <a:defRPr sz="2400" b="0">
                <a:solidFill>
                  <a:srgbClr val="142F35"/>
                </a:solidFill>
                <a:latin typeface="Calibri"/>
                <a:ea typeface="Calibri"/>
                <a:cs typeface="Calibri"/>
              </a:defRPr>
            </a:pPr>
            <a:r>
              <a:rPr sz="2400" b="0">
                <a:solidFill>
                  <a:srgbClr val="142F35"/>
                </a:solidFill>
                <a:latin typeface="Calibri"/>
                <a:ea typeface="Calibri"/>
                <a:cs typeface="Calibri"/>
              </a:rPr>
              <a:t>current average / company / month</a:t>
            </a:r>
          </a:p>
        </p:txBody>
      </p:sp>
      <p:sp>
        <p:nvSpPr>
          <p:cNvPr id="5" name="Rectangle 4">
            <a:extLst>
              <a:ext uri="{FF2B5EF4-FFF2-40B4-BE49-F238E27FC236}">
                <a16:creationId xmlns:a16="http://schemas.microsoft.com/office/drawing/2014/main" id="{BE599F16-4A26-4C69-9D2F-49191BC86578}"/>
              </a:ext>
            </a:extLst>
          </p:cNvPr>
          <p:cNvSpPr>
            <a:spLocks noGrp="1"/>
          </p:cNvSpPr>
          <p:nvPr/>
        </p:nvSpPr>
        <p:spPr>
          <a:xfrm>
            <a:off x="6572250" y="2209800"/>
            <a:ext cx="4762500" cy="476250"/>
          </a:xfrm>
          <a:prstGeom prst="rect">
            <a:avLst/>
          </a:prstGeom>
          <a:noFill/>
          <a:ln w="0">
            <a:noFill/>
          </a:ln>
        </p:spPr>
        <p:txBody>
          <a:bodyPr>
            <a:noAutofit/>
          </a:bodyPr>
          <a:lstStyle/>
          <a:p>
            <a:pPr>
              <a:buNone/>
              <a:defRPr sz="2250" b="1">
                <a:solidFill>
                  <a:srgbClr val="142F35"/>
                </a:solidFill>
                <a:latin typeface="Calibri"/>
                <a:ea typeface="Calibri"/>
                <a:cs typeface="Calibri"/>
              </a:defRPr>
            </a:pPr>
            <a:r>
              <a:rPr sz="2250" b="1">
                <a:solidFill>
                  <a:srgbClr val="142F35"/>
                </a:solidFill>
                <a:latin typeface="Calibri"/>
                <a:ea typeface="Calibri"/>
                <a:cs typeface="Calibri"/>
              </a:rPr>
              <a:t>€300 target / company / month</a:t>
            </a:r>
          </a:p>
        </p:txBody>
      </p:sp>
      <p:sp>
        <p:nvSpPr>
          <p:cNvPr id="6" name="Rectangle 5">
            <a:extLst>
              <a:ext uri="{FF2B5EF4-FFF2-40B4-BE49-F238E27FC236}">
                <a16:creationId xmlns:a16="http://schemas.microsoft.com/office/drawing/2014/main" id="{1C4B0DDD-3FC2-41A4-A276-D990A2B30725}"/>
              </a:ext>
            </a:extLst>
          </p:cNvPr>
          <p:cNvSpPr>
            <a:spLocks noGrp="1"/>
          </p:cNvSpPr>
          <p:nvPr/>
        </p:nvSpPr>
        <p:spPr>
          <a:xfrm>
            <a:off x="6572250" y="2819400"/>
            <a:ext cx="4762500" cy="1476375"/>
          </a:xfrm>
          <a:prstGeom prst="rect">
            <a:avLst/>
          </a:prstGeom>
          <a:noFill/>
          <a:ln w="0">
            <a:noFill/>
          </a:ln>
        </p:spPr>
        <p:txBody>
          <a:bodyPr>
            <a:noAutofit/>
          </a:bodyPr>
          <a:lstStyle/>
          <a:p>
            <a:pPr>
              <a:buNone/>
              <a:defRPr sz="2175" b="0">
                <a:solidFill>
                  <a:srgbClr val="142F35"/>
                </a:solidFill>
                <a:latin typeface="Calibri"/>
                <a:ea typeface="Calibri"/>
                <a:cs typeface="Calibri"/>
              </a:defRPr>
            </a:pPr>
            <a:r>
              <a:rPr sz="2175" b="0">
                <a:solidFill>
                  <a:srgbClr val="142F35"/>
                </a:solidFill>
                <a:latin typeface="Calibri"/>
                <a:ea typeface="Calibri"/>
                <a:cs typeface="Calibri"/>
              </a:rPr>
              <a:t>Test a company subscription</a:t>
            </a:r>
          </a:p>
          <a:p>
            <a:pPr>
              <a:buNone/>
              <a:defRPr sz="2175" b="0">
                <a:solidFill>
                  <a:srgbClr val="142F35"/>
                </a:solidFill>
                <a:latin typeface="Calibri"/>
                <a:ea typeface="Calibri"/>
                <a:cs typeface="Calibri"/>
              </a:defRPr>
            </a:pPr>
            <a:r>
              <a:rPr sz="2175" b="0">
                <a:solidFill>
                  <a:srgbClr val="142F35"/>
                </a:solidFill>
                <a:latin typeface="Calibri"/>
                <a:ea typeface="Calibri"/>
                <a:cs typeface="Calibri"/>
              </a:rPr>
              <a:t>Define included users and features</a:t>
            </a:r>
          </a:p>
          <a:p>
            <a:pPr>
              <a:buNone/>
              <a:defRPr sz="2175" b="0">
                <a:solidFill>
                  <a:srgbClr val="142F35"/>
                </a:solidFill>
                <a:latin typeface="Calibri"/>
                <a:ea typeface="Calibri"/>
                <a:cs typeface="Calibri"/>
              </a:defRPr>
            </a:pPr>
            <a:r>
              <a:rPr sz="2175" b="0">
                <a:solidFill>
                  <a:srgbClr val="142F35"/>
                </a:solidFill>
                <a:latin typeface="Calibri"/>
                <a:ea typeface="Calibri"/>
                <a:cs typeface="Calibri"/>
              </a:rPr>
              <a:t>Validate upgrades with paying clients</a:t>
            </a:r>
          </a:p>
        </p:txBody>
      </p:sp>
      <p:graphicFrame>
        <p:nvGraphicFramePr>
          <p:cNvPr id="18" name="Table 17"/>
          <p:cNvGraphicFramePr/>
          <p:nvPr/>
        </p:nvGraphicFramePr>
        <p:xfrm>
          <a:off x="762000" y="4400550"/>
          <a:ext cx="10668000" cy="1028700"/>
        </p:xfrm>
        <a:graphic>
          <a:graphicData uri="http://schemas.openxmlformats.org/drawingml/2006/table">
            <a:tbl>
              <a:tblPr/>
              <a:tblGrid>
                <a:gridCol w="4762500">
                  <a:extLst>
                    <a:ext uri="{9D8B030D-6E8A-4147-A177-3AD203B41FA5}">
                      <a16:colId xmlns:a16="http://schemas.microsoft.com/office/drawing/2014/main" val="20000"/>
                    </a:ext>
                  </a:extLst>
                </a:gridCol>
                <a:gridCol w="2952750">
                  <a:extLst>
                    <a:ext uri="{9D8B030D-6E8A-4147-A177-3AD203B41FA5}">
                      <a16:colId xmlns:a16="http://schemas.microsoft.com/office/drawing/2014/main" val="20001"/>
                    </a:ext>
                  </a:extLst>
                </a:gridCol>
                <a:gridCol w="2952750">
                  <a:extLst>
                    <a:ext uri="{9D8B030D-6E8A-4147-A177-3AD203B41FA5}">
                      <a16:colId xmlns:a16="http://schemas.microsoft.com/office/drawing/2014/main" val="20002"/>
                    </a:ext>
                  </a:extLst>
                </a:gridCol>
              </a:tblGrid>
              <a:tr h="466725">
                <a:tc>
                  <a:txBody>
                    <a:bodyPr/>
                    <a:lstStyle/>
                    <a:p>
                      <a:r>
                        <a:rPr sz="1875" b="1">
                          <a:solidFill>
                            <a:srgbClr val="FFFFFF"/>
                          </a:solidFill>
                          <a:latin typeface="Calibri"/>
                          <a:ea typeface="Calibri"/>
                          <a:cs typeface="Calibri"/>
                        </a:rPr>
                        <a:t>Company subscription</a:t>
                      </a:r>
                    </a:p>
                  </a:txBody>
                  <a:tcPr>
                    <a:solidFill>
                      <a:srgbClr val="142F35"/>
                    </a:solidFill>
                  </a:tcPr>
                </a:tc>
                <a:tc>
                  <a:txBody>
                    <a:bodyPr/>
                    <a:lstStyle/>
                    <a:p>
                      <a:r>
                        <a:rPr sz="1875" b="1">
                          <a:solidFill>
                            <a:srgbClr val="FFFFFF"/>
                          </a:solidFill>
                          <a:latin typeface="Calibri"/>
                          <a:ea typeface="Calibri"/>
                          <a:cs typeface="Calibri"/>
                        </a:rPr>
                        <a:t>Current average</a:t>
                      </a:r>
                    </a:p>
                  </a:txBody>
                  <a:tcPr>
                    <a:solidFill>
                      <a:srgbClr val="142F35"/>
                    </a:solidFill>
                  </a:tcPr>
                </a:tc>
                <a:tc>
                  <a:txBody>
                    <a:bodyPr/>
                    <a:lstStyle/>
                    <a:p>
                      <a:r>
                        <a:rPr sz="1875" b="1">
                          <a:solidFill>
                            <a:srgbClr val="FFFFFF"/>
                          </a:solidFill>
                          <a:latin typeface="Calibri"/>
                          <a:ea typeface="Calibri"/>
                          <a:cs typeface="Calibri"/>
                        </a:rPr>
                        <a:t>Target price</a:t>
                      </a:r>
                    </a:p>
                  </a:txBody>
                  <a:tcPr>
                    <a:solidFill>
                      <a:srgbClr val="142F35"/>
                    </a:solidFill>
                  </a:tcPr>
                </a:tc>
                <a:extLst>
                  <a:ext uri="{0D108BD9-81ED-4DB2-BD59-A6C34878D82A}">
                    <a16:rowId xmlns:a16="http://schemas.microsoft.com/office/drawing/2014/main" val="10000"/>
                  </a:ext>
                </a:extLst>
              </a:tr>
              <a:tr h="561975">
                <a:tc>
                  <a:txBody>
                    <a:bodyPr/>
                    <a:lstStyle/>
                    <a:p>
                      <a:r>
                        <a:rPr sz="1875" b="0">
                          <a:solidFill>
                            <a:srgbClr val="142F35"/>
                          </a:solidFill>
                          <a:latin typeface="Calibri"/>
                          <a:ea typeface="Calibri"/>
                          <a:cs typeface="Calibri"/>
                        </a:rPr>
                        <a:t>Annual revenue per company</a:t>
                      </a:r>
                    </a:p>
                  </a:txBody>
                  <a:tcPr>
                    <a:solidFill>
                      <a:srgbClr val="F6F4EE"/>
                    </a:solidFill>
                  </a:tcPr>
                </a:tc>
                <a:tc>
                  <a:txBody>
                    <a:bodyPr/>
                    <a:lstStyle/>
                    <a:p>
                      <a:r>
                        <a:rPr sz="1875" b="0">
                          <a:solidFill>
                            <a:srgbClr val="142F35"/>
                          </a:solidFill>
                          <a:latin typeface="Calibri"/>
                          <a:ea typeface="Calibri"/>
                          <a:cs typeface="Calibri"/>
                        </a:rPr>
                        <a:t>~€1,800</a:t>
                      </a:r>
                    </a:p>
                  </a:txBody>
                  <a:tcPr>
                    <a:solidFill>
                      <a:srgbClr val="F6F4EE"/>
                    </a:solidFill>
                  </a:tcPr>
                </a:tc>
                <a:tc>
                  <a:txBody>
                    <a:bodyPr/>
                    <a:lstStyle/>
                    <a:p>
                      <a:r>
                        <a:rPr sz="1875" b="0">
                          <a:solidFill>
                            <a:srgbClr val="142F35"/>
                          </a:solidFill>
                          <a:latin typeface="Calibri"/>
                          <a:ea typeface="Calibri"/>
                          <a:cs typeface="Calibri"/>
                        </a:rPr>
                        <a:t>€3,600</a:t>
                      </a:r>
                    </a:p>
                  </a:txBody>
                  <a:tcPr>
                    <a:solidFill>
                      <a:srgbClr val="F6F4EE"/>
                    </a:solidFill>
                  </a:tcPr>
                </a:tc>
                <a:extLst>
                  <a:ext uri="{0D108BD9-81ED-4DB2-BD59-A6C34878D82A}">
                    <a16:rowId xmlns:a16="http://schemas.microsoft.com/office/drawing/2014/main" val="10001"/>
                  </a:ext>
                </a:extLst>
              </a:tr>
            </a:tbl>
          </a:graphicData>
        </a:graphic>
      </p:graphicFrame>
      <p:sp>
        <p:nvSpPr>
          <p:cNvPr id="8" name="Rectangle 7">
            <a:extLst>
              <a:ext uri="{FF2B5EF4-FFF2-40B4-BE49-F238E27FC236}">
                <a16:creationId xmlns:a16="http://schemas.microsoft.com/office/drawing/2014/main" id="{2D1C5C2D-7BA8-4DF6-AA00-E0BB226B2F40}"/>
              </a:ext>
            </a:extLst>
          </p:cNvPr>
          <p:cNvSpPr>
            <a:spLocks noGrp="1"/>
          </p:cNvSpPr>
          <p:nvPr/>
        </p:nvSpPr>
        <p:spPr>
          <a:xfrm>
            <a:off x="762000" y="5572125"/>
            <a:ext cx="10572750" cy="638175"/>
          </a:xfrm>
          <a:prstGeom prst="rect">
            <a:avLst/>
          </a:prstGeom>
          <a:noFill/>
          <a:ln w="0">
            <a:noFill/>
          </a:ln>
        </p:spPr>
        <p:txBody>
          <a:bodyPr>
            <a:noAutofit/>
          </a:bodyPr>
          <a:lstStyle/>
          <a:p>
            <a:pPr>
              <a:buNone/>
              <a:defRPr sz="1725" b="0">
                <a:solidFill>
                  <a:srgbClr val="536B70"/>
                </a:solidFill>
                <a:latin typeface="Calibri"/>
                <a:ea typeface="Calibri"/>
                <a:cs typeface="Calibri"/>
              </a:defRPr>
            </a:pPr>
            <a:r>
              <a:rPr sz="1725" b="0">
                <a:solidFill>
                  <a:srgbClr val="536B70"/>
                </a:solidFill>
                <a:latin typeface="Calibri"/>
                <a:ea typeface="Calibri"/>
                <a:cs typeface="Calibri"/>
              </a:rPr>
              <a:t>Current billing: €50/user/month, adjusted for discounts and custom features.</a:t>
            </a:r>
          </a:p>
          <a:p>
            <a:pPr>
              <a:buNone/>
              <a:defRPr sz="1725" b="0">
                <a:solidFill>
                  <a:srgbClr val="536B70"/>
                </a:solidFill>
                <a:latin typeface="Calibri"/>
                <a:ea typeface="Calibri"/>
                <a:cs typeface="Calibri"/>
              </a:defRPr>
            </a:pPr>
            <a:r>
              <a:rPr sz="1725" b="0">
                <a:solidFill>
                  <a:srgbClr val="536B70"/>
                </a:solidFill>
                <a:latin typeface="Calibri"/>
                <a:ea typeface="Calibri"/>
                <a:cs typeface="Calibri"/>
              </a:rPr>
              <a:t>The €300 company price is a target. Included scope and adoption remain to be tested.</a:t>
            </a:r>
          </a:p>
        </p:txBody>
      </p:sp>
      <p:sp>
        <p:nvSpPr>
          <p:cNvPr id="9" name="Rectangle 8">
            <a:extLst>
              <a:ext uri="{FF2B5EF4-FFF2-40B4-BE49-F238E27FC236}">
                <a16:creationId xmlns:a16="http://schemas.microsoft.com/office/drawing/2014/main" id="{98CA1597-5DF9-41E0-99C0-D56FD7C48563}"/>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536B70"/>
                </a:solidFill>
                <a:latin typeface="Calibri"/>
                <a:ea typeface="Calibri"/>
                <a:cs typeface="Calibri"/>
              </a:defRPr>
            </a:pPr>
            <a:r>
              <a:rPr sz="1200" b="0">
                <a:solidFill>
                  <a:srgbClr val="536B70"/>
                </a:solidFill>
                <a:latin typeface="Calibri"/>
                <a:ea typeface="Calibri"/>
                <a:cs typeface="Calibri"/>
              </a:rPr>
              <a:t>10</a:t>
            </a:r>
          </a:p>
        </p:txBody>
      </p:sp>
    </p:spTree>
    <p:extLst>
      <p:ext uri="{BB962C8B-B14F-4D97-AF65-F5344CB8AC3E}">
        <p14:creationId xmlns:p14="http://schemas.microsoft.com/office/powerpoint/2010/main" val="6829541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02C4CDE-1EAC-4166-8622-C9F1E0CAD3CA}"/>
              </a:ext>
            </a:extLst>
          </p:cNvPr>
          <p:cNvSpPr>
            <a:spLocks noGrp="1"/>
          </p:cNvSpPr>
          <p:nvPr/>
        </p:nvSpPr>
        <p:spPr>
          <a:xfrm>
            <a:off x="685800" y="571500"/>
            <a:ext cx="10820400" cy="619125"/>
          </a:xfrm>
          <a:prstGeom prst="rect">
            <a:avLst/>
          </a:prstGeom>
          <a:noFill/>
          <a:ln w="0">
            <a:noFill/>
          </a:ln>
        </p:spPr>
        <p:txBody>
          <a:bodyPr>
            <a:noAutofit/>
          </a:bodyPr>
          <a:lstStyle/>
          <a:p>
            <a:pPr>
              <a:buNone/>
              <a:defRPr sz="3150" b="1">
                <a:solidFill>
                  <a:srgbClr val="142F35"/>
                </a:solidFill>
                <a:latin typeface="Calibri"/>
                <a:ea typeface="Calibri"/>
                <a:cs typeface="Calibri"/>
              </a:defRPr>
            </a:pPr>
            <a:r>
              <a:rPr sz="3150" b="1">
                <a:solidFill>
                  <a:srgbClr val="142F35"/>
                </a:solidFill>
                <a:latin typeface="Calibri"/>
                <a:ea typeface="Calibri"/>
                <a:cs typeface="Calibri"/>
              </a:rPr>
              <a:t>Alternatives and our focus</a:t>
            </a:r>
          </a:p>
        </p:txBody>
      </p:sp>
      <p:sp>
        <p:nvSpPr>
          <p:cNvPr id="2" name="Rectangle 1">
            <a:extLst>
              <a:ext uri="{FF2B5EF4-FFF2-40B4-BE49-F238E27FC236}">
                <a16:creationId xmlns:a16="http://schemas.microsoft.com/office/drawing/2014/main" id="{3CB986C6-87D8-4983-BA87-1006353DCF1B}"/>
              </a:ext>
            </a:extLst>
          </p:cNvPr>
          <p:cNvSpPr>
            <a:spLocks noGrp="1"/>
          </p:cNvSpPr>
          <p:nvPr/>
        </p:nvSpPr>
        <p:spPr>
          <a:xfrm>
            <a:off x="723900" y="1276350"/>
            <a:ext cx="10668000" cy="685800"/>
          </a:xfrm>
          <a:prstGeom prst="rect">
            <a:avLst/>
          </a:prstGeom>
          <a:noFill/>
          <a:ln w="0">
            <a:noFill/>
          </a:ln>
        </p:spPr>
        <p:txBody>
          <a:bodyPr>
            <a:noAutofit/>
          </a:bodyPr>
          <a:lstStyle/>
          <a:p>
            <a:pPr>
              <a:buNone/>
              <a:defRPr sz="1950" b="0">
                <a:solidFill>
                  <a:srgbClr val="536B70"/>
                </a:solidFill>
                <a:latin typeface="Calibri"/>
                <a:ea typeface="Calibri"/>
                <a:cs typeface="Calibri"/>
              </a:defRPr>
            </a:pPr>
            <a:r>
              <a:rPr sz="1950" b="0">
                <a:solidFill>
                  <a:srgbClr val="536B70"/>
                </a:solidFill>
                <a:latin typeface="Calibri"/>
                <a:ea typeface="Calibri"/>
                <a:cs typeface="Calibri"/>
              </a:rPr>
              <a:t>Our proposed advantage: site teams report through WhatsApp, and owners receive structured analytics.</a:t>
            </a:r>
          </a:p>
        </p:txBody>
      </p:sp>
      <p:graphicFrame>
        <p:nvGraphicFramePr>
          <p:cNvPr id="10" name="Table 9"/>
          <p:cNvGraphicFramePr/>
          <p:nvPr/>
        </p:nvGraphicFramePr>
        <p:xfrm>
          <a:off x="762000" y="2200275"/>
          <a:ext cx="10668000" cy="3181350"/>
        </p:xfrm>
        <a:graphic>
          <a:graphicData uri="http://schemas.openxmlformats.org/drawingml/2006/table">
            <a:tbl>
              <a:tblPr/>
              <a:tblGrid>
                <a:gridCol w="2190750">
                  <a:extLst>
                    <a:ext uri="{9D8B030D-6E8A-4147-A177-3AD203B41FA5}">
                      <a16:colId xmlns:a16="http://schemas.microsoft.com/office/drawing/2014/main" val="20000"/>
                    </a:ext>
                  </a:extLst>
                </a:gridCol>
                <a:gridCol w="390525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523875">
                <a:tc>
                  <a:txBody>
                    <a:bodyPr/>
                    <a:lstStyle/>
                    <a:p>
                      <a:r>
                        <a:rPr sz="1800" b="1">
                          <a:solidFill>
                            <a:srgbClr val="FFFFFF"/>
                          </a:solidFill>
                          <a:latin typeface="Calibri"/>
                          <a:ea typeface="Calibri"/>
                          <a:cs typeface="Calibri"/>
                        </a:rPr>
                        <a:t>Alternative</a:t>
                      </a:r>
                    </a:p>
                  </a:txBody>
                  <a:tcPr>
                    <a:solidFill>
                      <a:srgbClr val="142F35"/>
                    </a:solidFill>
                  </a:tcPr>
                </a:tc>
                <a:tc>
                  <a:txBody>
                    <a:bodyPr/>
                    <a:lstStyle/>
                    <a:p>
                      <a:r>
                        <a:rPr sz="1800" b="1">
                          <a:solidFill>
                            <a:srgbClr val="FFFFFF"/>
                          </a:solidFill>
                          <a:latin typeface="Calibri"/>
                          <a:ea typeface="Calibri"/>
                          <a:cs typeface="Calibri"/>
                        </a:rPr>
                        <a:t>What it offers</a:t>
                      </a:r>
                    </a:p>
                  </a:txBody>
                  <a:tcPr>
                    <a:solidFill>
                      <a:srgbClr val="142F35"/>
                    </a:solidFill>
                  </a:tcPr>
                </a:tc>
                <a:tc>
                  <a:txBody>
                    <a:bodyPr/>
                    <a:lstStyle/>
                    <a:p>
                      <a:r>
                        <a:rPr sz="1800" b="1">
                          <a:solidFill>
                            <a:srgbClr val="FFFFFF"/>
                          </a:solidFill>
                          <a:latin typeface="Calibri"/>
                          <a:ea typeface="Calibri"/>
                          <a:cs typeface="Calibri"/>
                        </a:rPr>
                        <a:t>Our focus for a small contractor</a:t>
                      </a:r>
                    </a:p>
                  </a:txBody>
                  <a:tcPr>
                    <a:solidFill>
                      <a:srgbClr val="142F35"/>
                    </a:solidFill>
                  </a:tcPr>
                </a:tc>
                <a:extLst>
                  <a:ext uri="{0D108BD9-81ED-4DB2-BD59-A6C34878D82A}">
                    <a16:rowId xmlns:a16="http://schemas.microsoft.com/office/drawing/2014/main" val="10000"/>
                  </a:ext>
                </a:extLst>
              </a:tr>
              <a:tr h="885825">
                <a:tc>
                  <a:txBody>
                    <a:bodyPr/>
                    <a:lstStyle/>
                    <a:p>
                      <a:r>
                        <a:rPr sz="1800" b="0">
                          <a:solidFill>
                            <a:srgbClr val="142F35"/>
                          </a:solidFill>
                          <a:latin typeface="Calibri"/>
                          <a:ea typeface="Calibri"/>
                          <a:cs typeface="Calibri"/>
                        </a:rPr>
                        <a:t>WhatsApp + Excel</a:t>
                      </a:r>
                    </a:p>
                  </a:txBody>
                  <a:tcPr>
                    <a:solidFill>
                      <a:srgbClr val="F6F4EE"/>
                    </a:solidFill>
                  </a:tcPr>
                </a:tc>
                <a:tc>
                  <a:txBody>
                    <a:bodyPr/>
                    <a:lstStyle/>
                    <a:p>
                      <a:r>
                        <a:rPr sz="1800" b="0">
                          <a:solidFill>
                            <a:srgbClr val="142F35"/>
                          </a:solidFill>
                          <a:latin typeface="Calibri"/>
                          <a:ea typeface="Calibri"/>
                          <a:cs typeface="Calibri"/>
                        </a:rPr>
                        <a:t>Messages and flexible spreadsheets</a:t>
                      </a:r>
                    </a:p>
                  </a:txBody>
                  <a:tcPr>
                    <a:solidFill>
                      <a:srgbClr val="F6F4EE"/>
                    </a:solidFill>
                  </a:tcPr>
                </a:tc>
                <a:tc>
                  <a:txBody>
                    <a:bodyPr/>
                    <a:lstStyle/>
                    <a:p>
                      <a:r>
                        <a:rPr sz="1800" b="0">
                          <a:solidFill>
                            <a:srgbClr val="142F35"/>
                          </a:solidFill>
                          <a:latin typeface="Calibri"/>
                          <a:ea typeface="Calibri"/>
                          <a:cs typeface="Calibri"/>
                        </a:rPr>
                        <a:t>Convert site updates into structured records and reports</a:t>
                      </a:r>
                    </a:p>
                  </a:txBody>
                  <a:tcPr>
                    <a:solidFill>
                      <a:srgbClr val="F6F4EE"/>
                    </a:solidFill>
                  </a:tcPr>
                </a:tc>
                <a:extLst>
                  <a:ext uri="{0D108BD9-81ED-4DB2-BD59-A6C34878D82A}">
                    <a16:rowId xmlns:a16="http://schemas.microsoft.com/office/drawing/2014/main" val="10001"/>
                  </a:ext>
                </a:extLst>
              </a:tr>
              <a:tr h="885825">
                <a:tc>
                  <a:txBody>
                    <a:bodyPr/>
                    <a:lstStyle/>
                    <a:p>
                      <a:r>
                        <a:rPr sz="1800" b="0">
                          <a:solidFill>
                            <a:srgbClr val="142F35"/>
                          </a:solidFill>
                          <a:latin typeface="Calibri"/>
                          <a:ea typeface="Calibri"/>
                          <a:cs typeface="Calibri"/>
                        </a:rPr>
                        <a:t>Fieldwire</a:t>
                      </a:r>
                    </a:p>
                  </a:txBody>
                  <a:tcPr>
                    <a:solidFill>
                      <a:srgbClr val="F6F4EE"/>
                    </a:solidFill>
                  </a:tcPr>
                </a:tc>
                <a:tc>
                  <a:txBody>
                    <a:bodyPr/>
                    <a:lstStyle/>
                    <a:p>
                      <a:r>
                        <a:rPr sz="1800" b="0">
                          <a:solidFill>
                            <a:srgbClr val="142F35"/>
                          </a:solidFill>
                          <a:latin typeface="Calibri"/>
                          <a:ea typeface="Calibri"/>
                          <a:cs typeface="Calibri"/>
                        </a:rPr>
                        <a:t>Plans, tasks, reports and forms</a:t>
                      </a:r>
                    </a:p>
                  </a:txBody>
                  <a:tcPr>
                    <a:solidFill>
                      <a:srgbClr val="F6F4EE"/>
                    </a:solidFill>
                  </a:tcPr>
                </a:tc>
                <a:tc>
                  <a:txBody>
                    <a:bodyPr/>
                    <a:lstStyle/>
                    <a:p>
                      <a:r>
                        <a:rPr sz="1800" b="0">
                          <a:solidFill>
                            <a:srgbClr val="142F35"/>
                          </a:solidFill>
                          <a:latin typeface="Calibri"/>
                          <a:ea typeface="Calibri"/>
                          <a:cs typeface="Calibri"/>
                        </a:rPr>
                        <a:t>Collect WhatsApp voice updates, with supported setup</a:t>
                      </a:r>
                    </a:p>
                  </a:txBody>
                  <a:tcPr>
                    <a:solidFill>
                      <a:srgbClr val="F6F4EE"/>
                    </a:solidFill>
                  </a:tcPr>
                </a:tc>
                <a:extLst>
                  <a:ext uri="{0D108BD9-81ED-4DB2-BD59-A6C34878D82A}">
                    <a16:rowId xmlns:a16="http://schemas.microsoft.com/office/drawing/2014/main" val="10002"/>
                  </a:ext>
                </a:extLst>
              </a:tr>
              <a:tr h="885825">
                <a:tc>
                  <a:txBody>
                    <a:bodyPr/>
                    <a:lstStyle/>
                    <a:p>
                      <a:r>
                        <a:rPr sz="1800" b="0">
                          <a:solidFill>
                            <a:srgbClr val="142F35"/>
                          </a:solidFill>
                          <a:latin typeface="Calibri"/>
                          <a:ea typeface="Calibri"/>
                          <a:cs typeface="Calibri"/>
                        </a:rPr>
                        <a:t>Buildertrend</a:t>
                      </a:r>
                    </a:p>
                  </a:txBody>
                  <a:tcPr>
                    <a:solidFill>
                      <a:srgbClr val="F6F4EE"/>
                    </a:solidFill>
                  </a:tcPr>
                </a:tc>
                <a:tc>
                  <a:txBody>
                    <a:bodyPr/>
                    <a:lstStyle/>
                    <a:p>
                      <a:r>
                        <a:rPr sz="1800" b="0">
                          <a:solidFill>
                            <a:srgbClr val="142F35"/>
                          </a:solidFill>
                          <a:latin typeface="Calibri"/>
                          <a:ea typeface="Calibri"/>
                          <a:cs typeface="Calibri"/>
                        </a:rPr>
                        <a:t>Daily logs plus project and financial tools</a:t>
                      </a:r>
                    </a:p>
                  </a:txBody>
                  <a:tcPr>
                    <a:solidFill>
                      <a:srgbClr val="F6F4EE"/>
                    </a:solidFill>
                  </a:tcPr>
                </a:tc>
                <a:tc>
                  <a:txBody>
                    <a:bodyPr/>
                    <a:lstStyle/>
                    <a:p>
                      <a:r>
                        <a:rPr sz="1800" b="0">
                          <a:solidFill>
                            <a:srgbClr val="142F35"/>
                          </a:solidFill>
                          <a:latin typeface="Calibri"/>
                          <a:ea typeface="Calibri"/>
                          <a:cs typeface="Calibri"/>
                        </a:rPr>
                        <a:t>Deliver focused reporting without a full platform rollout</a:t>
                      </a:r>
                    </a:p>
                  </a:txBody>
                  <a:tcPr>
                    <a:solidFill>
                      <a:srgbClr val="F6F4EE"/>
                    </a:solidFill>
                  </a:tcPr>
                </a:tc>
                <a:extLst>
                  <a:ext uri="{0D108BD9-81ED-4DB2-BD59-A6C34878D82A}">
                    <a16:rowId xmlns:a16="http://schemas.microsoft.com/office/drawing/2014/main" val="10003"/>
                  </a:ext>
                </a:extLst>
              </a:tr>
            </a:tbl>
          </a:graphicData>
        </a:graphic>
      </p:graphicFrame>
      <p:sp>
        <p:nvSpPr>
          <p:cNvPr id="4" name="Rectangle 3">
            <a:extLst>
              <a:ext uri="{FF2B5EF4-FFF2-40B4-BE49-F238E27FC236}">
                <a16:creationId xmlns:a16="http://schemas.microsoft.com/office/drawing/2014/main" id="{25A5C58D-18D0-4561-8DAB-3E8189A85027}"/>
              </a:ext>
            </a:extLst>
          </p:cNvPr>
          <p:cNvSpPr>
            <a:spLocks noGrp="1"/>
          </p:cNvSpPr>
          <p:nvPr/>
        </p:nvSpPr>
        <p:spPr>
          <a:xfrm>
            <a:off x="762000" y="5753100"/>
            <a:ext cx="10477500" cy="523875"/>
          </a:xfrm>
          <a:prstGeom prst="rect">
            <a:avLst/>
          </a:prstGeom>
          <a:noFill/>
          <a:ln w="0">
            <a:noFill/>
          </a:ln>
        </p:spPr>
        <p:txBody>
          <a:bodyPr>
            <a:noAutofit/>
          </a:bodyPr>
          <a:lstStyle/>
          <a:p>
            <a:pPr>
              <a:buNone/>
              <a:defRPr sz="1800" b="1">
                <a:solidFill>
                  <a:srgbClr val="008579"/>
                </a:solidFill>
                <a:latin typeface="Calibri"/>
                <a:ea typeface="Calibri"/>
                <a:cs typeface="Calibri"/>
              </a:defRPr>
            </a:pPr>
            <a:r>
              <a:rPr sz="1800" b="1">
                <a:solidFill>
                  <a:srgbClr val="008579"/>
                </a:solidFill>
                <a:latin typeface="Calibri"/>
                <a:ea typeface="Calibri"/>
                <a:cs typeface="Calibri"/>
              </a:rPr>
              <a:t>We need to prove the advantage through activation, reporting consistency and time saved.</a:t>
            </a:r>
          </a:p>
        </p:txBody>
      </p:sp>
      <p:sp>
        <p:nvSpPr>
          <p:cNvPr id="5" name="Rectangle 4">
            <a:extLst>
              <a:ext uri="{FF2B5EF4-FFF2-40B4-BE49-F238E27FC236}">
                <a16:creationId xmlns:a16="http://schemas.microsoft.com/office/drawing/2014/main" id="{2A162997-DDAC-4734-BE8D-D2937CA16DD5}"/>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536B70"/>
                </a:solidFill>
                <a:latin typeface="Calibri"/>
                <a:ea typeface="Calibri"/>
                <a:cs typeface="Calibri"/>
              </a:defRPr>
            </a:pPr>
            <a:r>
              <a:rPr sz="1200" b="0">
                <a:solidFill>
                  <a:srgbClr val="536B70"/>
                </a:solidFill>
                <a:latin typeface="Calibri"/>
                <a:ea typeface="Calibri"/>
                <a:cs typeface="Calibri"/>
              </a:rPr>
              <a:t>11</a:t>
            </a:r>
          </a:p>
        </p:txBody>
      </p:sp>
    </p:spTree>
    <p:extLst>
      <p:ext uri="{BB962C8B-B14F-4D97-AF65-F5344CB8AC3E}">
        <p14:creationId xmlns:p14="http://schemas.microsoft.com/office/powerpoint/2010/main" val="6196066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DF46F360-6998-41FD-BEF4-2EF9DB4B52E4}"/>
              </a:ext>
            </a:extLst>
          </p:cNvPr>
          <p:cNvSpPr>
            <a:spLocks noGrp="1"/>
          </p:cNvSpPr>
          <p:nvPr/>
        </p:nvSpPr>
        <p:spPr>
          <a:xfrm>
            <a:off x="685800" y="571500"/>
            <a:ext cx="10820400" cy="619125"/>
          </a:xfrm>
          <a:prstGeom prst="rect">
            <a:avLst/>
          </a:prstGeom>
          <a:noFill/>
          <a:ln w="0">
            <a:noFill/>
          </a:ln>
        </p:spPr>
        <p:txBody>
          <a:bodyPr>
            <a:noAutofit/>
          </a:bodyPr>
          <a:lstStyle/>
          <a:p>
            <a:pPr>
              <a:defRPr sz="3150" b="1">
                <a:solidFill>
                  <a:srgbClr val="142F35"/>
                </a:solidFill>
                <a:latin typeface="Calibri"/>
                <a:ea typeface="Calibri"/>
                <a:cs typeface="Calibri"/>
              </a:defRPr>
            </a:pPr>
            <a:r>
              <a:rPr sz="3150" b="1" dirty="0">
                <a:solidFill>
                  <a:srgbClr val="142F35"/>
                </a:solidFill>
                <a:latin typeface="Calibri"/>
                <a:ea typeface="Calibri"/>
                <a:cs typeface="Calibri"/>
              </a:rPr>
              <a:t>What </a:t>
            </a:r>
            <a:r>
              <a:rPr lang="lv-LV" sz="3150" b="1" dirty="0">
                <a:solidFill>
                  <a:srgbClr val="142F35"/>
                </a:solidFill>
                <a:latin typeface="Calibri"/>
                <a:ea typeface="Calibri"/>
                <a:cs typeface="Calibri"/>
              </a:rPr>
              <a:t>6 months </a:t>
            </a:r>
            <a:r>
              <a:rPr sz="3150" b="1" dirty="0">
                <a:solidFill>
                  <a:srgbClr val="142F35"/>
                </a:solidFill>
                <a:latin typeface="Calibri"/>
                <a:ea typeface="Calibri"/>
                <a:cs typeface="Calibri"/>
              </a:rPr>
              <a:t>of outreach has shown</a:t>
            </a:r>
          </a:p>
        </p:txBody>
      </p:sp>
      <p:sp>
        <p:nvSpPr>
          <p:cNvPr id="2" name="Rectangle 1">
            <a:extLst>
              <a:ext uri="{FF2B5EF4-FFF2-40B4-BE49-F238E27FC236}">
                <a16:creationId xmlns:a16="http://schemas.microsoft.com/office/drawing/2014/main" id="{5C4F8EBF-BE18-47D3-AC17-D0BA450EB929}"/>
              </a:ext>
            </a:extLst>
          </p:cNvPr>
          <p:cNvSpPr>
            <a:spLocks noGrp="1"/>
          </p:cNvSpPr>
          <p:nvPr/>
        </p:nvSpPr>
        <p:spPr>
          <a:xfrm>
            <a:off x="723900" y="1276350"/>
            <a:ext cx="10668000" cy="762000"/>
          </a:xfrm>
          <a:prstGeom prst="rect">
            <a:avLst/>
          </a:prstGeom>
          <a:noFill/>
          <a:ln w="0">
            <a:noFill/>
          </a:ln>
        </p:spPr>
        <p:txBody>
          <a:bodyPr>
            <a:noAutofit/>
          </a:bodyPr>
          <a:lstStyle/>
          <a:p>
            <a:pPr>
              <a:defRPr sz="2025" b="0">
                <a:solidFill>
                  <a:srgbClr val="536B70"/>
                </a:solidFill>
                <a:latin typeface="Calibri"/>
                <a:ea typeface="Calibri"/>
                <a:cs typeface="Calibri"/>
              </a:defRPr>
            </a:pPr>
            <a:r>
              <a:rPr sz="2025" b="0">
                <a:solidFill>
                  <a:srgbClr val="536B70"/>
                </a:solidFill>
                <a:latin typeface="Calibri"/>
                <a:ea typeface="Calibri"/>
                <a:cs typeface="Calibri"/>
              </a:rPr>
              <a:t>Approximately 100 companies approached through direct outreach and Facebook advertising.</a:t>
            </a:r>
          </a:p>
        </p:txBody>
      </p:sp>
      <p:sp>
        <p:nvSpPr>
          <p:cNvPr id="3" name="Rectangle 2">
            <a:extLst>
              <a:ext uri="{FF2B5EF4-FFF2-40B4-BE49-F238E27FC236}">
                <a16:creationId xmlns:a16="http://schemas.microsoft.com/office/drawing/2014/main" id="{91AFFBC1-2680-4948-9A99-3FF5483CC1FB}"/>
              </a:ext>
            </a:extLst>
          </p:cNvPr>
          <p:cNvSpPr>
            <a:spLocks noGrp="1"/>
          </p:cNvSpPr>
          <p:nvPr/>
        </p:nvSpPr>
        <p:spPr>
          <a:xfrm>
            <a:off x="723900" y="2238375"/>
            <a:ext cx="3238500" cy="1000125"/>
          </a:xfrm>
          <a:prstGeom prst="rect">
            <a:avLst/>
          </a:prstGeom>
          <a:noFill/>
          <a:ln w="0">
            <a:noFill/>
          </a:ln>
        </p:spPr>
        <p:txBody>
          <a:bodyPr>
            <a:noAutofit/>
          </a:bodyPr>
          <a:lstStyle/>
          <a:p>
            <a:pPr>
              <a:defRPr sz="6000" b="1">
                <a:solidFill>
                  <a:srgbClr val="008579"/>
                </a:solidFill>
                <a:latin typeface="Calibri"/>
                <a:ea typeface="Calibri"/>
                <a:cs typeface="Calibri"/>
              </a:defRPr>
            </a:pPr>
            <a:r>
              <a:rPr sz="6000" b="1">
                <a:solidFill>
                  <a:srgbClr val="008579"/>
                </a:solidFill>
                <a:latin typeface="Calibri"/>
                <a:ea typeface="Calibri"/>
                <a:cs typeface="Calibri"/>
              </a:rPr>
              <a:t>~100</a:t>
            </a:r>
          </a:p>
        </p:txBody>
      </p:sp>
      <p:sp>
        <p:nvSpPr>
          <p:cNvPr id="4" name="Rectangle 3">
            <a:extLst>
              <a:ext uri="{FF2B5EF4-FFF2-40B4-BE49-F238E27FC236}">
                <a16:creationId xmlns:a16="http://schemas.microsoft.com/office/drawing/2014/main" id="{65C90AC9-029B-4EE4-A8B2-95CBDA0716AB}"/>
              </a:ext>
            </a:extLst>
          </p:cNvPr>
          <p:cNvSpPr>
            <a:spLocks noGrp="1"/>
          </p:cNvSpPr>
          <p:nvPr/>
        </p:nvSpPr>
        <p:spPr>
          <a:xfrm>
            <a:off x="762000" y="3286125"/>
            <a:ext cx="3429000" cy="619125"/>
          </a:xfrm>
          <a:prstGeom prst="rect">
            <a:avLst/>
          </a:prstGeom>
          <a:noFill/>
          <a:ln w="0">
            <a:noFill/>
          </a:ln>
        </p:spPr>
        <p:txBody>
          <a:bodyPr>
            <a:noAutofit/>
          </a:bodyPr>
          <a:lstStyle/>
          <a:p>
            <a:pPr>
              <a:defRPr sz="2100" b="0">
                <a:solidFill>
                  <a:srgbClr val="142F35"/>
                </a:solidFill>
                <a:latin typeface="Calibri"/>
                <a:ea typeface="Calibri"/>
                <a:cs typeface="Calibri"/>
              </a:defRPr>
            </a:pPr>
            <a:r>
              <a:rPr sz="2100" b="0">
                <a:solidFill>
                  <a:srgbClr val="142F35"/>
                </a:solidFill>
                <a:latin typeface="Calibri"/>
                <a:ea typeface="Calibri"/>
                <a:cs typeface="Calibri"/>
              </a:rPr>
              <a:t>companies approached</a:t>
            </a:r>
          </a:p>
        </p:txBody>
      </p:sp>
      <p:sp>
        <p:nvSpPr>
          <p:cNvPr id="5" name="Rectangle 4">
            <a:extLst>
              <a:ext uri="{FF2B5EF4-FFF2-40B4-BE49-F238E27FC236}">
                <a16:creationId xmlns:a16="http://schemas.microsoft.com/office/drawing/2014/main" id="{3DB5FDE8-BE3D-400C-B52D-76B45201C223}"/>
              </a:ext>
            </a:extLst>
          </p:cNvPr>
          <p:cNvSpPr>
            <a:spLocks noGrp="1"/>
          </p:cNvSpPr>
          <p:nvPr/>
        </p:nvSpPr>
        <p:spPr>
          <a:xfrm>
            <a:off x="4762500" y="2238375"/>
            <a:ext cx="2857500" cy="1000125"/>
          </a:xfrm>
          <a:prstGeom prst="rect">
            <a:avLst/>
          </a:prstGeom>
          <a:noFill/>
          <a:ln w="0">
            <a:noFill/>
          </a:ln>
        </p:spPr>
        <p:txBody>
          <a:bodyPr>
            <a:noAutofit/>
          </a:bodyPr>
          <a:lstStyle/>
          <a:p>
            <a:pPr>
              <a:defRPr sz="6000" b="1">
                <a:solidFill>
                  <a:srgbClr val="008579"/>
                </a:solidFill>
                <a:latin typeface="Calibri"/>
                <a:ea typeface="Calibri"/>
                <a:cs typeface="Calibri"/>
              </a:defRPr>
            </a:pPr>
            <a:r>
              <a:rPr sz="6000" b="1">
                <a:solidFill>
                  <a:srgbClr val="008579"/>
                </a:solidFill>
                <a:latin typeface="Calibri"/>
                <a:ea typeface="Calibri"/>
                <a:cs typeface="Calibri"/>
              </a:rPr>
              <a:t>5</a:t>
            </a:r>
          </a:p>
        </p:txBody>
      </p:sp>
      <p:sp>
        <p:nvSpPr>
          <p:cNvPr id="6" name="Rectangle 5">
            <a:extLst>
              <a:ext uri="{FF2B5EF4-FFF2-40B4-BE49-F238E27FC236}">
                <a16:creationId xmlns:a16="http://schemas.microsoft.com/office/drawing/2014/main" id="{9A8040C2-3985-43BC-AB24-DA4E0B9EC590}"/>
              </a:ext>
            </a:extLst>
          </p:cNvPr>
          <p:cNvSpPr>
            <a:spLocks noGrp="1"/>
          </p:cNvSpPr>
          <p:nvPr/>
        </p:nvSpPr>
        <p:spPr>
          <a:xfrm>
            <a:off x="4800600" y="3286125"/>
            <a:ext cx="3048000" cy="619125"/>
          </a:xfrm>
          <a:prstGeom prst="rect">
            <a:avLst/>
          </a:prstGeom>
          <a:noFill/>
          <a:ln w="0">
            <a:noFill/>
          </a:ln>
        </p:spPr>
        <p:txBody>
          <a:bodyPr>
            <a:noAutofit/>
          </a:bodyPr>
          <a:lstStyle/>
          <a:p>
            <a:pPr>
              <a:defRPr sz="2100" b="0">
                <a:solidFill>
                  <a:srgbClr val="142F35"/>
                </a:solidFill>
                <a:latin typeface="Calibri"/>
                <a:ea typeface="Calibri"/>
                <a:cs typeface="Calibri"/>
              </a:defRPr>
            </a:pPr>
            <a:r>
              <a:rPr sz="2100" b="0">
                <a:solidFill>
                  <a:srgbClr val="142F35"/>
                </a:solidFill>
                <a:latin typeface="Calibri"/>
                <a:ea typeface="Calibri"/>
                <a:cs typeface="Calibri"/>
              </a:rPr>
              <a:t>currently paying</a:t>
            </a:r>
          </a:p>
        </p:txBody>
      </p:sp>
      <p:sp>
        <p:nvSpPr>
          <p:cNvPr id="7" name="Rectangle 6">
            <a:extLst>
              <a:ext uri="{FF2B5EF4-FFF2-40B4-BE49-F238E27FC236}">
                <a16:creationId xmlns:a16="http://schemas.microsoft.com/office/drawing/2014/main" id="{076000FC-BCC2-4C16-A6B0-09DB9C789B06}"/>
              </a:ext>
            </a:extLst>
          </p:cNvPr>
          <p:cNvSpPr>
            <a:spLocks noGrp="1"/>
          </p:cNvSpPr>
          <p:nvPr/>
        </p:nvSpPr>
        <p:spPr>
          <a:xfrm>
            <a:off x="8629650" y="2238375"/>
            <a:ext cx="2762250" cy="1000125"/>
          </a:xfrm>
          <a:prstGeom prst="rect">
            <a:avLst/>
          </a:prstGeom>
          <a:noFill/>
          <a:ln w="0">
            <a:noFill/>
          </a:ln>
        </p:spPr>
        <p:txBody>
          <a:bodyPr>
            <a:noAutofit/>
          </a:bodyPr>
          <a:lstStyle/>
          <a:p>
            <a:pPr>
              <a:defRPr sz="6000" b="1">
                <a:solidFill>
                  <a:srgbClr val="008579"/>
                </a:solidFill>
                <a:latin typeface="Calibri"/>
                <a:ea typeface="Calibri"/>
                <a:cs typeface="Calibri"/>
              </a:defRPr>
            </a:pPr>
            <a:r>
              <a:rPr sz="6000" b="1">
                <a:solidFill>
                  <a:srgbClr val="008579"/>
                </a:solidFill>
                <a:latin typeface="Calibri"/>
                <a:ea typeface="Calibri"/>
                <a:cs typeface="Calibri"/>
              </a:rPr>
              <a:t>1</a:t>
            </a:r>
          </a:p>
        </p:txBody>
      </p:sp>
      <p:sp>
        <p:nvSpPr>
          <p:cNvPr id="8" name="Rectangle 7">
            <a:extLst>
              <a:ext uri="{FF2B5EF4-FFF2-40B4-BE49-F238E27FC236}">
                <a16:creationId xmlns:a16="http://schemas.microsoft.com/office/drawing/2014/main" id="{3C074390-DD9D-4776-87A8-244589A2A673}"/>
              </a:ext>
            </a:extLst>
          </p:cNvPr>
          <p:cNvSpPr>
            <a:spLocks noGrp="1"/>
          </p:cNvSpPr>
          <p:nvPr/>
        </p:nvSpPr>
        <p:spPr>
          <a:xfrm>
            <a:off x="8667750" y="3286125"/>
            <a:ext cx="2857500" cy="714375"/>
          </a:xfrm>
          <a:prstGeom prst="rect">
            <a:avLst/>
          </a:prstGeom>
          <a:noFill/>
          <a:ln w="0">
            <a:noFill/>
          </a:ln>
        </p:spPr>
        <p:txBody>
          <a:bodyPr>
            <a:noAutofit/>
          </a:bodyPr>
          <a:lstStyle/>
          <a:p>
            <a:pPr>
              <a:defRPr sz="2100" b="0">
                <a:solidFill>
                  <a:srgbClr val="142F35"/>
                </a:solidFill>
                <a:latin typeface="Calibri"/>
                <a:ea typeface="Calibri"/>
                <a:cs typeface="Calibri"/>
              </a:defRPr>
            </a:pPr>
            <a:r>
              <a:rPr sz="2100" b="0" dirty="0">
                <a:solidFill>
                  <a:srgbClr val="142F35"/>
                </a:solidFill>
                <a:latin typeface="Calibri"/>
                <a:ea typeface="Calibri"/>
                <a:cs typeface="Calibri"/>
              </a:rPr>
              <a:t>former payer churned</a:t>
            </a:r>
          </a:p>
        </p:txBody>
      </p:sp>
      <p:sp>
        <p:nvSpPr>
          <p:cNvPr id="9" name="Rectangle 8">
            <a:extLst>
              <a:ext uri="{FF2B5EF4-FFF2-40B4-BE49-F238E27FC236}">
                <a16:creationId xmlns:a16="http://schemas.microsoft.com/office/drawing/2014/main" id="{F444A170-84E2-4BB8-A33C-3277DCC6A8CA}"/>
              </a:ext>
            </a:extLst>
          </p:cNvPr>
          <p:cNvSpPr>
            <a:spLocks noGrp="1"/>
          </p:cNvSpPr>
          <p:nvPr/>
        </p:nvSpPr>
        <p:spPr>
          <a:xfrm>
            <a:off x="762000" y="4276725"/>
            <a:ext cx="10572750" cy="495300"/>
          </a:xfrm>
          <a:prstGeom prst="rect">
            <a:avLst/>
          </a:prstGeom>
          <a:noFill/>
          <a:ln w="0">
            <a:noFill/>
          </a:ln>
        </p:spPr>
        <p:txBody>
          <a:bodyPr>
            <a:noAutofit/>
          </a:bodyPr>
          <a:lstStyle/>
          <a:p>
            <a:pPr>
              <a:defRPr sz="2325" b="1">
                <a:solidFill>
                  <a:srgbClr val="142F35"/>
                </a:solidFill>
                <a:latin typeface="Calibri"/>
                <a:ea typeface="Calibri"/>
                <a:cs typeface="Calibri"/>
              </a:defRPr>
            </a:pPr>
            <a:r>
              <a:rPr sz="2325" b="1">
                <a:solidFill>
                  <a:srgbClr val="142F35"/>
                </a:solidFill>
                <a:latin typeface="Calibri"/>
                <a:ea typeface="Calibri"/>
                <a:cs typeface="Calibri"/>
              </a:rPr>
              <a:t>Also in progress: one free pilot and one active trial</a:t>
            </a:r>
          </a:p>
        </p:txBody>
      </p:sp>
      <p:sp>
        <p:nvSpPr>
          <p:cNvPr id="10" name="Rectangle 9">
            <a:extLst>
              <a:ext uri="{FF2B5EF4-FFF2-40B4-BE49-F238E27FC236}">
                <a16:creationId xmlns:a16="http://schemas.microsoft.com/office/drawing/2014/main" id="{6DCD413D-F16D-480E-B616-537261583343}"/>
              </a:ext>
            </a:extLst>
          </p:cNvPr>
          <p:cNvSpPr>
            <a:spLocks noGrp="1"/>
          </p:cNvSpPr>
          <p:nvPr/>
        </p:nvSpPr>
        <p:spPr>
          <a:xfrm>
            <a:off x="762000" y="5076825"/>
            <a:ext cx="10572750" cy="942975"/>
          </a:xfrm>
          <a:prstGeom prst="rect">
            <a:avLst/>
          </a:prstGeom>
          <a:noFill/>
          <a:ln w="0">
            <a:noFill/>
          </a:ln>
        </p:spPr>
        <p:txBody>
          <a:bodyPr>
            <a:noAutofit/>
          </a:bodyPr>
          <a:lstStyle/>
          <a:p>
            <a:pPr>
              <a:defRPr sz="1950" b="0">
                <a:solidFill>
                  <a:srgbClr val="536B70"/>
                </a:solidFill>
                <a:latin typeface="Calibri"/>
                <a:ea typeface="Calibri"/>
                <a:cs typeface="Calibri"/>
              </a:defRPr>
            </a:pPr>
            <a:r>
              <a:rPr sz="1950" b="0" dirty="0">
                <a:solidFill>
                  <a:srgbClr val="536B70"/>
                </a:solidFill>
                <a:latin typeface="Calibri"/>
                <a:ea typeface="Calibri"/>
                <a:cs typeface="Calibri"/>
              </a:rPr>
              <a:t>~5% currently paying / approached. ~6% have paid at some point.</a:t>
            </a:r>
          </a:p>
          <a:p>
            <a:pPr>
              <a:defRPr sz="1950" b="0">
                <a:solidFill>
                  <a:srgbClr val="536B70"/>
                </a:solidFill>
                <a:latin typeface="Calibri"/>
                <a:ea typeface="Calibri"/>
                <a:cs typeface="Calibri"/>
              </a:defRPr>
            </a:pPr>
            <a:r>
              <a:rPr sz="1950" b="0" dirty="0">
                <a:solidFill>
                  <a:srgbClr val="536B70"/>
                </a:solidFill>
                <a:latin typeface="Calibri"/>
                <a:ea typeface="Calibri"/>
                <a:cs typeface="Calibri"/>
              </a:rPr>
              <a:t>These are approximate cumulative ratios. Reliable channel CAC is not yet available.</a:t>
            </a:r>
            <a:endParaRPr lang="lv-LV" sz="1950" b="0" dirty="0">
              <a:solidFill>
                <a:srgbClr val="536B70"/>
              </a:solidFill>
              <a:latin typeface="Calibri"/>
              <a:ea typeface="Calibri"/>
              <a:cs typeface="Calibri"/>
            </a:endParaRPr>
          </a:p>
          <a:p>
            <a:pPr>
              <a:defRPr sz="1950" b="0">
                <a:solidFill>
                  <a:srgbClr val="536B70"/>
                </a:solidFill>
                <a:latin typeface="Calibri"/>
                <a:ea typeface="Calibri"/>
                <a:cs typeface="Calibri"/>
              </a:defRPr>
            </a:pPr>
            <a:r>
              <a:rPr lang="lv-LV" sz="1950" dirty="0">
                <a:solidFill>
                  <a:srgbClr val="536B70"/>
                </a:solidFill>
                <a:latin typeface="Calibri"/>
                <a:ea typeface="Calibri"/>
                <a:cs typeface="Calibri"/>
              </a:rPr>
              <a:t>Churned user informed that they can’t force their workers to use the product. </a:t>
            </a:r>
            <a:endParaRPr sz="1950" b="0" dirty="0">
              <a:solidFill>
                <a:srgbClr val="536B70"/>
              </a:solidFill>
              <a:latin typeface="Calibri"/>
              <a:ea typeface="Calibri"/>
              <a:cs typeface="Calibri"/>
            </a:endParaRPr>
          </a:p>
        </p:txBody>
      </p:sp>
      <p:sp>
        <p:nvSpPr>
          <p:cNvPr id="11" name="Rectangle 10">
            <a:extLst>
              <a:ext uri="{FF2B5EF4-FFF2-40B4-BE49-F238E27FC236}">
                <a16:creationId xmlns:a16="http://schemas.microsoft.com/office/drawing/2014/main" id="{7112398C-2D51-47F3-827F-DCF461BFE64E}"/>
              </a:ext>
            </a:extLst>
          </p:cNvPr>
          <p:cNvSpPr>
            <a:spLocks noGrp="1"/>
          </p:cNvSpPr>
          <p:nvPr/>
        </p:nvSpPr>
        <p:spPr>
          <a:xfrm>
            <a:off x="11001375" y="6238875"/>
            <a:ext cx="571500" cy="285750"/>
          </a:xfrm>
          <a:prstGeom prst="rect">
            <a:avLst/>
          </a:prstGeom>
          <a:noFill/>
          <a:ln w="0">
            <a:noFill/>
          </a:ln>
        </p:spPr>
        <p:txBody>
          <a:bodyPr>
            <a:noAutofit/>
          </a:bodyPr>
          <a:lstStyle/>
          <a:p>
            <a:pPr>
              <a:defRPr sz="1200" b="0">
                <a:solidFill>
                  <a:srgbClr val="536B70"/>
                </a:solidFill>
                <a:latin typeface="Calibri"/>
                <a:ea typeface="Calibri"/>
                <a:cs typeface="Calibri"/>
              </a:defRPr>
            </a:pPr>
            <a:r>
              <a:rPr sz="1200" b="0">
                <a:solidFill>
                  <a:srgbClr val="536B70"/>
                </a:solidFill>
                <a:latin typeface="Calibri"/>
                <a:ea typeface="Calibri"/>
                <a:cs typeface="Calibri"/>
              </a:rPr>
              <a:t>12</a:t>
            </a:r>
          </a:p>
        </p:txBody>
      </p:sp>
    </p:spTree>
    <p:extLst>
      <p:ext uri="{BB962C8B-B14F-4D97-AF65-F5344CB8AC3E}">
        <p14:creationId xmlns:p14="http://schemas.microsoft.com/office/powerpoint/2010/main" val="12819799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CECE95E-B0E7-433B-BCDE-044062BCD5D3}"/>
              </a:ext>
            </a:extLst>
          </p:cNvPr>
          <p:cNvSpPr>
            <a:spLocks noGrp="1"/>
          </p:cNvSpPr>
          <p:nvPr/>
        </p:nvSpPr>
        <p:spPr>
          <a:xfrm>
            <a:off x="685800" y="571500"/>
            <a:ext cx="10820400" cy="619125"/>
          </a:xfrm>
          <a:prstGeom prst="rect">
            <a:avLst/>
          </a:prstGeom>
          <a:noFill/>
          <a:ln w="0">
            <a:noFill/>
          </a:ln>
        </p:spPr>
        <p:txBody>
          <a:bodyPr>
            <a:noAutofit/>
          </a:bodyPr>
          <a:lstStyle/>
          <a:p>
            <a:pPr>
              <a:buNone/>
              <a:defRPr sz="3150" b="1">
                <a:solidFill>
                  <a:srgbClr val="142F35"/>
                </a:solidFill>
                <a:latin typeface="Calibri"/>
                <a:ea typeface="Calibri"/>
                <a:cs typeface="Calibri"/>
              </a:defRPr>
            </a:pPr>
            <a:r>
              <a:rPr sz="3150" b="1">
                <a:solidFill>
                  <a:srgbClr val="142F35"/>
                </a:solidFill>
                <a:latin typeface="Calibri"/>
                <a:ea typeface="Calibri"/>
                <a:cs typeface="Calibri"/>
              </a:rPr>
              <a:t>The next 90 days: test a repeatable sales process</a:t>
            </a:r>
          </a:p>
        </p:txBody>
      </p:sp>
      <p:sp>
        <p:nvSpPr>
          <p:cNvPr id="2" name="Rectangle 1">
            <a:extLst>
              <a:ext uri="{FF2B5EF4-FFF2-40B4-BE49-F238E27FC236}">
                <a16:creationId xmlns:a16="http://schemas.microsoft.com/office/drawing/2014/main" id="{B5F17BDE-5728-4346-80CA-AA2A1B63D268}"/>
              </a:ext>
            </a:extLst>
          </p:cNvPr>
          <p:cNvSpPr>
            <a:spLocks noGrp="1"/>
          </p:cNvSpPr>
          <p:nvPr/>
        </p:nvSpPr>
        <p:spPr>
          <a:xfrm>
            <a:off x="723900" y="1276350"/>
            <a:ext cx="10668000" cy="685800"/>
          </a:xfrm>
          <a:prstGeom prst="rect">
            <a:avLst/>
          </a:prstGeom>
          <a:noFill/>
          <a:ln w="0">
            <a:noFill/>
          </a:ln>
        </p:spPr>
        <p:txBody>
          <a:bodyPr>
            <a:noAutofit/>
          </a:bodyPr>
          <a:lstStyle/>
          <a:p>
            <a:pPr>
              <a:buNone/>
              <a:defRPr sz="1950" b="0">
                <a:solidFill>
                  <a:srgbClr val="536B70"/>
                </a:solidFill>
                <a:latin typeface="Calibri"/>
                <a:ea typeface="Calibri"/>
                <a:cs typeface="Calibri"/>
              </a:defRPr>
            </a:pPr>
            <a:r>
              <a:rPr sz="1950" b="0">
                <a:solidFill>
                  <a:srgbClr val="536B70"/>
                </a:solidFill>
                <a:latin typeface="Calibri"/>
                <a:ea typeface="Calibri"/>
                <a:cs typeface="Calibri"/>
              </a:rPr>
              <a:t>Proposed experiments, with results deciding the next spending step.</a:t>
            </a:r>
          </a:p>
        </p:txBody>
      </p:sp>
      <p:sp>
        <p:nvSpPr>
          <p:cNvPr id="3" name="Rectangle 2">
            <a:extLst>
              <a:ext uri="{FF2B5EF4-FFF2-40B4-BE49-F238E27FC236}">
                <a16:creationId xmlns:a16="http://schemas.microsoft.com/office/drawing/2014/main" id="{798CF8A3-4355-49B6-9B37-1363B737460C}"/>
              </a:ext>
            </a:extLst>
          </p:cNvPr>
          <p:cNvSpPr>
            <a:spLocks noGrp="1"/>
          </p:cNvSpPr>
          <p:nvPr/>
        </p:nvSpPr>
        <p:spPr>
          <a:xfrm>
            <a:off x="762000" y="2133600"/>
            <a:ext cx="10572750" cy="428625"/>
          </a:xfrm>
          <a:prstGeom prst="rect">
            <a:avLst/>
          </a:prstGeom>
          <a:noFill/>
          <a:ln w="0">
            <a:noFill/>
          </a:ln>
        </p:spPr>
        <p:txBody>
          <a:bodyPr>
            <a:noAutofit/>
          </a:bodyPr>
          <a:lstStyle/>
          <a:p>
            <a:pPr>
              <a:buNone/>
              <a:defRPr sz="2325" b="1">
                <a:solidFill>
                  <a:srgbClr val="008579"/>
                </a:solidFill>
                <a:latin typeface="Calibri"/>
                <a:ea typeface="Calibri"/>
                <a:cs typeface="Calibri"/>
              </a:defRPr>
            </a:pPr>
            <a:r>
              <a:rPr sz="2325" b="1">
                <a:solidFill>
                  <a:srgbClr val="008579"/>
                </a:solidFill>
                <a:latin typeface="Calibri"/>
                <a:ea typeface="Calibri"/>
                <a:cs typeface="Calibri"/>
              </a:rPr>
              <a:t>Latvia: targeted outbound</a:t>
            </a:r>
          </a:p>
        </p:txBody>
      </p:sp>
      <p:sp>
        <p:nvSpPr>
          <p:cNvPr id="4" name="Rectangle 3">
            <a:extLst>
              <a:ext uri="{FF2B5EF4-FFF2-40B4-BE49-F238E27FC236}">
                <a16:creationId xmlns:a16="http://schemas.microsoft.com/office/drawing/2014/main" id="{A71FA044-5D49-4E48-86C5-BF6615928F9C}"/>
              </a:ext>
            </a:extLst>
          </p:cNvPr>
          <p:cNvSpPr>
            <a:spLocks noGrp="1"/>
          </p:cNvSpPr>
          <p:nvPr/>
        </p:nvSpPr>
        <p:spPr>
          <a:xfrm>
            <a:off x="762000" y="2600325"/>
            <a:ext cx="10382250" cy="781050"/>
          </a:xfrm>
          <a:prstGeom prst="rect">
            <a:avLst/>
          </a:prstGeom>
          <a:noFill/>
          <a:ln w="0">
            <a:noFill/>
          </a:ln>
        </p:spPr>
        <p:txBody>
          <a:bodyPr>
            <a:noAutofit/>
          </a:bodyPr>
          <a:lstStyle/>
          <a:p>
            <a:pPr>
              <a:buNone/>
              <a:defRPr sz="2025" b="0">
                <a:solidFill>
                  <a:srgbClr val="142F35"/>
                </a:solidFill>
                <a:latin typeface="Calibri"/>
                <a:ea typeface="Calibri"/>
                <a:cs typeface="Calibri"/>
              </a:defRPr>
            </a:pPr>
            <a:r>
              <a:rPr sz="2025" b="0">
                <a:solidFill>
                  <a:srgbClr val="142F35"/>
                </a:solidFill>
                <a:latin typeface="Calibri"/>
                <a:ea typeface="Calibri"/>
                <a:cs typeface="Calibri"/>
              </a:rPr>
              <a:t>Build a list of 10–49 person contractors. Track each contact, demo, trial and payment.</a:t>
            </a:r>
          </a:p>
        </p:txBody>
      </p:sp>
      <p:sp>
        <p:nvSpPr>
          <p:cNvPr id="5" name="Rectangle 4">
            <a:extLst>
              <a:ext uri="{FF2B5EF4-FFF2-40B4-BE49-F238E27FC236}">
                <a16:creationId xmlns:a16="http://schemas.microsoft.com/office/drawing/2014/main" id="{0BA357FD-3CE3-4E88-81B3-A0B445B0EA0E}"/>
              </a:ext>
            </a:extLst>
          </p:cNvPr>
          <p:cNvSpPr>
            <a:spLocks noGrp="1"/>
          </p:cNvSpPr>
          <p:nvPr/>
        </p:nvSpPr>
        <p:spPr>
          <a:xfrm>
            <a:off x="762000" y="3457575"/>
            <a:ext cx="10572750" cy="428625"/>
          </a:xfrm>
          <a:prstGeom prst="rect">
            <a:avLst/>
          </a:prstGeom>
          <a:noFill/>
          <a:ln w="0">
            <a:noFill/>
          </a:ln>
        </p:spPr>
        <p:txBody>
          <a:bodyPr>
            <a:noAutofit/>
          </a:bodyPr>
          <a:lstStyle/>
          <a:p>
            <a:pPr>
              <a:buNone/>
              <a:defRPr sz="2325" b="1">
                <a:solidFill>
                  <a:srgbClr val="008579"/>
                </a:solidFill>
                <a:latin typeface="Calibri"/>
                <a:ea typeface="Calibri"/>
                <a:cs typeface="Calibri"/>
              </a:defRPr>
            </a:pPr>
            <a:r>
              <a:rPr sz="2325" b="1">
                <a:solidFill>
                  <a:srgbClr val="008579"/>
                </a:solidFill>
                <a:latin typeface="Calibri"/>
                <a:ea typeface="Calibri"/>
                <a:cs typeface="Calibri"/>
              </a:rPr>
              <a:t>Turn demos into live project trials</a:t>
            </a:r>
          </a:p>
        </p:txBody>
      </p:sp>
      <p:sp>
        <p:nvSpPr>
          <p:cNvPr id="6" name="Rectangle 5">
            <a:extLst>
              <a:ext uri="{FF2B5EF4-FFF2-40B4-BE49-F238E27FC236}">
                <a16:creationId xmlns:a16="http://schemas.microsoft.com/office/drawing/2014/main" id="{A94C35E2-5177-4751-863A-558948AD756D}"/>
              </a:ext>
            </a:extLst>
          </p:cNvPr>
          <p:cNvSpPr>
            <a:spLocks noGrp="1"/>
          </p:cNvSpPr>
          <p:nvPr/>
        </p:nvSpPr>
        <p:spPr>
          <a:xfrm>
            <a:off x="762000" y="3924300"/>
            <a:ext cx="10382250" cy="781050"/>
          </a:xfrm>
          <a:prstGeom prst="rect">
            <a:avLst/>
          </a:prstGeom>
          <a:noFill/>
          <a:ln w="0">
            <a:noFill/>
          </a:ln>
        </p:spPr>
        <p:txBody>
          <a:bodyPr>
            <a:noAutofit/>
          </a:bodyPr>
          <a:lstStyle/>
          <a:p>
            <a:pPr>
              <a:buNone/>
              <a:defRPr sz="2025" b="0">
                <a:solidFill>
                  <a:srgbClr val="142F35"/>
                </a:solidFill>
                <a:latin typeface="Calibri"/>
                <a:ea typeface="Calibri"/>
                <a:cs typeface="Calibri"/>
              </a:defRPr>
            </a:pPr>
            <a:r>
              <a:rPr sz="2025" b="0">
                <a:solidFill>
                  <a:srgbClr val="142F35"/>
                </a:solidFill>
                <a:latin typeface="Calibri"/>
                <a:ea typeface="Calibri"/>
                <a:cs typeface="Calibri"/>
              </a:rPr>
              <a:t>Use the contractor’s own project in the demo. Set up the first report together and agree the paid start date.</a:t>
            </a:r>
          </a:p>
        </p:txBody>
      </p:sp>
      <p:sp>
        <p:nvSpPr>
          <p:cNvPr id="7" name="Rectangle 6">
            <a:extLst>
              <a:ext uri="{FF2B5EF4-FFF2-40B4-BE49-F238E27FC236}">
                <a16:creationId xmlns:a16="http://schemas.microsoft.com/office/drawing/2014/main" id="{461BACA2-3C4E-4617-8462-AEA285D5FB5B}"/>
              </a:ext>
            </a:extLst>
          </p:cNvPr>
          <p:cNvSpPr>
            <a:spLocks noGrp="1"/>
          </p:cNvSpPr>
          <p:nvPr/>
        </p:nvSpPr>
        <p:spPr>
          <a:xfrm>
            <a:off x="762000" y="4781550"/>
            <a:ext cx="10572750" cy="428625"/>
          </a:xfrm>
          <a:prstGeom prst="rect">
            <a:avLst/>
          </a:prstGeom>
          <a:noFill/>
          <a:ln w="0">
            <a:noFill/>
          </a:ln>
        </p:spPr>
        <p:txBody>
          <a:bodyPr>
            <a:noAutofit/>
          </a:bodyPr>
          <a:lstStyle/>
          <a:p>
            <a:pPr>
              <a:buNone/>
              <a:defRPr sz="2325" b="1">
                <a:solidFill>
                  <a:srgbClr val="008579"/>
                </a:solidFill>
                <a:latin typeface="Calibri"/>
                <a:ea typeface="Calibri"/>
                <a:cs typeface="Calibri"/>
              </a:defRPr>
            </a:pPr>
            <a:r>
              <a:rPr sz="2325" b="1">
                <a:solidFill>
                  <a:srgbClr val="008579"/>
                </a:solidFill>
                <a:latin typeface="Calibri"/>
                <a:ea typeface="Calibri"/>
                <a:cs typeface="Calibri"/>
              </a:rPr>
              <a:t>Expansion tests: Sweden, Great Britain and the USA</a:t>
            </a:r>
          </a:p>
        </p:txBody>
      </p:sp>
      <p:sp>
        <p:nvSpPr>
          <p:cNvPr id="8" name="Rectangle 7">
            <a:extLst>
              <a:ext uri="{FF2B5EF4-FFF2-40B4-BE49-F238E27FC236}">
                <a16:creationId xmlns:a16="http://schemas.microsoft.com/office/drawing/2014/main" id="{7879436E-9935-4CE1-863C-68E07788F929}"/>
              </a:ext>
            </a:extLst>
          </p:cNvPr>
          <p:cNvSpPr>
            <a:spLocks noGrp="1"/>
          </p:cNvSpPr>
          <p:nvPr/>
        </p:nvSpPr>
        <p:spPr>
          <a:xfrm>
            <a:off x="762000" y="5248275"/>
            <a:ext cx="10382250" cy="781050"/>
          </a:xfrm>
          <a:prstGeom prst="rect">
            <a:avLst/>
          </a:prstGeom>
          <a:noFill/>
          <a:ln w="0">
            <a:noFill/>
          </a:ln>
        </p:spPr>
        <p:txBody>
          <a:bodyPr>
            <a:noAutofit/>
          </a:bodyPr>
          <a:lstStyle/>
          <a:p>
            <a:pPr>
              <a:buNone/>
              <a:defRPr sz="2025" b="0">
                <a:solidFill>
                  <a:srgbClr val="142F35"/>
                </a:solidFill>
                <a:latin typeface="Calibri"/>
                <a:ea typeface="Calibri"/>
                <a:cs typeface="Calibri"/>
              </a:defRPr>
            </a:pPr>
            <a:r>
              <a:rPr sz="2025" b="0">
                <a:solidFill>
                  <a:srgbClr val="142F35"/>
                </a:solidFill>
                <a:latin typeface="Calibri"/>
                <a:ea typeface="Calibri"/>
                <a:cs typeface="Calibri"/>
              </a:rPr>
              <a:t>Run small pilot cohorts through targeted outreach. Compare paid conversion and support effort in each country before increasing spend.</a:t>
            </a:r>
          </a:p>
        </p:txBody>
      </p:sp>
      <p:sp>
        <p:nvSpPr>
          <p:cNvPr id="9" name="Rectangle 8">
            <a:extLst>
              <a:ext uri="{FF2B5EF4-FFF2-40B4-BE49-F238E27FC236}">
                <a16:creationId xmlns:a16="http://schemas.microsoft.com/office/drawing/2014/main" id="{A1E4C12A-0C5A-4E06-829B-ECB7BD9F6B87}"/>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536B70"/>
                </a:solidFill>
                <a:latin typeface="Calibri"/>
                <a:ea typeface="Calibri"/>
                <a:cs typeface="Calibri"/>
              </a:defRPr>
            </a:pPr>
            <a:r>
              <a:rPr sz="1200" b="0">
                <a:solidFill>
                  <a:srgbClr val="536B70"/>
                </a:solidFill>
                <a:latin typeface="Calibri"/>
                <a:ea typeface="Calibri"/>
                <a:cs typeface="Calibri"/>
              </a:rPr>
              <a:t>13</a:t>
            </a:r>
          </a:p>
        </p:txBody>
      </p:sp>
    </p:spTree>
    <p:extLst>
      <p:ext uri="{BB962C8B-B14F-4D97-AF65-F5344CB8AC3E}">
        <p14:creationId xmlns:p14="http://schemas.microsoft.com/office/powerpoint/2010/main" val="2591934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4B485CE-993E-4557-A124-AE7E65281CF5}"/>
              </a:ext>
            </a:extLst>
          </p:cNvPr>
          <p:cNvSpPr>
            <a:spLocks noGrp="1"/>
          </p:cNvSpPr>
          <p:nvPr/>
        </p:nvSpPr>
        <p:spPr>
          <a:xfrm>
            <a:off x="685800" y="571500"/>
            <a:ext cx="10820400" cy="619125"/>
          </a:xfrm>
          <a:prstGeom prst="rect">
            <a:avLst/>
          </a:prstGeom>
          <a:noFill/>
          <a:ln w="0">
            <a:noFill/>
          </a:ln>
        </p:spPr>
        <p:txBody>
          <a:bodyPr>
            <a:noAutofit/>
          </a:bodyPr>
          <a:lstStyle/>
          <a:p>
            <a:pPr>
              <a:buNone/>
              <a:defRPr sz="3150" b="1">
                <a:solidFill>
                  <a:srgbClr val="142F35"/>
                </a:solidFill>
                <a:latin typeface="Calibri"/>
                <a:ea typeface="Calibri"/>
                <a:cs typeface="Calibri"/>
              </a:defRPr>
            </a:pPr>
            <a:r>
              <a:rPr sz="3150" b="1">
                <a:solidFill>
                  <a:srgbClr val="142F35"/>
                </a:solidFill>
                <a:latin typeface="Calibri"/>
                <a:ea typeface="Calibri"/>
                <a:cs typeface="Calibri"/>
              </a:rPr>
              <a:t>Acquisition evidence and the next measurements</a:t>
            </a:r>
          </a:p>
        </p:txBody>
      </p:sp>
      <p:sp>
        <p:nvSpPr>
          <p:cNvPr id="2" name="Rectangle 1">
            <a:extLst>
              <a:ext uri="{FF2B5EF4-FFF2-40B4-BE49-F238E27FC236}">
                <a16:creationId xmlns:a16="http://schemas.microsoft.com/office/drawing/2014/main" id="{E699C6B5-3B0F-4627-9DCF-97FB3DEE0721}"/>
              </a:ext>
            </a:extLst>
          </p:cNvPr>
          <p:cNvSpPr>
            <a:spLocks noGrp="1"/>
          </p:cNvSpPr>
          <p:nvPr/>
        </p:nvSpPr>
        <p:spPr>
          <a:xfrm>
            <a:off x="723900" y="1276350"/>
            <a:ext cx="10668000" cy="685800"/>
          </a:xfrm>
          <a:prstGeom prst="rect">
            <a:avLst/>
          </a:prstGeom>
          <a:noFill/>
          <a:ln w="0">
            <a:noFill/>
          </a:ln>
        </p:spPr>
        <p:txBody>
          <a:bodyPr>
            <a:noAutofit/>
          </a:bodyPr>
          <a:lstStyle/>
          <a:p>
            <a:pPr>
              <a:buNone/>
              <a:defRPr sz="1950" b="0">
                <a:solidFill>
                  <a:srgbClr val="536B70"/>
                </a:solidFill>
                <a:latin typeface="Calibri"/>
                <a:ea typeface="Calibri"/>
                <a:cs typeface="Calibri"/>
              </a:defRPr>
            </a:pPr>
            <a:r>
              <a:rPr sz="1950" b="0">
                <a:solidFill>
                  <a:srgbClr val="536B70"/>
                </a:solidFill>
                <a:latin typeface="Calibri"/>
                <a:ea typeface="Calibri"/>
                <a:cs typeface="Calibri"/>
              </a:rPr>
              <a:t>Follow each monthly cohort from first contact through payment and renewal.</a:t>
            </a:r>
          </a:p>
        </p:txBody>
      </p:sp>
      <p:graphicFrame>
        <p:nvGraphicFramePr>
          <p:cNvPr id="11" name="Table 10"/>
          <p:cNvGraphicFramePr/>
          <p:nvPr>
            <p:extLst>
              <p:ext uri="{D42A27DB-BD31-4B8C-83A1-F6EECF244321}">
                <p14:modId xmlns:p14="http://schemas.microsoft.com/office/powerpoint/2010/main" val="2883056401"/>
              </p:ext>
            </p:extLst>
          </p:nvPr>
        </p:nvGraphicFramePr>
        <p:xfrm>
          <a:off x="762000" y="2133600"/>
          <a:ext cx="10668000" cy="2667000"/>
        </p:xfrm>
        <a:graphic>
          <a:graphicData uri="http://schemas.openxmlformats.org/drawingml/2006/table">
            <a:tbl>
              <a:tblPr/>
              <a:tblGrid>
                <a:gridCol w="28575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4000500">
                  <a:extLst>
                    <a:ext uri="{9D8B030D-6E8A-4147-A177-3AD203B41FA5}">
                      <a16:colId xmlns:a16="http://schemas.microsoft.com/office/drawing/2014/main" val="20002"/>
                    </a:ext>
                  </a:extLst>
                </a:gridCol>
              </a:tblGrid>
              <a:tr h="523875">
                <a:tc>
                  <a:txBody>
                    <a:bodyPr/>
                    <a:lstStyle/>
                    <a:p>
                      <a:r>
                        <a:rPr sz="1800" b="1">
                          <a:solidFill>
                            <a:srgbClr val="FFFFFF"/>
                          </a:solidFill>
                          <a:latin typeface="Calibri"/>
                          <a:ea typeface="Calibri"/>
                          <a:cs typeface="Calibri"/>
                        </a:rPr>
                        <a:t>Evidence / channel</a:t>
                      </a:r>
                    </a:p>
                  </a:txBody>
                  <a:tcPr>
                    <a:solidFill>
                      <a:srgbClr val="142F35"/>
                    </a:solidFill>
                  </a:tcPr>
                </a:tc>
                <a:tc>
                  <a:txBody>
                    <a:bodyPr/>
                    <a:lstStyle/>
                    <a:p>
                      <a:r>
                        <a:rPr sz="1800" b="1">
                          <a:solidFill>
                            <a:srgbClr val="FFFFFF"/>
                          </a:solidFill>
                          <a:latin typeface="Calibri"/>
                          <a:ea typeface="Calibri"/>
                          <a:cs typeface="Calibri"/>
                        </a:rPr>
                        <a:t>Observed so far</a:t>
                      </a:r>
                    </a:p>
                  </a:txBody>
                  <a:tcPr>
                    <a:solidFill>
                      <a:srgbClr val="142F35"/>
                    </a:solidFill>
                  </a:tcPr>
                </a:tc>
                <a:tc>
                  <a:txBody>
                    <a:bodyPr/>
                    <a:lstStyle/>
                    <a:p>
                      <a:r>
                        <a:rPr sz="1800" b="1">
                          <a:solidFill>
                            <a:srgbClr val="FFFFFF"/>
                          </a:solidFill>
                          <a:latin typeface="Calibri"/>
                          <a:ea typeface="Calibri"/>
                          <a:cs typeface="Calibri"/>
                        </a:rPr>
                        <a:t>Measure next</a:t>
                      </a:r>
                    </a:p>
                  </a:txBody>
                  <a:tcPr>
                    <a:solidFill>
                      <a:srgbClr val="142F35"/>
                    </a:solidFill>
                  </a:tcPr>
                </a:tc>
                <a:extLst>
                  <a:ext uri="{0D108BD9-81ED-4DB2-BD59-A6C34878D82A}">
                    <a16:rowId xmlns:a16="http://schemas.microsoft.com/office/drawing/2014/main" val="10000"/>
                  </a:ext>
                </a:extLst>
              </a:tr>
              <a:tr h="714375">
                <a:tc>
                  <a:txBody>
                    <a:bodyPr/>
                    <a:lstStyle/>
                    <a:p>
                      <a:r>
                        <a:rPr sz="1800" b="0" dirty="0">
                          <a:solidFill>
                            <a:srgbClr val="142F35"/>
                          </a:solidFill>
                          <a:latin typeface="Calibri"/>
                          <a:ea typeface="Calibri"/>
                          <a:cs typeface="Calibri"/>
                        </a:rPr>
                        <a:t>All outreach, ~</a:t>
                      </a:r>
                      <a:r>
                        <a:rPr lang="lv-LV" sz="1800" b="0" dirty="0">
                          <a:solidFill>
                            <a:srgbClr val="142F35"/>
                          </a:solidFill>
                          <a:latin typeface="Calibri"/>
                          <a:ea typeface="Calibri"/>
                          <a:cs typeface="Calibri"/>
                        </a:rPr>
                        <a:t>6 month</a:t>
                      </a:r>
                      <a:endParaRPr sz="1800" b="0" dirty="0">
                        <a:solidFill>
                          <a:srgbClr val="142F35"/>
                        </a:solidFill>
                        <a:latin typeface="Calibri"/>
                        <a:ea typeface="Calibri"/>
                        <a:cs typeface="Calibri"/>
                      </a:endParaRPr>
                    </a:p>
                  </a:txBody>
                  <a:tcPr>
                    <a:solidFill>
                      <a:srgbClr val="F6F4EE"/>
                    </a:solidFill>
                  </a:tcPr>
                </a:tc>
                <a:tc>
                  <a:txBody>
                    <a:bodyPr/>
                    <a:lstStyle/>
                    <a:p>
                      <a:r>
                        <a:rPr sz="1800" b="0">
                          <a:solidFill>
                            <a:srgbClr val="142F35"/>
                          </a:solidFill>
                          <a:latin typeface="Calibri"/>
                          <a:ea typeface="Calibri"/>
                          <a:cs typeface="Calibri"/>
                        </a:rPr>
                        <a:t>~100 approached, 6 ever paid</a:t>
                      </a:r>
                    </a:p>
                  </a:txBody>
                  <a:tcPr>
                    <a:solidFill>
                      <a:srgbClr val="F6F4EE"/>
                    </a:solidFill>
                  </a:tcPr>
                </a:tc>
                <a:tc>
                  <a:txBody>
                    <a:bodyPr/>
                    <a:lstStyle/>
                    <a:p>
                      <a:r>
                        <a:rPr sz="1800" b="0" dirty="0">
                          <a:solidFill>
                            <a:srgbClr val="142F35"/>
                          </a:solidFill>
                          <a:latin typeface="Calibri"/>
                          <a:ea typeface="Calibri"/>
                          <a:cs typeface="Calibri"/>
                        </a:rPr>
                        <a:t>5 current, 1 churned; cohort retention</a:t>
                      </a:r>
                    </a:p>
                  </a:txBody>
                  <a:tcPr>
                    <a:solidFill>
                      <a:srgbClr val="F6F4EE"/>
                    </a:solidFill>
                  </a:tcPr>
                </a:tc>
                <a:extLst>
                  <a:ext uri="{0D108BD9-81ED-4DB2-BD59-A6C34878D82A}">
                    <a16:rowId xmlns:a16="http://schemas.microsoft.com/office/drawing/2014/main" val="10001"/>
                  </a:ext>
                </a:extLst>
              </a:tr>
              <a:tr h="714375">
                <a:tc>
                  <a:txBody>
                    <a:bodyPr/>
                    <a:lstStyle/>
                    <a:p>
                      <a:r>
                        <a:rPr sz="1800" b="0">
                          <a:solidFill>
                            <a:srgbClr val="142F35"/>
                          </a:solidFill>
                          <a:latin typeface="Calibri"/>
                          <a:ea typeface="Calibri"/>
                          <a:cs typeface="Calibri"/>
                        </a:rPr>
                        <a:t>Direct outreach sample</a:t>
                      </a:r>
                    </a:p>
                  </a:txBody>
                  <a:tcPr>
                    <a:solidFill>
                      <a:srgbClr val="F6F4EE"/>
                    </a:solidFill>
                  </a:tcPr>
                </a:tc>
                <a:tc>
                  <a:txBody>
                    <a:bodyPr/>
                    <a:lstStyle/>
                    <a:p>
                      <a:r>
                        <a:rPr sz="1800" b="0">
                          <a:solidFill>
                            <a:srgbClr val="142F35"/>
                          </a:solidFill>
                          <a:latin typeface="Calibri"/>
                          <a:ea typeface="Calibri"/>
                          <a:cs typeface="Calibri"/>
                        </a:rPr>
                        <a:t>55 calls, 7 demos booked</a:t>
                      </a:r>
                    </a:p>
                  </a:txBody>
                  <a:tcPr>
                    <a:solidFill>
                      <a:srgbClr val="F6F4EE"/>
                    </a:solidFill>
                  </a:tcPr>
                </a:tc>
                <a:tc>
                  <a:txBody>
                    <a:bodyPr/>
                    <a:lstStyle/>
                    <a:p>
                      <a:r>
                        <a:rPr sz="1800" b="0">
                          <a:solidFill>
                            <a:srgbClr val="142F35"/>
                          </a:solidFill>
                          <a:latin typeface="Calibri"/>
                          <a:ea typeface="Calibri"/>
                          <a:cs typeface="Calibri"/>
                        </a:rPr>
                        <a:t>Trials and paid conversion by cohort</a:t>
                      </a:r>
                    </a:p>
                  </a:txBody>
                  <a:tcPr>
                    <a:solidFill>
                      <a:srgbClr val="F6F4EE"/>
                    </a:solidFill>
                  </a:tcPr>
                </a:tc>
                <a:extLst>
                  <a:ext uri="{0D108BD9-81ED-4DB2-BD59-A6C34878D82A}">
                    <a16:rowId xmlns:a16="http://schemas.microsoft.com/office/drawing/2014/main" val="10002"/>
                  </a:ext>
                </a:extLst>
              </a:tr>
              <a:tr h="714375">
                <a:tc>
                  <a:txBody>
                    <a:bodyPr/>
                    <a:lstStyle/>
                    <a:p>
                      <a:r>
                        <a:rPr sz="1800" b="0">
                          <a:solidFill>
                            <a:srgbClr val="142F35"/>
                          </a:solidFill>
                          <a:latin typeface="Calibri"/>
                          <a:ea typeface="Calibri"/>
                          <a:cs typeface="Calibri"/>
                        </a:rPr>
                        <a:t>Facebook advertising</a:t>
                      </a:r>
                    </a:p>
                  </a:txBody>
                  <a:tcPr>
                    <a:solidFill>
                      <a:srgbClr val="F6F4EE"/>
                    </a:solidFill>
                  </a:tcPr>
                </a:tc>
                <a:tc>
                  <a:txBody>
                    <a:bodyPr/>
                    <a:lstStyle/>
                    <a:p>
                      <a:r>
                        <a:rPr sz="1800" b="0">
                          <a:solidFill>
                            <a:srgbClr val="142F35"/>
                          </a:solidFill>
                          <a:latin typeface="Calibri"/>
                          <a:ea typeface="Calibri"/>
                          <a:cs typeface="Calibri"/>
                        </a:rPr>
                        <a:t>Paying customers reported</a:t>
                      </a:r>
                    </a:p>
                  </a:txBody>
                  <a:tcPr>
                    <a:solidFill>
                      <a:srgbClr val="F6F4EE"/>
                    </a:solidFill>
                  </a:tcPr>
                </a:tc>
                <a:tc>
                  <a:txBody>
                    <a:bodyPr/>
                    <a:lstStyle/>
                    <a:p>
                      <a:r>
                        <a:rPr sz="1800" b="0" dirty="0">
                          <a:solidFill>
                            <a:srgbClr val="142F35"/>
                          </a:solidFill>
                          <a:latin typeface="Calibri"/>
                          <a:ea typeface="Calibri"/>
                          <a:cs typeface="Calibri"/>
                        </a:rPr>
                        <a:t>Attributed spend, new payers and CAC</a:t>
                      </a:r>
                    </a:p>
                  </a:txBody>
                  <a:tcPr>
                    <a:solidFill>
                      <a:srgbClr val="F6F4EE"/>
                    </a:solidFill>
                  </a:tcPr>
                </a:tc>
                <a:extLst>
                  <a:ext uri="{0D108BD9-81ED-4DB2-BD59-A6C34878D82A}">
                    <a16:rowId xmlns:a16="http://schemas.microsoft.com/office/drawing/2014/main" val="10003"/>
                  </a:ext>
                </a:extLst>
              </a:tr>
            </a:tbl>
          </a:graphicData>
        </a:graphic>
      </p:graphicFrame>
      <p:sp>
        <p:nvSpPr>
          <p:cNvPr id="4" name="Rectangle 3">
            <a:extLst>
              <a:ext uri="{FF2B5EF4-FFF2-40B4-BE49-F238E27FC236}">
                <a16:creationId xmlns:a16="http://schemas.microsoft.com/office/drawing/2014/main" id="{FEB56EF1-AD44-4ED7-9976-6DB3D8E8DA62}"/>
              </a:ext>
            </a:extLst>
          </p:cNvPr>
          <p:cNvSpPr>
            <a:spLocks noGrp="1"/>
          </p:cNvSpPr>
          <p:nvPr/>
        </p:nvSpPr>
        <p:spPr>
          <a:xfrm>
            <a:off x="762000" y="5057775"/>
            <a:ext cx="10668000" cy="409575"/>
          </a:xfrm>
          <a:prstGeom prst="rect">
            <a:avLst/>
          </a:prstGeom>
          <a:noFill/>
          <a:ln w="0">
            <a:noFill/>
          </a:ln>
        </p:spPr>
        <p:txBody>
          <a:bodyPr>
            <a:noAutofit/>
          </a:bodyPr>
          <a:lstStyle/>
          <a:p>
            <a:pPr>
              <a:buNone/>
              <a:defRPr sz="2100" b="1">
                <a:solidFill>
                  <a:srgbClr val="008579"/>
                </a:solidFill>
                <a:latin typeface="Calibri"/>
                <a:ea typeface="Calibri"/>
                <a:cs typeface="Calibri"/>
              </a:defRPr>
            </a:pPr>
            <a:r>
              <a:rPr sz="2100" b="1">
                <a:solidFill>
                  <a:srgbClr val="008579"/>
                </a:solidFill>
                <a:latin typeface="Calibri"/>
                <a:ea typeface="Calibri"/>
                <a:cs typeface="Calibri"/>
              </a:rPr>
              <a:t>Target contract value: €300/month = €3,600/year per company</a:t>
            </a:r>
          </a:p>
        </p:txBody>
      </p:sp>
      <p:sp>
        <p:nvSpPr>
          <p:cNvPr id="5" name="Rectangle 4">
            <a:extLst>
              <a:ext uri="{FF2B5EF4-FFF2-40B4-BE49-F238E27FC236}">
                <a16:creationId xmlns:a16="http://schemas.microsoft.com/office/drawing/2014/main" id="{C388DCC3-3BE3-4163-99F1-3D33675AC5CC}"/>
              </a:ext>
            </a:extLst>
          </p:cNvPr>
          <p:cNvSpPr>
            <a:spLocks noGrp="1"/>
          </p:cNvSpPr>
          <p:nvPr/>
        </p:nvSpPr>
        <p:spPr>
          <a:xfrm>
            <a:off x="762000" y="5553075"/>
            <a:ext cx="10668000" cy="695325"/>
          </a:xfrm>
          <a:prstGeom prst="rect">
            <a:avLst/>
          </a:prstGeom>
          <a:noFill/>
          <a:ln w="0">
            <a:noFill/>
          </a:ln>
        </p:spPr>
        <p:txBody>
          <a:bodyPr>
            <a:noAutofit/>
          </a:bodyPr>
          <a:lstStyle/>
          <a:p>
            <a:pPr>
              <a:buNone/>
              <a:defRPr sz="1800" b="0">
                <a:solidFill>
                  <a:srgbClr val="142F35"/>
                </a:solidFill>
                <a:latin typeface="Calibri"/>
                <a:ea typeface="Calibri"/>
                <a:cs typeface="Calibri"/>
              </a:defRPr>
            </a:pPr>
            <a:r>
              <a:rPr sz="1800" b="0">
                <a:solidFill>
                  <a:srgbClr val="142F35"/>
                </a:solidFill>
                <a:latin typeface="Calibri"/>
                <a:ea typeface="Calibri"/>
                <a:cs typeface="Calibri"/>
              </a:rPr>
              <a:t>Track each monthly cohort by country, channel, price and renewal.</a:t>
            </a:r>
          </a:p>
          <a:p>
            <a:pPr>
              <a:buNone/>
              <a:defRPr sz="1800" b="0">
                <a:solidFill>
                  <a:srgbClr val="142F35"/>
                </a:solidFill>
                <a:latin typeface="Calibri"/>
                <a:ea typeface="Calibri"/>
                <a:cs typeface="Calibri"/>
              </a:defRPr>
            </a:pPr>
            <a:r>
              <a:rPr sz="1800" b="0">
                <a:solidFill>
                  <a:srgbClr val="142F35"/>
                </a:solidFill>
                <a:latin typeface="Calibri"/>
                <a:ea typeface="Calibri"/>
                <a:cs typeface="Calibri"/>
              </a:rPr>
              <a:t>CAC = (channel spend + allocated sales labour) ÷ new paying customers</a:t>
            </a:r>
          </a:p>
        </p:txBody>
      </p:sp>
      <p:sp>
        <p:nvSpPr>
          <p:cNvPr id="6" name="Rectangle 5">
            <a:extLst>
              <a:ext uri="{FF2B5EF4-FFF2-40B4-BE49-F238E27FC236}">
                <a16:creationId xmlns:a16="http://schemas.microsoft.com/office/drawing/2014/main" id="{88D80AE8-F3DA-4AAF-B344-98ACAC37FE8C}"/>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536B70"/>
                </a:solidFill>
                <a:latin typeface="Calibri"/>
                <a:ea typeface="Calibri"/>
                <a:cs typeface="Calibri"/>
              </a:defRPr>
            </a:pPr>
            <a:r>
              <a:rPr sz="1200" b="0">
                <a:solidFill>
                  <a:srgbClr val="536B70"/>
                </a:solidFill>
                <a:latin typeface="Calibri"/>
                <a:ea typeface="Calibri"/>
                <a:cs typeface="Calibri"/>
              </a:rPr>
              <a:t>14</a:t>
            </a:r>
          </a:p>
        </p:txBody>
      </p:sp>
    </p:spTree>
    <p:extLst>
      <p:ext uri="{BB962C8B-B14F-4D97-AF65-F5344CB8AC3E}">
        <p14:creationId xmlns:p14="http://schemas.microsoft.com/office/powerpoint/2010/main" val="18546556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88435C8-77CC-492C-9A50-B5E787DE2757}"/>
              </a:ext>
            </a:extLst>
          </p:cNvPr>
          <p:cNvSpPr>
            <a:spLocks noGrp="1"/>
          </p:cNvSpPr>
          <p:nvPr/>
        </p:nvSpPr>
        <p:spPr>
          <a:xfrm>
            <a:off x="685800" y="571500"/>
            <a:ext cx="10820400" cy="619125"/>
          </a:xfrm>
          <a:prstGeom prst="rect">
            <a:avLst/>
          </a:prstGeom>
          <a:noFill/>
          <a:ln w="0">
            <a:noFill/>
          </a:ln>
        </p:spPr>
        <p:txBody>
          <a:bodyPr>
            <a:noAutofit/>
          </a:bodyPr>
          <a:lstStyle/>
          <a:p>
            <a:pPr>
              <a:buNone/>
              <a:defRPr sz="3150" b="1">
                <a:solidFill>
                  <a:srgbClr val="142F35"/>
                </a:solidFill>
                <a:latin typeface="Calibri"/>
                <a:ea typeface="Calibri"/>
                <a:cs typeface="Calibri"/>
              </a:defRPr>
            </a:pPr>
            <a:r>
              <a:rPr sz="3150" b="1">
                <a:solidFill>
                  <a:srgbClr val="142F35"/>
                </a:solidFill>
                <a:latin typeface="Calibri"/>
                <a:ea typeface="Calibri"/>
                <a:cs typeface="Calibri"/>
              </a:rPr>
              <a:t>Delivery costs and capacity</a:t>
            </a:r>
          </a:p>
        </p:txBody>
      </p:sp>
      <p:sp>
        <p:nvSpPr>
          <p:cNvPr id="2" name="Rectangle 1">
            <a:extLst>
              <a:ext uri="{FF2B5EF4-FFF2-40B4-BE49-F238E27FC236}">
                <a16:creationId xmlns:a16="http://schemas.microsoft.com/office/drawing/2014/main" id="{9EBD675A-F49A-431A-9FF1-89FE6C01F81E}"/>
              </a:ext>
            </a:extLst>
          </p:cNvPr>
          <p:cNvSpPr>
            <a:spLocks noGrp="1"/>
          </p:cNvSpPr>
          <p:nvPr/>
        </p:nvSpPr>
        <p:spPr>
          <a:xfrm>
            <a:off x="723900" y="1276350"/>
            <a:ext cx="10668000" cy="685800"/>
          </a:xfrm>
          <a:prstGeom prst="rect">
            <a:avLst/>
          </a:prstGeom>
          <a:noFill/>
          <a:ln w="0">
            <a:noFill/>
          </a:ln>
        </p:spPr>
        <p:txBody>
          <a:bodyPr>
            <a:noAutofit/>
          </a:bodyPr>
          <a:lstStyle/>
          <a:p>
            <a:pPr>
              <a:buNone/>
              <a:defRPr sz="1950" b="0">
                <a:solidFill>
                  <a:srgbClr val="536B70"/>
                </a:solidFill>
                <a:latin typeface="Calibri"/>
                <a:ea typeface="Calibri"/>
                <a:cs typeface="Calibri"/>
              </a:defRPr>
            </a:pPr>
            <a:r>
              <a:rPr sz="1950" b="0">
                <a:solidFill>
                  <a:srgbClr val="536B70"/>
                </a:solidFill>
                <a:latin typeface="Calibri"/>
                <a:ea typeface="Calibri"/>
                <a:cs typeface="Calibri"/>
              </a:rPr>
              <a:t>The next test must measure the labour behind each subscription.</a:t>
            </a:r>
          </a:p>
        </p:txBody>
      </p:sp>
      <p:sp>
        <p:nvSpPr>
          <p:cNvPr id="3" name="Rectangle 2">
            <a:extLst>
              <a:ext uri="{FF2B5EF4-FFF2-40B4-BE49-F238E27FC236}">
                <a16:creationId xmlns:a16="http://schemas.microsoft.com/office/drawing/2014/main" id="{F5287D3A-EE14-497D-A6B8-14B4C2621E5E}"/>
              </a:ext>
            </a:extLst>
          </p:cNvPr>
          <p:cNvSpPr>
            <a:spLocks noGrp="1"/>
          </p:cNvSpPr>
          <p:nvPr/>
        </p:nvSpPr>
        <p:spPr>
          <a:xfrm>
            <a:off x="762000" y="2152650"/>
            <a:ext cx="4857750" cy="476250"/>
          </a:xfrm>
          <a:prstGeom prst="rect">
            <a:avLst/>
          </a:prstGeom>
          <a:noFill/>
          <a:ln w="0">
            <a:noFill/>
          </a:ln>
        </p:spPr>
        <p:txBody>
          <a:bodyPr>
            <a:noAutofit/>
          </a:bodyPr>
          <a:lstStyle/>
          <a:p>
            <a:pPr>
              <a:buNone/>
              <a:defRPr sz="2325" b="1">
                <a:solidFill>
                  <a:srgbClr val="008579"/>
                </a:solidFill>
                <a:latin typeface="Calibri"/>
                <a:ea typeface="Calibri"/>
                <a:cs typeface="Calibri"/>
              </a:defRPr>
            </a:pPr>
            <a:r>
              <a:rPr sz="2325" b="1">
                <a:solidFill>
                  <a:srgbClr val="008579"/>
                </a:solidFill>
                <a:latin typeface="Calibri"/>
                <a:ea typeface="Calibri"/>
                <a:cs typeface="Calibri"/>
              </a:rPr>
              <a:t>Current software spend</a:t>
            </a:r>
          </a:p>
        </p:txBody>
      </p:sp>
      <p:sp>
        <p:nvSpPr>
          <p:cNvPr id="4" name="Rectangle 3">
            <a:extLst>
              <a:ext uri="{FF2B5EF4-FFF2-40B4-BE49-F238E27FC236}">
                <a16:creationId xmlns:a16="http://schemas.microsoft.com/office/drawing/2014/main" id="{A7F8475C-2904-4744-B03E-5E4CDBE33D9C}"/>
              </a:ext>
            </a:extLst>
          </p:cNvPr>
          <p:cNvSpPr>
            <a:spLocks noGrp="1"/>
          </p:cNvSpPr>
          <p:nvPr/>
        </p:nvSpPr>
        <p:spPr>
          <a:xfrm>
            <a:off x="762000" y="2743200"/>
            <a:ext cx="4953000" cy="1047750"/>
          </a:xfrm>
          <a:prstGeom prst="rect">
            <a:avLst/>
          </a:prstGeom>
          <a:noFill/>
          <a:ln w="0">
            <a:noFill/>
          </a:ln>
        </p:spPr>
        <p:txBody>
          <a:bodyPr>
            <a:noAutofit/>
          </a:bodyPr>
          <a:lstStyle/>
          <a:p>
            <a:pPr>
              <a:buNone/>
              <a:defRPr sz="2250" b="0">
                <a:solidFill>
                  <a:srgbClr val="142F35"/>
                </a:solidFill>
                <a:latin typeface="Calibri"/>
                <a:ea typeface="Calibri"/>
                <a:cs typeface="Calibri"/>
              </a:defRPr>
            </a:pPr>
            <a:r>
              <a:rPr sz="2250" b="0">
                <a:solidFill>
                  <a:srgbClr val="142F35"/>
                </a:solidFill>
                <a:latin typeface="Calibri"/>
                <a:ea typeface="Calibri"/>
                <a:cs typeface="Calibri"/>
              </a:rPr>
              <a:t>About $80 / month</a:t>
            </a:r>
          </a:p>
          <a:p>
            <a:pPr>
              <a:buNone/>
              <a:defRPr sz="2250" b="0">
                <a:solidFill>
                  <a:srgbClr val="142F35"/>
                </a:solidFill>
                <a:latin typeface="Calibri"/>
                <a:ea typeface="Calibri"/>
                <a:cs typeface="Calibri"/>
              </a:defRPr>
            </a:pPr>
            <a:r>
              <a:rPr sz="2250" b="0">
                <a:solidFill>
                  <a:srgbClr val="142F35"/>
                </a:solidFill>
                <a:latin typeface="Calibri"/>
                <a:ea typeface="Calibri"/>
                <a:cs typeface="Calibri"/>
              </a:rPr>
              <a:t>$40 OpenAI + $40 hosting</a:t>
            </a:r>
          </a:p>
        </p:txBody>
      </p:sp>
      <p:sp>
        <p:nvSpPr>
          <p:cNvPr id="5" name="Rectangle 4">
            <a:extLst>
              <a:ext uri="{FF2B5EF4-FFF2-40B4-BE49-F238E27FC236}">
                <a16:creationId xmlns:a16="http://schemas.microsoft.com/office/drawing/2014/main" id="{3F94CEA4-22D9-4F31-930D-72255E2BE1E5}"/>
              </a:ext>
            </a:extLst>
          </p:cNvPr>
          <p:cNvSpPr>
            <a:spLocks noGrp="1"/>
          </p:cNvSpPr>
          <p:nvPr/>
        </p:nvSpPr>
        <p:spPr>
          <a:xfrm>
            <a:off x="6572250" y="2152650"/>
            <a:ext cx="4762500" cy="476250"/>
          </a:xfrm>
          <a:prstGeom prst="rect">
            <a:avLst/>
          </a:prstGeom>
          <a:noFill/>
          <a:ln w="0">
            <a:noFill/>
          </a:ln>
        </p:spPr>
        <p:txBody>
          <a:bodyPr>
            <a:noAutofit/>
          </a:bodyPr>
          <a:lstStyle/>
          <a:p>
            <a:pPr>
              <a:buNone/>
              <a:defRPr sz="2325" b="1">
                <a:solidFill>
                  <a:srgbClr val="008579"/>
                </a:solidFill>
                <a:latin typeface="Calibri"/>
                <a:ea typeface="Calibri"/>
                <a:cs typeface="Calibri"/>
              </a:defRPr>
            </a:pPr>
            <a:r>
              <a:rPr sz="2325" b="1">
                <a:solidFill>
                  <a:srgbClr val="008579"/>
                </a:solidFill>
                <a:latin typeface="Calibri"/>
                <a:ea typeface="Calibri"/>
                <a:cs typeface="Calibri"/>
              </a:rPr>
              <a:t>Current delivery effort</a:t>
            </a:r>
          </a:p>
        </p:txBody>
      </p:sp>
      <p:sp>
        <p:nvSpPr>
          <p:cNvPr id="6" name="Rectangle 5">
            <a:extLst>
              <a:ext uri="{FF2B5EF4-FFF2-40B4-BE49-F238E27FC236}">
                <a16:creationId xmlns:a16="http://schemas.microsoft.com/office/drawing/2014/main" id="{313EAE4E-51C7-4D97-80A8-0CB9AE6AB8FC}"/>
              </a:ext>
            </a:extLst>
          </p:cNvPr>
          <p:cNvSpPr>
            <a:spLocks noGrp="1"/>
          </p:cNvSpPr>
          <p:nvPr/>
        </p:nvSpPr>
        <p:spPr>
          <a:xfrm>
            <a:off x="6572250" y="2743200"/>
            <a:ext cx="4857750" cy="1047750"/>
          </a:xfrm>
          <a:prstGeom prst="rect">
            <a:avLst/>
          </a:prstGeom>
          <a:noFill/>
          <a:ln w="0">
            <a:noFill/>
          </a:ln>
        </p:spPr>
        <p:txBody>
          <a:bodyPr>
            <a:noAutofit/>
          </a:bodyPr>
          <a:lstStyle/>
          <a:p>
            <a:pPr>
              <a:buNone/>
              <a:defRPr sz="2250" b="0">
                <a:solidFill>
                  <a:srgbClr val="142F35"/>
                </a:solidFill>
                <a:latin typeface="Calibri"/>
                <a:ea typeface="Calibri"/>
                <a:cs typeface="Calibri"/>
              </a:defRPr>
            </a:pPr>
            <a:r>
              <a:rPr sz="2250" b="0">
                <a:solidFill>
                  <a:srgbClr val="142F35"/>
                </a:solidFill>
                <a:latin typeface="Calibri"/>
                <a:ea typeface="Calibri"/>
                <a:cs typeface="Calibri"/>
              </a:rPr>
              <a:t>About 3 hours to onboard</a:t>
            </a:r>
          </a:p>
          <a:p>
            <a:pPr>
              <a:buNone/>
              <a:defRPr sz="2250" b="0">
                <a:solidFill>
                  <a:srgbClr val="142F35"/>
                </a:solidFill>
                <a:latin typeface="Calibri"/>
                <a:ea typeface="Calibri"/>
                <a:cs typeface="Calibri"/>
              </a:defRPr>
            </a:pPr>
            <a:r>
              <a:rPr sz="2250" b="0">
                <a:solidFill>
                  <a:srgbClr val="142F35"/>
                </a:solidFill>
                <a:latin typeface="Calibri"/>
                <a:ea typeface="Calibri"/>
                <a:cs typeface="Calibri"/>
              </a:rPr>
              <a:t>Under 1 hour/week per client</a:t>
            </a:r>
          </a:p>
        </p:txBody>
      </p:sp>
      <p:sp>
        <p:nvSpPr>
          <p:cNvPr id="7" name="Rectangle 6">
            <a:extLst>
              <a:ext uri="{FF2B5EF4-FFF2-40B4-BE49-F238E27FC236}">
                <a16:creationId xmlns:a16="http://schemas.microsoft.com/office/drawing/2014/main" id="{4A20ACE9-1E39-4FB4-9B54-10BF6ACCABF3}"/>
              </a:ext>
            </a:extLst>
          </p:cNvPr>
          <p:cNvSpPr>
            <a:spLocks noGrp="1"/>
          </p:cNvSpPr>
          <p:nvPr/>
        </p:nvSpPr>
        <p:spPr>
          <a:xfrm>
            <a:off x="762000" y="4295775"/>
            <a:ext cx="10477500" cy="447675"/>
          </a:xfrm>
          <a:prstGeom prst="rect">
            <a:avLst/>
          </a:prstGeom>
          <a:noFill/>
          <a:ln w="0">
            <a:noFill/>
          </a:ln>
        </p:spPr>
        <p:txBody>
          <a:bodyPr>
            <a:noAutofit/>
          </a:bodyPr>
          <a:lstStyle/>
          <a:p>
            <a:pPr>
              <a:buNone/>
              <a:defRPr sz="2325" b="1">
                <a:solidFill>
                  <a:srgbClr val="142F35"/>
                </a:solidFill>
                <a:latin typeface="Calibri"/>
                <a:ea typeface="Calibri"/>
                <a:cs typeface="Calibri"/>
              </a:defRPr>
            </a:pPr>
            <a:r>
              <a:rPr sz="2325" b="1">
                <a:solidFill>
                  <a:srgbClr val="142F35"/>
                </a:solidFill>
                <a:latin typeface="Calibri"/>
                <a:ea typeface="Calibri"/>
                <a:cs typeface="Calibri"/>
              </a:rPr>
              <a:t>Measure before scaling</a:t>
            </a:r>
          </a:p>
        </p:txBody>
      </p:sp>
      <p:sp>
        <p:nvSpPr>
          <p:cNvPr id="8" name="Rectangle 7">
            <a:extLst>
              <a:ext uri="{FF2B5EF4-FFF2-40B4-BE49-F238E27FC236}">
                <a16:creationId xmlns:a16="http://schemas.microsoft.com/office/drawing/2014/main" id="{B32B7306-0889-4BC8-AA8B-B902CC7115C2}"/>
              </a:ext>
            </a:extLst>
          </p:cNvPr>
          <p:cNvSpPr>
            <a:spLocks noGrp="1"/>
          </p:cNvSpPr>
          <p:nvPr/>
        </p:nvSpPr>
        <p:spPr>
          <a:xfrm>
            <a:off x="762000" y="4857750"/>
            <a:ext cx="10477500" cy="1009650"/>
          </a:xfrm>
          <a:prstGeom prst="rect">
            <a:avLst/>
          </a:prstGeom>
          <a:noFill/>
          <a:ln w="0">
            <a:noFill/>
          </a:ln>
        </p:spPr>
        <p:txBody>
          <a:bodyPr>
            <a:noAutofit/>
          </a:bodyPr>
          <a:lstStyle/>
          <a:p>
            <a:pPr>
              <a:buNone/>
              <a:defRPr sz="2100" b="0">
                <a:solidFill>
                  <a:srgbClr val="142F35"/>
                </a:solidFill>
                <a:latin typeface="Calibri"/>
                <a:ea typeface="Calibri"/>
                <a:cs typeface="Calibri"/>
              </a:defRPr>
            </a:pPr>
            <a:r>
              <a:rPr sz="2100" b="0">
                <a:solidFill>
                  <a:srgbClr val="142F35"/>
                </a:solidFill>
                <a:latin typeface="Calibri"/>
                <a:ea typeface="Calibri"/>
                <a:cs typeface="Calibri"/>
              </a:rPr>
              <a:t>Track founder and developer time, support minutes and advertising spend.</a:t>
            </a:r>
          </a:p>
          <a:p>
            <a:pPr>
              <a:buNone/>
              <a:defRPr sz="2100" b="0">
                <a:solidFill>
                  <a:srgbClr val="142F35"/>
                </a:solidFill>
                <a:latin typeface="Calibri"/>
                <a:ea typeface="Calibri"/>
                <a:cs typeface="Calibri"/>
              </a:defRPr>
            </a:pPr>
            <a:r>
              <a:rPr sz="2100" b="0">
                <a:solidFill>
                  <a:srgbClr val="142F35"/>
                </a:solidFill>
                <a:latin typeface="Calibri"/>
                <a:ea typeface="Calibri"/>
                <a:cs typeface="Calibri"/>
              </a:rPr>
              <a:t>Calculate contribution after delivery labour and variable software costs.</a:t>
            </a:r>
          </a:p>
        </p:txBody>
      </p:sp>
      <p:sp>
        <p:nvSpPr>
          <p:cNvPr id="9" name="Rectangle 8">
            <a:extLst>
              <a:ext uri="{FF2B5EF4-FFF2-40B4-BE49-F238E27FC236}">
                <a16:creationId xmlns:a16="http://schemas.microsoft.com/office/drawing/2014/main" id="{081A73FD-961C-4DE9-82BE-1D9EC5F966E4}"/>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536B70"/>
                </a:solidFill>
                <a:latin typeface="Calibri"/>
                <a:ea typeface="Calibri"/>
                <a:cs typeface="Calibri"/>
              </a:defRPr>
            </a:pPr>
            <a:r>
              <a:rPr sz="1200" b="0">
                <a:solidFill>
                  <a:srgbClr val="536B70"/>
                </a:solidFill>
                <a:latin typeface="Calibri"/>
                <a:ea typeface="Calibri"/>
                <a:cs typeface="Calibri"/>
              </a:rPr>
              <a:t>15</a:t>
            </a:r>
          </a:p>
        </p:txBody>
      </p:sp>
    </p:spTree>
    <p:extLst>
      <p:ext uri="{BB962C8B-B14F-4D97-AF65-F5344CB8AC3E}">
        <p14:creationId xmlns:p14="http://schemas.microsoft.com/office/powerpoint/2010/main" val="23689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35BA4CD-5C4E-4732-A2A9-759D110AA252}"/>
              </a:ext>
            </a:extLst>
          </p:cNvPr>
          <p:cNvSpPr>
            <a:spLocks noGrp="1"/>
          </p:cNvSpPr>
          <p:nvPr/>
        </p:nvSpPr>
        <p:spPr>
          <a:xfrm>
            <a:off x="685800" y="571500"/>
            <a:ext cx="10820400" cy="952500"/>
          </a:xfrm>
          <a:prstGeom prst="rect">
            <a:avLst/>
          </a:prstGeom>
          <a:noFill/>
          <a:ln w="0">
            <a:noFill/>
          </a:ln>
        </p:spPr>
        <p:txBody>
          <a:bodyPr>
            <a:noAutofit/>
          </a:bodyPr>
          <a:lstStyle/>
          <a:p>
            <a:pPr>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Team</a:t>
            </a:r>
          </a:p>
        </p:txBody>
      </p:sp>
      <p:sp>
        <p:nvSpPr>
          <p:cNvPr id="3" name="Rectangle 2">
            <a:extLst>
              <a:ext uri="{FF2B5EF4-FFF2-40B4-BE49-F238E27FC236}">
                <a16:creationId xmlns:a16="http://schemas.microsoft.com/office/drawing/2014/main" id="{B127BB7F-75C3-4988-BA77-6FEBD1E928D9}"/>
              </a:ext>
            </a:extLst>
          </p:cNvPr>
          <p:cNvSpPr>
            <a:spLocks noGrp="1"/>
          </p:cNvSpPr>
          <p:nvPr/>
        </p:nvSpPr>
        <p:spPr>
          <a:xfrm>
            <a:off x="685800" y="1809750"/>
            <a:ext cx="5095875" cy="1143000"/>
          </a:xfrm>
          <a:prstGeom prst="rect">
            <a:avLst/>
          </a:prstGeom>
          <a:noFill/>
          <a:ln w="0">
            <a:noFill/>
          </a:ln>
        </p:spPr>
        <p:txBody>
          <a:bodyPr>
            <a:noAutofit/>
          </a:bodyPr>
          <a:lstStyle/>
          <a:p>
            <a:pPr>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Vjaceslavs</a:t>
            </a:r>
          </a:p>
          <a:p>
            <a:pPr>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Gromatovics</a:t>
            </a:r>
          </a:p>
        </p:txBody>
      </p:sp>
      <p:sp>
        <p:nvSpPr>
          <p:cNvPr id="4" name="Rectangle 3">
            <a:extLst>
              <a:ext uri="{FF2B5EF4-FFF2-40B4-BE49-F238E27FC236}">
                <a16:creationId xmlns:a16="http://schemas.microsoft.com/office/drawing/2014/main" id="{9A392C90-1DB6-4B05-802B-1CF647FFE0AB}"/>
              </a:ext>
            </a:extLst>
          </p:cNvPr>
          <p:cNvSpPr>
            <a:spLocks noGrp="1"/>
          </p:cNvSpPr>
          <p:nvPr/>
        </p:nvSpPr>
        <p:spPr>
          <a:xfrm>
            <a:off x="685800" y="3190875"/>
            <a:ext cx="5143500" cy="476250"/>
          </a:xfrm>
          <a:prstGeom prst="rect">
            <a:avLst/>
          </a:prstGeom>
          <a:noFill/>
          <a:ln w="0">
            <a:noFill/>
          </a:ln>
        </p:spPr>
        <p:txBody>
          <a:bodyPr>
            <a:noAutofit/>
          </a:bodyPr>
          <a:lstStyle/>
          <a:p>
            <a:pPr>
              <a:buNone/>
              <a:defRPr sz="2025" b="0">
                <a:solidFill>
                  <a:srgbClr val="60787D"/>
                </a:solidFill>
                <a:latin typeface="Bitstream Charter"/>
                <a:ea typeface="Bitstream Charter"/>
                <a:cs typeface="Bitstream Charter"/>
              </a:defRPr>
            </a:pPr>
            <a:r>
              <a:rPr sz="2025" b="0">
                <a:solidFill>
                  <a:srgbClr val="60787D"/>
                </a:solidFill>
                <a:latin typeface="Bitstream Charter"/>
                <a:ea typeface="Bitstream Charter"/>
                <a:cs typeface="Bitstream Charter"/>
              </a:rPr>
              <a:t>BEng in Civil Engineering</a:t>
            </a:r>
          </a:p>
        </p:txBody>
      </p:sp>
      <p:sp>
        <p:nvSpPr>
          <p:cNvPr id="5" name="Rectangle 4">
            <a:extLst>
              <a:ext uri="{FF2B5EF4-FFF2-40B4-BE49-F238E27FC236}">
                <a16:creationId xmlns:a16="http://schemas.microsoft.com/office/drawing/2014/main" id="{1508F114-2165-43E5-9F7B-FBCFE7D19450}"/>
              </a:ext>
            </a:extLst>
          </p:cNvPr>
          <p:cNvSpPr>
            <a:spLocks noGrp="1"/>
          </p:cNvSpPr>
          <p:nvPr/>
        </p:nvSpPr>
        <p:spPr>
          <a:xfrm>
            <a:off x="685800" y="3924300"/>
            <a:ext cx="5286375" cy="876300"/>
          </a:xfrm>
          <a:prstGeom prst="rect">
            <a:avLst/>
          </a:prstGeom>
          <a:noFill/>
          <a:ln w="0">
            <a:noFill/>
          </a:ln>
        </p:spPr>
        <p:txBody>
          <a:bodyPr>
            <a:noAutofit/>
          </a:bodyPr>
          <a:lstStyle/>
          <a:p>
            <a:pPr>
              <a:buNone/>
              <a:defRPr sz="1875" b="0">
                <a:solidFill>
                  <a:srgbClr val="143037"/>
                </a:solidFill>
                <a:latin typeface="Bitstream Charter"/>
                <a:ea typeface="Bitstream Charter"/>
                <a:cs typeface="Bitstream Charter"/>
              </a:defRPr>
            </a:pPr>
            <a:r>
              <a:rPr sz="1875" b="0">
                <a:solidFill>
                  <a:srgbClr val="143037"/>
                </a:solidFill>
                <a:latin typeface="Bitstream Charter"/>
                <a:ea typeface="Bitstream Charter"/>
                <a:cs typeface="Bitstream Charter"/>
              </a:rPr>
              <a:t>5 years as a construction site manager</a:t>
            </a:r>
          </a:p>
          <a:p>
            <a:pPr>
              <a:buNone/>
              <a:defRPr sz="1875" b="0">
                <a:solidFill>
                  <a:srgbClr val="143037"/>
                </a:solidFill>
                <a:latin typeface="Bitstream Charter"/>
                <a:ea typeface="Bitstream Charter"/>
                <a:cs typeface="Bitstream Charter"/>
              </a:defRPr>
            </a:pPr>
            <a:r>
              <a:rPr sz="1875" b="0">
                <a:solidFill>
                  <a:srgbClr val="143037"/>
                </a:solidFill>
                <a:latin typeface="Bitstream Charter"/>
                <a:ea typeface="Bitstream Charter"/>
                <a:cs typeface="Bitstream Charter"/>
              </a:rPr>
              <a:t>5 years as a project manager</a:t>
            </a:r>
          </a:p>
        </p:txBody>
      </p:sp>
      <p:sp>
        <p:nvSpPr>
          <p:cNvPr id="6" name="Rectangle 5">
            <a:extLst>
              <a:ext uri="{FF2B5EF4-FFF2-40B4-BE49-F238E27FC236}">
                <a16:creationId xmlns:a16="http://schemas.microsoft.com/office/drawing/2014/main" id="{DEB1E63E-44C7-41C4-B4A9-57405C400FCF}"/>
              </a:ext>
            </a:extLst>
          </p:cNvPr>
          <p:cNvSpPr>
            <a:spLocks noGrp="1"/>
          </p:cNvSpPr>
          <p:nvPr/>
        </p:nvSpPr>
        <p:spPr>
          <a:xfrm>
            <a:off x="685800" y="5048250"/>
            <a:ext cx="5334000" cy="523875"/>
          </a:xfrm>
          <a:prstGeom prst="rect">
            <a:avLst/>
          </a:prstGeom>
          <a:noFill/>
          <a:ln w="0">
            <a:noFill/>
          </a:ln>
        </p:spPr>
        <p:txBody>
          <a:bodyPr>
            <a:noAutofit/>
          </a:bodyPr>
          <a:lstStyle/>
          <a:p>
            <a:pPr>
              <a:buNone/>
              <a:defRPr sz="1875" b="0">
                <a:solidFill>
                  <a:srgbClr val="143037"/>
                </a:solidFill>
                <a:latin typeface="Bitstream Charter"/>
                <a:ea typeface="Bitstream Charter"/>
                <a:cs typeface="Bitstream Charter"/>
              </a:defRPr>
            </a:pPr>
            <a:r>
              <a:rPr sz="1875" b="0">
                <a:solidFill>
                  <a:srgbClr val="143037"/>
                </a:solidFill>
                <a:latin typeface="Bitstream Charter"/>
                <a:ea typeface="Bitstream Charter"/>
                <a:cs typeface="Bitstream Charter"/>
              </a:rPr>
              <a:t>Working full-time on WorksRecorded</a:t>
            </a:r>
          </a:p>
        </p:txBody>
      </p:sp>
      <p:sp>
        <p:nvSpPr>
          <p:cNvPr id="7" name="Rectangle 6">
            <a:extLst>
              <a:ext uri="{FF2B5EF4-FFF2-40B4-BE49-F238E27FC236}">
                <a16:creationId xmlns:a16="http://schemas.microsoft.com/office/drawing/2014/main" id="{80F50FFB-D2AA-4373-8BB3-C8BE5842B85C}"/>
              </a:ext>
            </a:extLst>
          </p:cNvPr>
          <p:cNvSpPr>
            <a:spLocks noGrp="1"/>
          </p:cNvSpPr>
          <p:nvPr/>
        </p:nvSpPr>
        <p:spPr>
          <a:xfrm>
            <a:off x="685800" y="5791200"/>
            <a:ext cx="5095875" cy="476250"/>
          </a:xfrm>
          <a:prstGeom prst="rect">
            <a:avLst/>
          </a:prstGeom>
          <a:noFill/>
          <a:ln w="0">
            <a:noFill/>
          </a:ln>
        </p:spPr>
        <p:txBody>
          <a:bodyPr>
            <a:noAutofit/>
          </a:bodyPr>
          <a:lstStyle/>
          <a:p>
            <a:pPr>
              <a:buNone/>
              <a:defRPr sz="2175" b="1">
                <a:solidFill>
                  <a:srgbClr val="008B80"/>
                </a:solidFill>
                <a:latin typeface="Bitstream Charter"/>
                <a:ea typeface="Bitstream Charter"/>
                <a:cs typeface="Bitstream Charter"/>
              </a:defRPr>
            </a:pPr>
            <a:r>
              <a:rPr sz="2175" b="1">
                <a:solidFill>
                  <a:srgbClr val="008B80"/>
                </a:solidFill>
                <a:latin typeface="Bitstream Charter"/>
                <a:ea typeface="Bitstream Charter"/>
                <a:cs typeface="Bitstream Charter"/>
              </a:rPr>
              <a:t>80% ownership</a:t>
            </a:r>
          </a:p>
        </p:txBody>
      </p:sp>
      <p:sp>
        <p:nvSpPr>
          <p:cNvPr id="8" name="Rectangle 7">
            <a:extLst>
              <a:ext uri="{FF2B5EF4-FFF2-40B4-BE49-F238E27FC236}">
                <a16:creationId xmlns:a16="http://schemas.microsoft.com/office/drawing/2014/main" id="{D8CED15D-0ACF-4BCF-B8E8-55FFA9754638}"/>
              </a:ext>
            </a:extLst>
          </p:cNvPr>
          <p:cNvSpPr>
            <a:spLocks noGrp="1"/>
          </p:cNvSpPr>
          <p:nvPr/>
        </p:nvSpPr>
        <p:spPr>
          <a:xfrm>
            <a:off x="6762750" y="1809750"/>
            <a:ext cx="4762500" cy="1143000"/>
          </a:xfrm>
          <a:prstGeom prst="rect">
            <a:avLst/>
          </a:prstGeom>
          <a:noFill/>
          <a:ln w="0">
            <a:noFill/>
          </a:ln>
        </p:spPr>
        <p:txBody>
          <a:bodyPr>
            <a:noAutofit/>
          </a:bodyPr>
          <a:lstStyle/>
          <a:p>
            <a:pPr>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Deivids</a:t>
            </a:r>
          </a:p>
          <a:p>
            <a:pPr>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Berkolds</a:t>
            </a:r>
          </a:p>
        </p:txBody>
      </p:sp>
      <p:sp>
        <p:nvSpPr>
          <p:cNvPr id="9" name="Rectangle 8">
            <a:extLst>
              <a:ext uri="{FF2B5EF4-FFF2-40B4-BE49-F238E27FC236}">
                <a16:creationId xmlns:a16="http://schemas.microsoft.com/office/drawing/2014/main" id="{92CC7D36-CA00-490F-80BC-B7215D712883}"/>
              </a:ext>
            </a:extLst>
          </p:cNvPr>
          <p:cNvSpPr>
            <a:spLocks noGrp="1"/>
          </p:cNvSpPr>
          <p:nvPr/>
        </p:nvSpPr>
        <p:spPr>
          <a:xfrm>
            <a:off x="6762750" y="3190875"/>
            <a:ext cx="4762500" cy="476250"/>
          </a:xfrm>
          <a:prstGeom prst="rect">
            <a:avLst/>
          </a:prstGeom>
          <a:noFill/>
          <a:ln w="0">
            <a:noFill/>
          </a:ln>
        </p:spPr>
        <p:txBody>
          <a:bodyPr>
            <a:noAutofit/>
          </a:bodyPr>
          <a:lstStyle/>
          <a:p>
            <a:pPr>
              <a:buNone/>
              <a:defRPr sz="2025" b="0">
                <a:solidFill>
                  <a:srgbClr val="60787D"/>
                </a:solidFill>
                <a:latin typeface="Bitstream Charter"/>
                <a:ea typeface="Bitstream Charter"/>
                <a:cs typeface="Bitstream Charter"/>
              </a:defRPr>
            </a:pPr>
            <a:r>
              <a:rPr sz="2025" b="0">
                <a:solidFill>
                  <a:srgbClr val="60787D"/>
                </a:solidFill>
                <a:latin typeface="Bitstream Charter"/>
                <a:ea typeface="Bitstream Charter"/>
                <a:cs typeface="Bitstream Charter"/>
              </a:rPr>
              <a:t>BEng in Computer Science</a:t>
            </a:r>
          </a:p>
        </p:txBody>
      </p:sp>
      <p:sp>
        <p:nvSpPr>
          <p:cNvPr id="10" name="Rectangle 9">
            <a:extLst>
              <a:ext uri="{FF2B5EF4-FFF2-40B4-BE49-F238E27FC236}">
                <a16:creationId xmlns:a16="http://schemas.microsoft.com/office/drawing/2014/main" id="{5588DBD3-9DF8-4BB0-901D-8973D3E8DC97}"/>
              </a:ext>
            </a:extLst>
          </p:cNvPr>
          <p:cNvSpPr>
            <a:spLocks noGrp="1"/>
          </p:cNvSpPr>
          <p:nvPr/>
        </p:nvSpPr>
        <p:spPr>
          <a:xfrm>
            <a:off x="6762750" y="3924300"/>
            <a:ext cx="4762500" cy="571500"/>
          </a:xfrm>
          <a:prstGeom prst="rect">
            <a:avLst/>
          </a:prstGeom>
          <a:noFill/>
          <a:ln w="0">
            <a:noFill/>
          </a:ln>
        </p:spPr>
        <p:txBody>
          <a:bodyPr>
            <a:noAutofit/>
          </a:bodyPr>
          <a:lstStyle/>
          <a:p>
            <a:pPr>
              <a:buNone/>
              <a:defRPr sz="2025" b="0">
                <a:solidFill>
                  <a:srgbClr val="143037"/>
                </a:solidFill>
                <a:latin typeface="Bitstream Charter"/>
                <a:ea typeface="Bitstream Charter"/>
                <a:cs typeface="Bitstream Charter"/>
              </a:defRPr>
            </a:pPr>
            <a:r>
              <a:rPr sz="2025" b="0" dirty="0">
                <a:solidFill>
                  <a:srgbClr val="143037"/>
                </a:solidFill>
                <a:latin typeface="Bitstream Charter"/>
                <a:ea typeface="Bitstream Charter"/>
                <a:cs typeface="Bitstream Charter"/>
              </a:rPr>
              <a:t>Senior JavaScript developer</a:t>
            </a:r>
          </a:p>
        </p:txBody>
      </p:sp>
      <p:sp>
        <p:nvSpPr>
          <p:cNvPr id="11" name="Rectangle 10">
            <a:extLst>
              <a:ext uri="{FF2B5EF4-FFF2-40B4-BE49-F238E27FC236}">
                <a16:creationId xmlns:a16="http://schemas.microsoft.com/office/drawing/2014/main" id="{DA33AE3B-7944-4879-BD3D-AD5DEE002A8F}"/>
              </a:ext>
            </a:extLst>
          </p:cNvPr>
          <p:cNvSpPr>
            <a:spLocks noGrp="1"/>
          </p:cNvSpPr>
          <p:nvPr/>
        </p:nvSpPr>
        <p:spPr>
          <a:xfrm>
            <a:off x="6762750" y="5791200"/>
            <a:ext cx="4762500" cy="476250"/>
          </a:xfrm>
          <a:prstGeom prst="rect">
            <a:avLst/>
          </a:prstGeom>
          <a:noFill/>
          <a:ln w="0">
            <a:noFill/>
          </a:ln>
        </p:spPr>
        <p:txBody>
          <a:bodyPr>
            <a:noAutofit/>
          </a:bodyPr>
          <a:lstStyle/>
          <a:p>
            <a:pPr>
              <a:buNone/>
              <a:defRPr sz="2175" b="1">
                <a:solidFill>
                  <a:srgbClr val="008B80"/>
                </a:solidFill>
                <a:latin typeface="Bitstream Charter"/>
                <a:ea typeface="Bitstream Charter"/>
                <a:cs typeface="Bitstream Charter"/>
              </a:defRPr>
            </a:pPr>
            <a:r>
              <a:rPr sz="2175" b="1">
                <a:solidFill>
                  <a:srgbClr val="008B80"/>
                </a:solidFill>
                <a:latin typeface="Bitstream Charter"/>
                <a:ea typeface="Bitstream Charter"/>
                <a:cs typeface="Bitstream Charter"/>
              </a:rPr>
              <a:t>20% ownership</a:t>
            </a:r>
            <a:endParaRPr sz="1875" b="0">
              <a:solidFill>
                <a:srgbClr val="52686B"/>
              </a:solidFill>
              <a:latin typeface="Bitstream Charter"/>
              <a:ea typeface="Bitstream Charter"/>
              <a:cs typeface="Bitstream Charter"/>
            </a:endParaRPr>
          </a:p>
        </p:txBody>
      </p:sp>
      <p:sp>
        <p:nvSpPr>
          <p:cNvPr id="13" name="Rectangle 12">
            <a:extLst>
              <a:ext uri="{FF2B5EF4-FFF2-40B4-BE49-F238E27FC236}">
                <a16:creationId xmlns:a16="http://schemas.microsoft.com/office/drawing/2014/main" id="{EAD27A24-1A2D-4920-9FD9-B87F06D0E372}"/>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536B70"/>
                </a:solidFill>
                <a:latin typeface="Calibri"/>
                <a:ea typeface="Calibri"/>
                <a:cs typeface="Calibri"/>
              </a:defRPr>
            </a:pPr>
            <a:r>
              <a:rPr sz="1200" b="0">
                <a:solidFill>
                  <a:srgbClr val="536B70"/>
                </a:solidFill>
                <a:latin typeface="Calibri"/>
                <a:ea typeface="Calibri"/>
                <a:cs typeface="Calibri"/>
              </a:rPr>
              <a:t>16</a:t>
            </a:r>
          </a:p>
        </p:txBody>
      </p:sp>
      <p:sp>
        <p:nvSpPr>
          <p:cNvPr id="16" name="Rectangle 15">
            <a:extLst>
              <a:ext uri="{FF2B5EF4-FFF2-40B4-BE49-F238E27FC236}">
                <a16:creationId xmlns:a16="http://schemas.microsoft.com/office/drawing/2014/main" id="{3800F88D-6591-5F04-1505-8B76A5B0EE47}"/>
              </a:ext>
            </a:extLst>
          </p:cNvPr>
          <p:cNvSpPr>
            <a:spLocks noGrp="1"/>
          </p:cNvSpPr>
          <p:nvPr/>
        </p:nvSpPr>
        <p:spPr>
          <a:xfrm>
            <a:off x="6762750" y="5043487"/>
            <a:ext cx="5334000" cy="523875"/>
          </a:xfrm>
          <a:prstGeom prst="rect">
            <a:avLst/>
          </a:prstGeom>
          <a:noFill/>
          <a:ln w="0">
            <a:noFill/>
          </a:ln>
        </p:spPr>
        <p:txBody>
          <a:bodyPr>
            <a:noAutofit/>
          </a:bodyPr>
          <a:lstStyle/>
          <a:p>
            <a:pPr>
              <a:buNone/>
              <a:defRPr sz="1875" b="0">
                <a:solidFill>
                  <a:srgbClr val="143037"/>
                </a:solidFill>
                <a:latin typeface="Bitstream Charter"/>
                <a:ea typeface="Bitstream Charter"/>
                <a:cs typeface="Bitstream Charter"/>
              </a:defRPr>
            </a:pPr>
            <a:r>
              <a:rPr lang="lv-LV" sz="1875" b="0" dirty="0">
                <a:solidFill>
                  <a:srgbClr val="143037"/>
                </a:solidFill>
                <a:latin typeface="Bitstream Charter"/>
                <a:ea typeface="Bitstream Charter"/>
                <a:cs typeface="Bitstream Charter"/>
              </a:rPr>
              <a:t>Part-time CTO</a:t>
            </a:r>
            <a:endParaRPr sz="1875" b="0" dirty="0">
              <a:solidFill>
                <a:srgbClr val="143037"/>
              </a:solidFill>
              <a:latin typeface="Bitstream Charter"/>
              <a:ea typeface="Bitstream Charter"/>
              <a:cs typeface="Bitstream Charter"/>
            </a:endParaRPr>
          </a:p>
        </p:txBody>
      </p:sp>
    </p:spTree>
    <p:extLst>
      <p:ext uri="{BB962C8B-B14F-4D97-AF65-F5344CB8AC3E}">
        <p14:creationId xmlns:p14="http://schemas.microsoft.com/office/powerpoint/2010/main" val="17327888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F738C983-CC17-4EDB-A96A-1BDB484FF158}"/>
              </a:ext>
            </a:extLst>
          </p:cNvPr>
          <p:cNvSpPr>
            <a:spLocks noGrp="1"/>
          </p:cNvSpPr>
          <p:nvPr/>
        </p:nvSpPr>
        <p:spPr>
          <a:xfrm>
            <a:off x="685800" y="523875"/>
            <a:ext cx="10820400" cy="619125"/>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3150" b="1">
                <a:solidFill>
                  <a:srgbClr val="142F35"/>
                </a:solidFill>
                <a:latin typeface="Calibri"/>
                <a:ea typeface="Calibri"/>
                <a:cs typeface="Calibri"/>
              </a:defRPr>
            </a:pPr>
            <a:r>
              <a:rPr kumimoji="0" sz="3150" b="1" i="0" u="none" strike="noStrike" kern="1200" cap="none" spc="0" normalizeH="0" baseline="0" noProof="0">
                <a:ln>
                  <a:noFill/>
                </a:ln>
                <a:solidFill>
                  <a:srgbClr val="142F35"/>
                </a:solidFill>
                <a:effectLst/>
                <a:uLnTx/>
                <a:uFillTx/>
                <a:latin typeface="Calibri"/>
                <a:ea typeface="Calibri"/>
                <a:cs typeface="Calibri"/>
              </a:rPr>
              <a:t>Investment ask</a:t>
            </a:r>
          </a:p>
        </p:txBody>
      </p:sp>
      <p:sp>
        <p:nvSpPr>
          <p:cNvPr id="2" name="Rectangle 1">
            <a:extLst>
              <a:ext uri="{FF2B5EF4-FFF2-40B4-BE49-F238E27FC236}">
                <a16:creationId xmlns:a16="http://schemas.microsoft.com/office/drawing/2014/main" id="{6ED44287-5D49-43F7-A8B3-59DEED943E6E}"/>
              </a:ext>
            </a:extLst>
          </p:cNvPr>
          <p:cNvSpPr>
            <a:spLocks noGrp="1"/>
          </p:cNvSpPr>
          <p:nvPr/>
        </p:nvSpPr>
        <p:spPr>
          <a:xfrm>
            <a:off x="723900" y="1257300"/>
            <a:ext cx="10668000" cy="8382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4500" b="1">
                <a:solidFill>
                  <a:srgbClr val="008579"/>
                </a:solidFill>
                <a:latin typeface="Calibri"/>
                <a:ea typeface="Calibri"/>
                <a:cs typeface="Calibri"/>
              </a:defRPr>
            </a:pPr>
            <a:r>
              <a:rPr kumimoji="0" sz="4500" b="1" i="0" u="none" strike="noStrike" kern="1200" cap="none" spc="0" normalizeH="0" baseline="0" noProof="0">
                <a:ln>
                  <a:noFill/>
                </a:ln>
                <a:solidFill>
                  <a:srgbClr val="008579"/>
                </a:solidFill>
                <a:effectLst/>
                <a:uLnTx/>
                <a:uFillTx/>
                <a:latin typeface="Calibri"/>
                <a:ea typeface="Calibri"/>
                <a:cs typeface="Calibri"/>
              </a:rPr>
              <a:t>€30,000 for 10% equity</a:t>
            </a:r>
          </a:p>
        </p:txBody>
      </p:sp>
      <p:sp>
        <p:nvSpPr>
          <p:cNvPr id="3" name="Rectangle 2">
            <a:extLst>
              <a:ext uri="{FF2B5EF4-FFF2-40B4-BE49-F238E27FC236}">
                <a16:creationId xmlns:a16="http://schemas.microsoft.com/office/drawing/2014/main" id="{F4A7EFCA-4705-4D22-9B23-90115F0D1511}"/>
              </a:ext>
            </a:extLst>
          </p:cNvPr>
          <p:cNvSpPr>
            <a:spLocks noGrp="1"/>
          </p:cNvSpPr>
          <p:nvPr/>
        </p:nvSpPr>
        <p:spPr>
          <a:xfrm>
            <a:off x="762000" y="2114550"/>
            <a:ext cx="10572750" cy="47625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536B70"/>
                </a:solidFill>
                <a:latin typeface="Calibri"/>
                <a:ea typeface="Calibri"/>
                <a:cs typeface="Calibri"/>
              </a:defRPr>
            </a:pPr>
            <a:r>
              <a:rPr kumimoji="0" sz="1950" b="0" i="0" u="none" strike="noStrike" kern="1200" cap="none" spc="0" normalizeH="0" baseline="0" noProof="0">
                <a:ln>
                  <a:noFill/>
                </a:ln>
                <a:solidFill>
                  <a:srgbClr val="536B70"/>
                </a:solidFill>
                <a:effectLst/>
                <a:uLnTx/>
                <a:uFillTx/>
                <a:latin typeface="Calibri"/>
                <a:ea typeface="Calibri"/>
                <a:cs typeface="Calibri"/>
              </a:rPr>
              <a:t>Proposed terms: €270,000 pre-money valuation. Six-month validation budget.</a:t>
            </a:r>
          </a:p>
        </p:txBody>
      </p:sp>
      <p:sp>
        <p:nvSpPr>
          <p:cNvPr id="4" name="Rectangle 3">
            <a:extLst>
              <a:ext uri="{FF2B5EF4-FFF2-40B4-BE49-F238E27FC236}">
                <a16:creationId xmlns:a16="http://schemas.microsoft.com/office/drawing/2014/main" id="{554B6378-9CEB-4304-85FA-D1EA22A5B71B}"/>
              </a:ext>
            </a:extLst>
          </p:cNvPr>
          <p:cNvSpPr>
            <a:spLocks noGrp="1"/>
          </p:cNvSpPr>
          <p:nvPr/>
        </p:nvSpPr>
        <p:spPr>
          <a:xfrm>
            <a:off x="762000" y="2838450"/>
            <a:ext cx="4810125" cy="4572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250" b="1">
                <a:solidFill>
                  <a:srgbClr val="142F35"/>
                </a:solidFill>
                <a:latin typeface="Calibri"/>
                <a:ea typeface="Calibri"/>
                <a:cs typeface="Calibri"/>
              </a:defRPr>
            </a:pPr>
            <a:r>
              <a:rPr kumimoji="0" sz="2250" b="1" i="0" u="none" strike="noStrike" kern="1200" cap="none" spc="0" normalizeH="0" baseline="0" noProof="0">
                <a:ln>
                  <a:noFill/>
                </a:ln>
                <a:solidFill>
                  <a:srgbClr val="142F35"/>
                </a:solidFill>
                <a:effectLst/>
                <a:uLnTx/>
                <a:uFillTx/>
                <a:latin typeface="Calibri"/>
                <a:ea typeface="Calibri"/>
                <a:cs typeface="Calibri"/>
              </a:rPr>
              <a:t>Use of funds</a:t>
            </a:r>
          </a:p>
        </p:txBody>
      </p:sp>
      <p:sp>
        <p:nvSpPr>
          <p:cNvPr id="5" name="Rectangle 4">
            <a:extLst>
              <a:ext uri="{FF2B5EF4-FFF2-40B4-BE49-F238E27FC236}">
                <a16:creationId xmlns:a16="http://schemas.microsoft.com/office/drawing/2014/main" id="{02042D68-73D3-4864-9E60-1F14854E7BAC}"/>
              </a:ext>
            </a:extLst>
          </p:cNvPr>
          <p:cNvSpPr>
            <a:spLocks noGrp="1"/>
          </p:cNvSpPr>
          <p:nvPr/>
        </p:nvSpPr>
        <p:spPr>
          <a:xfrm>
            <a:off x="762000" y="3362325"/>
            <a:ext cx="3286125" cy="3810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Founder time</a:t>
            </a:r>
          </a:p>
        </p:txBody>
      </p:sp>
      <p:sp>
        <p:nvSpPr>
          <p:cNvPr id="6" name="Rectangle 5">
            <a:extLst>
              <a:ext uri="{FF2B5EF4-FFF2-40B4-BE49-F238E27FC236}">
                <a16:creationId xmlns:a16="http://schemas.microsoft.com/office/drawing/2014/main" id="{3C1D0AFE-10BA-49A5-B417-96D4E157145C}"/>
              </a:ext>
            </a:extLst>
          </p:cNvPr>
          <p:cNvSpPr>
            <a:spLocks noGrp="1"/>
          </p:cNvSpPr>
          <p:nvPr/>
        </p:nvSpPr>
        <p:spPr>
          <a:xfrm>
            <a:off x="4429125" y="3362325"/>
            <a:ext cx="1381125" cy="3810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€18,000</a:t>
            </a:r>
          </a:p>
        </p:txBody>
      </p:sp>
      <p:sp>
        <p:nvSpPr>
          <p:cNvPr id="7" name="Rectangle 6">
            <a:extLst>
              <a:ext uri="{FF2B5EF4-FFF2-40B4-BE49-F238E27FC236}">
                <a16:creationId xmlns:a16="http://schemas.microsoft.com/office/drawing/2014/main" id="{5682D533-9443-41CA-9DAB-1E88EE141779}"/>
              </a:ext>
            </a:extLst>
          </p:cNvPr>
          <p:cNvSpPr>
            <a:spLocks noGrp="1"/>
          </p:cNvSpPr>
          <p:nvPr/>
        </p:nvSpPr>
        <p:spPr>
          <a:xfrm>
            <a:off x="762000" y="3705225"/>
            <a:ext cx="3286125" cy="3810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Product and onboarding</a:t>
            </a:r>
          </a:p>
        </p:txBody>
      </p:sp>
      <p:sp>
        <p:nvSpPr>
          <p:cNvPr id="8" name="Rectangle 7">
            <a:extLst>
              <a:ext uri="{FF2B5EF4-FFF2-40B4-BE49-F238E27FC236}">
                <a16:creationId xmlns:a16="http://schemas.microsoft.com/office/drawing/2014/main" id="{02495F71-861D-4371-A5B9-40DD7C1ED927}"/>
              </a:ext>
            </a:extLst>
          </p:cNvPr>
          <p:cNvSpPr>
            <a:spLocks noGrp="1"/>
          </p:cNvSpPr>
          <p:nvPr/>
        </p:nvSpPr>
        <p:spPr>
          <a:xfrm>
            <a:off x="4429125" y="3705225"/>
            <a:ext cx="1381125" cy="3810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€6,000</a:t>
            </a:r>
          </a:p>
        </p:txBody>
      </p:sp>
      <p:sp>
        <p:nvSpPr>
          <p:cNvPr id="9" name="Rectangle 8">
            <a:extLst>
              <a:ext uri="{FF2B5EF4-FFF2-40B4-BE49-F238E27FC236}">
                <a16:creationId xmlns:a16="http://schemas.microsoft.com/office/drawing/2014/main" id="{E6C092B1-39AC-4513-837F-229F54F2CB99}"/>
              </a:ext>
            </a:extLst>
          </p:cNvPr>
          <p:cNvSpPr>
            <a:spLocks noGrp="1"/>
          </p:cNvSpPr>
          <p:nvPr/>
        </p:nvSpPr>
        <p:spPr>
          <a:xfrm>
            <a:off x="762000" y="4048125"/>
            <a:ext cx="3286125" cy="3810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Acquisition tests</a:t>
            </a:r>
          </a:p>
        </p:txBody>
      </p:sp>
      <p:sp>
        <p:nvSpPr>
          <p:cNvPr id="10" name="Rectangle 9">
            <a:extLst>
              <a:ext uri="{FF2B5EF4-FFF2-40B4-BE49-F238E27FC236}">
                <a16:creationId xmlns:a16="http://schemas.microsoft.com/office/drawing/2014/main" id="{2388459B-3D44-4407-979C-4739841355C9}"/>
              </a:ext>
            </a:extLst>
          </p:cNvPr>
          <p:cNvSpPr>
            <a:spLocks noGrp="1"/>
          </p:cNvSpPr>
          <p:nvPr/>
        </p:nvSpPr>
        <p:spPr>
          <a:xfrm>
            <a:off x="4429125" y="4048125"/>
            <a:ext cx="1381125" cy="3810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€3,000</a:t>
            </a:r>
          </a:p>
        </p:txBody>
      </p:sp>
      <p:sp>
        <p:nvSpPr>
          <p:cNvPr id="11" name="Rectangle 10">
            <a:extLst>
              <a:ext uri="{FF2B5EF4-FFF2-40B4-BE49-F238E27FC236}">
                <a16:creationId xmlns:a16="http://schemas.microsoft.com/office/drawing/2014/main" id="{E6EFF58F-41C0-40E8-A399-6CC51506ED99}"/>
              </a:ext>
            </a:extLst>
          </p:cNvPr>
          <p:cNvSpPr>
            <a:spLocks noGrp="1"/>
          </p:cNvSpPr>
          <p:nvPr/>
        </p:nvSpPr>
        <p:spPr>
          <a:xfrm>
            <a:off x="762000" y="4391025"/>
            <a:ext cx="3286125" cy="3810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Software and administration</a:t>
            </a:r>
          </a:p>
        </p:txBody>
      </p:sp>
      <p:sp>
        <p:nvSpPr>
          <p:cNvPr id="12" name="Rectangle 11">
            <a:extLst>
              <a:ext uri="{FF2B5EF4-FFF2-40B4-BE49-F238E27FC236}">
                <a16:creationId xmlns:a16="http://schemas.microsoft.com/office/drawing/2014/main" id="{883B0505-929C-44C2-B89B-8688E21F82BD}"/>
              </a:ext>
            </a:extLst>
          </p:cNvPr>
          <p:cNvSpPr>
            <a:spLocks noGrp="1"/>
          </p:cNvSpPr>
          <p:nvPr/>
        </p:nvSpPr>
        <p:spPr>
          <a:xfrm>
            <a:off x="4429125" y="4391025"/>
            <a:ext cx="1381125" cy="3810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€1,500</a:t>
            </a:r>
          </a:p>
        </p:txBody>
      </p:sp>
      <p:sp>
        <p:nvSpPr>
          <p:cNvPr id="13" name="Rectangle 12">
            <a:extLst>
              <a:ext uri="{FF2B5EF4-FFF2-40B4-BE49-F238E27FC236}">
                <a16:creationId xmlns:a16="http://schemas.microsoft.com/office/drawing/2014/main" id="{C01CEE1A-22DA-4270-9B81-97A18D4BF7D0}"/>
              </a:ext>
            </a:extLst>
          </p:cNvPr>
          <p:cNvSpPr>
            <a:spLocks noGrp="1"/>
          </p:cNvSpPr>
          <p:nvPr/>
        </p:nvSpPr>
        <p:spPr>
          <a:xfrm>
            <a:off x="762000" y="4733925"/>
            <a:ext cx="3286125" cy="3810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Contingency</a:t>
            </a:r>
          </a:p>
        </p:txBody>
      </p:sp>
      <p:sp>
        <p:nvSpPr>
          <p:cNvPr id="14" name="Rectangle 13">
            <a:extLst>
              <a:ext uri="{FF2B5EF4-FFF2-40B4-BE49-F238E27FC236}">
                <a16:creationId xmlns:a16="http://schemas.microsoft.com/office/drawing/2014/main" id="{4F8E492B-D3CD-459E-A1FF-BE4AFB73B990}"/>
              </a:ext>
            </a:extLst>
          </p:cNvPr>
          <p:cNvSpPr>
            <a:spLocks noGrp="1"/>
          </p:cNvSpPr>
          <p:nvPr/>
        </p:nvSpPr>
        <p:spPr>
          <a:xfrm>
            <a:off x="4429125" y="4733925"/>
            <a:ext cx="1381125" cy="3810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€1,500</a:t>
            </a:r>
          </a:p>
        </p:txBody>
      </p:sp>
      <p:sp>
        <p:nvSpPr>
          <p:cNvPr id="15" name="Rectangle 14">
            <a:extLst>
              <a:ext uri="{FF2B5EF4-FFF2-40B4-BE49-F238E27FC236}">
                <a16:creationId xmlns:a16="http://schemas.microsoft.com/office/drawing/2014/main" id="{757E543A-6655-4B73-AEE6-6E62E3FABBA8}"/>
              </a:ext>
            </a:extLst>
          </p:cNvPr>
          <p:cNvSpPr>
            <a:spLocks noGrp="1"/>
          </p:cNvSpPr>
          <p:nvPr/>
        </p:nvSpPr>
        <p:spPr>
          <a:xfrm>
            <a:off x="6572250" y="2838450"/>
            <a:ext cx="4857750" cy="4572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250" b="1">
                <a:solidFill>
                  <a:srgbClr val="142F35"/>
                </a:solidFill>
                <a:latin typeface="Calibri"/>
                <a:ea typeface="Calibri"/>
                <a:cs typeface="Calibri"/>
              </a:defRPr>
            </a:pPr>
            <a:r>
              <a:rPr kumimoji="0" sz="2250" b="1" i="0" u="none" strike="noStrike" kern="1200" cap="none" spc="0" normalizeH="0" baseline="0" noProof="0">
                <a:ln>
                  <a:noFill/>
                </a:ln>
                <a:solidFill>
                  <a:srgbClr val="142F35"/>
                </a:solidFill>
                <a:effectLst/>
                <a:uLnTx/>
                <a:uFillTx/>
                <a:latin typeface="Calibri"/>
                <a:ea typeface="Calibri"/>
                <a:cs typeface="Calibri"/>
              </a:rPr>
              <a:t>Six-month milestones</a:t>
            </a:r>
          </a:p>
        </p:txBody>
      </p:sp>
      <p:sp>
        <p:nvSpPr>
          <p:cNvPr id="16" name="Rectangle 15">
            <a:extLst>
              <a:ext uri="{FF2B5EF4-FFF2-40B4-BE49-F238E27FC236}">
                <a16:creationId xmlns:a16="http://schemas.microsoft.com/office/drawing/2014/main" id="{BF4F5E3D-93E7-45CF-B2F0-5EEE218F8A35}"/>
              </a:ext>
            </a:extLst>
          </p:cNvPr>
          <p:cNvSpPr>
            <a:spLocks noGrp="1"/>
          </p:cNvSpPr>
          <p:nvPr/>
        </p:nvSpPr>
        <p:spPr>
          <a:xfrm>
            <a:off x="6572250" y="3362325"/>
            <a:ext cx="4857750" cy="6858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025" b="1">
                <a:solidFill>
                  <a:srgbClr val="008579"/>
                </a:solidFill>
                <a:latin typeface="Calibri"/>
                <a:ea typeface="Calibri"/>
                <a:cs typeface="Calibri"/>
              </a:defRPr>
            </a:pPr>
            <a:r>
              <a:rPr kumimoji="0" sz="2025" b="1" i="0" u="none" strike="noStrike" kern="1200" cap="none" spc="0" normalizeH="0" baseline="0" noProof="0">
                <a:ln>
                  <a:noFill/>
                </a:ln>
                <a:solidFill>
                  <a:srgbClr val="008579"/>
                </a:solidFill>
                <a:effectLst/>
                <a:uLnTx/>
                <a:uFillTx/>
                <a:latin typeface="Calibri"/>
                <a:ea typeface="Calibri"/>
                <a:cs typeface="Calibri"/>
              </a:rPr>
              <a:t>15 paying companies in total</a:t>
            </a:r>
          </a:p>
          <a:p>
            <a:pPr marL="0" marR="0" lvl="0" indent="0" algn="l" defTabSz="914400" rtl="0" eaLnBrk="1" fontAlgn="auto" latinLnBrk="0" hangingPunct="1">
              <a:lnSpc>
                <a:spcPct val="100000"/>
              </a:lnSpc>
              <a:spcBef>
                <a:spcPts val="0"/>
              </a:spcBef>
              <a:spcAft>
                <a:spcPts val="0"/>
              </a:spcAft>
              <a:buClrTx/>
              <a:buSzTx/>
              <a:buFontTx/>
              <a:buNone/>
              <a:tabLst/>
              <a:defRPr sz="2025" b="1">
                <a:solidFill>
                  <a:srgbClr val="008579"/>
                </a:solidFill>
                <a:latin typeface="Calibri"/>
                <a:ea typeface="Calibri"/>
                <a:cs typeface="Calibri"/>
              </a:defRPr>
            </a:pPr>
            <a:r>
              <a:rPr kumimoji="0" sz="2025" b="1" i="0" u="none" strike="noStrike" kern="1200" cap="none" spc="0" normalizeH="0" baseline="0" noProof="0">
                <a:ln>
                  <a:noFill/>
                </a:ln>
                <a:solidFill>
                  <a:srgbClr val="008579"/>
                </a:solidFill>
                <a:effectLst/>
                <a:uLnTx/>
                <a:uFillTx/>
                <a:latin typeface="Calibri"/>
                <a:ea typeface="Calibri"/>
                <a:cs typeface="Calibri"/>
              </a:rPr>
              <a:t>~€2,250 MRR at €150/company</a:t>
            </a:r>
          </a:p>
        </p:txBody>
      </p:sp>
      <p:sp>
        <p:nvSpPr>
          <p:cNvPr id="17" name="Rectangle 16">
            <a:extLst>
              <a:ext uri="{FF2B5EF4-FFF2-40B4-BE49-F238E27FC236}">
                <a16:creationId xmlns:a16="http://schemas.microsoft.com/office/drawing/2014/main" id="{E425EE4B-7304-40E9-A7A9-4E8F46EF2754}"/>
              </a:ext>
            </a:extLst>
          </p:cNvPr>
          <p:cNvSpPr>
            <a:spLocks noGrp="1"/>
          </p:cNvSpPr>
          <p:nvPr/>
        </p:nvSpPr>
        <p:spPr>
          <a:xfrm>
            <a:off x="6572250" y="4181475"/>
            <a:ext cx="4857750" cy="6858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80% retention after 8 weeks</a:t>
            </a:r>
          </a:p>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Across eligible new paying customers</a:t>
            </a:r>
          </a:p>
        </p:txBody>
      </p:sp>
      <p:sp>
        <p:nvSpPr>
          <p:cNvPr id="18" name="Rectangle 17">
            <a:extLst>
              <a:ext uri="{FF2B5EF4-FFF2-40B4-BE49-F238E27FC236}">
                <a16:creationId xmlns:a16="http://schemas.microsoft.com/office/drawing/2014/main" id="{34F434AF-88A4-4BC5-9680-34D212B49864}"/>
              </a:ext>
            </a:extLst>
          </p:cNvPr>
          <p:cNvSpPr>
            <a:spLocks noGrp="1"/>
          </p:cNvSpPr>
          <p:nvPr/>
        </p:nvSpPr>
        <p:spPr>
          <a:xfrm>
            <a:off x="6572250" y="4991100"/>
            <a:ext cx="4857750" cy="6858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Support ≤30 min/client/week</a:t>
            </a:r>
          </a:p>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Measured across paying customers</a:t>
            </a:r>
          </a:p>
        </p:txBody>
      </p:sp>
      <p:sp>
        <p:nvSpPr>
          <p:cNvPr id="19" name="Rectangle 18">
            <a:extLst>
              <a:ext uri="{FF2B5EF4-FFF2-40B4-BE49-F238E27FC236}">
                <a16:creationId xmlns:a16="http://schemas.microsoft.com/office/drawing/2014/main" id="{96E4007B-964B-4451-BF33-2C267B854825}"/>
              </a:ext>
            </a:extLst>
          </p:cNvPr>
          <p:cNvSpPr>
            <a:spLocks noGrp="1"/>
          </p:cNvSpPr>
          <p:nvPr/>
        </p:nvSpPr>
        <p:spPr>
          <a:xfrm>
            <a:off x="762000" y="5943600"/>
            <a:ext cx="10477500" cy="542925"/>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500" b="0">
                <a:solidFill>
                  <a:srgbClr val="536B70"/>
                </a:solidFill>
                <a:latin typeface="Calibri"/>
                <a:ea typeface="Calibri"/>
                <a:cs typeface="Calibri"/>
              </a:defRPr>
            </a:pPr>
            <a:r>
              <a:rPr kumimoji="0" sz="1500" b="0" i="0" u="none" strike="noStrike" kern="1200" cap="none" spc="0" normalizeH="0" baseline="0" noProof="0">
                <a:ln>
                  <a:noFill/>
                </a:ln>
                <a:solidFill>
                  <a:srgbClr val="536B70"/>
                </a:solidFill>
                <a:effectLst/>
                <a:uLnTx/>
                <a:uFillTx/>
                <a:latin typeface="Calibri"/>
                <a:ea typeface="Calibri"/>
                <a:cs typeface="Calibri"/>
              </a:rPr>
              <a:t>Planning assumptions: €3,000/month founder cost and €1,000/month product budget.</a:t>
            </a:r>
          </a:p>
          <a:p>
            <a:pPr marL="0" marR="0" lvl="0" indent="0" algn="l" defTabSz="914400" rtl="0" eaLnBrk="1" fontAlgn="auto" latinLnBrk="0" hangingPunct="1">
              <a:lnSpc>
                <a:spcPct val="100000"/>
              </a:lnSpc>
              <a:spcBef>
                <a:spcPts val="0"/>
              </a:spcBef>
              <a:spcAft>
                <a:spcPts val="0"/>
              </a:spcAft>
              <a:buClrTx/>
              <a:buSzTx/>
              <a:buFontTx/>
              <a:buNone/>
              <a:tabLst/>
              <a:defRPr sz="1500" b="0">
                <a:solidFill>
                  <a:srgbClr val="536B70"/>
                </a:solidFill>
                <a:latin typeface="Calibri"/>
                <a:ea typeface="Calibri"/>
                <a:cs typeface="Calibri"/>
              </a:defRPr>
            </a:pPr>
            <a:r>
              <a:rPr kumimoji="0" sz="1500" b="0" i="0" u="none" strike="noStrike" kern="1200" cap="none" spc="0" normalizeH="0" baseline="0" noProof="0">
                <a:ln>
                  <a:noFill/>
                </a:ln>
                <a:solidFill>
                  <a:srgbClr val="536B70"/>
                </a:solidFill>
                <a:effectLst/>
                <a:uLnTx/>
                <a:uFillTx/>
                <a:latin typeface="Calibri"/>
                <a:ea typeface="Calibri"/>
                <a:cs typeface="Calibri"/>
              </a:rPr>
              <a:t>Milestones are targets. Existing revenue is additional buffer. Terms are negotiable.</a:t>
            </a:r>
          </a:p>
        </p:txBody>
      </p:sp>
      <p:sp>
        <p:nvSpPr>
          <p:cNvPr id="20" name="Rectangle 19">
            <a:extLst>
              <a:ext uri="{FF2B5EF4-FFF2-40B4-BE49-F238E27FC236}">
                <a16:creationId xmlns:a16="http://schemas.microsoft.com/office/drawing/2014/main" id="{B9E601F6-C23E-47E1-9483-EB83969D5DDB}"/>
              </a:ext>
            </a:extLst>
          </p:cNvPr>
          <p:cNvSpPr>
            <a:spLocks noGrp="1"/>
          </p:cNvSpPr>
          <p:nvPr/>
        </p:nvSpPr>
        <p:spPr>
          <a:xfrm>
            <a:off x="11001375" y="6524625"/>
            <a:ext cx="571500" cy="238125"/>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b="0">
                <a:solidFill>
                  <a:srgbClr val="536B70"/>
                </a:solidFill>
                <a:latin typeface="Calibri"/>
                <a:ea typeface="Calibri"/>
                <a:cs typeface="Calibri"/>
              </a:defRPr>
            </a:pPr>
            <a:r>
              <a:rPr kumimoji="0" sz="1200" b="0" i="0" u="none" strike="noStrike" kern="1200" cap="none" spc="0" normalizeH="0" baseline="0" noProof="0">
                <a:ln>
                  <a:noFill/>
                </a:ln>
                <a:solidFill>
                  <a:srgbClr val="536B70"/>
                </a:solidFill>
                <a:effectLst/>
                <a:uLnTx/>
                <a:uFillTx/>
                <a:latin typeface="Calibri"/>
                <a:ea typeface="Calibri"/>
                <a:cs typeface="Calibri"/>
              </a:rPr>
              <a:t>19</a:t>
            </a:r>
          </a:p>
        </p:txBody>
      </p:sp>
    </p:spTree>
    <p:extLst>
      <p:ext uri="{BB962C8B-B14F-4D97-AF65-F5344CB8AC3E}">
        <p14:creationId xmlns:p14="http://schemas.microsoft.com/office/powerpoint/2010/main" val="67029095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4076</TotalTime>
  <Words>2615</Words>
  <Application>Microsoft Office PowerPoint</Application>
  <DocSecurity>0</DocSecurity>
  <PresentationFormat>Widescreen</PresentationFormat>
  <Paragraphs>239</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Bitstream Charter</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Vjaceslavs Gromatovics</cp:lastModifiedBy>
  <cp:revision>10</cp:revision>
  <dcterms:created xsi:type="dcterms:W3CDTF">2026-09-18T13:20:54Z</dcterms:created>
  <dcterms:modified xsi:type="dcterms:W3CDTF">2026-09-21T11:46:42Z</dcterms:modified>
</cp:coreProperties>
</file>