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d7657144bd4c3c" /><Relationship Type="http://schemas.openxmlformats.org/officeDocument/2006/relationships/extended-properties" Target="/docProps/app.xml" Id="Rb798f238471b4604" /><Relationship Type="http://schemas.openxmlformats.org/officeDocument/2006/relationships/officeDocument" Target="/ppt/presentation.xml" Id="Rad6cb773c3424f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f97013c54146d2"/>
  </p:sldMasterIdLst>
  <p:notesMasterIdLst>
    <p:notesMasterId xmlns:r="http://schemas.openxmlformats.org/officeDocument/2006/relationships" r:id="R6d9aadad7f3642e5"/>
  </p:notesMasterIdLst>
  <p:sldIdLst>
    <p:sldId xmlns:r="http://schemas.openxmlformats.org/officeDocument/2006/relationships" id="256" r:id="Raf4aaef07ad548fe"/>
    <p:sldId xmlns:r="http://schemas.openxmlformats.org/officeDocument/2006/relationships" id="257" r:id="R83cea5f7db7f4ebf"/>
    <p:sldId xmlns:r="http://schemas.openxmlformats.org/officeDocument/2006/relationships" id="258" r:id="Ra9c66ec3e2274a65"/>
    <p:sldId xmlns:r="http://schemas.openxmlformats.org/officeDocument/2006/relationships" id="259" r:id="Rdd06c014f82f4fdc"/>
    <p:sldId xmlns:r="http://schemas.openxmlformats.org/officeDocument/2006/relationships" id="260" r:id="R7f3b26761c7b4556"/>
    <p:sldId xmlns:r="http://schemas.openxmlformats.org/officeDocument/2006/relationships" id="261" r:id="R21dcbdd840ff4f5e"/>
    <p:sldId xmlns:r="http://schemas.openxmlformats.org/officeDocument/2006/relationships" id="262" r:id="Rd36a703d86e449b4"/>
    <p:sldId xmlns:r="http://schemas.openxmlformats.org/officeDocument/2006/relationships" id="263" r:id="R80abdeb8bdc14fa9"/>
    <p:sldId xmlns:r="http://schemas.openxmlformats.org/officeDocument/2006/relationships" id="264" r:id="R01252775b03d47b5"/>
    <p:sldId xmlns:r="http://schemas.openxmlformats.org/officeDocument/2006/relationships" id="265" r:id="R8dc435becd034ea4"/>
    <p:sldId xmlns:r="http://schemas.openxmlformats.org/officeDocument/2006/relationships" id="266" r:id="Rae72739e0c254720"/>
    <p:sldId xmlns:r="http://schemas.openxmlformats.org/officeDocument/2006/relationships" id="267" r:id="R73498ee749254d9e"/>
    <p:sldId xmlns:r="http://schemas.openxmlformats.org/officeDocument/2006/relationships" id="268" r:id="Rce6ec5afc48f4158"/>
    <p:sldId xmlns:r="http://schemas.openxmlformats.org/officeDocument/2006/relationships" id="269" r:id="Rb456cfcb9c9f42c0"/>
    <p:sldId xmlns:r="http://schemas.openxmlformats.org/officeDocument/2006/relationships" id="270" r:id="R94629129ea004bef"/>
    <p:sldId xmlns:r="http://schemas.openxmlformats.org/officeDocument/2006/relationships" id="271" r:id="Rc8b8ccde8d9f4d20"/>
    <p:sldId xmlns:r="http://schemas.openxmlformats.org/officeDocument/2006/relationships" id="272" r:id="Refe77076fac142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5905f0d9fb4f82" /><Relationship Type="http://schemas.openxmlformats.org/officeDocument/2006/relationships/slideMaster" Target="/ppt/slideMasters/slideMaster1.xml" Id="R32f97013c54146d2" /><Relationship Type="http://schemas.openxmlformats.org/officeDocument/2006/relationships/notesMaster" Target="/ppt/notesMasters/notesMaster1.xml" Id="R6d9aadad7f3642e5" /><Relationship Type="http://schemas.openxmlformats.org/officeDocument/2006/relationships/presProps" Target="/ppt/presProps.xml" Id="R7379a7a850a04444" /><Relationship Type="http://schemas.openxmlformats.org/officeDocument/2006/relationships/viewProps" Target="/ppt/viewProps.xml" Id="R16c58f4744c44c64" /><Relationship Type="http://schemas.openxmlformats.org/officeDocument/2006/relationships/tableStyles" Target="/ppt/tableStyles.xml" Id="Rda959a7cdd6f4413" /><Relationship Type="http://schemas.openxmlformats.org/officeDocument/2006/relationships/slide" Target="/ppt/slides/slide1.xml" Id="Raf4aaef07ad548fe" /><Relationship Type="http://schemas.openxmlformats.org/officeDocument/2006/relationships/slide" Target="/ppt/slides/slide2.xml" Id="R83cea5f7db7f4ebf" /><Relationship Type="http://schemas.openxmlformats.org/officeDocument/2006/relationships/slide" Target="/ppt/slides/slide3.xml" Id="Ra9c66ec3e2274a65" /><Relationship Type="http://schemas.openxmlformats.org/officeDocument/2006/relationships/slide" Target="/ppt/slides/slide4.xml" Id="Rdd06c014f82f4fdc" /><Relationship Type="http://schemas.openxmlformats.org/officeDocument/2006/relationships/slide" Target="/ppt/slides/slide5.xml" Id="R7f3b26761c7b4556" /><Relationship Type="http://schemas.openxmlformats.org/officeDocument/2006/relationships/slide" Target="/ppt/slides/slide6.xml" Id="R21dcbdd840ff4f5e" /><Relationship Type="http://schemas.openxmlformats.org/officeDocument/2006/relationships/slide" Target="/ppt/slides/slide7.xml" Id="Rd36a703d86e449b4" /><Relationship Type="http://schemas.openxmlformats.org/officeDocument/2006/relationships/slide" Target="/ppt/slides/slide8.xml" Id="R80abdeb8bdc14fa9" /><Relationship Type="http://schemas.openxmlformats.org/officeDocument/2006/relationships/slide" Target="/ppt/slides/slide9.xml" Id="R01252775b03d47b5" /><Relationship Type="http://schemas.openxmlformats.org/officeDocument/2006/relationships/slide" Target="/ppt/slides/slide10.xml" Id="R8dc435becd034ea4" /><Relationship Type="http://schemas.openxmlformats.org/officeDocument/2006/relationships/slide" Target="/ppt/slides/slide11.xml" Id="Rae72739e0c254720" /><Relationship Type="http://schemas.openxmlformats.org/officeDocument/2006/relationships/slide" Target="/ppt/slides/slide12.xml" Id="R73498ee749254d9e" /><Relationship Type="http://schemas.openxmlformats.org/officeDocument/2006/relationships/slide" Target="/ppt/slides/slide13.xml" Id="Rce6ec5afc48f4158" /><Relationship Type="http://schemas.openxmlformats.org/officeDocument/2006/relationships/slide" Target="/ppt/slides/slide14.xml" Id="Rb456cfcb9c9f42c0" /><Relationship Type="http://schemas.openxmlformats.org/officeDocument/2006/relationships/slide" Target="/ppt/slides/slide15.xml" Id="R94629129ea004bef" /><Relationship Type="http://schemas.openxmlformats.org/officeDocument/2006/relationships/slide" Target="/ppt/slides/slide16.xml" Id="Rc8b8ccde8d9f4d20" /><Relationship Type="http://schemas.openxmlformats.org/officeDocument/2006/relationships/slide" Target="/ppt/slides/slide17.xml" Id="Refe77076fac142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0076735f0e4d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d2622c2e84290" /><Relationship Type="http://schemas.openxmlformats.org/officeDocument/2006/relationships/notesMaster" Target="/ppt/notesMasters/notesMaster1.xml" Id="Rb39e10c0838f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113ea18fc46b1" /><Relationship Type="http://schemas.openxmlformats.org/officeDocument/2006/relationships/notesMaster" Target="/ppt/notesMasters/notesMaster1.xml" Id="Rc14258471d8f4d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60902264fc41ca" /><Relationship Type="http://schemas.openxmlformats.org/officeDocument/2006/relationships/notesMaster" Target="/ppt/notesMasters/notesMaster1.xml" Id="R3a7d7a8b7cc345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873422594f412b" /><Relationship Type="http://schemas.openxmlformats.org/officeDocument/2006/relationships/notesMaster" Target="/ppt/notesMasters/notesMaster1.xml" Id="R5ac7859ea60342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08b6582b6c476a" /><Relationship Type="http://schemas.openxmlformats.org/officeDocument/2006/relationships/notesMaster" Target="/ppt/notesMasters/notesMaster1.xml" Id="Ra17b027c96f546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0739d43aa84c9d" /><Relationship Type="http://schemas.openxmlformats.org/officeDocument/2006/relationships/notesMaster" Target="/ppt/notesMasters/notesMaster1.xml" Id="R8601226c55fa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eb727b642e4067" /><Relationship Type="http://schemas.openxmlformats.org/officeDocument/2006/relationships/notesMaster" Target="/ppt/notesMasters/notesMaster1.xml" Id="R5c4792809f6d47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3d7d07be194efb" /><Relationship Type="http://schemas.openxmlformats.org/officeDocument/2006/relationships/notesMaster" Target="/ppt/notesMasters/notesMaster1.xml" Id="R036326be04b54f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d8ba5472224a27" /><Relationship Type="http://schemas.openxmlformats.org/officeDocument/2006/relationships/notesMaster" Target="/ppt/notesMasters/notesMaster1.xml" Id="R22529e66d68346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33aa0f9dda4b1d" /><Relationship Type="http://schemas.openxmlformats.org/officeDocument/2006/relationships/notesMaster" Target="/ppt/notesMasters/notesMaster1.xml" Id="Rbe07bc54248749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28b02906724840" /><Relationship Type="http://schemas.openxmlformats.org/officeDocument/2006/relationships/notesMaster" Target="/ppt/notesMasters/notesMaster1.xml" Id="R9a18f8704daa47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93d1c64b8e4b6b" /><Relationship Type="http://schemas.openxmlformats.org/officeDocument/2006/relationships/notesMaster" Target="/ppt/notesMasters/notesMaster1.xml" Id="R4e588533256c48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dd2c0f75be49bc" /><Relationship Type="http://schemas.openxmlformats.org/officeDocument/2006/relationships/notesMaster" Target="/ppt/notesMasters/notesMaster1.xml" Id="Rfd59ae84c33540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1422dbb3dd4dae" /><Relationship Type="http://schemas.openxmlformats.org/officeDocument/2006/relationships/notesMaster" Target="/ppt/notesMasters/notesMaster1.xml" Id="Rc6a286792d134b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9c04e3dee3434e" /><Relationship Type="http://schemas.openxmlformats.org/officeDocument/2006/relationships/notesMaster" Target="/ppt/notesMasters/notesMaster1.xml" Id="Rebfa79f593df40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f58fb9b9bb42f4" /><Relationship Type="http://schemas.openxmlformats.org/officeDocument/2006/relationships/notesMaster" Target="/ppt/notesMasters/notesMaster1.xml" Id="Rec4af47b162b45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f8189b38a54822" /><Relationship Type="http://schemas.openxmlformats.org/officeDocument/2006/relationships/notesMaster" Target="/ppt/notesMasters/notesMaster1.xml" Id="R5ed376a41768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input and output, not a customer case study or product screenshot. Arithmetic: 4 people × 8 hours = 32 labour-hours; 32 / 20 panels = 1.6 labour-hours per panel. No delay cost or cost saving is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deck(1).docx, supplied by founder. Figures are founder-reported unless explicitly identified as calculations or proposed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Pricing clarification from founder: EUR50 per user, with discounts and custom function upsells. Monthly basis follows existing subscriptions. The EUR150 market assumption explicitly means 3 paying users per enterprise, not a flat company plan. Total employees are not all assumed to become paying users. Market opportunity is distinct from sales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deck(1).docx. Calculated MRR = 80 + 150 + 120 + 180 + 250 = EUR 780. ARPA = 780 / 5 = EUR 156. Excludes free pilot and churned customer. Source totals of EUR 800 and EUR 810 conflict with these line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Pitch deck(1).docx. DEPROM/DEPRMO spelling differs in source materials, so pilot name omitted. Latvijas Energoceltnieks churned after three months.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 clarification, 18 September 2026: EUR50 per user, sometimes discounts, sometimes upsells for customized functions. Monthly basis follows existing monthly subscription billing. Paid user counts and custom-fee split by customer are not supplied. Do not infer paid seats from invoice values. Existing deck: five subscriptions totalling EUR780, average EUR156; annualised run-rate EUR9360, not annual revenue already collected. Seat examples exclude discounts and custom fees.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competitor sources, 18 September 2026: https://www.fieldwire.com/pricing/ and https://help.fieldwire.com/hc/en-us/articles/360000574203-Introduction-to-Task-Reports-in-Fieldwire ; https://buildertrend.com/pricing/ and https://buildertrend.com/help-article/daily-logs-overview/ . WhatsApp plus Excel is a workflow alternative. Named brands are relevant alternatives, not verified tools used by current customers. WorksRecorded positioning needs validation. No claim that competitors cannot support voice, AI or integrations.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deck. 55 cold calls, 7 demos booked in one month. 7/55=12.727%. Booked demos may differ from held demos. Facebook brought paying customers. Demo-to-trial bottleneck reported. Trials, paid conversion by channel, attribution, churn and CAC are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activities. Latvia initial market. Sweden first expansion test is a sequencing proposal based on the original deck naming UK and Sweden, not evidence of validated demand. Facebook should be a separately measured channel. Allocate budget based on paid conversion and retention.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Measurement model, not forecast. Later-stage conversion, attribution and CAC unavailable. Track monthly cohorts by geography/channel and renewals/cancellations. Starting ARPA EUR156 based on five companies, not a validated long-term average. Expansion possible through seats and recurring custom functions, without assuming an expansion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deck: 2h onboarding +1h AI adjustment, ongoing &lt;1h/week/client, USD80 monthly software. Facebook spend ambiguous: EUR150/month with wording spend to date. Omit until reconciled. Founder/developer compensation and labour cost not supplied. Runway and margin not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details supplied by the founder. Vjaceslavs Gromatovics: BEng in Civil Engineering, five years as a construction site manager and five years as a project manager, working full-time on WorksRecorded, 80% ownership. Deivids Berkolds: BEng in Computer Science, senior JavaScript developer, 20% ownership. The supplied abbreviation Bent has been interpreted as BEng.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Funding amount, valuation and instrument remain undecided. These are proposed validation targets, not revenue forecasts. Proposed validation milestones: 10 additional paying companies, &gt;=80% 8-week retention among eligible cohorts, ongoing servicing &lt;=30min/client/week. Subject to founder acceptance, not promises. Budget actual compensation, channel and development scope before finalising 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47f27e4c449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c18a155c84a23" /><Relationship Type="http://schemas.openxmlformats.org/officeDocument/2006/relationships/slideLayout" Target="/ppt/slideLayouts/slideLayout1.xml" Id="Rf3321019d4c54d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321019d4c5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c31059f0041e7" /><Relationship Type="http://schemas.openxmlformats.org/officeDocument/2006/relationships/notesSlide" Target="/ppt/notesSlides/notesSlide1.xml" Id="R26bba1653b6d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fa888fa9e42a4" /><Relationship Type="http://schemas.openxmlformats.org/officeDocument/2006/relationships/notesSlide" Target="/ppt/notesSlides/notesSlide2.xml" Id="Rb6e91c1d2e8747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641f0411e4520" /><Relationship Type="http://schemas.openxmlformats.org/officeDocument/2006/relationships/notesSlide" Target="/ppt/notesSlides/notesSlide3.xml" Id="Re3ece56333e1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5f754332a4ce6" /><Relationship Type="http://schemas.openxmlformats.org/officeDocument/2006/relationships/notesSlide" Target="/ppt/notesSlides/notesSlide4.xml" Id="Rbfaca40c8437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8e8b6344547b4" /><Relationship Type="http://schemas.openxmlformats.org/officeDocument/2006/relationships/image" Target="/ppt/media/image.png" Id="Ra35627620b644a09" /><Relationship Type="http://schemas.openxmlformats.org/officeDocument/2006/relationships/notesSlide" Target="/ppt/notesSlides/notesSlide5.xml" Id="R9ceab150c3f147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160c8d519458c" /><Relationship Type="http://schemas.openxmlformats.org/officeDocument/2006/relationships/notesSlide" Target="/ppt/notesSlides/notesSlide6.xml" Id="R15c63889b389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4c693dacc4c3e" /><Relationship Type="http://schemas.openxmlformats.org/officeDocument/2006/relationships/notesSlide" Target="/ppt/notesSlides/notesSlide7.xml" Id="R123b67138257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854c76bd34b3d" /><Relationship Type="http://schemas.openxmlformats.org/officeDocument/2006/relationships/notesSlide" Target="/ppt/notesSlides/notesSlide8.xml" Id="R0413737f9ac04c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94db4595b4bfe" /><Relationship Type="http://schemas.openxmlformats.org/officeDocument/2006/relationships/notesSlide" Target="/ppt/notesSlides/notesSlide9.xml" Id="R6a1f853e0c5c43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58cdb2f054679" /><Relationship Type="http://schemas.openxmlformats.org/officeDocument/2006/relationships/notesSlide" Target="/ppt/notesSlides/notesSlide10.xml" Id="R5649ea8467984f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5e954f4804936" /><Relationship Type="http://schemas.openxmlformats.org/officeDocument/2006/relationships/notesSlide" Target="/ppt/notesSlides/notesSlide11.xml" Id="Rbf10b7201d2b47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1c456c33b4bc2" /><Relationship Type="http://schemas.openxmlformats.org/officeDocument/2006/relationships/notesSlide" Target="/ppt/notesSlides/notesSlide12.xml" Id="Rc4ee2af93b1a4e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42047dcb24db8" /><Relationship Type="http://schemas.openxmlformats.org/officeDocument/2006/relationships/notesSlide" Target="/ppt/notesSlides/notesSlide13.xml" Id="Re8d3c42750024b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df0279fe14c4a" /><Relationship Type="http://schemas.openxmlformats.org/officeDocument/2006/relationships/notesSlide" Target="/ppt/notesSlides/notesSlide14.xml" Id="R6fa14f5b3bd540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193c524e0410c" /><Relationship Type="http://schemas.openxmlformats.org/officeDocument/2006/relationships/notesSlide" Target="/ppt/notesSlides/notesSlide15.xml" Id="R2b382413e39049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51f87a21d48a4" /><Relationship Type="http://schemas.openxmlformats.org/officeDocument/2006/relationships/notesSlide" Target="/ppt/notesSlides/notesSlide16.xml" Id="Rb8cdb3d9c50d45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753fca4314ec3" /><Relationship Type="http://schemas.openxmlformats.org/officeDocument/2006/relationships/notesSlide" Target="/ppt/notesSlides/notesSlide17.xml" Id="Rc1774da756bd49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E5FC32-0DEE-4A21-B9C0-577B454F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WorksRecorded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6033E0-0B5D-472C-810C-0F7D3958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Construction site data analytics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C52780-E57C-4F40-984A-4BD187F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For construction contractors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FCABF3-F45B-4F20-8BD7-8C945E0A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Investor presentation | September 2026</a:t>
            </a:r>
            <a:r>
              <a:rPr sz="135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 |  https://www.worksrecorded.com/</a:t>
            </a:r>
            <a:endParaRPr sz="1350" b="0">
              <a:solidFill>
                <a:srgbClr val="B9DCD5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F305E-4A40-4ECD-A8BA-D5512F5A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C2C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AEC2C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8562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C0778ED-BCB2-4B42-8D42-E530CCA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Problem: Construction contractors don’t have the skills to collect and analyze site data.</a:t>
            </a:r>
          </a:p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endParaRPr sz="3600" b="1">
              <a:solidFill>
                <a:srgbClr val="122C32"/>
              </a:solidFill>
              <a:highlight>
                <a:srgbClr val="FFFF00"/>
              </a:highlight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BDDCAD-D72E-4831-A6AD-FC36049E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WorksRecorded will do it for them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F9F14C3-3F94-4553-9594-7AE3726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D940AC5-04DA-4D32-80C5-7AAEDD33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Losing money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7C495F6-8883-43A7-BE1F-B21C1D69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No data → no visibility → bad decisions → losing money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0EB585-E9C5-402A-A012-3AAF584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61938E-ED1C-4B79-89A4-1A63F10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958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Costs are unpredictable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E14D021-5633-4CA7-B7BD-ADD9E09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Will the project be profitable? Without data, you can’t answer.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22F34-0583-41E1-BDE2-33F0954F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4692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F514FA7-0554-4316-91E5-30FDDE89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Why don’t contractors use data?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6CF1E1-1D5C-4E3E-83B0-4C3E4D57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A7A93A-5549-496F-A374-F394A6EC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collect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3BCD30B-329D-4DCC-B4E1-0CE203F8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How do you even track what 20 workers do during the day? 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C3026F-41DF-4EE6-953C-D66B620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657F94-172D-49F9-9A94-8B8DEA8B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structure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CE9F297-D90B-4F83-B221-FC09E6E7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What do you record, and how?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A69771-EE8C-48B2-B62E-7FDE26F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66E4A16-E5C9-48D9-976B-203573C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Hard to analyze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8AE9124-B3BD-463C-8E00-230CE3C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What do you do with 2,000 Excel rows after a year-long construction project?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4DF7D-D1F0-41E7-A8D4-3F5BAAD4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1982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A645D17-DC3B-CD19-1A56-49C34E0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How we help 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D09C23-A343-119D-0640-E09AAE2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61D22E2-D781-3AC0-19FC-AF18102F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Provide a data collection tool – WhatsApp automation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F20A53-2AD3-4CA3-6B21-D35FC07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The site manager sends a WhatsApp voice message describing the day’s work.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EE6F05-0976-85CC-862D-D4FBA490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5F904B-50CB-29E8-96FB-0F31393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WorksRecorded analyzes and structures messages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0971A1E-9BC9-44EF-1A19-CBD10E2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WorksRecorded turns messages into structured records and tracks costs against the budget.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9388B51-3B61-CACC-AC9B-480F0BB8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BE9775C-1FDF-9F7C-68A7-1AC278BF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The project manager or owner receives analytics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E616BF-B03A-854C-AB20-527C08E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Spending breakdowns, delays, additional work and progress reports – everything needed to make decisions based on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E862E-4672-4477-B14B-8FC96065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06997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A645D17-DC3B-CD19-1A56-49C34E0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StoneAndTree (client) example </a:t>
            </a:r>
            <a:endParaRPr sz="3600" b="1" i="0" u="none" kern="1200" cap="none" spc="0" baseline="0">
              <a:ln>
                <a:noFill/>
              </a:ln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D09C23-A343-119D-0640-E09AAE2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013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endParaRPr sz="1350" b="1" i="0" u="none" cap="none" spc="0">
              <a:ln>
                <a:noFill/>
              </a:ln>
              <a:solidFill>
                <a:srgbClr val="008B80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7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627620b64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046" y="1628013"/>
            <a:ext cx="8827008" cy="441350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DB526-5795-450D-A038-6B39FD8D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4699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8C0D80-D5DE-467F-A114-569B00F5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ICP - specialty trade contractors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4E5D290-6F78-4046-A7CE-E38222F8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950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10–49 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B7BDF1D-5A67-4F36-A377-4F8580A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Employees in the company 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40E1A3-BC7F-4E71-A39C-55B522D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572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Enough operational complexity</a:t>
            </a: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to need better records.</a:t>
            </a:r>
          </a:p>
          <a:p xmlns:a="http://schemas.openxmlformats.org/drawingml/2006/main">
            <a:endParaRPr sz="2325" b="0"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Limited capacity to build and</a:t>
            </a:r>
          </a:p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maintain an internal system.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16FE9C-5BF7-4D1C-AB9F-990B61CB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Adjacent opportunity: medium-sized manufacturers, with ZTC as an early customer.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4C47F-2332-477A-8C55-C468BBDA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9043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B364AFB-16BF-F4EF-3178-6AEA195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Market size 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BE60FE1-845C-7487-4A26-426E652B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616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B11E46-278C-EBFF-5C4E-458F6ED0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Latvia: initial market</a:t>
            </a:r>
            <a:endParaRPr sz="2250" b="0">
              <a:solidFill>
                <a:srgbClr val="122C3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8A1BE3-7B39-CA6F-4775-D4C9A469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15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Sizing: 3 paying users/company × €50/month, before discounts or custom fees. Full market potential.</a:t>
            </a:r>
          </a:p>
          <a:p xmlns:a="http://schemas.openxmlformats.org/drawingml/2006/main">
            <a:pPr>
              <a:buNone/>
              <a:defRPr sz="14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Eurostat, NACE 43, 10–49 people employed. Latvia: 2024. EU-27: 2023, includes estimates.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B4E1047-7A69-45E8-968D-5E7CE38E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4777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Specialty construction enterprises with 10–49 people employed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06AD83F-7468-490A-A930-8211664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Europe: EU-27 market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A65947-32FB-4098-BFA3-759A1FB2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~142,000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0B9765-8382-445A-BA16-16D453F4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enterprises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3B0AF8E-71AC-49E1-9AD2-C49556F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62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enterprises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D8CA223-3E1A-45B1-94F5-E6903AF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€1.11M / year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CDE4BC-C25F-4124-8528-3790091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~€255M / year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BB14F53-9F2D-400C-B29F-A599DFB9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annual software opportunity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E857783-EE91-463F-858F-92B98E8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67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annual software opportunity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C8555-14F9-448C-9EFF-068182CD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8191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E2CD63-474A-4D05-8791-4CB3A94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Five active subscriptions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84B42-24A6-4938-ABBF-849F9A0A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€780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2F1FC68-FB05-41C1-B3AD-5587689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monthly recurring revenue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BDBE97-186D-481C-B712-0D6E406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622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€156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35E0144-25AA-42AA-BDA4-B2E3C18C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average monthly revenue</a:t>
            </a:r>
          </a:p>
          <a:p xmlns:a="http://schemas.openxmlformats.org/drawingml/2006/main">
            <a:pPr>
              <a:buNone/>
              <a:def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per company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20956F-9F3C-4BD3-AE98-3C4EC715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9DCD5"/>
                </a:solidFill>
                <a:latin typeface="Bitstream Charter"/>
                <a:ea typeface="Bitstream Charter"/>
                <a:cs typeface="Bitstream Charter"/>
              </a:rPr>
              <a:t>€9,360 annualised recurring revenue. Payment history: 1–2 months.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1158F-B0F8-41F3-ADD7-5EEF0D9A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C2C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AEC2C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3662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8EDF8BD-E63E-43D5-A36A-2354C150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Current customer revenue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5E1E9E-8924-44E0-B6FA-FE20ED77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TGEM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35259B-5CA7-49B9-AB23-5C07881D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€250 / month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4D18B8-14E2-441A-BE4B-22E964B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Limeni.lv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7C73B40-7A06-4F57-B3FD-4EE294C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812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€180 / month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CA1260-6304-4A1C-9460-E9221790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ZTC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FF2BA1E-5CFA-41EF-9053-5A16808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€150 / month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24057A-317B-4D08-975C-B2CF5F21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Stone and Tree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9F33BDC-B105-43E4-B07F-D3461231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338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€120 / month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415E4E-9ABF-4A78-BFAE-904108F9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SIA 1212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88EA2D7-39A3-4FCE-BA45-17026E6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0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€80 / month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0AD922-7A01-4877-8EE9-C53F1F8D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1418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2686B"/>
                </a:solidFill>
                <a:latin typeface="Bitstream Charter"/>
                <a:ea typeface="Bitstream Charter"/>
                <a:cs typeface="Bitstream Charter"/>
              </a:rPr>
              <a:t>Trials and former customers are excluded from the €780 MRR total.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C874276-C8AD-7D00-C92C-338B0347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22C32"/>
                </a:solidFill>
                <a:latin typeface="Bitstream Charter"/>
                <a:ea typeface="Bitstream Charter"/>
                <a:cs typeface="Bitstream Charter"/>
              </a:rPr>
              <a:t>SB STOMME (trial ongoing)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4FEF6AF-BCD3-47B9-DD7F-3A5362E9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863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07F73"/>
                </a:solidFill>
                <a:latin typeface="Bitstream Charter"/>
                <a:ea typeface="Bitstream Charter"/>
                <a:cs typeface="Bitstream Charter"/>
              </a:rPr>
              <a:t>€90 / month after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D6DE6-2181-4A2F-BB59-5A8254C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86354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98CAD-FD7A-4875-9BCA-6D75B2A6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Pricing and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BF829-65F1-4CC9-A6BB-AE098ED9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Monthly company bills reflect paid users, discounts and custom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A2BAD-0D60-4D50-9D17-DE99D5FD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€50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DD545-7E2E-4DEF-9F94-3246F441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per paying user / month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33EA-BA7E-4B21-BD07-7B6F7FBE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How the bill grows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0E3AE-8C51-4AA0-AFF6-CF0FC697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More paying users</a:t>
            </a:r>
          </a:p>
          <a:p xmlns:a="http://schemas.openxmlformats.org/drawingml/2006/main">
            <a:pPr>
              <a:defRPr sz="217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Paid custom functionality</a:t>
            </a:r>
          </a:p>
          <a:p xmlns:a="http://schemas.openxmlformats.org/drawingml/2006/main">
            <a:pPr>
              <a:defRPr sz="217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Agreed discounts reduce the bill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62000" y="4400550"/>
          <a:ext xmlns:a="http://schemas.openxmlformats.org/drawingml/2006/main" cx="1066800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952750"/>
                <a:gridCol w="2952750"/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Illustration at list price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 paying users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 paying users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Monthly subscription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€150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€300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A601D-0F42-43B2-B351-E153C2A4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Current realised average: €156/company/month across five subscriptions.</a:t>
            </a:r>
          </a:p>
          <a:p xmlns:a="http://schemas.openxmlformats.org/drawingml/2006/main">
            <a:pPr>
              <a:defRPr sz="17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Only recurring custom fees belong in MRR. One-off work stays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A76CC-56E8-462B-A614-319CE9FD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2954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D145F-9402-4D48-99E3-EF34CA13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Alternatives and our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36596-DEC9-4AAC-AB14-CBF576A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Our proposed advantage: site teams report through WhatsApp, and owners receive structured analytics.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220027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905250"/>
                <a:gridCol w="45720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offers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Our focus for a small contractor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WhatsApp + Excel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Messages and flexible spreadsheets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Convert site updates into structured records and reports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Fieldwire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Plans, tasks, reports and forms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Collect WhatsApp voice updates, with supported setup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Buildertrend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Daily logs plus project and financial tools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Deliver focused reporting without a full platform rollout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4AE51-E828-4F29-BD71-3751C93F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We need to prove the advantage through activation, reporting consistency and time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2F6DF-292B-4A38-A3AF-DCBD3CA0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16103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0CBBE-F84B-415F-A017-D83B4AB1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What customer acquisition has shown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D0DB6-8DB0-41C8-B415-29A7AA2B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Small sample from one month. Conversion after the demo still needs measurement.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EDD4E-1B5F-4021-9F01-A7ACA0DC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83597-BDED-48A9-ADBF-877C792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cold calls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600EF-CE7D-4408-9F35-DB2D993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66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3C128-E353-4ECE-BB7D-7928CF2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95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demos booked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5A015-DC8F-42DC-9D87-0624DCFB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12.7% call-to-demo booking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20AC5-5D5E-4F1B-B77B-A4B5B0B3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Facebook has also brought paying customers.</a:t>
            </a:r>
          </a:p>
          <a:p xmlns:a="http://schemas.openxmlformats.org/drawingml/2006/main">
            <a:pPr>
              <a:defRPr sz="2025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We have not yet established channel CAC or reliable demo-to-paid conversion.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38043-DB76-4894-A49A-47307EDB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1979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1EE7D-C5C8-4220-8F9D-695AEDDE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The next 90 days: test a repeatable sales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4AD65-B651-40B1-A37B-45A2F84A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Proposed experiments, with results deciding the next spending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7147C-153A-4BA7-9040-6921313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Latvia: targeted outbound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A169D-D15E-4300-BE69-CC07A78E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Build a list of 10–49 person contractors. Track each contact, demo, trial and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9D358-1D7B-497F-86E6-D09CC5D2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Turn demos into live project trials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0A61B-00D8-4751-8A52-5387849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Use the contractor’s own project in the demo. Set up the first report together and agree the paid start 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146F5-BC3E-4D67-B8FF-EAAED17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Test one expansion 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BD0CA-66DC-4E99-9C47-0E4E6DB1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Start with a small Swedish pilot cohort. Compare paid conversion and support effort before scaling or adding the UK.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E3164-A9D4-40C9-A2C7-3BAB99CF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1826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98982-3DDE-4DDA-BD94-653001F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 bottom-up sales model we can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78BFB-FF06-40AB-A79F-A709EE5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Follow each monthly cohort from first contact through payment and renewal.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0668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810000"/>
                <a:gridCol w="40005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Cohort / channel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today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Measure next</a:t>
                      </a:r>
                    </a:p>
                  </a:txBody>
                  <a:tcPr marL="91440" marR="91440" marT="45720" marB="45720">
                    <a:solidFill>
                      <a:srgbClr val="142F3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Latvia outbound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55 calls, 7 demos booked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Demos held, trials, paying customers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Latvia Facebook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Paying customers reported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Attributed spend, new payers and CAC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Sweden pilot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No validated funnel yet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F35"/>
                          </a:solidFill>
                          <a:latin typeface="Calibri"/>
                          <a:ea typeface="Calibri"/>
                          <a:cs typeface="Calibri"/>
                        </a:rPr>
                        <a:t>Activation, paid conversion and retention</a:t>
                      </a:r>
                    </a:p>
                  </a:txBody>
                  <a:tcPr marL="91440" marR="91440" marT="45720" marB="4572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C17DD-9B7E-491C-8390-65DB3B7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New customers = demos held × trial rate × paid conversion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DC627-8572-4D52-9869-47230262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Monthly revenue = paying customers × realised revenue per customer</a:t>
            </a:r>
          </a:p>
          <a:p xmlns:a="http://schemas.openxmlformats.org/drawingml/2006/main">
            <a:pPr>
              <a:defRPr sz="18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CAC = (channel spend + allocated sales labour) ÷ new paying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BE360-4E0A-4CA4-9779-6CB33CBD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108028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EAB78-806D-4FEB-9AD4-24EDBD6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Delivery costs and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0233F-259C-46BB-857A-0280841D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The next test must measure the labour behind each subscription.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1527B-6B56-4B3D-B7C7-3EC0700C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Current software spend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BAFE3-8FBD-40CC-B7FB-415FF7F0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About $80 / month</a:t>
            </a:r>
          </a:p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$40 OpenAI + $40 hosting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FB2CE-2133-4B46-84EE-E0F7B91C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Current delivery effort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89791-EDCC-4F71-A0E7-BACD01B8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About 3 hours to onboard</a:t>
            </a:r>
          </a:p>
          <a:p xmlns:a="http://schemas.openxmlformats.org/drawingml/2006/main">
            <a:pPr>
              <a:defRPr sz="225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Under 1 hour/week per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81A8B-861A-4D04-A418-B9315C2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Measure before scaling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BD356-E302-484A-9686-5F3AE4DD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Track founder and developer time, support minutes and advertising spend.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Calculate contribution after delivery labour and variable software costs.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26FA2-387B-4973-9F9E-5EF42CE3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68992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35BA4CD-5C4E-4732-A2A9-759D110A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Team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27BB7F-75C3-4988-BA77-6FEBD1E9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Vjaceslavs</a:t>
            </a:r>
          </a:p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Gromatovics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392C90-1DB6-4B05-802B-1CF647FF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BEng in Civil Engineering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508F114-2165-43E5-9F7B-FBCFE7D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8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5 years as a construction site manager</a:t>
            </a:r>
          </a:p>
          <a:p xmlns:a="http://schemas.openxmlformats.org/drawingml/2006/main"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5 years as a project manager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B1E63E-44C7-41C4-B4A9-57405C4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Working full-time on WorksRecorded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0F50FFB-D2AA-4373-8BB3-C8BE584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80% ownership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8CED15D-0ACF-4BCF-B8E8-55FFA975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Deivids</a:t>
            </a:r>
          </a:p>
          <a:p xmlns:a="http://schemas.openxmlformats.org/drawingml/2006/main">
            <a:pPr>
              <a:buNone/>
              <a:def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Berkolds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CC7D36-CA00-490F-80BC-B7215D7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60787D"/>
                </a:solidFill>
                <a:latin typeface="Bitstream Charter"/>
                <a:ea typeface="Bitstream Charter"/>
                <a:cs typeface="Bitstream Charter"/>
              </a:rPr>
              <a:t>BEng in Computer Science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588DBD3-9DF8-4BB0-901D-8973D3E8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43037"/>
                </a:solidFill>
                <a:latin typeface="Bitstream Charter"/>
                <a:ea typeface="Bitstream Charter"/>
                <a:cs typeface="Bitstream Charter"/>
              </a:rPr>
              <a:t>Senior JavaScript developer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33AE3B-7944-4879-BD3D-AD5DEE0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08B80"/>
                </a:solidFill>
                <a:latin typeface="Bitstream Charter"/>
                <a:ea typeface="Bitstream Charter"/>
                <a:cs typeface="Bitstream Charter"/>
              </a:rPr>
              <a:t>20% ownership</a:t>
            </a:r>
            <a:endParaRPr sz="1875" b="0">
              <a:solidFill>
                <a:srgbClr val="52686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78583-7FF5-41A6-B61C-50660798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327888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827AE-721E-495F-B864-ADCE7D1C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Funding the next validation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D0F67-5B45-4985-A2AC-CE993446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Draft funding scope: a 90-day test of demand, retention and delivery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86AA0-CFCE-4F26-B67A-31388BDE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What funding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C2EA5-691F-42F8-A292-F892E527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Founder time for sales and onboarding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Measured outbound and advertising tests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Product work that reduces servicing effort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4A462-B09D-45E5-A938-E13ED12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Proposed success measures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62592-3261-414F-8815-2A92D3BB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905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10 additional paying companies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80% retention after 8 weeks*</a:t>
            </a:r>
          </a:p>
          <a:p xmlns:a="http://schemas.openxmlformats.org/drawingml/2006/main">
            <a:pPr>
              <a:defRPr sz="2100" b="0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Support ≤30 min/client/week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233AC-4986-4E8A-A19A-B69E333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F35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42F35"/>
                </a:solidFill>
                <a:latin typeface="Calibri"/>
                <a:ea typeface="Calibri"/>
                <a:cs typeface="Calibri"/>
              </a:rPr>
              <a:t>Budget decision needed: raise amount and funding instrument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F3753-072B-41FA-B758-F961394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*Measure only cohorts old enough to reach 8 weeks. Targets are proposed tests.</a:t>
            </a:r>
          </a:p>
          <a:p xmlns:a="http://schemas.openxmlformats.org/drawingml/2006/main">
            <a:pPr>
              <a:defRPr sz="165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Set the ask from founder costs, test spend and development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1A5D0-8A63-4948-B244-9B733FF1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3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B7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B70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20552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2026-09-18T13:13:15.3470000Z</dcterms:created>
  <dcterms:modified xsi:type="dcterms:W3CDTF">2026-09-18T13:13:15.3470000Z</dcterms:modified>
</coreProperties>
</file>