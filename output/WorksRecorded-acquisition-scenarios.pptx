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58066726894219" /><Relationship Type="http://schemas.openxmlformats.org/officeDocument/2006/relationships/extended-properties" Target="/docProps/app.xml" Id="Rf6552b3a0ee74be6" /><Relationship Type="http://schemas.openxmlformats.org/officeDocument/2006/relationships/officeDocument" Target="/ppt/presentation.xml" Id="R113d3abd7f704035" /></Relationships>
</file>

<file path=ppt/presentation.xml><?xml version="1.0" encoding="utf-8"?>
<p:presentation xmlns:p="http://schemas.openxmlformats.org/presentationml/2006/main">
  <p:sldMasterIdLst>
    <p:sldMasterId xmlns:r="http://schemas.openxmlformats.org/officeDocument/2006/relationships" id="2147483648" r:id="R9e4db07b0196409a"/>
  </p:sldMasterIdLst>
  <p:notesMasterIdLst>
    <p:notesMasterId xmlns:r="http://schemas.openxmlformats.org/officeDocument/2006/relationships" r:id="R15b19ba7f3414659"/>
  </p:notesMasterIdLst>
  <p:sldIdLst>
    <p:sldId xmlns:r="http://schemas.openxmlformats.org/officeDocument/2006/relationships" id="256" r:id="R5d76481774504425"/>
    <p:sldId xmlns:r="http://schemas.openxmlformats.org/officeDocument/2006/relationships" id="257" r:id="Ra53653c513b24d10"/>
    <p:sldId xmlns:r="http://schemas.openxmlformats.org/officeDocument/2006/relationships" id="258" r:id="Rde048067b2994ce8"/>
    <p:sldId xmlns:r="http://schemas.openxmlformats.org/officeDocument/2006/relationships" id="259" r:id="Rec6490c86ef94d4a"/>
    <p:sldId xmlns:r="http://schemas.openxmlformats.org/officeDocument/2006/relationships" id="260" r:id="Ref1da765d4ab449e"/>
    <p:sldId xmlns:r="http://schemas.openxmlformats.org/officeDocument/2006/relationships" id="261" r:id="Rc81ffe878fa24592"/>
    <p:sldId xmlns:r="http://schemas.openxmlformats.org/officeDocument/2006/relationships" id="262" r:id="R9b289ce7321b46d6"/>
    <p:sldId xmlns:r="http://schemas.openxmlformats.org/officeDocument/2006/relationships" id="263" r:id="Ra75dea752adc4a3b"/>
    <p:sldId xmlns:r="http://schemas.openxmlformats.org/officeDocument/2006/relationships" id="264" r:id="R557c62dcb9b84a4e"/>
    <p:sldId xmlns:r="http://schemas.openxmlformats.org/officeDocument/2006/relationships" id="265" r:id="R8280e36576b7401a"/>
    <p:sldId xmlns:r="http://schemas.openxmlformats.org/officeDocument/2006/relationships" id="266" r:id="Re5b5248af00d40e8"/>
    <p:sldId xmlns:r="http://schemas.openxmlformats.org/officeDocument/2006/relationships" id="267" r:id="Rfad8292362724918"/>
    <p:sldId xmlns:r="http://schemas.openxmlformats.org/officeDocument/2006/relationships" id="268" r:id="R72df137382e04baf"/>
    <p:sldId xmlns:r="http://schemas.openxmlformats.org/officeDocument/2006/relationships" id="269" r:id="Re58289d1d9d74ea3"/>
    <p:sldId xmlns:r="http://schemas.openxmlformats.org/officeDocument/2006/relationships" id="270" r:id="Ra763480c4fad42d9"/>
    <p:sldId xmlns:r="http://schemas.openxmlformats.org/officeDocument/2006/relationships" id="271" r:id="R9fc156940c074167"/>
    <p:sldId xmlns:r="http://schemas.openxmlformats.org/officeDocument/2006/relationships" id="272" r:id="R08b7f98f5d454ca1"/>
    <p:sldId xmlns:r="http://schemas.openxmlformats.org/officeDocument/2006/relationships" id="273" r:id="R59fa12ef29dc4b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f1e7ae03bfa4ad7" /><Relationship Type="http://schemas.openxmlformats.org/officeDocument/2006/relationships/slideMaster" Target="/ppt/slideMasters/slideMaster1.xml" Id="R9e4db07b0196409a" /><Relationship Type="http://schemas.openxmlformats.org/officeDocument/2006/relationships/notesMaster" Target="/ppt/notesMasters/notesMaster1.xml" Id="R15b19ba7f3414659" /><Relationship Type="http://schemas.openxmlformats.org/officeDocument/2006/relationships/presProps" Target="/ppt/presProps.xml" Id="R0ca005b11a134060" /><Relationship Type="http://schemas.openxmlformats.org/officeDocument/2006/relationships/viewProps" Target="/ppt/viewProps.xml" Id="R4887873204ad4b38" /><Relationship Type="http://schemas.openxmlformats.org/officeDocument/2006/relationships/tableStyles" Target="/ppt/tableStyles.xml" Id="Rb5a794e7c2a042a5" /><Relationship Type="http://schemas.openxmlformats.org/officeDocument/2006/relationships/slide" Target="/ppt/slides/slide1.xml" Id="R5d76481774504425" /><Relationship Type="http://schemas.openxmlformats.org/officeDocument/2006/relationships/slide" Target="/ppt/slides/slide2.xml" Id="Ra53653c513b24d10" /><Relationship Type="http://schemas.openxmlformats.org/officeDocument/2006/relationships/slide" Target="/ppt/slides/slide3.xml" Id="Rde048067b2994ce8" /><Relationship Type="http://schemas.openxmlformats.org/officeDocument/2006/relationships/slide" Target="/ppt/slides/slide4.xml" Id="Rec6490c86ef94d4a" /><Relationship Type="http://schemas.openxmlformats.org/officeDocument/2006/relationships/slide" Target="/ppt/slides/slide5.xml" Id="Ref1da765d4ab449e" /><Relationship Type="http://schemas.openxmlformats.org/officeDocument/2006/relationships/slide" Target="/ppt/slides/slide6.xml" Id="Rc81ffe878fa24592" /><Relationship Type="http://schemas.openxmlformats.org/officeDocument/2006/relationships/slide" Target="/ppt/slides/slide7.xml" Id="R9b289ce7321b46d6" /><Relationship Type="http://schemas.openxmlformats.org/officeDocument/2006/relationships/slide" Target="/ppt/slides/slide8.xml" Id="Ra75dea752adc4a3b" /><Relationship Type="http://schemas.openxmlformats.org/officeDocument/2006/relationships/slide" Target="/ppt/slides/slide9.xml" Id="R557c62dcb9b84a4e" /><Relationship Type="http://schemas.openxmlformats.org/officeDocument/2006/relationships/slide" Target="/ppt/slides/slide10.xml" Id="R8280e36576b7401a" /><Relationship Type="http://schemas.openxmlformats.org/officeDocument/2006/relationships/slide" Target="/ppt/slides/slide11.xml" Id="Re5b5248af00d40e8" /><Relationship Type="http://schemas.openxmlformats.org/officeDocument/2006/relationships/slide" Target="/ppt/slides/slide12.xml" Id="Rfad8292362724918" /><Relationship Type="http://schemas.openxmlformats.org/officeDocument/2006/relationships/slide" Target="/ppt/slides/slide13.xml" Id="R72df137382e04baf" /><Relationship Type="http://schemas.openxmlformats.org/officeDocument/2006/relationships/slide" Target="/ppt/slides/slide14.xml" Id="Re58289d1d9d74ea3" /><Relationship Type="http://schemas.openxmlformats.org/officeDocument/2006/relationships/slide" Target="/ppt/slides/slide15.xml" Id="Ra763480c4fad42d9" /><Relationship Type="http://schemas.openxmlformats.org/officeDocument/2006/relationships/slide" Target="/ppt/slides/slide16.xml" Id="R9fc156940c074167" /><Relationship Type="http://schemas.openxmlformats.org/officeDocument/2006/relationships/slide" Target="/ppt/slides/slide17.xml" Id="R08b7f98f5d454ca1" /><Relationship Type="http://schemas.openxmlformats.org/officeDocument/2006/relationships/slide" Target="/ppt/slides/slide18.xml" Id="R59fa12ef29dc4b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e3e56a0e7149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601541f78247f8" /><Relationship Type="http://schemas.openxmlformats.org/officeDocument/2006/relationships/notesMaster" Target="/ppt/notesMasters/notesMaster1.xml" Id="Rd2329ba4e42341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562e5f66cd4ee2" /><Relationship Type="http://schemas.openxmlformats.org/officeDocument/2006/relationships/notesMaster" Target="/ppt/notesMasters/notesMaster1.xml" Id="R46181a7da2b94c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3b550a45474374" /><Relationship Type="http://schemas.openxmlformats.org/officeDocument/2006/relationships/notesMaster" Target="/ppt/notesMasters/notesMaster1.xml" Id="Rdbea0f99584747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4f53f6a0ac42bc" /><Relationship Type="http://schemas.openxmlformats.org/officeDocument/2006/relationships/notesMaster" Target="/ppt/notesMasters/notesMaster1.xml" Id="Ra18f6bf012f34b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361407428e4467" /><Relationship Type="http://schemas.openxmlformats.org/officeDocument/2006/relationships/notesMaster" Target="/ppt/notesMasters/notesMaster1.xml" Id="R4e823ad8093e44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6a50c0d3d14d24" /><Relationship Type="http://schemas.openxmlformats.org/officeDocument/2006/relationships/notesMaster" Target="/ppt/notesMasters/notesMaster1.xml" Id="R557add46883b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8af39ae5f74d29" /><Relationship Type="http://schemas.openxmlformats.org/officeDocument/2006/relationships/notesMaster" Target="/ppt/notesMasters/notesMaster1.xml" Id="R086c94bb679b4c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a7e1a523b048d2" /><Relationship Type="http://schemas.openxmlformats.org/officeDocument/2006/relationships/notesMaster" Target="/ppt/notesMasters/notesMaster1.xml" Id="R89585c7fc57344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0676d50964444c" /><Relationship Type="http://schemas.openxmlformats.org/officeDocument/2006/relationships/notesMaster" Target="/ppt/notesMasters/notesMaster1.xml" Id="R29cb6e2226b4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932c80d47f4b06" /><Relationship Type="http://schemas.openxmlformats.org/officeDocument/2006/relationships/notesMaster" Target="/ppt/notesMasters/notesMaster1.xml" Id="Re89cbdd3d6e745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b1d63360dc490e" /><Relationship Type="http://schemas.openxmlformats.org/officeDocument/2006/relationships/notesMaster" Target="/ppt/notesMasters/notesMaster1.xml" Id="Raaa7907c791141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5f32022f0d48f2" /><Relationship Type="http://schemas.openxmlformats.org/officeDocument/2006/relationships/notesMaster" Target="/ppt/notesMasters/notesMaster1.xml" Id="Rfe5d9189ee7e45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01756a536a44db" /><Relationship Type="http://schemas.openxmlformats.org/officeDocument/2006/relationships/notesMaster" Target="/ppt/notesMasters/notesMaster1.xml" Id="R91a5eea622ba40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c53b1392f940e1" /><Relationship Type="http://schemas.openxmlformats.org/officeDocument/2006/relationships/notesMaster" Target="/ppt/notesMasters/notesMaster1.xml" Id="Rfee102c3929847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f604796e884324" /><Relationship Type="http://schemas.openxmlformats.org/officeDocument/2006/relationships/notesMaster" Target="/ppt/notesMasters/notesMaster1.xml" Id="Rcee4ce42525945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f9b468d7334851" /><Relationship Type="http://schemas.openxmlformats.org/officeDocument/2006/relationships/notesMaster" Target="/ppt/notesMasters/notesMaster1.xml" Id="R9cb9b1dc2ec04a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486c9833ee4f97" /><Relationship Type="http://schemas.openxmlformats.org/officeDocument/2006/relationships/notesMaster" Target="/ppt/notesMasters/notesMaster1.xml" Id="Rbbaeb60fa5a34c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7c023d14534ab8" /><Relationship Type="http://schemas.openxmlformats.org/officeDocument/2006/relationships/notesMaster" Target="/ppt/notesMasters/notesMaster1.xml" Id="R7729e96725bd4d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Founder target price EUR300/company/month, annual EUR3600. Latvia=EUR2217600; EU=EUR510890400. Full penetration market potential, not expected revenue. At current rounded EUR150/company/month the corresponding benchmarks are EUR1108800 and EUR255445200.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update: approximately EUR150 current monthly revenue per company, intended EUR300 per company monthly. Exact current average from source subscriptions EUR156. Previously founder confirmed EUR50/user with discounts and custom-function upsells. Present current billing and planned company subscription separately. Do not claim EUR300 is current achieved ARPA or that every customer will upgrade. Package scope and recurring versus one-off custom charges remain to define. Target ACV=300*12=3600. Current rounded ACV=150*12=1800, exact current=1872.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 history: approximately80 approached;7 signed overall including1 free pilot and1 former paying customer who left after3months. Thus6 ever paying and5 currently paying. Existing active trial remains outside signed/paying totals. 6/80=7.5%;5/80=6.25%. Approximate denominator. These are cumulative snapshot ratios, not cohort churn rates. Channel CAC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Founder-revised history: around80 companies approached,7 signed including1 free pilot and1 payer churned after3months;5 currently paying. Ever-paid6/80=7.5%. Current paying5/80=6.25%. Scenario uses EUR150/company/month and EUR1800 annual value, not target EUR300. Observed sample scenario5*150*12=9000 annualised; actual previously documented MRR remains EUR780, exact ARPA EUR156. Latvia616*.0625=38.5;MRR5775;annual69300. EU141914*.0625=8869.625;MRR1330443.75;annual15965325, rounded EUR15.97M. No rounding of intermediate customers. Not a time-based forecast, cohort model or market-size estimate. Assumes every prospect reached and early cumulative ratio transferable; international applicability, time-to-reach, CAC, retention and cohort age unvalidated. One churn after3months cannot establish monthly churn. Latvia included in EU; do not add. Source market populations: Eurostat SBS_SC_OVW, F43, ENT_NR, sizes10-19 and20-49: Latvia2024 408+208=616;EU27 2023 101914+40000=141914, latter band estimated. https://ec.europa.eu/eurostat/databrowser/view/sbs_sc_ovw/default/table?lang=en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history: ~100 companies approached over ~one year, six ever paid, five remain paying, one former payer churned, free pilot and active trial. Previous one-month direct outreach sample:55 calls,7 demos booked=12.7%. Relationship of this sample to annual total not fully documented; do not sum the two. Target company subscription EUR300/month=EUR3600 ACV; current ~EUR150. Track monthly cohorts by geography and channel to establish comparable conversion and retention. Do not extrapolate the cumulative ~5% ratio as a stable forecast. Channel costs unavailable, so CAC remains uncalculated.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scope for a 90-day validation period. Funding amount and instrument remain undecided. Proposed milestones, not forecasts:10 additional paying companies;80% retention after8weeks among eligible cohorts;support&lt;=30min/client/week. Validate the EUR300 company/month offer alongside actual acquisition costs. Founder-supplied annual acquisition history ~100 approached,5 current payers,1 former payer,1 free pilot,1 trial. Targets have not been validated by historical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f92e3df8ac41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d67468e73f4379" /><Relationship Type="http://schemas.openxmlformats.org/officeDocument/2006/relationships/slideLayout" Target="/ppt/slideLayouts/slideLayout1.xml" Id="R2088843d763f4c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88843d763f4c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6ae49c4b2d4aeb" /><Relationship Type="http://schemas.openxmlformats.org/officeDocument/2006/relationships/notesSlide" Target="/ppt/notesSlides/notesSlide1.xml" Id="R437a943330524c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93c3d361384bca" /><Relationship Type="http://schemas.openxmlformats.org/officeDocument/2006/relationships/notesSlide" Target="/ppt/notesSlides/notesSlide2.xml" Id="Raf0b2cdc23c54b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05ed26123f4dd4" /><Relationship Type="http://schemas.openxmlformats.org/officeDocument/2006/relationships/notesSlide" Target="/ppt/notesSlides/notesSlide3.xml" Id="Rdbe3747af9d74b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b2474547514169" /><Relationship Type="http://schemas.openxmlformats.org/officeDocument/2006/relationships/notesSlide" Target="/ppt/notesSlides/notesSlide4.xml" Id="Ra53b0111cb7643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0e2e27f3274be8" /><Relationship Type="http://schemas.openxmlformats.org/officeDocument/2006/relationships/image" Target="/ppt/media/image.png" Id="Rb72cdac98a0a4cb4" /><Relationship Type="http://schemas.openxmlformats.org/officeDocument/2006/relationships/notesSlide" Target="/ppt/notesSlides/notesSlide5.xml" Id="Ra68b599488be45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3cc22e894b404c" /><Relationship Type="http://schemas.openxmlformats.org/officeDocument/2006/relationships/notesSlide" Target="/ppt/notesSlides/notesSlide6.xml" Id="R20ebae69dde04e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645d2cd4364423" /><Relationship Type="http://schemas.openxmlformats.org/officeDocument/2006/relationships/notesSlide" Target="/ppt/notesSlides/notesSlide7.xml" Id="R954aa759f2984b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3f8c7f86cc4a8c" /><Relationship Type="http://schemas.openxmlformats.org/officeDocument/2006/relationships/notesSlide" Target="/ppt/notesSlides/notesSlide8.xml" Id="Rea0932af9e834d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fa73b378644fd7" /><Relationship Type="http://schemas.openxmlformats.org/officeDocument/2006/relationships/notesSlide" Target="/ppt/notesSlides/notesSlide9.xml" Id="R659d31048b694f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37006849e44582" /><Relationship Type="http://schemas.openxmlformats.org/officeDocument/2006/relationships/notesSlide" Target="/ppt/notesSlides/notesSlide10.xml" Id="Rd06f73e4aa1640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9fad96d6e64b92" /><Relationship Type="http://schemas.openxmlformats.org/officeDocument/2006/relationships/notesSlide" Target="/ppt/notesSlides/notesSlide11.xml" Id="R48ffa3ba23634c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fc94f59c2f4ece" /><Relationship Type="http://schemas.openxmlformats.org/officeDocument/2006/relationships/notesSlide" Target="/ppt/notesSlides/notesSlide12.xml" Id="Rb7a8755b040446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aa841f5494496e" /><Relationship Type="http://schemas.openxmlformats.org/officeDocument/2006/relationships/notesSlide" Target="/ppt/notesSlides/notesSlide13.xml" Id="Rb869fc64d57f4a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2051effd6140bb" /><Relationship Type="http://schemas.openxmlformats.org/officeDocument/2006/relationships/notesSlide" Target="/ppt/notesSlides/notesSlide14.xml" Id="Ra7428ba9d2d840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aa501c96224529" /><Relationship Type="http://schemas.openxmlformats.org/officeDocument/2006/relationships/notesSlide" Target="/ppt/notesSlides/notesSlide15.xml" Id="Rfb07720670b64f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d68ed254434045" /><Relationship Type="http://schemas.openxmlformats.org/officeDocument/2006/relationships/notesSlide" Target="/ppt/notesSlides/notesSlide16.xml" Id="Rbb05155c2f3842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027ecfd4044551" /><Relationship Type="http://schemas.openxmlformats.org/officeDocument/2006/relationships/notesSlide" Target="/ppt/notesSlides/notesSlide17.xml" Id="Ree0cafd3950d4d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bbdb223d1c408d" /><Relationship Type="http://schemas.openxmlformats.org/officeDocument/2006/relationships/notesSlide" Target="/ppt/notesSlides/notesSlide18.xml" Id="Re6b54f32d8d243fa"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2E56F58E-8BB3-4428-9CD9-1EABEA645CA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04A86FD4-73D2-45C3-9411-7197FA762CE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666B0608-E962-470D-A0BD-FAEF954E9B4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FB79EB3-CD2F-486D-9198-AE99E7D6CF2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9" name="Picture 9"/>
          <p:cNvPicPr>
            <a:picLocks xmlns:a="http://schemas.openxmlformats.org/drawingml/2006/main" noChangeAspect="1"/>
          </p:cNvPicPr>
          <p:nvPr/>
        </p:nvPicPr>
        <p:blipFill>
          <a:blip xmlns:r="http://schemas.openxmlformats.org/officeDocument/2006/relationships" xmlns:a="http://schemas.openxmlformats.org/drawingml/2006/main" r:embed="Rb72cdac98a0a4cb4"/>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7A9501A-9E23-4441-8495-95BC172248B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C3BB3BC9-0101-4A7C-A4E4-BDCE5E13154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B364AFB-16BF-F4EF-3178-6AEA19547355}"/>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Market size </a:t>
            </a:r>
          </a:p>
        </p:txBody>
      </p:sp>
      <p:sp>
        <p:nvSpPr>
          <p:cNvPr id="3" name="Rectangle 2">
            <a:extLst xmlns:a="http://schemas.openxmlformats.org/drawingml/2006/main">
              <a:ext uri="{FF2B5EF4-FFF2-40B4-BE49-F238E27FC236}">
                <a16:creationId xmlns:a16="http://schemas.microsoft.com/office/drawing/2014/main" id="{0BE60FE1-845C-7487-4A26-426E652B8CD9}"/>
              </a:ext>
            </a:extLst>
          </p:cNvPr>
          <p:cNvSpPr>
            <a:spLocks xmlns:a="http://schemas.openxmlformats.org/drawingml/2006/main" noGrp="1"/>
          </p:cNvSpPr>
          <p:nvPr/>
        </p:nvSpPr>
        <p:spPr>
          <a:xfrm xmlns:a="http://schemas.openxmlformats.org/drawingml/2006/main">
            <a:off x="685800" y="21431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616</a:t>
            </a:r>
          </a:p>
        </p:txBody>
      </p:sp>
      <p:sp>
        <p:nvSpPr>
          <p:cNvPr id="4" name="Rectangle 3">
            <a:extLst xmlns:a="http://schemas.openxmlformats.org/drawingml/2006/main">
              <a:ext uri="{FF2B5EF4-FFF2-40B4-BE49-F238E27FC236}">
                <a16:creationId xmlns:a16="http://schemas.microsoft.com/office/drawing/2014/main" id="{9AB11E46-278C-EBFF-5C4E-458F6ED0551D}"/>
              </a:ext>
            </a:extLst>
          </p:cNvPr>
          <p:cNvSpPr>
            <a:spLocks xmlns:a="http://schemas.openxmlformats.org/drawingml/2006/main" noGrp="1"/>
          </p:cNvSpPr>
          <p:nvPr/>
        </p:nvSpPr>
        <p:spPr>
          <a:xfrm xmlns:a="http://schemas.openxmlformats.org/drawingml/2006/main">
            <a:off x="723900"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Latvia: initial market</a:t>
            </a:r>
            <a:endParaRPr sz="2250" b="0">
              <a:solidFill>
                <a:srgbClr val="122C32"/>
              </a:solidFill>
              <a:latin typeface="Bitstream Charter"/>
              <a:ea typeface="Bitstream Charter"/>
              <a:cs typeface="Bitstream Charter"/>
            </a:endParaRPr>
          </a:p>
        </p:txBody>
      </p:sp>
      <p:sp>
        <p:nvSpPr>
          <p:cNvPr id="6" name="Rectangle 5">
            <a:extLst xmlns:a="http://schemas.openxmlformats.org/drawingml/2006/main">
              <a:ext uri="{FF2B5EF4-FFF2-40B4-BE49-F238E27FC236}">
                <a16:creationId xmlns:a16="http://schemas.microsoft.com/office/drawing/2014/main" id="{718A1BE3-7B39-CA6F-4775-D4C9A4690FC5}"/>
              </a:ext>
            </a:extLst>
          </p:cNvPr>
          <p:cNvSpPr>
            <a:spLocks xmlns:a="http://schemas.openxmlformats.org/drawingml/2006/main" noGrp="1"/>
          </p:cNvSpPr>
          <p:nvPr/>
        </p:nvSpPr>
        <p:spPr>
          <a:xfrm xmlns:a="http://schemas.openxmlformats.org/drawingml/2006/main">
            <a:off x="7239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Sizing at target price: €300/company/month. Annual potential at full penetration.</a:t>
            </a:r>
          </a:p>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NACE 43, 10–49 people employed. Latvia: 2024. EU-27: 2023, includes estimates.</a:t>
            </a:r>
          </a:p>
        </p:txBody>
      </p:sp>
      <p:sp>
        <p:nvSpPr>
          <p:cNvPr id="8" name="Rectangle 7">
            <a:extLst xmlns:a="http://schemas.openxmlformats.org/drawingml/2006/main">
              <a:ext uri="{FF2B5EF4-FFF2-40B4-BE49-F238E27FC236}">
                <a16:creationId xmlns:a16="http://schemas.microsoft.com/office/drawing/2014/main" id="{9B4E1047-7A69-45E8-968D-5E7CE38EB8AC}"/>
              </a:ext>
            </a:extLst>
          </p:cNvPr>
          <p:cNvSpPr>
            <a:spLocks xmlns:a="http://schemas.openxmlformats.org/drawingml/2006/main" noGrp="1"/>
          </p:cNvSpPr>
          <p:nvPr/>
        </p:nvSpPr>
        <p:spPr>
          <a:xfrm xmlns:a="http://schemas.openxmlformats.org/drawingml/2006/main">
            <a:off x="723900" y="12477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Specialty construction enterprises with 10–49 people employed</a:t>
            </a:r>
          </a:p>
        </p:txBody>
      </p:sp>
      <p:sp>
        <p:nvSpPr>
          <p:cNvPr id="9" name="Rectangle 8">
            <a:extLst xmlns:a="http://schemas.openxmlformats.org/drawingml/2006/main">
              <a:ext uri="{FF2B5EF4-FFF2-40B4-BE49-F238E27FC236}">
                <a16:creationId xmlns:a16="http://schemas.microsoft.com/office/drawing/2014/main" id="{A06AD83F-7468-490A-A930-8211664FA294}"/>
              </a:ext>
            </a:extLst>
          </p:cNvPr>
          <p:cNvSpPr>
            <a:spLocks xmlns:a="http://schemas.openxmlformats.org/drawingml/2006/main" noGrp="1"/>
          </p:cNvSpPr>
          <p:nvPr/>
        </p:nvSpPr>
        <p:spPr>
          <a:xfrm xmlns:a="http://schemas.openxmlformats.org/drawingml/2006/main">
            <a:off x="6619875"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Europe: EU-27 market</a:t>
            </a:r>
          </a:p>
        </p:txBody>
      </p:sp>
      <p:sp>
        <p:nvSpPr>
          <p:cNvPr id="10" name="Rectangle 9">
            <a:extLst xmlns:a="http://schemas.openxmlformats.org/drawingml/2006/main">
              <a:ext uri="{FF2B5EF4-FFF2-40B4-BE49-F238E27FC236}">
                <a16:creationId xmlns:a16="http://schemas.microsoft.com/office/drawing/2014/main" id="{EAA65947-32FB-4098-BFA3-759A1FB234BD}"/>
              </a:ext>
            </a:extLst>
          </p:cNvPr>
          <p:cNvSpPr>
            <a:spLocks xmlns:a="http://schemas.openxmlformats.org/drawingml/2006/main" noGrp="1"/>
          </p:cNvSpPr>
          <p:nvPr/>
        </p:nvSpPr>
        <p:spPr>
          <a:xfrm xmlns:a="http://schemas.openxmlformats.org/drawingml/2006/main">
            <a:off x="6581775" y="21431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11" name="Rectangle 10">
            <a:extLst xmlns:a="http://schemas.openxmlformats.org/drawingml/2006/main">
              <a:ext uri="{FF2B5EF4-FFF2-40B4-BE49-F238E27FC236}">
                <a16:creationId xmlns:a16="http://schemas.microsoft.com/office/drawing/2014/main" id="{9C0B9765-8382-445A-BA16-16D453F48D5F}"/>
              </a:ext>
            </a:extLst>
          </p:cNvPr>
          <p:cNvSpPr>
            <a:spLocks xmlns:a="http://schemas.openxmlformats.org/drawingml/2006/main" noGrp="1"/>
          </p:cNvSpPr>
          <p:nvPr/>
        </p:nvSpPr>
        <p:spPr>
          <a:xfrm xmlns:a="http://schemas.openxmlformats.org/drawingml/2006/main">
            <a:off x="723900"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2" name="Rectangle 11">
            <a:extLst xmlns:a="http://schemas.openxmlformats.org/drawingml/2006/main">
              <a:ext uri="{FF2B5EF4-FFF2-40B4-BE49-F238E27FC236}">
                <a16:creationId xmlns:a16="http://schemas.microsoft.com/office/drawing/2014/main" id="{73B0AF8E-71AC-49E1-9AD2-C49556F525A2}"/>
              </a:ext>
            </a:extLst>
          </p:cNvPr>
          <p:cNvSpPr>
            <a:spLocks xmlns:a="http://schemas.openxmlformats.org/drawingml/2006/main" noGrp="1"/>
          </p:cNvSpPr>
          <p:nvPr/>
        </p:nvSpPr>
        <p:spPr>
          <a:xfrm xmlns:a="http://schemas.openxmlformats.org/drawingml/2006/main">
            <a:off x="6619875"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3" name="Rectangle 12">
            <a:extLst xmlns:a="http://schemas.openxmlformats.org/drawingml/2006/main">
              <a:ext uri="{FF2B5EF4-FFF2-40B4-BE49-F238E27FC236}">
                <a16:creationId xmlns:a16="http://schemas.microsoft.com/office/drawing/2014/main" id="{AD8CA223-3E1A-45B1-94F5-E6903AF3BD36}"/>
              </a:ext>
            </a:extLst>
          </p:cNvPr>
          <p:cNvSpPr>
            <a:spLocks xmlns:a="http://schemas.openxmlformats.org/drawingml/2006/main" noGrp="1"/>
          </p:cNvSpPr>
          <p:nvPr/>
        </p:nvSpPr>
        <p:spPr>
          <a:xfrm xmlns:a="http://schemas.openxmlformats.org/drawingml/2006/main">
            <a:off x="723900"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€2.22M / year</a:t>
            </a:r>
          </a:p>
        </p:txBody>
      </p:sp>
      <p:sp>
        <p:nvSpPr>
          <p:cNvPr id="14" name="Rectangle 13">
            <a:extLst xmlns:a="http://schemas.openxmlformats.org/drawingml/2006/main">
              <a:ext uri="{FF2B5EF4-FFF2-40B4-BE49-F238E27FC236}">
                <a16:creationId xmlns:a16="http://schemas.microsoft.com/office/drawing/2014/main" id="{24CDE4BC-C25F-4124-8528-379009162667}"/>
              </a:ext>
            </a:extLst>
          </p:cNvPr>
          <p:cNvSpPr>
            <a:spLocks xmlns:a="http://schemas.openxmlformats.org/drawingml/2006/main" noGrp="1"/>
          </p:cNvSpPr>
          <p:nvPr/>
        </p:nvSpPr>
        <p:spPr>
          <a:xfrm xmlns:a="http://schemas.openxmlformats.org/drawingml/2006/main">
            <a:off x="6619875"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~€511M / year</a:t>
            </a:r>
          </a:p>
        </p:txBody>
      </p:sp>
      <p:sp>
        <p:nvSpPr>
          <p:cNvPr id="15" name="Rectangle 14">
            <a:extLst xmlns:a="http://schemas.openxmlformats.org/drawingml/2006/main">
              <a:ext uri="{FF2B5EF4-FFF2-40B4-BE49-F238E27FC236}">
                <a16:creationId xmlns:a16="http://schemas.microsoft.com/office/drawing/2014/main" id="{4BB14F53-9F2D-400C-B29F-A599DFB9C285}"/>
              </a:ext>
            </a:extLst>
          </p:cNvPr>
          <p:cNvSpPr>
            <a:spLocks xmlns:a="http://schemas.openxmlformats.org/drawingml/2006/main" noGrp="1"/>
          </p:cNvSpPr>
          <p:nvPr/>
        </p:nvSpPr>
        <p:spPr>
          <a:xfrm xmlns:a="http://schemas.openxmlformats.org/drawingml/2006/main">
            <a:off x="723900"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6" name="Rectangle 15">
            <a:extLst xmlns:a="http://schemas.openxmlformats.org/drawingml/2006/main">
              <a:ext uri="{FF2B5EF4-FFF2-40B4-BE49-F238E27FC236}">
                <a16:creationId xmlns:a16="http://schemas.microsoft.com/office/drawing/2014/main" id="{2E857783-EE91-463F-858F-92B98E83F6A8}"/>
              </a:ext>
            </a:extLst>
          </p:cNvPr>
          <p:cNvSpPr>
            <a:spLocks xmlns:a="http://schemas.openxmlformats.org/drawingml/2006/main" noGrp="1"/>
          </p:cNvSpPr>
          <p:nvPr/>
        </p:nvSpPr>
        <p:spPr>
          <a:xfrm xmlns:a="http://schemas.openxmlformats.org/drawingml/2006/main">
            <a:off x="6619875"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7" name="">
            <a:extLst xmlns:a="http://schemas.openxmlformats.org/drawingml/2006/main">
              <a:ext uri="{FF2B5EF4-FFF2-40B4-BE49-F238E27FC236}">
                <a16:creationId xmlns:a16="http://schemas.microsoft.com/office/drawing/2014/main" id="{BE0E4EAA-BB03-46B8-BC94-AE6CAA7D932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8.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A22DDCD3-B3E8-4048-AE0E-72C7790BBDC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B13D32E6-AFA2-458A-8661-584504F39E2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Current pricing and target pricing</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€150/company/month. Target: €300/company/month.</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€300 target / company / month</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Test a company subscription</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Define included users and features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Validate upgrades with paying clients</a:t>
            </a:r>
          </a:p>
        </p:txBody>
      </p:sp>
      <p:graphicFrame>
        <p:nvGraphicFramePr>
          <p:cNvPr id="19"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Company subscription</a:t>
                      </a:r>
                    </a:p>
                  </a:txBody>
                  <a:tcPr marL="91440" marR="91440" marT="45720" marB="45720">
                    <a:solidFill>
                      <a:srgbClr val="142F35"/>
                    </a:solidFill>
                  </a:tcPr>
                </a:tc>
                <a:tc>
                  <a:txBody>
                    <a:bodyPr/>
                    <a:lstStyle/>
                    <a:p>
                      <a:r>
                        <a:rPr sz="1875" b="1">
                          <a:solidFill>
                            <a:srgbClr val="FFFFFF"/>
                          </a:solidFill>
                          <a:latin typeface="Calibri"/>
                          <a:ea typeface="Calibri"/>
                          <a:cs typeface="Calibri"/>
                        </a:rPr>
                        <a:t>Current average</a:t>
                      </a:r>
                    </a:p>
                  </a:txBody>
                  <a:tcPr marL="91440" marR="91440" marT="45720" marB="45720">
                    <a:solidFill>
                      <a:srgbClr val="142F35"/>
                    </a:solidFill>
                  </a:tcPr>
                </a:tc>
                <a:tc>
                  <a:txBody>
                    <a:bodyPr/>
                    <a:lstStyle/>
                    <a:p>
                      <a:r>
                        <a:rPr sz="1875" b="1">
                          <a:solidFill>
                            <a:srgbClr val="FFFFFF"/>
                          </a:solidFill>
                          <a:latin typeface="Calibri"/>
                          <a:ea typeface="Calibri"/>
                          <a:cs typeface="Calibri"/>
                        </a:rPr>
                        <a:t>Target price</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Annual revenue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c>
                  <a:txBody>
                    <a:bodyPr/>
                    <a:lstStyle/>
                    <a:p>
                      <a:r>
                        <a:rPr sz="1875" b="0">
                          <a:solidFill>
                            <a:srgbClr val="142F35"/>
                          </a:solidFill>
                          <a:latin typeface="Calibri"/>
                          <a:ea typeface="Calibri"/>
                          <a:cs typeface="Calibri"/>
                        </a:rPr>
                        <a:t>€3,600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Current billing: €50/user/month, adjusted for discounts and custom features.</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The €300 company price is a target. Included scope and adoption remain to be tested.</a:t>
            </a:r>
          </a:p>
        </p:txBody>
      </p:sp>
      <p:sp>
        <p:nvSpPr>
          <p:cNvPr id="12" name="">
            <a:extLst xmlns:a="http://schemas.openxmlformats.org/drawingml/2006/main">
              <a:ext uri="{FF2B5EF4-FFF2-40B4-BE49-F238E27FC236}">
                <a16:creationId xmlns:a16="http://schemas.microsoft.com/office/drawing/2014/main" id="{394FC422-C52E-4934-BD9F-F09F0B5FD2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1"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8" name="">
            <a:extLst xmlns:a="http://schemas.openxmlformats.org/drawingml/2006/main">
              <a:ext uri="{FF2B5EF4-FFF2-40B4-BE49-F238E27FC236}">
                <a16:creationId xmlns:a16="http://schemas.microsoft.com/office/drawing/2014/main" id="{B3A9179F-11B2-44FE-9459-C8D3ACFD1BC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Approximately 80 companies approached over about one year through outreach and Facebook.</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~80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6.25% currently paying / approached. 7.5% became paying customers.</a:t>
            </a:r>
          </a:p>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Seven signed in total, including one free pilot. One paying customer left after 3 months.</a:t>
            </a:r>
          </a:p>
        </p:txBody>
      </p:sp>
      <p:sp>
        <p:nvSpPr>
          <p:cNvPr id="13" name="">
            <a:extLst xmlns:a="http://schemas.openxmlformats.org/drawingml/2006/main">
              <a:ext uri="{FF2B5EF4-FFF2-40B4-BE49-F238E27FC236}">
                <a16:creationId xmlns:a16="http://schemas.microsoft.com/office/drawing/2014/main" id="{465F9A23-3F0E-4EA9-B3A6-FFCE6127554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3668A3-D7E2-4E4F-9229-BD49406876CE}"/>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42F35"/>
                </a:solidFill>
                <a:latin typeface="Calibri"/>
                <a:ea typeface="Calibri"/>
                <a:cs typeface="Calibri"/>
              </a:defRPr>
            </a:pPr>
            <a:r>
              <a:rPr sz="3075" b="1">
                <a:solidFill>
                  <a:srgbClr val="142F35"/>
                </a:solidFill>
                <a:latin typeface="Calibri"/>
                <a:ea typeface="Calibri"/>
                <a:cs typeface="Calibri"/>
              </a:rPr>
              <a:t>Revenue scenarios from early acquisition results</a:t>
            </a:r>
          </a:p>
        </p:txBody>
      </p:sp>
      <p:sp>
        <p:nvSpPr>
          <p:cNvPr id="2" name="">
            <a:extLst xmlns:a="http://schemas.openxmlformats.org/drawingml/2006/main">
              <a:ext uri="{FF2B5EF4-FFF2-40B4-BE49-F238E27FC236}">
                <a16:creationId xmlns:a16="http://schemas.microsoft.com/office/drawing/2014/main" id="{C0DA8213-C8E7-435F-9C90-8F8AFCFC79C4}"/>
              </a:ext>
            </a:extLst>
          </p:cNvPr>
          <p:cNvSpPr>
            <a:spLocks xmlns:a="http://schemas.openxmlformats.org/drawingml/2006/main" noGrp="1"/>
          </p:cNvSpPr>
          <p:nvPr/>
        </p:nvSpPr>
        <p:spPr>
          <a:xfrm xmlns:a="http://schemas.openxmlformats.org/drawingml/2006/main">
            <a:off x="762000" y="1343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B70"/>
                </a:solidFill>
                <a:latin typeface="Calibri"/>
                <a:ea typeface="Calibri"/>
                <a:cs typeface="Calibri"/>
              </a:defRPr>
            </a:pPr>
            <a:r>
              <a:rPr sz="1950" b="0">
                <a:solidFill>
                  <a:srgbClr val="536B70"/>
                </a:solidFill>
                <a:latin typeface="Calibri"/>
                <a:ea typeface="Calibri"/>
                <a:cs typeface="Calibri"/>
              </a:rPr>
              <a:t>~80 approached: 7 signed, including 1 free pilot and 1 payer who left after 3 months.</a:t>
            </a:r>
          </a:p>
        </p:txBody>
      </p:sp>
      <p:sp>
        <p:nvSpPr>
          <p:cNvPr id="3" name="">
            <a:extLst xmlns:a="http://schemas.openxmlformats.org/drawingml/2006/main">
              <a:ext uri="{FF2B5EF4-FFF2-40B4-BE49-F238E27FC236}">
                <a16:creationId xmlns:a16="http://schemas.microsoft.com/office/drawing/2014/main" id="{2128E1B4-493C-48CA-BF56-FE213D789F52}"/>
              </a:ext>
            </a:extLst>
          </p:cNvPr>
          <p:cNvSpPr>
            <a:spLocks xmlns:a="http://schemas.openxmlformats.org/drawingml/2006/main" noGrp="1"/>
          </p:cNvSpPr>
          <p:nvPr/>
        </p:nvSpPr>
        <p:spPr>
          <a:xfrm xmlns:a="http://schemas.openxmlformats.org/drawingml/2006/main">
            <a:off x="762000" y="208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8579"/>
                </a:solidFill>
                <a:latin typeface="Calibri"/>
                <a:ea typeface="Calibri"/>
                <a:cs typeface="Calibri"/>
              </a:defRPr>
            </a:pPr>
            <a:r>
              <a:rPr sz="2625" b="1">
                <a:solidFill>
                  <a:srgbClr val="008579"/>
                </a:solidFill>
                <a:latin typeface="Calibri"/>
                <a:ea typeface="Calibri"/>
                <a:cs typeface="Calibri"/>
              </a:rPr>
              <a:t>5 current payers ÷ 80 approached = 6.25%</a:t>
            </a:r>
          </a:p>
        </p:txBody>
      </p:sp>
      <p:sp>
        <p:nvSpPr>
          <p:cNvPr id="4" name="">
            <a:extLst xmlns:a="http://schemas.openxmlformats.org/drawingml/2006/main">
              <a:ext uri="{FF2B5EF4-FFF2-40B4-BE49-F238E27FC236}">
                <a16:creationId xmlns:a16="http://schemas.microsoft.com/office/drawing/2014/main" id="{48963C9F-7B1F-4561-9BC5-F0084CBC501A}"/>
              </a:ext>
            </a:extLst>
          </p:cNvPr>
          <p:cNvSpPr>
            <a:spLocks xmlns:a="http://schemas.openxmlformats.org/drawingml/2006/main" noGrp="1"/>
          </p:cNvSpPr>
          <p:nvPr/>
        </p:nvSpPr>
        <p:spPr>
          <a:xfrm xmlns:a="http://schemas.openxmlformats.org/drawingml/2006/main">
            <a:off x="762000" y="2676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F35"/>
                </a:solidFill>
                <a:latin typeface="Calibri"/>
                <a:ea typeface="Calibri"/>
                <a:cs typeface="Calibri"/>
              </a:defRPr>
            </a:pPr>
            <a:r>
              <a:rPr sz="2175" b="0">
                <a:solidFill>
                  <a:srgbClr val="142F35"/>
                </a:solidFill>
                <a:latin typeface="Calibri"/>
                <a:ea typeface="Calibri"/>
                <a:cs typeface="Calibri"/>
              </a:rPr>
              <a:t>Companies reached × 6.25% × €150/month × 12</a:t>
            </a:r>
          </a:p>
        </p:txBody>
      </p:sp>
      <p:graphicFrame>
        <p:nvGraphicFramePr>
          <p:cNvPr id="12" name=""/>
          <p:cNvGraphicFramePr/>
          <p:nvPr/>
        </p:nvGraphicFramePr>
        <p:xfrm>
          <a:off xmlns:a="http://schemas.openxmlformats.org/drawingml/2006/main" x="762000" y="3314700"/>
          <a:ext xmlns:a="http://schemas.openxmlformats.org/drawingml/2006/main" cx="10668000" cy="2114550"/>
        </p:xfrm>
        <a:graphic xmlns:a="http://schemas.openxmlformats.org/drawingml/2006/main">
          <a:graphicData uri="http://schemas.openxmlformats.org/drawingml/2006/table">
            <a:tbl>
              <a:tblPr/>
              <a:tblGrid>
                <a:gridCol w="5286375"/>
                <a:gridCol w="2524125"/>
                <a:gridCol w="2857500"/>
              </a:tblGrid>
              <a:tr h="457200">
                <a:tc>
                  <a:txBody>
                    <a:bodyPr/>
                    <a:lstStyle/>
                    <a:p>
                      <a:r>
                        <a:rPr sz="1875" b="1">
                          <a:solidFill>
                            <a:srgbClr val="FFFFFF"/>
                          </a:solidFill>
                          <a:latin typeface="Calibri"/>
                          <a:ea typeface="Calibri"/>
                          <a:cs typeface="Calibri"/>
                        </a:rPr>
                        <a:t>Reach scenario</a:t>
                      </a:r>
                    </a:p>
                  </a:txBody>
                  <a:tcPr marL="91440" marR="91440" marT="45720" marB="45720">
                    <a:solidFill>
                      <a:srgbClr val="142F35"/>
                    </a:solidFill>
                  </a:tcPr>
                </a:tc>
                <a:tc>
                  <a:txBody>
                    <a:bodyPr/>
                    <a:lstStyle/>
                    <a:p>
                      <a:r>
                        <a:rPr sz="1875" b="1">
                          <a:solidFill>
                            <a:srgbClr val="FFFFFF"/>
                          </a:solidFill>
                          <a:latin typeface="Calibri"/>
                          <a:ea typeface="Calibri"/>
                          <a:cs typeface="Calibri"/>
                        </a:rPr>
                        <a:t>Paying companies</a:t>
                      </a:r>
                    </a:p>
                  </a:txBody>
                  <a:tcPr marL="91440" marR="91440" marT="45720" marB="45720">
                    <a:solidFill>
                      <a:srgbClr val="142F35"/>
                    </a:solidFill>
                  </a:tcPr>
                </a:tc>
                <a:tc>
                  <a:txBody>
                    <a:bodyPr/>
                    <a:lstStyle/>
                    <a:p>
                      <a:r>
                        <a:rPr sz="1875" b="1">
                          <a:solidFill>
                            <a:srgbClr val="FFFFFF"/>
                          </a:solidFill>
                          <a:latin typeface="Calibri"/>
                          <a:ea typeface="Calibri"/>
                          <a:cs typeface="Calibri"/>
                        </a:rPr>
                        <a:t>Annualised revenue</a:t>
                      </a:r>
                    </a:p>
                  </a:txBody>
                  <a:tcPr marL="91440" marR="91440" marT="45720" marB="45720">
                    <a:solidFill>
                      <a:srgbClr val="142F35"/>
                    </a:solidFill>
                  </a:tcPr>
                </a:tc>
              </a:tr>
              <a:tr h="552450">
                <a:tc>
                  <a:txBody>
                    <a:bodyPr/>
                    <a:lstStyle/>
                    <a:p>
                      <a:r>
                        <a:rPr sz="1875" b="0">
                          <a:solidFill>
                            <a:srgbClr val="142F35"/>
                          </a:solidFill>
                          <a:latin typeface="Calibri"/>
                          <a:ea typeface="Calibri"/>
                          <a:cs typeface="Calibri"/>
                        </a:rPr>
                        <a:t>80 companies (observed sample)</a:t>
                      </a:r>
                    </a:p>
                  </a:txBody>
                  <a:tcPr marL="91440" marR="91440" marT="45720" marB="45720">
                    <a:solidFill>
                      <a:srgbClr val="F6F4EE"/>
                    </a:solidFill>
                  </a:tcPr>
                </a:tc>
                <a:tc>
                  <a:txBody>
                    <a:bodyPr/>
                    <a:lstStyle/>
                    <a:p>
                      <a:r>
                        <a:rPr sz="1875" b="0">
                          <a:solidFill>
                            <a:srgbClr val="142F35"/>
                          </a:solidFill>
                          <a:latin typeface="Calibri"/>
                          <a:ea typeface="Calibri"/>
                          <a:cs typeface="Calibri"/>
                        </a:rPr>
                        <a:t>5</a:t>
                      </a:r>
                    </a:p>
                  </a:txBody>
                  <a:tcPr marL="91440" marR="91440" marT="45720" marB="45720">
                    <a:solidFill>
                      <a:srgbClr val="F6F4EE"/>
                    </a:solidFill>
                  </a:tcPr>
                </a:tc>
                <a:tc>
                  <a:txBody>
                    <a:bodyPr/>
                    <a:lstStyle/>
                    <a:p>
                      <a:r>
                        <a:rPr sz="1875" b="0">
                          <a:solidFill>
                            <a:srgbClr val="142F35"/>
                          </a:solidFill>
                          <a:latin typeface="Calibri"/>
                          <a:ea typeface="Calibri"/>
                          <a:cs typeface="Calibri"/>
                        </a:rPr>
                        <a:t>€9,000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616 companies (all Latvia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~39</a:t>
                      </a:r>
                    </a:p>
                  </a:txBody>
                  <a:tcPr marL="91440" marR="91440" marT="45720" marB="45720">
                    <a:solidFill>
                      <a:srgbClr val="F6F4EE"/>
                    </a:solidFill>
                  </a:tcPr>
                </a:tc>
                <a:tc>
                  <a:txBody>
                    <a:bodyPr/>
                    <a:lstStyle/>
                    <a:p>
                      <a:r>
                        <a:rPr sz="1875" b="0">
                          <a:solidFill>
                            <a:srgbClr val="142F35"/>
                          </a:solidFill>
                          <a:latin typeface="Calibri"/>
                          <a:ea typeface="Calibri"/>
                          <a:cs typeface="Calibri"/>
                        </a:rPr>
                        <a:t>~€69,300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141,914 companies (all EU-27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~8,870</a:t>
                      </a:r>
                    </a:p>
                  </a:txBody>
                  <a:tcPr marL="91440" marR="91440" marT="45720" marB="45720">
                    <a:solidFill>
                      <a:srgbClr val="F6F4EE"/>
                    </a:solidFill>
                  </a:tcPr>
                </a:tc>
                <a:tc>
                  <a:txBody>
                    <a:bodyPr/>
                    <a:lstStyle/>
                    <a:p>
                      <a:r>
                        <a:rPr sz="1875" b="0">
                          <a:solidFill>
                            <a:srgbClr val="142F35"/>
                          </a:solidFill>
                          <a:latin typeface="Calibri"/>
                          <a:ea typeface="Calibri"/>
                          <a:cs typeface="Calibri"/>
                        </a:rPr>
                        <a:t>~€15.97M</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B379D7DD-AA56-49B2-9504-19F35DF40A5F}"/>
              </a:ext>
            </a:extLst>
          </p:cNvPr>
          <p:cNvSpPr>
            <a:spLocks xmlns:a="http://schemas.openxmlformats.org/drawingml/2006/main" noGrp="1"/>
          </p:cNvSpPr>
          <p:nvPr/>
        </p:nvSpPr>
        <p:spPr>
          <a:xfrm xmlns:a="http://schemas.openxmlformats.org/drawingml/2006/main">
            <a:off x="762000" y="567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0"/>
                </a:solidFill>
                <a:latin typeface="Calibri"/>
                <a:ea typeface="Calibri"/>
                <a:cs typeface="Calibri"/>
              </a:defRPr>
            </a:pPr>
            <a:r>
              <a:rPr sz="1650" b="0">
                <a:solidFill>
                  <a:srgbClr val="536B70"/>
                </a:solidFill>
                <a:latin typeface="Calibri"/>
                <a:ea typeface="Calibri"/>
                <a:cs typeface="Calibri"/>
              </a:rPr>
              <a:t>Conditional scenarios assume the same ratio after reaching every company shown.</a:t>
            </a:r>
          </a:p>
          <a:p xmlns:a="http://schemas.openxmlformats.org/drawingml/2006/main">
            <a:pPr>
              <a:defRPr sz="1650" b="0">
                <a:solidFill>
                  <a:srgbClr val="536B70"/>
                </a:solidFill>
                <a:latin typeface="Calibri"/>
                <a:ea typeface="Calibri"/>
                <a:cs typeface="Calibri"/>
              </a:defRPr>
            </a:pPr>
            <a:r>
              <a:rPr sz="1650" b="0">
                <a:solidFill>
                  <a:srgbClr val="536B70"/>
                </a:solidFill>
                <a:latin typeface="Calibri"/>
                <a:ea typeface="Calibri"/>
                <a:cs typeface="Calibri"/>
              </a:rPr>
              <a:t>€150 is a modelling average. Results use unrounded counts and are not a sales forecast.</a:t>
            </a:r>
          </a:p>
        </p:txBody>
      </p:sp>
      <p:sp>
        <p:nvSpPr>
          <p:cNvPr id="7" name="">
            <a:extLst xmlns:a="http://schemas.openxmlformats.org/drawingml/2006/main">
              <a:ext uri="{FF2B5EF4-FFF2-40B4-BE49-F238E27FC236}">
                <a16:creationId xmlns:a16="http://schemas.microsoft.com/office/drawing/2014/main" id="{E14E9AB7-147D-4E29-876D-889A9346476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84685296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11" name="">
            <a:extLst xmlns:a="http://schemas.openxmlformats.org/drawingml/2006/main">
              <a:ext uri="{FF2B5EF4-FFF2-40B4-BE49-F238E27FC236}">
                <a16:creationId xmlns:a16="http://schemas.microsoft.com/office/drawing/2014/main" id="{BE26C493-393E-47DD-8491-7331A3980B9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259193421"/>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2"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~80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Target contract value: €300/month = €3,600/year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9" name="">
            <a:extLst xmlns:a="http://schemas.openxmlformats.org/drawingml/2006/main">
              <a:ext uri="{FF2B5EF4-FFF2-40B4-BE49-F238E27FC236}">
                <a16:creationId xmlns:a16="http://schemas.microsoft.com/office/drawing/2014/main" id="{CD647DF6-52CC-4563-AB46-A2A1ED6618C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1854655625"/>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11" name="">
            <a:extLst xmlns:a="http://schemas.openxmlformats.org/drawingml/2006/main">
              <a:ext uri="{FF2B5EF4-FFF2-40B4-BE49-F238E27FC236}">
                <a16:creationId xmlns:a16="http://schemas.microsoft.com/office/drawing/2014/main" id="{FB37D982-C657-4701-8627-A5957CC3C9C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236899290"/>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01215526-A494-4F73-905C-77BA36B359A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1732788866"/>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6843CD-6876-4AFA-AF01-F918D63E22AC}"/>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Funding the next validation stage</a:t>
            </a:r>
          </a:p>
        </p:txBody>
      </p:sp>
      <p:sp>
        <p:nvSpPr>
          <p:cNvPr id="2" name="">
            <a:extLst xmlns:a="http://schemas.openxmlformats.org/drawingml/2006/main">
              <a:ext uri="{FF2B5EF4-FFF2-40B4-BE49-F238E27FC236}">
                <a16:creationId xmlns:a16="http://schemas.microsoft.com/office/drawing/2014/main" id="{E42506A3-140B-4F0D-AF71-025A8E42BB9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Draft funding scope: a 90-day test of demand, retention and delivery cost.</a:t>
            </a:r>
          </a:p>
        </p:txBody>
      </p:sp>
      <p:sp>
        <p:nvSpPr>
          <p:cNvPr id="3" name="">
            <a:extLst xmlns:a="http://schemas.openxmlformats.org/drawingml/2006/main">
              <a:ext uri="{FF2B5EF4-FFF2-40B4-BE49-F238E27FC236}">
                <a16:creationId xmlns:a16="http://schemas.microsoft.com/office/drawing/2014/main" id="{99340D67-95D8-4C90-913C-F6201AC57A11}"/>
              </a:ext>
            </a:extLst>
          </p:cNvPr>
          <p:cNvSpPr>
            <a:spLocks xmlns:a="http://schemas.openxmlformats.org/drawingml/2006/main" noGrp="1"/>
          </p:cNvSpPr>
          <p:nvPr/>
        </p:nvSpPr>
        <p:spPr>
          <a:xfrm xmlns:a="http://schemas.openxmlformats.org/drawingml/2006/main">
            <a:off x="762000" y="2133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What funding supports</a:t>
            </a:r>
          </a:p>
        </p:txBody>
      </p:sp>
      <p:sp>
        <p:nvSpPr>
          <p:cNvPr id="4" name="">
            <a:extLst xmlns:a="http://schemas.openxmlformats.org/drawingml/2006/main">
              <a:ext uri="{FF2B5EF4-FFF2-40B4-BE49-F238E27FC236}">
                <a16:creationId xmlns:a16="http://schemas.microsoft.com/office/drawing/2014/main" id="{53A3E292-41C2-4E58-B5C2-A07E8BC79E4D}"/>
              </a:ext>
            </a:extLst>
          </p:cNvPr>
          <p:cNvSpPr>
            <a:spLocks xmlns:a="http://schemas.openxmlformats.org/drawingml/2006/main" noGrp="1"/>
          </p:cNvSpPr>
          <p:nvPr/>
        </p:nvSpPr>
        <p:spPr>
          <a:xfrm xmlns:a="http://schemas.openxmlformats.org/drawingml/2006/main">
            <a:off x="762000" y="2762250"/>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Founder time for sales and onboarding</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Measured outbound and advertising tests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Product work that reduces servicing effort</a:t>
            </a:r>
          </a:p>
        </p:txBody>
      </p:sp>
      <p:sp>
        <p:nvSpPr>
          <p:cNvPr id="5" name="">
            <a:extLst xmlns:a="http://schemas.openxmlformats.org/drawingml/2006/main">
              <a:ext uri="{FF2B5EF4-FFF2-40B4-BE49-F238E27FC236}">
                <a16:creationId xmlns:a16="http://schemas.microsoft.com/office/drawing/2014/main" id="{4FBA8347-66E3-4CA2-9028-A5626F0721A2}"/>
              </a:ext>
            </a:extLst>
          </p:cNvPr>
          <p:cNvSpPr>
            <a:spLocks xmlns:a="http://schemas.openxmlformats.org/drawingml/2006/main" noGrp="1"/>
          </p:cNvSpPr>
          <p:nvPr/>
        </p:nvSpPr>
        <p:spPr>
          <a:xfrm xmlns:a="http://schemas.openxmlformats.org/drawingml/2006/main">
            <a:off x="6572250" y="21336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Proposed success measures</a:t>
            </a:r>
          </a:p>
        </p:txBody>
      </p:sp>
      <p:sp>
        <p:nvSpPr>
          <p:cNvPr id="6" name="">
            <a:extLst xmlns:a="http://schemas.openxmlformats.org/drawingml/2006/main">
              <a:ext uri="{FF2B5EF4-FFF2-40B4-BE49-F238E27FC236}">
                <a16:creationId xmlns:a16="http://schemas.microsoft.com/office/drawing/2014/main" id="{815D3448-2898-4F15-B5FA-03D4A16EA435}"/>
              </a:ext>
            </a:extLst>
          </p:cNvPr>
          <p:cNvSpPr>
            <a:spLocks xmlns:a="http://schemas.openxmlformats.org/drawingml/2006/main" noGrp="1"/>
          </p:cNvSpPr>
          <p:nvPr/>
        </p:nvSpPr>
        <p:spPr>
          <a:xfrm xmlns:a="http://schemas.openxmlformats.org/drawingml/2006/main">
            <a:off x="6572250" y="2762250"/>
            <a:ext cx="4905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10 additional paying companies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80% retention after 8 weeks*</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Support ≤30 min/client/week</a:t>
            </a:r>
          </a:p>
        </p:txBody>
      </p:sp>
      <p:sp>
        <p:nvSpPr>
          <p:cNvPr id="7" name="">
            <a:extLst xmlns:a="http://schemas.openxmlformats.org/drawingml/2006/main">
              <a:ext uri="{FF2B5EF4-FFF2-40B4-BE49-F238E27FC236}">
                <a16:creationId xmlns:a16="http://schemas.microsoft.com/office/drawing/2014/main" id="{F2CA8E9B-F574-4F3B-85E6-D5F1A02F8578}"/>
              </a:ext>
            </a:extLst>
          </p:cNvPr>
          <p:cNvSpPr>
            <a:spLocks xmlns:a="http://schemas.openxmlformats.org/drawingml/2006/main" noGrp="1"/>
          </p:cNvSpPr>
          <p:nvPr/>
        </p:nvSpPr>
        <p:spPr>
          <a:xfrm xmlns:a="http://schemas.openxmlformats.org/drawingml/2006/main">
            <a:off x="762000" y="52006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F35"/>
                </a:solidFill>
                <a:latin typeface="Calibri"/>
                <a:ea typeface="Calibri"/>
                <a:cs typeface="Calibri"/>
              </a:defRPr>
            </a:pPr>
            <a:r>
              <a:rPr sz="2175" b="1">
                <a:solidFill>
                  <a:srgbClr val="142F35"/>
                </a:solidFill>
                <a:latin typeface="Calibri"/>
                <a:ea typeface="Calibri"/>
                <a:cs typeface="Calibri"/>
              </a:rPr>
              <a:t>Budget decision needed: raise amount and funding instrument</a:t>
            </a:r>
          </a:p>
        </p:txBody>
      </p:sp>
      <p:sp>
        <p:nvSpPr>
          <p:cNvPr id="8" name="">
            <a:extLst xmlns:a="http://schemas.openxmlformats.org/drawingml/2006/main">
              <a:ext uri="{FF2B5EF4-FFF2-40B4-BE49-F238E27FC236}">
                <a16:creationId xmlns:a16="http://schemas.microsoft.com/office/drawing/2014/main" id="{666204E1-160F-408F-9E6A-3BB33A4C14D6}"/>
              </a:ext>
            </a:extLst>
          </p:cNvPr>
          <p:cNvSpPr>
            <a:spLocks xmlns:a="http://schemas.openxmlformats.org/drawingml/2006/main" noGrp="1"/>
          </p:cNvSpPr>
          <p:nvPr/>
        </p:nvSpPr>
        <p:spPr>
          <a:xfrm xmlns:a="http://schemas.openxmlformats.org/drawingml/2006/main">
            <a:off x="762000" y="58007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*Measure only cohorts old enough to reach 8 weeks. Targets are proposed tests.</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Set the ask from founder costs, test spend and development scope.</a:t>
            </a:r>
          </a:p>
        </p:txBody>
      </p:sp>
      <p:sp>
        <p:nvSpPr>
          <p:cNvPr id="11" name="">
            <a:extLst xmlns:a="http://schemas.openxmlformats.org/drawingml/2006/main">
              <a:ext uri="{FF2B5EF4-FFF2-40B4-BE49-F238E27FC236}">
                <a16:creationId xmlns:a16="http://schemas.microsoft.com/office/drawing/2014/main" id="{597F22FA-EE65-45F4-B30F-552C3BB747A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18</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2026-09-18T13:33:42.6390000Z</dcterms:created>
  <dcterms:modified xsi:type="dcterms:W3CDTF">2026-09-18T13:33:42.6390000Z</dcterms:modified>
</coreProperties>
</file>