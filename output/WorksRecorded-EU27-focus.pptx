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fd01bb8cd8349b4" /><Relationship Type="http://schemas.openxmlformats.org/officeDocument/2006/relationships/extended-properties" Target="/docProps/app.xml" Id="Rbfc84b8c1c414ed1" /><Relationship Type="http://schemas.openxmlformats.org/officeDocument/2006/relationships/officeDocument" Target="/ppt/presentation.xml" Id="Rd3636e41dd134784" /></Relationships>
</file>

<file path=ppt/presentation.xml><?xml version="1.0" encoding="utf-8"?>
<p:presentation xmlns:p="http://schemas.openxmlformats.org/presentationml/2006/main">
  <p:sldMasterIdLst>
    <p:sldMasterId xmlns:r="http://schemas.openxmlformats.org/officeDocument/2006/relationships" id="2147483648" r:id="R0330ad765fb945e4"/>
  </p:sldMasterIdLst>
  <p:notesMasterIdLst>
    <p:notesMasterId xmlns:r="http://schemas.openxmlformats.org/officeDocument/2006/relationships" r:id="Reb84a620f9ce4927"/>
  </p:notesMasterIdLst>
  <p:sldIdLst>
    <p:sldId xmlns:r="http://schemas.openxmlformats.org/officeDocument/2006/relationships" id="256" r:id="R959f26cad9554e71"/>
    <p:sldId xmlns:r="http://schemas.openxmlformats.org/officeDocument/2006/relationships" id="257" r:id="R0a9d007fc2a44906"/>
    <p:sldId xmlns:r="http://schemas.openxmlformats.org/officeDocument/2006/relationships" id="258" r:id="Rb5367f7d91584d15"/>
    <p:sldId xmlns:r="http://schemas.openxmlformats.org/officeDocument/2006/relationships" id="259" r:id="Ra82a7732ec2e43ee"/>
    <p:sldId xmlns:r="http://schemas.openxmlformats.org/officeDocument/2006/relationships" id="260" r:id="Rfa80437de6674860"/>
    <p:sldId xmlns:r="http://schemas.openxmlformats.org/officeDocument/2006/relationships" id="261" r:id="R3a243ff048224345"/>
    <p:sldId xmlns:r="http://schemas.openxmlformats.org/officeDocument/2006/relationships" id="262" r:id="Rf7aa564d738f48b3"/>
    <p:sldId xmlns:r="http://schemas.openxmlformats.org/officeDocument/2006/relationships" id="263" r:id="R4083d8180cc14397"/>
    <p:sldId xmlns:r="http://schemas.openxmlformats.org/officeDocument/2006/relationships" id="264" r:id="Rf99b9f1216664c33"/>
    <p:sldId xmlns:r="http://schemas.openxmlformats.org/officeDocument/2006/relationships" id="265" r:id="Rd203a8bc7be641bf"/>
    <p:sldId xmlns:r="http://schemas.openxmlformats.org/officeDocument/2006/relationships" id="266" r:id="Rd41608272e5a4fad"/>
    <p:sldId xmlns:r="http://schemas.openxmlformats.org/officeDocument/2006/relationships" id="267" r:id="R2f46f9e2be704e53"/>
    <p:sldId xmlns:r="http://schemas.openxmlformats.org/officeDocument/2006/relationships" id="268" r:id="R26ddcb2d67734bb1"/>
    <p:sldId xmlns:r="http://schemas.openxmlformats.org/officeDocument/2006/relationships" id="269" r:id="R06cc49db23a642c8"/>
    <p:sldId xmlns:r="http://schemas.openxmlformats.org/officeDocument/2006/relationships" id="270" r:id="R9a6013afe53c4d23"/>
    <p:sldId xmlns:r="http://schemas.openxmlformats.org/officeDocument/2006/relationships" id="271" r:id="Rf623b6701a954621"/>
    <p:sldId xmlns:r="http://schemas.openxmlformats.org/officeDocument/2006/relationships" id="272" r:id="R8b344361adae49bb"/>
    <p:sldId xmlns:r="http://schemas.openxmlformats.org/officeDocument/2006/relationships" id="273" r:id="Rf4145ea59d26419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74b13ba81a6346ef" /><Relationship Type="http://schemas.openxmlformats.org/officeDocument/2006/relationships/slideMaster" Target="/ppt/slideMasters/slideMaster1.xml" Id="R0330ad765fb945e4" /><Relationship Type="http://schemas.openxmlformats.org/officeDocument/2006/relationships/notesMaster" Target="/ppt/notesMasters/notesMaster1.xml" Id="Reb84a620f9ce4927" /><Relationship Type="http://schemas.openxmlformats.org/officeDocument/2006/relationships/presProps" Target="/ppt/presProps.xml" Id="R0a2bb26b1eee46ac" /><Relationship Type="http://schemas.openxmlformats.org/officeDocument/2006/relationships/viewProps" Target="/ppt/viewProps.xml" Id="Rdacb24a769e5452a" /><Relationship Type="http://schemas.openxmlformats.org/officeDocument/2006/relationships/tableStyles" Target="/ppt/tableStyles.xml" Id="R217a5698f6814dde" /><Relationship Type="http://schemas.openxmlformats.org/officeDocument/2006/relationships/slide" Target="/ppt/slides/slide1.xml" Id="R959f26cad9554e71" /><Relationship Type="http://schemas.openxmlformats.org/officeDocument/2006/relationships/slide" Target="/ppt/slides/slide2.xml" Id="R0a9d007fc2a44906" /><Relationship Type="http://schemas.openxmlformats.org/officeDocument/2006/relationships/slide" Target="/ppt/slides/slide3.xml" Id="Rb5367f7d91584d15" /><Relationship Type="http://schemas.openxmlformats.org/officeDocument/2006/relationships/slide" Target="/ppt/slides/slide4.xml" Id="Ra82a7732ec2e43ee" /><Relationship Type="http://schemas.openxmlformats.org/officeDocument/2006/relationships/slide" Target="/ppt/slides/slide5.xml" Id="Rfa80437de6674860" /><Relationship Type="http://schemas.openxmlformats.org/officeDocument/2006/relationships/slide" Target="/ppt/slides/slide6.xml" Id="R3a243ff048224345" /><Relationship Type="http://schemas.openxmlformats.org/officeDocument/2006/relationships/slide" Target="/ppt/slides/slide7.xml" Id="Rf7aa564d738f48b3" /><Relationship Type="http://schemas.openxmlformats.org/officeDocument/2006/relationships/slide" Target="/ppt/slides/slide8.xml" Id="R4083d8180cc14397" /><Relationship Type="http://schemas.openxmlformats.org/officeDocument/2006/relationships/slide" Target="/ppt/slides/slide9.xml" Id="Rf99b9f1216664c33" /><Relationship Type="http://schemas.openxmlformats.org/officeDocument/2006/relationships/slide" Target="/ppt/slides/slide10.xml" Id="Rd203a8bc7be641bf" /><Relationship Type="http://schemas.openxmlformats.org/officeDocument/2006/relationships/slide" Target="/ppt/slides/slide11.xml" Id="Rd41608272e5a4fad" /><Relationship Type="http://schemas.openxmlformats.org/officeDocument/2006/relationships/slide" Target="/ppt/slides/slide12.xml" Id="R2f46f9e2be704e53" /><Relationship Type="http://schemas.openxmlformats.org/officeDocument/2006/relationships/slide" Target="/ppt/slides/slide13.xml" Id="R26ddcb2d67734bb1" /><Relationship Type="http://schemas.openxmlformats.org/officeDocument/2006/relationships/slide" Target="/ppt/slides/slide14.xml" Id="R06cc49db23a642c8" /><Relationship Type="http://schemas.openxmlformats.org/officeDocument/2006/relationships/slide" Target="/ppt/slides/slide15.xml" Id="R9a6013afe53c4d23" /><Relationship Type="http://schemas.openxmlformats.org/officeDocument/2006/relationships/slide" Target="/ppt/slides/slide16.xml" Id="Rf623b6701a954621" /><Relationship Type="http://schemas.openxmlformats.org/officeDocument/2006/relationships/slide" Target="/ppt/slides/slide17.xml" Id="R8b344361adae49bb" /><Relationship Type="http://schemas.openxmlformats.org/officeDocument/2006/relationships/slide" Target="/ppt/slides/slide18.xml" Id="Rf4145ea59d26419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39ff60edbda4d3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2b2b870829346d4" /><Relationship Type="http://schemas.openxmlformats.org/officeDocument/2006/relationships/notesMaster" Target="/ppt/notesMasters/notesMaster1.xml" Id="Rabef72757b5f427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c15245dd0eb48c9" /><Relationship Type="http://schemas.openxmlformats.org/officeDocument/2006/relationships/notesMaster" Target="/ppt/notesMasters/notesMaster1.xml" Id="Ra9a4b0eb02f9460b" /></Relationships>
</file>

<file path=ppt/notesSlides/_rels/notesSlide3.xml.rels>&#65279;<?xml version="1.0" encoding="utf-8"?><Relationships xmlns="http://schemas.openxmlformats.org/package/2006/relationships"><Relationship Type="http://schemas.openxmlformats.org/officeDocument/2006/relationships/slide" Target="/ppt/slides/slide3.xml" Id="Rb9f468f4a33a42be" /><Relationship Type="http://schemas.openxmlformats.org/officeDocument/2006/relationships/notesMaster" Target="/ppt/notesMasters/notesMaster1.xml" Id="Rf50437e6e80048b0" /></Relationships>
</file>

<file path=ppt/notesSlides/_rels/notesSlide4.xml.rels>&#65279;<?xml version="1.0" encoding="utf-8"?><Relationships xmlns="http://schemas.openxmlformats.org/package/2006/relationships"><Relationship Type="http://schemas.openxmlformats.org/officeDocument/2006/relationships/slide" Target="/ppt/slides/slide4.xml" Id="R8dd29717f4054ae7" /><Relationship Type="http://schemas.openxmlformats.org/officeDocument/2006/relationships/notesMaster" Target="/ppt/notesMasters/notesMaster1.xml" Id="Re347e382ae2244e1" /></Relationships>
</file>

<file path=ppt/notesSlides/_rels/notesSlide5.xml.rels>&#65279;<?xml version="1.0" encoding="utf-8"?><Relationships xmlns="http://schemas.openxmlformats.org/package/2006/relationships"><Relationship Type="http://schemas.openxmlformats.org/officeDocument/2006/relationships/slide" Target="/ppt/slides/slide5.xml" Id="R42ad1217fb444926" /><Relationship Type="http://schemas.openxmlformats.org/officeDocument/2006/relationships/notesMaster" Target="/ppt/notesMasters/notesMaster1.xml" Id="R8986f52d3de84045" /></Relationships>
</file>

<file path=ppt/notesSlides/_rels/notesSlide6.xml.rels>&#65279;<?xml version="1.0" encoding="utf-8"?><Relationships xmlns="http://schemas.openxmlformats.org/package/2006/relationships"><Relationship Type="http://schemas.openxmlformats.org/officeDocument/2006/relationships/slide" Target="/ppt/slides/slide6.xml" Id="R99850d54c2ad47f1" /><Relationship Type="http://schemas.openxmlformats.org/officeDocument/2006/relationships/notesMaster" Target="/ppt/notesMasters/notesMaster1.xml" Id="R029b1cb9d6fb42c9" /></Relationships>
</file>

<file path=ppt/notesSlides/_rels/notesSlide7.xml.rels>&#65279;<?xml version="1.0" encoding="utf-8"?><Relationships xmlns="http://schemas.openxmlformats.org/package/2006/relationships"><Relationship Type="http://schemas.openxmlformats.org/officeDocument/2006/relationships/slide" Target="/ppt/slides/slide7.xml" Id="R7068f06fa08742a9" /><Relationship Type="http://schemas.openxmlformats.org/officeDocument/2006/relationships/notesMaster" Target="/ppt/notesMasters/notesMaster1.xml" Id="R170562e2084f400f" /></Relationships>
</file>

<file path=ppt/notesSlides/_rels/notesSlide8.xml.rels>&#65279;<?xml version="1.0" encoding="utf-8"?><Relationships xmlns="http://schemas.openxmlformats.org/package/2006/relationships"><Relationship Type="http://schemas.openxmlformats.org/officeDocument/2006/relationships/slide" Target="/ppt/slides/slide8.xml" Id="R81501f96ac044de0" /><Relationship Type="http://schemas.openxmlformats.org/officeDocument/2006/relationships/notesMaster" Target="/ppt/notesMasters/notesMaster1.xml" Id="R5b8aa03ebacc4f61" /></Relationships>
</file>

<file path=ppt/notesSlides/_rels/notesSlide9.xml.rels>&#65279;<?xml version="1.0" encoding="utf-8"?><Relationships xmlns="http://schemas.openxmlformats.org/package/2006/relationships"><Relationship Type="http://schemas.openxmlformats.org/officeDocument/2006/relationships/slide" Target="/ppt/slides/slide9.xml" Id="Ra06117a79b484437" /><Relationship Type="http://schemas.openxmlformats.org/officeDocument/2006/relationships/notesMaster" Target="/ppt/notesMasters/notesMaster1.xml" Id="Refc4bacd9c0c4ce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3e993c95c744fa4" /><Relationship Type="http://schemas.openxmlformats.org/officeDocument/2006/relationships/notesMaster" Target="/ppt/notesMasters/notesMaster1.xml" Id="R74ef1dd13706466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9031d241ae746ce" /><Relationship Type="http://schemas.openxmlformats.org/officeDocument/2006/relationships/notesMaster" Target="/ppt/notesMasters/notesMaster1.xml" Id="R39a2d59b03bc4bd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7215286c0aa40f0" /><Relationship Type="http://schemas.openxmlformats.org/officeDocument/2006/relationships/notesMaster" Target="/ppt/notesMasters/notesMaster1.xml" Id="R32408696167148c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3ae91700ac245da" /><Relationship Type="http://schemas.openxmlformats.org/officeDocument/2006/relationships/notesMaster" Target="/ppt/notesMasters/notesMaster1.xml" Id="R2ca61a312ddd437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ca9cd1e18c44a7f" /><Relationship Type="http://schemas.openxmlformats.org/officeDocument/2006/relationships/notesMaster" Target="/ppt/notesMasters/notesMaster1.xml" Id="R7d495d05aabf4db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7496ea8cf1e4ca3" /><Relationship Type="http://schemas.openxmlformats.org/officeDocument/2006/relationships/notesMaster" Target="/ppt/notesMasters/notesMaster1.xml" Id="Rb128709f1d2f499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f550583fd2145e1" /><Relationship Type="http://schemas.openxmlformats.org/officeDocument/2006/relationships/notesMaster" Target="/ppt/notesMasters/notesMaster1.xml" Id="Rb797f0e42ee1421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631f06b09644974" /><Relationship Type="http://schemas.openxmlformats.org/officeDocument/2006/relationships/notesMaster" Target="/ppt/notesMasters/notesMaster1.xml" Id="R1aadd7e344fa475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f5acc02dcfa492a" /><Relationship Type="http://schemas.openxmlformats.org/officeDocument/2006/relationships/notesMaster" Target="/ppt/notesMasters/notesMaster1.xml" Id="Rce5d5190dea44a3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Pitch deck(1).docx, supplied by founder. Figures are founder-reported unless explicitly identified as calculations or proposed priorities.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Pitch deck(1).docx, supplied by founder. Figures are founder-reported unless explicitly identified as calculations or proposed priorities.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Pitch deck(1).docx, supplied by founder. Figures are founder-reported unless explicitly identified as calculations or proposed priorities.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Pitch deck(1).docx, supplied by founder. Figures are founder-reported unless explicitly identified as calculations or proposed priorities.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input and output, not a customer case study or product screenshot. Arithmetic: 4 people × 8 hours = 32 labour-hours; 32 / 20 panels = 1.6 labour-hours per panel. No delay cost or cost saving is inferred.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Pitch deck(1).docx, supplied by founder. Figures are founder-reported unless explicitly identified as calculations or proposed priorities.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Eurostat SBS_SC_OVW, ENT_NR, F43, size_emp 10-19 and 20-49. Latvia 2024: 408+208=616. EU27 2023: 101914+40000=141914, with 40000 flagged estimated. EU 2024 aggregate unavailable at retrieval on 18 September 2026. Sources: https://ec.europa.eu/eurostat/api/dissemination/statistics/1.0/data/sbs_sc_ovw?geo=LV&amp;nace_r2=F43&amp;indic_sbs=ENT_NR&amp;time=2024&amp;size_emp=10-19&amp;size_emp=20-49 and https://ec.europa.eu/eurostat/api/dissemination/statistics/1.0/data/sbs_sc_ovw?geo=EU27_2020&amp;nace_r2=F43&amp;indic_sbs=ENT_NR&amp;time=2023&amp;size_emp=10-19&amp;size_emp=20-49 . Sizing assumes EUR150/company/month, annual EUR1800. Latvia=EUR1108800; EU=EUR255445200. Full market potential, not expected revenue. Latvia is included in EU. UK and non-EU Europe excluded. Persons employed may include owners.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describes current average company revenue as EUR150/month, rounded. Existing five listed subscriptions sum to EUR780 MRR and EUR156 exact mean. Keep actual total rather than replacing with 5*150. Annualised recurring revenue EUR9360, not annual revenue collected. Current customers have only 1–2 months of payment history per original deck, while total outreach spans approximately one year. Five current paying, one former payer churned, one free pilot and one active trial. Sizing uses rounded EUR150/company/month.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Pitch deck(1).docx. DEPROM/DEPRMO spelling differs in source materials, so pilot name omitted. Latvijas Energoceltnieks churned after three months.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pricing: EUR50/user/month, with customer discounts and custom-function fees. Current five subscriptions total EUR780 MRR, exact average EUR156. Use rounded EUR150/company/month for market sizing and acquisition scenarios, annual EUR1800. This is an average revenue assumption, not a new fixed company tariff. Only recurring custom fees belong in MRR. No price increase assumed.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competitor sources, 18 September 2026: https://www.fieldwire.com/pricing/ and https://help.fieldwire.com/hc/en-us/articles/360000574203-Introduction-to-Task-Reports-in-Fieldwire ; https://buildertrend.com/pricing/ and https://buildertrend.com/help-article/daily-logs-overview/ . WhatsApp plus Excel is a workflow alternative. Named brands are relevant alternatives, not verified tools used by current customers. WorksRecorded positioning needs validation. No claim that competitors cannot support voice, AI or integrations.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Updated founder history: approximately80 approached;7 signed overall including1 free pilot and1 former paying customer who left after3months. Thus6 ever paying and5 currently paying. Existing active trial remains outside signed/paying totals. 6/80=7.5%;5/80=6.25%. Approximate denominator. These are cumulative snapshot ratios, not cohort churn rates. Channel CAC unavailable.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Founder-revised history: around80 companies approached,7 signed including1 free pilot and1 payer churned after3months;5 currently paying. Ever-paid6/80=7.5%. Current paying5/80=6.25%. Scenario uses EUR150/company/month and EUR1800 annual value. Observed sample scenario5*150*12=9000 annualised; actual previously documented MRR remains EUR780, exact ARPA EUR156. Latvia616*.0625=38.5;MRR5775;annual69300. EU141914*.0625=8869.625;MRR1330443.75;annual15965325, rounded EUR15.97M. No rounding of intermediate customers. Not a time-based forecast, cohort model or market-size estimate. Assumes every prospect reached and early cumulative ratio transferable; international applicability, time-to-reach, CAC, retention and cohort age unvalidated. One churn after3months cannot establish monthly churn. Latvia included in EU; do not add. Source market populations: Eurostat SBS_SC_OVW, F43, ENT_NR, sizes10-19 and20-49: Latvia2024 408+208=616;EU27 2023 101914+40000=141914, latter band estimated. https://ec.europa.eu/eurostat/databrowser/view/sbs_sc_ovw/default/table?lang=en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activities. Latvia initial market. Sweden first expansion test is a sequencing proposal based on the original deck naming UK and Sweden, not evidence of validated demand. Facebook should be a separately measured channel. Allocate budget based on paid conversion and retention.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revised history: ~80 approached over about a year;7 signed including1 free pilot;6 ever paid;5currently paying and1 payer churned after3months. Separate active trial. Ratios:6/80=7.5% ever paid;5/80=6.25% currently paying. Previous55calls/7booked demos is a separate monthly sample;do not add it to annual totals. Revenue assumption EUR150/company/month=EUR1800/year. Actual source subscriptions total EUR780 MRR. Channel CAC remains unavailable. Track comparable cohorts and retention before forecasting.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deck: 2h onboarding +1h AI adjustment, ongoing &lt;1h/week/client, USD80 monthly software. Facebook spend ambiguous: EUR150/month with wording spend to date. Omit until reconciled. Founder/developer compensation and labour cost not supplied. Runway and margin not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details supplied by the founder. Vjaceslavs Gromatovics: BEng in Civil Engineering, five years as a construction site manager and five years as a project manager, working full-time on WorksRecorded, 80% ownership. Deivids Berkolds: BEng in Computer Science, senior JavaScript developer, 20% ownership. The supplied abbreviation Bent has been interpreted as BEng.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investor ask, not agreed transaction terms or independent valuation. Raise EUR30000 through a new equity investment for10% post-money ownership. Implied post-money EUR300000 and pre-money EUR270000. Budget six months: founder/company cost EUR3000/month=18000; product/onboarding EUR1000/month=6000; acquisition EUR500/month=3000; software/admin EUR250/month=1500;contingency EUR1500. Total EUR30000. These are planning allocations, not confirmed compensation or vendor quotes. Founder cost is total company cost, not a promised net salary. Revenue not deducted from funding requirement or assumed guaranteed; actual continued revenue provides additional buffer. Targets:15 total paying companies from current5, approximately EUR2250 MRR at EUR150 average per company;&gt;=80%8-week retention among new paid cohorts old enough to measure;average ongoing support&lt;=30min per paying client per week. Neither targets nor acquisition rates guaranteed. Existing80-contact sample supports5current paying and6ever-paid;at6.25% snapshot ratio10extra payers could require roughly160additional comparable contacts before future churn. This is a workload illustration, not a validated forecast. Valuation and investment terms are an opening proposal, subject to agreement.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065505445f044d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3f1189200cd4b04" /><Relationship Type="http://schemas.openxmlformats.org/officeDocument/2006/relationships/slideLayout" Target="/ppt/slideLayouts/slideLayout1.xml" Id="R6601e703aaac4f0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01e703aaac4f0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8360cb8684a4fbd" /><Relationship Type="http://schemas.openxmlformats.org/officeDocument/2006/relationships/notesSlide" Target="/ppt/notesSlides/notesSlide1.xml" Id="Ra7e2e69f44c64aa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17a09040b5c41ec" /><Relationship Type="http://schemas.openxmlformats.org/officeDocument/2006/relationships/notesSlide" Target="/ppt/notesSlides/notesSlide2.xml" Id="R8e8aefba3d994d8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86cd316a9924f8d" /><Relationship Type="http://schemas.openxmlformats.org/officeDocument/2006/relationships/notesSlide" Target="/ppt/notesSlides/notesSlide3.xml" Id="Rbaf385bf7e4c4c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87904d1e9f94856" /><Relationship Type="http://schemas.openxmlformats.org/officeDocument/2006/relationships/notesSlide" Target="/ppt/notesSlides/notesSlide4.xml" Id="R25bcf8df89fb458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a9cd1e131d44af6" /><Relationship Type="http://schemas.openxmlformats.org/officeDocument/2006/relationships/image" Target="/ppt/media/image.png" Id="R75fefad62eaa4d04" /><Relationship Type="http://schemas.openxmlformats.org/officeDocument/2006/relationships/notesSlide" Target="/ppt/notesSlides/notesSlide5.xml" Id="Rc3da93b20c594ce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fa70aeb632f41c1" /><Relationship Type="http://schemas.openxmlformats.org/officeDocument/2006/relationships/notesSlide" Target="/ppt/notesSlides/notesSlide6.xml" Id="Rbedf2cf138b34ed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e8736d03c954192" /><Relationship Type="http://schemas.openxmlformats.org/officeDocument/2006/relationships/notesSlide" Target="/ppt/notesSlides/notesSlide7.xml" Id="R5d33a5908f4b4e0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8e22f575dc64aff" /><Relationship Type="http://schemas.openxmlformats.org/officeDocument/2006/relationships/notesSlide" Target="/ppt/notesSlides/notesSlide8.xml" Id="R4fb75b7cf277485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028fddde2fd43b9" /><Relationship Type="http://schemas.openxmlformats.org/officeDocument/2006/relationships/notesSlide" Target="/ppt/notesSlides/notesSlide9.xml" Id="R23ee3fcbb3de48f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081f567b14840e8" /><Relationship Type="http://schemas.openxmlformats.org/officeDocument/2006/relationships/notesSlide" Target="/ppt/notesSlides/notesSlide10.xml" Id="R03035a33b802417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168082941bd44bd" /><Relationship Type="http://schemas.openxmlformats.org/officeDocument/2006/relationships/notesSlide" Target="/ppt/notesSlides/notesSlide11.xml" Id="R17d9e999984d4aa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f4eef8f7ac84ab4" /><Relationship Type="http://schemas.openxmlformats.org/officeDocument/2006/relationships/notesSlide" Target="/ppt/notesSlides/notesSlide12.xml" Id="Re821bf56045e4b1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e58f34c2a474f8c" /><Relationship Type="http://schemas.openxmlformats.org/officeDocument/2006/relationships/notesSlide" Target="/ppt/notesSlides/notesSlide13.xml" Id="Re994242a54274ff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38f6dcb46924c1f" /><Relationship Type="http://schemas.openxmlformats.org/officeDocument/2006/relationships/notesSlide" Target="/ppt/notesSlides/notesSlide14.xml" Id="R71792baba38440a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2245017514c4f6d" /><Relationship Type="http://schemas.openxmlformats.org/officeDocument/2006/relationships/notesSlide" Target="/ppt/notesSlides/notesSlide15.xml" Id="Rf5ed5a46c794461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4163d82e6dd4514" /><Relationship Type="http://schemas.openxmlformats.org/officeDocument/2006/relationships/notesSlide" Target="/ppt/notesSlides/notesSlide16.xml" Id="R401982650d334b1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8821f008e4b4090" /><Relationship Type="http://schemas.openxmlformats.org/officeDocument/2006/relationships/notesSlide" Target="/ppt/notesSlides/notesSlide17.xml" Id="R929fc45f1f4447f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979ce2a1cb54a1c" /><Relationship Type="http://schemas.openxmlformats.org/officeDocument/2006/relationships/notesSlide" Target="/ppt/notesSlides/notesSlide18.xml" Id="Rb7ebf8e2bd0c4183" /></Relationships>
</file>

<file path=ppt/slides/slide1.xml><?xml version="1.0" encoding="utf-8"?>
<p:sld xmlns:p="http://schemas.openxmlformats.org/presentationml/2006/main">
  <p:cSld>
    <p:bg>
      <p:bgPr>
        <a:solidFill xmlns:a="http://schemas.openxmlformats.org/drawingml/2006/main">
          <a:srgbClr val="122C32"/>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1E5FC32-0DEE-4A21-B9C0-577B454F2882}"/>
              </a:ext>
            </a:extLst>
          </p:cNvPr>
          <p:cNvSpPr>
            <a:spLocks xmlns:a="http://schemas.openxmlformats.org/drawingml/2006/main" noGrp="1"/>
          </p:cNvSpPr>
          <p:nvPr/>
        </p:nvSpPr>
        <p:spPr>
          <a:xfrm xmlns:a="http://schemas.openxmlformats.org/drawingml/2006/main">
            <a:off x="685800" y="90487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700" b="1">
                <a:solidFill>
                  <a:srgbClr val="FFFFFF"/>
                </a:solidFill>
                <a:latin typeface="Bitstream Charter"/>
                <a:ea typeface="Bitstream Charter"/>
                <a:cs typeface="Bitstream Charter"/>
              </a:defRPr>
            </a:pPr>
            <a:r>
              <a:rPr sz="5700" b="1">
                <a:solidFill>
                  <a:srgbClr val="FFFFFF"/>
                </a:solidFill>
                <a:latin typeface="Bitstream Charter"/>
                <a:ea typeface="Bitstream Charter"/>
                <a:cs typeface="Bitstream Charter"/>
              </a:rPr>
              <a:t>WorksRecorded</a:t>
            </a:r>
          </a:p>
        </p:txBody>
      </p:sp>
      <p:sp>
        <p:nvSpPr>
          <p:cNvPr id="3" name="Rectangle 2">
            <a:extLst xmlns:a="http://schemas.openxmlformats.org/drawingml/2006/main">
              <a:ext uri="{FF2B5EF4-FFF2-40B4-BE49-F238E27FC236}">
                <a16:creationId xmlns:a16="http://schemas.microsoft.com/office/drawing/2014/main" id="{3C6033E0-0B5D-472C-810C-0F7D39581D1C}"/>
              </a:ext>
            </a:extLst>
          </p:cNvPr>
          <p:cNvSpPr>
            <a:spLocks xmlns:a="http://schemas.openxmlformats.org/drawingml/2006/main" noGrp="1"/>
          </p:cNvSpPr>
          <p:nvPr/>
        </p:nvSpPr>
        <p:spPr>
          <a:xfrm xmlns:a="http://schemas.openxmlformats.org/drawingml/2006/main">
            <a:off x="685800" y="2619375"/>
            <a:ext cx="10191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350" b="1">
                <a:solidFill>
                  <a:srgbClr val="FFFFFF"/>
                </a:solidFill>
                <a:latin typeface="Bitstream Charter"/>
                <a:ea typeface="Bitstream Charter"/>
                <a:cs typeface="Bitstream Charter"/>
              </a:defRPr>
            </a:pPr>
            <a:r>
              <a:rPr sz="4350" b="1">
                <a:solidFill>
                  <a:srgbClr val="FFFFFF"/>
                </a:solidFill>
                <a:latin typeface="Bitstream Charter"/>
                <a:ea typeface="Bitstream Charter"/>
                <a:cs typeface="Bitstream Charter"/>
              </a:rPr>
              <a:t>Construction site data analytics</a:t>
            </a:r>
          </a:p>
        </p:txBody>
      </p:sp>
      <p:sp>
        <p:nvSpPr>
          <p:cNvPr id="4" name="Rectangle 3">
            <a:extLst xmlns:a="http://schemas.openxmlformats.org/drawingml/2006/main">
              <a:ext uri="{FF2B5EF4-FFF2-40B4-BE49-F238E27FC236}">
                <a16:creationId xmlns:a16="http://schemas.microsoft.com/office/drawing/2014/main" id="{C5C52780-E57C-4F40-984A-4BD187FD2111}"/>
              </a:ext>
            </a:extLst>
          </p:cNvPr>
          <p:cNvSpPr>
            <a:spLocks xmlns:a="http://schemas.openxmlformats.org/drawingml/2006/main" noGrp="1"/>
          </p:cNvSpPr>
          <p:nvPr/>
        </p:nvSpPr>
        <p:spPr>
          <a:xfrm xmlns:a="http://schemas.openxmlformats.org/drawingml/2006/main">
            <a:off x="723900" y="5095875"/>
            <a:ext cx="904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B9DCD5"/>
                </a:solidFill>
                <a:latin typeface="Bitstream Charter"/>
                <a:ea typeface="Bitstream Charter"/>
                <a:cs typeface="Bitstream Charter"/>
              </a:defRPr>
            </a:pPr>
            <a:r>
              <a:rPr sz="2100" b="0">
                <a:solidFill>
                  <a:srgbClr val="B9DCD5"/>
                </a:solidFill>
                <a:latin typeface="Bitstream Charter"/>
                <a:ea typeface="Bitstream Charter"/>
                <a:cs typeface="Bitstream Charter"/>
              </a:rPr>
              <a:t>For construction contractors</a:t>
            </a:r>
          </a:p>
        </p:txBody>
      </p:sp>
      <p:sp>
        <p:nvSpPr>
          <p:cNvPr id="5" name="Rectangle 4">
            <a:extLst xmlns:a="http://schemas.openxmlformats.org/drawingml/2006/main">
              <a:ext uri="{FF2B5EF4-FFF2-40B4-BE49-F238E27FC236}">
                <a16:creationId xmlns:a16="http://schemas.microsoft.com/office/drawing/2014/main" id="{C2FCABF3-F45B-4F20-8BD7-8C945E0A4605}"/>
              </a:ext>
            </a:extLst>
          </p:cNvPr>
          <p:cNvSpPr>
            <a:spLocks xmlns:a="http://schemas.openxmlformats.org/drawingml/2006/main" noGrp="1"/>
          </p:cNvSpPr>
          <p:nvPr/>
        </p:nvSpPr>
        <p:spPr>
          <a:xfrm xmlns:a="http://schemas.openxmlformats.org/drawingml/2006/main">
            <a:off x="723900" y="6143625"/>
            <a:ext cx="904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B9DCD5"/>
                </a:solidFill>
                <a:latin typeface="Bitstream Charter"/>
                <a:ea typeface="Bitstream Charter"/>
                <a:cs typeface="Bitstream Charter"/>
              </a:defRPr>
            </a:pPr>
            <a:r>
              <a:rPr sz="1350" b="0">
                <a:solidFill>
                  <a:srgbClr val="B9DCD5"/>
                </a:solidFill>
                <a:latin typeface="Bitstream Charter"/>
                <a:ea typeface="Bitstream Charter"/>
                <a:cs typeface="Bitstream Charter"/>
              </a:rPr>
              <a:t>Investor presentation | September 2026</a:t>
            </a:r>
            <a:r>
              <a:rPr sz="1350">
                <a:solidFill>
                  <a:srgbClr val="B9DCD5"/>
                </a:solidFill>
                <a:latin typeface="Bitstream Charter"/>
                <a:ea typeface="Bitstream Charter"/>
                <a:cs typeface="Bitstream Charter"/>
              </a:rPr>
              <a:t> |  https://www.worksrecorded.com/</a:t>
            </a:r>
            <a:endParaRPr sz="1350" b="0">
              <a:solidFill>
                <a:srgbClr val="B9DCD5"/>
              </a:solidFill>
              <a:latin typeface="Bitstream Charter"/>
              <a:ea typeface="Bitstream Charter"/>
              <a:cs typeface="Bitstream Charter"/>
            </a:endParaRPr>
          </a:p>
        </p:txBody>
      </p:sp>
      <p:sp>
        <p:nvSpPr>
          <p:cNvPr id="6" name="">
            <a:extLst xmlns:a="http://schemas.openxmlformats.org/drawingml/2006/main">
              <a:ext uri="{FF2B5EF4-FFF2-40B4-BE49-F238E27FC236}">
                <a16:creationId xmlns:a16="http://schemas.microsoft.com/office/drawing/2014/main" id="{2E56F58E-8BB3-4428-9CD9-1EABEA645CA2}"/>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AEC2C5"/>
                </a:solidFill>
                <a:latin typeface="Calibri"/>
                <a:ea typeface="Calibri"/>
                <a:cs typeface="Calibri"/>
              </a:defRPr>
            </a:pPr>
            <a:r>
              <a:rPr sz="1200" b="0">
                <a:solidFill>
                  <a:srgbClr val="AEC2C5"/>
                </a:solidFill>
                <a:latin typeface="Calibri"/>
                <a:ea typeface="Calibri"/>
                <a:cs typeface="Calibri"/>
              </a:rPr>
              <a:t>01</a:t>
            </a:r>
          </a:p>
        </p:txBody>
      </p:sp>
    </p:spTree>
    <p:extLst>
      <p:ext uri="{BB962C8B-B14F-4D97-AF65-F5344CB8AC3E}">
        <p14:creationId xmlns:p14="http://schemas.microsoft.com/office/powerpoint/2010/main" val="1148562711"/>
      </p:ext>
    </p:extLst>
  </p:cSld>
</p:sld>
</file>

<file path=ppt/slides/slide2.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8C0778ED-BCB2-4B42-8D42-E530CCAADE3A}"/>
              </a:ext>
            </a:extLst>
          </p:cNvPr>
          <p:cNvSpPr>
            <a:spLocks xmlns:a="http://schemas.openxmlformats.org/drawingml/2006/main" noGrp="1"/>
          </p:cNvSpPr>
          <p:nvPr/>
        </p:nvSpPr>
        <p:spPr>
          <a:xfrm xmlns:a="http://schemas.openxmlformats.org/drawingml/2006/main">
            <a:off x="685800" y="571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Problem: Construction contractors don’t have the skills to collect and analyze site data.</a:t>
            </a:r>
          </a:p>
          <a:p xmlns:a="http://schemas.openxmlformats.org/drawingml/2006/main">
            <a:pPr>
              <a:buNone/>
              <a:defRPr sz="3600" b="1">
                <a:solidFill>
                  <a:srgbClr val="122C32"/>
                </a:solidFill>
                <a:latin typeface="Bitstream Charter"/>
                <a:ea typeface="Bitstream Charter"/>
                <a:cs typeface="Bitstream Charter"/>
              </a:defRPr>
            </a:pPr>
            <a:endParaRPr sz="3600" b="1">
              <a:solidFill>
                <a:srgbClr val="122C32"/>
              </a:solidFill>
              <a:highlight>
                <a:srgbClr val="FFFF00"/>
              </a:highlight>
              <a:latin typeface="Bitstream Charter"/>
              <a:ea typeface="Bitstream Charter"/>
              <a:cs typeface="Bitstream Charter"/>
            </a:endParaRPr>
          </a:p>
        </p:txBody>
      </p:sp>
      <p:sp>
        <p:nvSpPr>
          <p:cNvPr id="3" name="Rectangle 2">
            <a:extLst xmlns:a="http://schemas.openxmlformats.org/drawingml/2006/main">
              <a:ext uri="{FF2B5EF4-FFF2-40B4-BE49-F238E27FC236}">
                <a16:creationId xmlns:a16="http://schemas.microsoft.com/office/drawing/2014/main" id="{B0BDDCAD-D72E-4831-A6AD-FC36049E0588}"/>
              </a:ext>
            </a:extLst>
          </p:cNvPr>
          <p:cNvSpPr>
            <a:spLocks xmlns:a="http://schemas.openxmlformats.org/drawingml/2006/main" noGrp="1"/>
          </p:cNvSpPr>
          <p:nvPr/>
        </p:nvSpPr>
        <p:spPr>
          <a:xfrm xmlns:a="http://schemas.openxmlformats.org/drawingml/2006/main">
            <a:off x="685800" y="183832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22C32"/>
                </a:solidFill>
                <a:latin typeface="Bitstream Charter"/>
                <a:ea typeface="Bitstream Charter"/>
                <a:cs typeface="Bitstream Charter"/>
              </a:defRPr>
            </a:pPr>
            <a:r>
              <a:rPr sz="2400" b="0">
                <a:solidFill>
                  <a:srgbClr val="122C32"/>
                </a:solidFill>
                <a:latin typeface="Bitstream Charter"/>
                <a:ea typeface="Bitstream Charter"/>
                <a:cs typeface="Bitstream Charter"/>
              </a:rPr>
              <a:t>WorksRecorded will do it for them</a:t>
            </a:r>
          </a:p>
        </p:txBody>
      </p:sp>
      <p:sp>
        <p:nvSpPr>
          <p:cNvPr id="4" name="Rectangle 3">
            <a:extLst xmlns:a="http://schemas.openxmlformats.org/drawingml/2006/main">
              <a:ext uri="{FF2B5EF4-FFF2-40B4-BE49-F238E27FC236}">
                <a16:creationId xmlns:a16="http://schemas.microsoft.com/office/drawing/2014/main" id="{DF9F14C3-3F94-4553-9594-7AE3726B09A3}"/>
              </a:ext>
            </a:extLst>
          </p:cNvPr>
          <p:cNvSpPr>
            <a:spLocks xmlns:a="http://schemas.openxmlformats.org/drawingml/2006/main" noGrp="1"/>
          </p:cNvSpPr>
          <p:nvPr/>
        </p:nvSpPr>
        <p:spPr>
          <a:xfrm xmlns:a="http://schemas.openxmlformats.org/drawingml/2006/main">
            <a:off x="685800" y="31432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01</a:t>
            </a:r>
          </a:p>
        </p:txBody>
      </p:sp>
      <p:sp>
        <p:nvSpPr>
          <p:cNvPr id="5" name="Rectangle 4">
            <a:extLst xmlns:a="http://schemas.openxmlformats.org/drawingml/2006/main">
              <a:ext uri="{FF2B5EF4-FFF2-40B4-BE49-F238E27FC236}">
                <a16:creationId xmlns:a16="http://schemas.microsoft.com/office/drawing/2014/main" id="{4D940AC5-04DA-4D32-80C5-7AAEDD3311FE}"/>
              </a:ext>
            </a:extLst>
          </p:cNvPr>
          <p:cNvSpPr>
            <a:spLocks xmlns:a="http://schemas.openxmlformats.org/drawingml/2006/main" noGrp="1"/>
          </p:cNvSpPr>
          <p:nvPr/>
        </p:nvSpPr>
        <p:spPr>
          <a:xfrm xmlns:a="http://schemas.openxmlformats.org/drawingml/2006/main">
            <a:off x="1524000" y="3143250"/>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Losing money</a:t>
            </a:r>
          </a:p>
        </p:txBody>
      </p:sp>
      <p:sp>
        <p:nvSpPr>
          <p:cNvPr id="6" name="Rectangle 5">
            <a:extLst xmlns:a="http://schemas.openxmlformats.org/drawingml/2006/main">
              <a:ext uri="{FF2B5EF4-FFF2-40B4-BE49-F238E27FC236}">
                <a16:creationId xmlns:a16="http://schemas.microsoft.com/office/drawing/2014/main" id="{77C495F6-8883-43A7-BE1F-B21C1D694BB7}"/>
              </a:ext>
            </a:extLst>
          </p:cNvPr>
          <p:cNvSpPr>
            <a:spLocks xmlns:a="http://schemas.openxmlformats.org/drawingml/2006/main" noGrp="1"/>
          </p:cNvSpPr>
          <p:nvPr/>
        </p:nvSpPr>
        <p:spPr>
          <a:xfrm xmlns:a="http://schemas.openxmlformats.org/drawingml/2006/main">
            <a:off x="1524000" y="3600450"/>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No data → no visibility → bad decisions → losing money</a:t>
            </a:r>
          </a:p>
        </p:txBody>
      </p:sp>
      <p:sp>
        <p:nvSpPr>
          <p:cNvPr id="7" name="Rectangle 6">
            <a:extLst xmlns:a="http://schemas.openxmlformats.org/drawingml/2006/main">
              <a:ext uri="{FF2B5EF4-FFF2-40B4-BE49-F238E27FC236}">
                <a16:creationId xmlns:a16="http://schemas.microsoft.com/office/drawing/2014/main" id="{2E0EB585-E9C5-402A-A012-3AAF584131CF}"/>
              </a:ext>
            </a:extLst>
          </p:cNvPr>
          <p:cNvSpPr>
            <a:spLocks xmlns:a="http://schemas.openxmlformats.org/drawingml/2006/main" noGrp="1"/>
          </p:cNvSpPr>
          <p:nvPr/>
        </p:nvSpPr>
        <p:spPr>
          <a:xfrm xmlns:a="http://schemas.openxmlformats.org/drawingml/2006/main">
            <a:off x="685800" y="46958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02</a:t>
            </a:r>
          </a:p>
        </p:txBody>
      </p:sp>
      <p:sp>
        <p:nvSpPr>
          <p:cNvPr id="8" name="Rectangle 7">
            <a:extLst xmlns:a="http://schemas.openxmlformats.org/drawingml/2006/main">
              <a:ext uri="{FF2B5EF4-FFF2-40B4-BE49-F238E27FC236}">
                <a16:creationId xmlns:a16="http://schemas.microsoft.com/office/drawing/2014/main" id="{5461938E-ED1C-4B79-89A4-1A63F100F5BB}"/>
              </a:ext>
            </a:extLst>
          </p:cNvPr>
          <p:cNvSpPr>
            <a:spLocks xmlns:a="http://schemas.openxmlformats.org/drawingml/2006/main" noGrp="1"/>
          </p:cNvSpPr>
          <p:nvPr/>
        </p:nvSpPr>
        <p:spPr>
          <a:xfrm xmlns:a="http://schemas.openxmlformats.org/drawingml/2006/main">
            <a:off x="1524000" y="4695825"/>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Costs are unpredictable</a:t>
            </a:r>
          </a:p>
        </p:txBody>
      </p:sp>
      <p:sp>
        <p:nvSpPr>
          <p:cNvPr id="9" name="Rectangle 8">
            <a:extLst xmlns:a="http://schemas.openxmlformats.org/drawingml/2006/main">
              <a:ext uri="{FF2B5EF4-FFF2-40B4-BE49-F238E27FC236}">
                <a16:creationId xmlns:a16="http://schemas.microsoft.com/office/drawing/2014/main" id="{AE14D021-5633-4CA7-B7BD-ADD9E092A521}"/>
              </a:ext>
            </a:extLst>
          </p:cNvPr>
          <p:cNvSpPr>
            <a:spLocks xmlns:a="http://schemas.openxmlformats.org/drawingml/2006/main" noGrp="1"/>
          </p:cNvSpPr>
          <p:nvPr/>
        </p:nvSpPr>
        <p:spPr>
          <a:xfrm xmlns:a="http://schemas.openxmlformats.org/drawingml/2006/main">
            <a:off x="1524000" y="5219700"/>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86B"/>
                </a:solidFill>
                <a:latin typeface="Bitstream Charter"/>
                <a:ea typeface="Bitstream Charter"/>
                <a:cs typeface="Bitstream Charter"/>
              </a:defRPr>
            </a:pPr>
            <a:r>
              <a:rPr sz="1875">
                <a:solidFill>
                  <a:srgbClr val="52686B"/>
                </a:solidFill>
                <a:latin typeface="Bitstream Charter"/>
                <a:ea typeface="Bitstream Charter"/>
                <a:cs typeface="Bitstream Charter"/>
              </a:rPr>
              <a:t>Will the project be profitable? Without data, you can’t answer.</a:t>
            </a:r>
            <a:endParaRPr sz="1875" b="0">
              <a:solidFill>
                <a:srgbClr val="52686B"/>
              </a:solidFill>
              <a:latin typeface="Bitstream Charter"/>
              <a:ea typeface="Bitstream Charter"/>
              <a:cs typeface="Bitstream Charter"/>
            </a:endParaRPr>
          </a:p>
        </p:txBody>
      </p:sp>
      <p:sp>
        <p:nvSpPr>
          <p:cNvPr id="11" name="">
            <a:extLst xmlns:a="http://schemas.openxmlformats.org/drawingml/2006/main">
              <a:ext uri="{FF2B5EF4-FFF2-40B4-BE49-F238E27FC236}">
                <a16:creationId xmlns:a16="http://schemas.microsoft.com/office/drawing/2014/main" id="{04A86FD4-73D2-45C3-9411-7197FA762CEC}"/>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02</a:t>
            </a:r>
          </a:p>
        </p:txBody>
      </p:sp>
    </p:spTree>
    <p:extLst>
      <p:ext uri="{BB962C8B-B14F-4D97-AF65-F5344CB8AC3E}">
        <p14:creationId xmlns:p14="http://schemas.microsoft.com/office/powerpoint/2010/main" val="1464692274"/>
      </p:ext>
    </p:extLst>
  </p:cSld>
</p:sld>
</file>

<file path=ppt/slides/slide3.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1F514FA7-0554-4316-91E5-30FDDE89B4EB}"/>
              </a:ext>
            </a:extLst>
          </p:cNvPr>
          <p:cNvSpPr>
            <a:spLocks xmlns:a="http://schemas.openxmlformats.org/drawingml/2006/main" noGrp="1"/>
          </p:cNvSpPr>
          <p:nvPr/>
        </p:nvSpPr>
        <p:spPr>
          <a:xfrm xmlns:a="http://schemas.openxmlformats.org/drawingml/2006/main">
            <a:off x="685800" y="571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Why don’t contractors use data?</a:t>
            </a:r>
          </a:p>
        </p:txBody>
      </p:sp>
      <p:sp>
        <p:nvSpPr>
          <p:cNvPr id="3" name="Rectangle 2">
            <a:extLst xmlns:a="http://schemas.openxmlformats.org/drawingml/2006/main">
              <a:ext uri="{FF2B5EF4-FFF2-40B4-BE49-F238E27FC236}">
                <a16:creationId xmlns:a16="http://schemas.microsoft.com/office/drawing/2014/main" id="{766CF1E1-1D5C-4E3E-83B0-4C3E4D57E753}"/>
              </a:ext>
            </a:extLst>
          </p:cNvPr>
          <p:cNvSpPr>
            <a:spLocks xmlns:a="http://schemas.openxmlformats.org/drawingml/2006/main" noGrp="1"/>
          </p:cNvSpPr>
          <p:nvPr/>
        </p:nvSpPr>
        <p:spPr>
          <a:xfrm xmlns:a="http://schemas.openxmlformats.org/drawingml/2006/main">
            <a:off x="685800" y="18573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01</a:t>
            </a:r>
          </a:p>
        </p:txBody>
      </p:sp>
      <p:sp>
        <p:nvSpPr>
          <p:cNvPr id="4" name="Rectangle 3">
            <a:extLst xmlns:a="http://schemas.openxmlformats.org/drawingml/2006/main">
              <a:ext uri="{FF2B5EF4-FFF2-40B4-BE49-F238E27FC236}">
                <a16:creationId xmlns:a16="http://schemas.microsoft.com/office/drawing/2014/main" id="{A2A7A93A-5549-496F-A374-F394A6EC4CA1}"/>
              </a:ext>
            </a:extLst>
          </p:cNvPr>
          <p:cNvSpPr>
            <a:spLocks xmlns:a="http://schemas.openxmlformats.org/drawingml/2006/main" noGrp="1"/>
          </p:cNvSpPr>
          <p:nvPr/>
        </p:nvSpPr>
        <p:spPr>
          <a:xfrm xmlns:a="http://schemas.openxmlformats.org/drawingml/2006/main">
            <a:off x="1524000" y="1857375"/>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Hard to collect</a:t>
            </a:r>
          </a:p>
        </p:txBody>
      </p:sp>
      <p:sp>
        <p:nvSpPr>
          <p:cNvPr id="5" name="Rectangle 4">
            <a:extLst xmlns:a="http://schemas.openxmlformats.org/drawingml/2006/main">
              <a:ext uri="{FF2B5EF4-FFF2-40B4-BE49-F238E27FC236}">
                <a16:creationId xmlns:a16="http://schemas.microsoft.com/office/drawing/2014/main" id="{33BCD30B-329D-4DCC-B4E1-0CE203F80E24}"/>
              </a:ext>
            </a:extLst>
          </p:cNvPr>
          <p:cNvSpPr>
            <a:spLocks xmlns:a="http://schemas.openxmlformats.org/drawingml/2006/main" noGrp="1"/>
          </p:cNvSpPr>
          <p:nvPr/>
        </p:nvSpPr>
        <p:spPr>
          <a:xfrm xmlns:a="http://schemas.openxmlformats.org/drawingml/2006/main">
            <a:off x="1524000" y="2381250"/>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86B"/>
                </a:solidFill>
                <a:latin typeface="Bitstream Charter"/>
                <a:ea typeface="Bitstream Charter"/>
                <a:cs typeface="Bitstream Charter"/>
              </a:defRPr>
            </a:pPr>
            <a:r>
              <a:rPr sz="1875">
                <a:solidFill>
                  <a:srgbClr val="52686B"/>
                </a:solidFill>
                <a:latin typeface="Bitstream Charter"/>
                <a:ea typeface="Bitstream Charter"/>
                <a:cs typeface="Bitstream Charter"/>
              </a:rPr>
              <a:t>How do you even track what 20 workers do during the day? </a:t>
            </a:r>
          </a:p>
        </p:txBody>
      </p:sp>
      <p:sp>
        <p:nvSpPr>
          <p:cNvPr id="6" name="Rectangle 5">
            <a:extLst xmlns:a="http://schemas.openxmlformats.org/drawingml/2006/main">
              <a:ext uri="{FF2B5EF4-FFF2-40B4-BE49-F238E27FC236}">
                <a16:creationId xmlns:a16="http://schemas.microsoft.com/office/drawing/2014/main" id="{A0C3026F-41DF-4EE6-953C-D66B620F47E0}"/>
              </a:ext>
            </a:extLst>
          </p:cNvPr>
          <p:cNvSpPr>
            <a:spLocks xmlns:a="http://schemas.openxmlformats.org/drawingml/2006/main" noGrp="1"/>
          </p:cNvSpPr>
          <p:nvPr/>
        </p:nvSpPr>
        <p:spPr>
          <a:xfrm xmlns:a="http://schemas.openxmlformats.org/drawingml/2006/main">
            <a:off x="685800" y="3333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02</a:t>
            </a:r>
          </a:p>
        </p:txBody>
      </p:sp>
      <p:sp>
        <p:nvSpPr>
          <p:cNvPr id="7" name="Rectangle 6">
            <a:extLst xmlns:a="http://schemas.openxmlformats.org/drawingml/2006/main">
              <a:ext uri="{FF2B5EF4-FFF2-40B4-BE49-F238E27FC236}">
                <a16:creationId xmlns:a16="http://schemas.microsoft.com/office/drawing/2014/main" id="{72657F94-172D-49F9-9A94-8B8DEA8B55B7}"/>
              </a:ext>
            </a:extLst>
          </p:cNvPr>
          <p:cNvSpPr>
            <a:spLocks xmlns:a="http://schemas.openxmlformats.org/drawingml/2006/main" noGrp="1"/>
          </p:cNvSpPr>
          <p:nvPr/>
        </p:nvSpPr>
        <p:spPr>
          <a:xfrm xmlns:a="http://schemas.openxmlformats.org/drawingml/2006/main">
            <a:off x="1524000" y="3333750"/>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Hard to structure</a:t>
            </a:r>
          </a:p>
        </p:txBody>
      </p:sp>
      <p:sp>
        <p:nvSpPr>
          <p:cNvPr id="8" name="Rectangle 7">
            <a:extLst xmlns:a="http://schemas.openxmlformats.org/drawingml/2006/main">
              <a:ext uri="{FF2B5EF4-FFF2-40B4-BE49-F238E27FC236}">
                <a16:creationId xmlns:a16="http://schemas.microsoft.com/office/drawing/2014/main" id="{5CE9F297-D90B-4F83-B221-FC09E6E71972}"/>
              </a:ext>
            </a:extLst>
          </p:cNvPr>
          <p:cNvSpPr>
            <a:spLocks xmlns:a="http://schemas.openxmlformats.org/drawingml/2006/main" noGrp="1"/>
          </p:cNvSpPr>
          <p:nvPr/>
        </p:nvSpPr>
        <p:spPr>
          <a:xfrm xmlns:a="http://schemas.openxmlformats.org/drawingml/2006/main">
            <a:off x="1524000" y="3857625"/>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What do you record, and how?</a:t>
            </a:r>
          </a:p>
        </p:txBody>
      </p:sp>
      <p:sp>
        <p:nvSpPr>
          <p:cNvPr id="9" name="Rectangle 8">
            <a:extLst xmlns:a="http://schemas.openxmlformats.org/drawingml/2006/main">
              <a:ext uri="{FF2B5EF4-FFF2-40B4-BE49-F238E27FC236}">
                <a16:creationId xmlns:a16="http://schemas.microsoft.com/office/drawing/2014/main" id="{94A69771-EE8C-48B2-B62E-7FDE26F9F693}"/>
              </a:ext>
            </a:extLst>
          </p:cNvPr>
          <p:cNvSpPr>
            <a:spLocks xmlns:a="http://schemas.openxmlformats.org/drawingml/2006/main" noGrp="1"/>
          </p:cNvSpPr>
          <p:nvPr/>
        </p:nvSpPr>
        <p:spPr>
          <a:xfrm xmlns:a="http://schemas.openxmlformats.org/drawingml/2006/main">
            <a:off x="685800" y="48101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03</a:t>
            </a:r>
          </a:p>
        </p:txBody>
      </p:sp>
      <p:sp>
        <p:nvSpPr>
          <p:cNvPr id="10" name="Rectangle 9">
            <a:extLst xmlns:a="http://schemas.openxmlformats.org/drawingml/2006/main">
              <a:ext uri="{FF2B5EF4-FFF2-40B4-BE49-F238E27FC236}">
                <a16:creationId xmlns:a16="http://schemas.microsoft.com/office/drawing/2014/main" id="{466E4A16-E5C9-48D9-976B-203573C4AE29}"/>
              </a:ext>
            </a:extLst>
          </p:cNvPr>
          <p:cNvSpPr>
            <a:spLocks xmlns:a="http://schemas.openxmlformats.org/drawingml/2006/main" noGrp="1"/>
          </p:cNvSpPr>
          <p:nvPr/>
        </p:nvSpPr>
        <p:spPr>
          <a:xfrm xmlns:a="http://schemas.openxmlformats.org/drawingml/2006/main">
            <a:off x="1524000" y="4810125"/>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Hard to analyze</a:t>
            </a:r>
          </a:p>
        </p:txBody>
      </p:sp>
      <p:sp>
        <p:nvSpPr>
          <p:cNvPr id="11" name="Rectangle 10">
            <a:extLst xmlns:a="http://schemas.openxmlformats.org/drawingml/2006/main">
              <a:ext uri="{FF2B5EF4-FFF2-40B4-BE49-F238E27FC236}">
                <a16:creationId xmlns:a16="http://schemas.microsoft.com/office/drawing/2014/main" id="{A8AE9124-B3BD-463C-8E00-230CE3CFD146}"/>
              </a:ext>
            </a:extLst>
          </p:cNvPr>
          <p:cNvSpPr>
            <a:spLocks xmlns:a="http://schemas.openxmlformats.org/drawingml/2006/main" noGrp="1"/>
          </p:cNvSpPr>
          <p:nvPr/>
        </p:nvSpPr>
        <p:spPr>
          <a:xfrm xmlns:a="http://schemas.openxmlformats.org/drawingml/2006/main">
            <a:off x="1524000" y="5334000"/>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What do you do with 2,000 Excel rows after a year-long construction project?</a:t>
            </a:r>
          </a:p>
        </p:txBody>
      </p:sp>
      <p:sp>
        <p:nvSpPr>
          <p:cNvPr id="13" name="">
            <a:extLst xmlns:a="http://schemas.openxmlformats.org/drawingml/2006/main">
              <a:ext uri="{FF2B5EF4-FFF2-40B4-BE49-F238E27FC236}">
                <a16:creationId xmlns:a16="http://schemas.microsoft.com/office/drawing/2014/main" id="{666B0608-E962-470D-A0BD-FAEF954E9B43}"/>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03</a:t>
            </a:r>
          </a:p>
        </p:txBody>
      </p:sp>
    </p:spTree>
    <p:extLst>
      <p:ext uri="{BB962C8B-B14F-4D97-AF65-F5344CB8AC3E}">
        <p14:creationId xmlns:p14="http://schemas.microsoft.com/office/powerpoint/2010/main" val="2011982024"/>
      </p:ext>
    </p:extLst>
  </p:cSld>
</p:sld>
</file>

<file path=ppt/slides/slide4.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FA645D17-DC3B-CD19-1A56-49C34E0154A6}"/>
              </a:ext>
            </a:extLst>
          </p:cNvPr>
          <p:cNvSpPr>
            <a:spLocks xmlns:a="http://schemas.openxmlformats.org/drawingml/2006/main" noGrp="1"/>
          </p:cNvSpPr>
          <p:nvPr/>
        </p:nvSpPr>
        <p:spPr>
          <a:xfrm xmlns:a="http://schemas.openxmlformats.org/drawingml/2006/main">
            <a:off x="685800" y="571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How we help </a:t>
            </a:r>
          </a:p>
        </p:txBody>
      </p:sp>
      <p:sp>
        <p:nvSpPr>
          <p:cNvPr id="3" name="Rectangle 2">
            <a:extLst xmlns:a="http://schemas.openxmlformats.org/drawingml/2006/main">
              <a:ext uri="{FF2B5EF4-FFF2-40B4-BE49-F238E27FC236}">
                <a16:creationId xmlns:a16="http://schemas.microsoft.com/office/drawing/2014/main" id="{D8D09C23-A343-119D-0640-E09AAE2702C9}"/>
              </a:ext>
            </a:extLst>
          </p:cNvPr>
          <p:cNvSpPr>
            <a:spLocks xmlns:a="http://schemas.openxmlformats.org/drawingml/2006/main" noGrp="1"/>
          </p:cNvSpPr>
          <p:nvPr/>
        </p:nvSpPr>
        <p:spPr>
          <a:xfrm xmlns:a="http://schemas.openxmlformats.org/drawingml/2006/main">
            <a:off x="685800" y="18573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01</a:t>
            </a:r>
          </a:p>
        </p:txBody>
      </p:sp>
      <p:sp>
        <p:nvSpPr>
          <p:cNvPr id="4" name="Rectangle 3">
            <a:extLst xmlns:a="http://schemas.openxmlformats.org/drawingml/2006/main">
              <a:ext uri="{FF2B5EF4-FFF2-40B4-BE49-F238E27FC236}">
                <a16:creationId xmlns:a16="http://schemas.microsoft.com/office/drawing/2014/main" id="{361D22E2-D781-3AC0-19FC-AF18102F03C4}"/>
              </a:ext>
            </a:extLst>
          </p:cNvPr>
          <p:cNvSpPr>
            <a:spLocks xmlns:a="http://schemas.openxmlformats.org/drawingml/2006/main" noGrp="1"/>
          </p:cNvSpPr>
          <p:nvPr/>
        </p:nvSpPr>
        <p:spPr>
          <a:xfrm xmlns:a="http://schemas.openxmlformats.org/drawingml/2006/main">
            <a:off x="1524000" y="1857375"/>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Provide a data collection tool – WhatsApp automation</a:t>
            </a:r>
          </a:p>
        </p:txBody>
      </p:sp>
      <p:sp>
        <p:nvSpPr>
          <p:cNvPr id="5" name="Rectangle 4">
            <a:extLst xmlns:a="http://schemas.openxmlformats.org/drawingml/2006/main">
              <a:ext uri="{FF2B5EF4-FFF2-40B4-BE49-F238E27FC236}">
                <a16:creationId xmlns:a16="http://schemas.microsoft.com/office/drawing/2014/main" id="{ADF20A53-2AD3-4CA3-6B21-D35FC07ED6D9}"/>
              </a:ext>
            </a:extLst>
          </p:cNvPr>
          <p:cNvSpPr>
            <a:spLocks xmlns:a="http://schemas.openxmlformats.org/drawingml/2006/main" noGrp="1"/>
          </p:cNvSpPr>
          <p:nvPr/>
        </p:nvSpPr>
        <p:spPr>
          <a:xfrm xmlns:a="http://schemas.openxmlformats.org/drawingml/2006/main">
            <a:off x="1524000" y="2381250"/>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875">
                <a:solidFill>
                  <a:srgbClr val="52686B"/>
                </a:solidFill>
                <a:latin typeface="Bitstream Charter"/>
                <a:ea typeface="Bitstream Charter"/>
                <a:cs typeface="Bitstream Charter"/>
              </a:rPr>
              <a:t>The site manager sends a WhatsApp voice message describing the day’s work.</a:t>
            </a:r>
          </a:p>
        </p:txBody>
      </p:sp>
      <p:sp>
        <p:nvSpPr>
          <p:cNvPr id="6" name="Rectangle 5">
            <a:extLst xmlns:a="http://schemas.openxmlformats.org/drawingml/2006/main">
              <a:ext uri="{FF2B5EF4-FFF2-40B4-BE49-F238E27FC236}">
                <a16:creationId xmlns:a16="http://schemas.microsoft.com/office/drawing/2014/main" id="{65EE6F05-0976-85CC-862D-D4FBA490DFEF}"/>
              </a:ext>
            </a:extLst>
          </p:cNvPr>
          <p:cNvSpPr>
            <a:spLocks xmlns:a="http://schemas.openxmlformats.org/drawingml/2006/main" noGrp="1"/>
          </p:cNvSpPr>
          <p:nvPr/>
        </p:nvSpPr>
        <p:spPr>
          <a:xfrm xmlns:a="http://schemas.openxmlformats.org/drawingml/2006/main">
            <a:off x="685800" y="3333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02</a:t>
            </a:r>
          </a:p>
        </p:txBody>
      </p:sp>
      <p:sp>
        <p:nvSpPr>
          <p:cNvPr id="7" name="Rectangle 6">
            <a:extLst xmlns:a="http://schemas.openxmlformats.org/drawingml/2006/main">
              <a:ext uri="{FF2B5EF4-FFF2-40B4-BE49-F238E27FC236}">
                <a16:creationId xmlns:a16="http://schemas.microsoft.com/office/drawing/2014/main" id="{345F904B-50CB-29E8-96FB-0F3139356CF2}"/>
              </a:ext>
            </a:extLst>
          </p:cNvPr>
          <p:cNvSpPr>
            <a:spLocks xmlns:a="http://schemas.openxmlformats.org/drawingml/2006/main" noGrp="1"/>
          </p:cNvSpPr>
          <p:nvPr/>
        </p:nvSpPr>
        <p:spPr>
          <a:xfrm xmlns:a="http://schemas.openxmlformats.org/drawingml/2006/main">
            <a:off x="1524000" y="3333750"/>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WorksRecorded analyzes and structures messages</a:t>
            </a:r>
          </a:p>
        </p:txBody>
      </p:sp>
      <p:sp>
        <p:nvSpPr>
          <p:cNvPr id="8" name="Rectangle 7">
            <a:extLst xmlns:a="http://schemas.openxmlformats.org/drawingml/2006/main">
              <a:ext uri="{FF2B5EF4-FFF2-40B4-BE49-F238E27FC236}">
                <a16:creationId xmlns:a16="http://schemas.microsoft.com/office/drawing/2014/main" id="{00971A1E-9BC9-44EF-1A19-CBD10E29D59E}"/>
              </a:ext>
            </a:extLst>
          </p:cNvPr>
          <p:cNvSpPr>
            <a:spLocks xmlns:a="http://schemas.openxmlformats.org/drawingml/2006/main" noGrp="1"/>
          </p:cNvSpPr>
          <p:nvPr/>
        </p:nvSpPr>
        <p:spPr>
          <a:xfrm xmlns:a="http://schemas.openxmlformats.org/drawingml/2006/main">
            <a:off x="1524000" y="3857625"/>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WorksRecorded turns messages into structured records and tracks costs against the budget.</a:t>
            </a:r>
          </a:p>
        </p:txBody>
      </p:sp>
      <p:sp>
        <p:nvSpPr>
          <p:cNvPr id="9" name="Rectangle 8">
            <a:extLst xmlns:a="http://schemas.openxmlformats.org/drawingml/2006/main">
              <a:ext uri="{FF2B5EF4-FFF2-40B4-BE49-F238E27FC236}">
                <a16:creationId xmlns:a16="http://schemas.microsoft.com/office/drawing/2014/main" id="{49388B51-3B61-CACC-AC9B-480F0BB88D15}"/>
              </a:ext>
            </a:extLst>
          </p:cNvPr>
          <p:cNvSpPr>
            <a:spLocks xmlns:a="http://schemas.openxmlformats.org/drawingml/2006/main" noGrp="1"/>
          </p:cNvSpPr>
          <p:nvPr/>
        </p:nvSpPr>
        <p:spPr>
          <a:xfrm xmlns:a="http://schemas.openxmlformats.org/drawingml/2006/main">
            <a:off x="685800" y="48101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03</a:t>
            </a:r>
          </a:p>
        </p:txBody>
      </p:sp>
      <p:sp>
        <p:nvSpPr>
          <p:cNvPr id="10" name="Rectangle 9">
            <a:extLst xmlns:a="http://schemas.openxmlformats.org/drawingml/2006/main">
              <a:ext uri="{FF2B5EF4-FFF2-40B4-BE49-F238E27FC236}">
                <a16:creationId xmlns:a16="http://schemas.microsoft.com/office/drawing/2014/main" id="{9BE9775C-1FDF-9F7C-68A7-1AC278BF4F5C}"/>
              </a:ext>
            </a:extLst>
          </p:cNvPr>
          <p:cNvSpPr>
            <a:spLocks xmlns:a="http://schemas.openxmlformats.org/drawingml/2006/main" noGrp="1"/>
          </p:cNvSpPr>
          <p:nvPr/>
        </p:nvSpPr>
        <p:spPr>
          <a:xfrm xmlns:a="http://schemas.openxmlformats.org/drawingml/2006/main">
            <a:off x="1524000" y="4810125"/>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The project manager or owner receives analytics</a:t>
            </a:r>
          </a:p>
        </p:txBody>
      </p:sp>
      <p:sp>
        <p:nvSpPr>
          <p:cNvPr id="11" name="Rectangle 10">
            <a:extLst xmlns:a="http://schemas.openxmlformats.org/drawingml/2006/main">
              <a:ext uri="{FF2B5EF4-FFF2-40B4-BE49-F238E27FC236}">
                <a16:creationId xmlns:a16="http://schemas.microsoft.com/office/drawing/2014/main" id="{21E616BF-B03A-854C-AB20-527C08EE5D24}"/>
              </a:ext>
            </a:extLst>
          </p:cNvPr>
          <p:cNvSpPr>
            <a:spLocks xmlns:a="http://schemas.openxmlformats.org/drawingml/2006/main" noGrp="1"/>
          </p:cNvSpPr>
          <p:nvPr/>
        </p:nvSpPr>
        <p:spPr>
          <a:xfrm xmlns:a="http://schemas.openxmlformats.org/drawingml/2006/main">
            <a:off x="1524000" y="5334000"/>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Spending breakdowns, delays, additional work and progress reports – everything needed to make decisions based on data.</a:t>
            </a:r>
          </a:p>
        </p:txBody>
      </p:sp>
      <p:sp>
        <p:nvSpPr>
          <p:cNvPr id="13" name="">
            <a:extLst xmlns:a="http://schemas.openxmlformats.org/drawingml/2006/main">
              <a:ext uri="{FF2B5EF4-FFF2-40B4-BE49-F238E27FC236}">
                <a16:creationId xmlns:a16="http://schemas.microsoft.com/office/drawing/2014/main" id="{BFB79EB3-CD2F-486D-9198-AE99E7D6CF2A}"/>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04</a:t>
            </a:r>
          </a:p>
        </p:txBody>
      </p:sp>
    </p:spTree>
    <p:extLst>
      <p:ext uri="{BB962C8B-B14F-4D97-AF65-F5344CB8AC3E}">
        <p14:creationId xmlns:p14="http://schemas.microsoft.com/office/powerpoint/2010/main" val="4206997084"/>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FA645D17-DC3B-CD19-1A56-49C34E0154A6}"/>
              </a:ext>
            </a:extLst>
          </p:cNvPr>
          <p:cNvSpPr>
            <a:spLocks xmlns:a="http://schemas.openxmlformats.org/drawingml/2006/main" noGrp="1"/>
          </p:cNvSpPr>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StoneAndTree (client) example </a:t>
            </a:r>
            <a:endParaRPr sz="3600" b="1" i="0" u="none" kern="1200" cap="none" spc="0" baseline="0">
              <a:ln>
                <a:noFill/>
              </a:ln>
              <a:solidFill>
                <a:srgbClr val="122C32"/>
              </a:solidFill>
              <a:latin typeface="Bitstream Charter"/>
              <a:ea typeface="Bitstream Charter"/>
              <a:cs typeface="Bitstream Charter"/>
            </a:endParaRPr>
          </a:p>
        </p:txBody>
      </p:sp>
      <p:sp>
        <p:nvSpPr>
          <p:cNvPr id="3" name="Rectangle 2">
            <a:extLst xmlns:a="http://schemas.openxmlformats.org/drawingml/2006/main">
              <a:ext uri="{FF2B5EF4-FFF2-40B4-BE49-F238E27FC236}">
                <a16:creationId xmlns:a16="http://schemas.microsoft.com/office/drawing/2014/main" id="{D8D09C23-A343-119D-0640-E09AAE2702C9}"/>
              </a:ext>
            </a:extLst>
          </p:cNvPr>
          <p:cNvSpPr>
            <a:spLocks xmlns:a="http://schemas.openxmlformats.org/drawingml/2006/main" noGrp="1"/>
          </p:cNvSpPr>
          <p:nvPr/>
        </p:nvSpPr>
        <p:spPr>
          <a:xfrm xmlns:a="http://schemas.openxmlformats.org/drawingml/2006/main">
            <a:off x="685800" y="1628013"/>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defRPr sz="1350" b="1">
                <a:solidFill>
                  <a:srgbClr val="008B80"/>
                </a:solidFill>
                <a:latin typeface="Bitstream Charter"/>
                <a:ea typeface="Bitstream Charter"/>
                <a:cs typeface="Bitstream Charter"/>
              </a:defRPr>
            </a:pPr>
            <a:endParaRPr sz="1350" b="1" i="0" u="none" cap="none" spc="0">
              <a:ln>
                <a:noFill/>
              </a:ln>
              <a:solidFill>
                <a:srgbClr val="008B80"/>
              </a:solidFill>
              <a:latin typeface="Bitstream Charter"/>
              <a:ea typeface="Bitstream Charter"/>
              <a:cs typeface="Bitstream Charter"/>
            </a:endParaRPr>
          </a:p>
        </p:txBody>
      </p:sp>
      <p:pic>
        <p:nvPicPr>
          <p:cNvPr id="20" name="Picture 9"/>
          <p:cNvPicPr>
            <a:picLocks xmlns:a="http://schemas.openxmlformats.org/drawingml/2006/main" noChangeAspect="1"/>
          </p:cNvPicPr>
          <p:nvPr/>
        </p:nvPicPr>
        <p:blipFill>
          <a:blip xmlns:r="http://schemas.openxmlformats.org/officeDocument/2006/relationships" xmlns:a="http://schemas.openxmlformats.org/drawingml/2006/main" r:embed="R75fefad62eaa4d04"/>
          <a:stretch xmlns:a="http://schemas.openxmlformats.org/drawingml/2006/main">
            <a:fillRect l="0" t="0" r="0" b="0"/>
          </a:stretch>
        </p:blipFill>
        <p:spPr>
          <a:xfrm xmlns:a="http://schemas.openxmlformats.org/drawingml/2006/main">
            <a:off x="1511046" y="1628013"/>
            <a:ext cx="8827008" cy="4413504"/>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37A9501A-9E23-4441-8495-95BC172248B3}"/>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05</a:t>
            </a:r>
          </a:p>
        </p:txBody>
      </p:sp>
    </p:spTree>
    <p:extLst>
      <p:ext uri="{BB962C8B-B14F-4D97-AF65-F5344CB8AC3E}">
        <p14:creationId xmlns:p14="http://schemas.microsoft.com/office/powerpoint/2010/main" val="1904699756"/>
      </p:ext>
    </p:extLst>
  </p:cSld>
</p:sld>
</file>

<file path=ppt/slides/slide6.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A78C0D80-D5DE-467F-A114-569B00F59906}"/>
              </a:ext>
            </a:extLst>
          </p:cNvPr>
          <p:cNvSpPr>
            <a:spLocks xmlns:a="http://schemas.openxmlformats.org/drawingml/2006/main" noGrp="1"/>
          </p:cNvSpPr>
          <p:nvPr/>
        </p:nvSpPr>
        <p:spPr>
          <a:xfrm xmlns:a="http://schemas.openxmlformats.org/drawingml/2006/main">
            <a:off x="685800" y="571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ICP - specialty trade contractors</a:t>
            </a:r>
          </a:p>
        </p:txBody>
      </p:sp>
      <p:sp>
        <p:nvSpPr>
          <p:cNvPr id="3" name="Rectangle 2">
            <a:extLst xmlns:a="http://schemas.openxmlformats.org/drawingml/2006/main">
              <a:ext uri="{FF2B5EF4-FFF2-40B4-BE49-F238E27FC236}">
                <a16:creationId xmlns:a16="http://schemas.microsoft.com/office/drawing/2014/main" id="{64E5D290-6F78-4046-A7CE-E38222F86C5D}"/>
              </a:ext>
            </a:extLst>
          </p:cNvPr>
          <p:cNvSpPr>
            <a:spLocks xmlns:a="http://schemas.openxmlformats.org/drawingml/2006/main" noGrp="1"/>
          </p:cNvSpPr>
          <p:nvPr/>
        </p:nvSpPr>
        <p:spPr>
          <a:xfrm xmlns:a="http://schemas.openxmlformats.org/drawingml/2006/main">
            <a:off x="685800" y="1952625"/>
            <a:ext cx="5715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950" b="1">
                <a:solidFill>
                  <a:srgbClr val="007F73"/>
                </a:solidFill>
                <a:latin typeface="Bitstream Charter"/>
                <a:ea typeface="Bitstream Charter"/>
                <a:cs typeface="Bitstream Charter"/>
              </a:defRPr>
            </a:pPr>
            <a:r>
              <a:rPr sz="7950" b="1">
                <a:solidFill>
                  <a:srgbClr val="007F73"/>
                </a:solidFill>
                <a:latin typeface="Bitstream Charter"/>
                <a:ea typeface="Bitstream Charter"/>
                <a:cs typeface="Bitstream Charter"/>
              </a:rPr>
              <a:t>10–49 </a:t>
            </a:r>
          </a:p>
        </p:txBody>
      </p:sp>
      <p:sp>
        <p:nvSpPr>
          <p:cNvPr id="4" name="Rectangle 3">
            <a:extLst xmlns:a="http://schemas.openxmlformats.org/drawingml/2006/main">
              <a:ext uri="{FF2B5EF4-FFF2-40B4-BE49-F238E27FC236}">
                <a16:creationId xmlns:a16="http://schemas.microsoft.com/office/drawing/2014/main" id="{BB7BDF1D-5A67-4F36-A377-4F8580A99F95}"/>
              </a:ext>
            </a:extLst>
          </p:cNvPr>
          <p:cNvSpPr>
            <a:spLocks xmlns:a="http://schemas.openxmlformats.org/drawingml/2006/main" noGrp="1"/>
          </p:cNvSpPr>
          <p:nvPr/>
        </p:nvSpPr>
        <p:spPr>
          <a:xfrm xmlns:a="http://schemas.openxmlformats.org/drawingml/2006/main">
            <a:off x="723900" y="3362325"/>
            <a:ext cx="590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C32"/>
                </a:solidFill>
                <a:latin typeface="Bitstream Charter"/>
                <a:ea typeface="Bitstream Charter"/>
                <a:cs typeface="Bitstream Charter"/>
              </a:defRPr>
            </a:pPr>
            <a:r>
              <a:rPr sz="2250" b="0">
                <a:solidFill>
                  <a:srgbClr val="122C32"/>
                </a:solidFill>
                <a:latin typeface="Bitstream Charter"/>
                <a:ea typeface="Bitstream Charter"/>
                <a:cs typeface="Bitstream Charter"/>
              </a:rPr>
              <a:t>Employees in the company </a:t>
            </a:r>
          </a:p>
        </p:txBody>
      </p:sp>
      <p:sp>
        <p:nvSpPr>
          <p:cNvPr id="5" name="Rectangle 4">
            <a:extLst xmlns:a="http://schemas.openxmlformats.org/drawingml/2006/main">
              <a:ext uri="{FF2B5EF4-FFF2-40B4-BE49-F238E27FC236}">
                <a16:creationId xmlns:a16="http://schemas.microsoft.com/office/drawing/2014/main" id="{4340E1A3-BC7F-4E71-A39C-55B522DA4B04}"/>
              </a:ext>
            </a:extLst>
          </p:cNvPr>
          <p:cNvSpPr>
            <a:spLocks xmlns:a="http://schemas.openxmlformats.org/drawingml/2006/main" noGrp="1"/>
          </p:cNvSpPr>
          <p:nvPr/>
        </p:nvSpPr>
        <p:spPr>
          <a:xfrm xmlns:a="http://schemas.openxmlformats.org/drawingml/2006/main">
            <a:off x="6858000" y="2076450"/>
            <a:ext cx="45720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Enough operational complexity</a:t>
            </a:r>
          </a:p>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to need better records.</a:t>
            </a:r>
          </a:p>
          <a:p xmlns:a="http://schemas.openxmlformats.org/drawingml/2006/main">
            <a:endParaRPr sz="2325" b="0">
              <a:solidFill>
                <a:srgbClr val="122C32"/>
              </a:solidFill>
              <a:latin typeface="Bitstream Charter"/>
              <a:ea typeface="Bitstream Charter"/>
              <a:cs typeface="Bitstream Charter"/>
            </a:endParaRPr>
          </a:p>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Limited capacity to build and</a:t>
            </a:r>
          </a:p>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maintain an internal system.</a:t>
            </a:r>
          </a:p>
        </p:txBody>
      </p:sp>
      <p:sp>
        <p:nvSpPr>
          <p:cNvPr id="6" name="Rectangle 5">
            <a:extLst xmlns:a="http://schemas.openxmlformats.org/drawingml/2006/main">
              <a:ext uri="{FF2B5EF4-FFF2-40B4-BE49-F238E27FC236}">
                <a16:creationId xmlns:a16="http://schemas.microsoft.com/office/drawing/2014/main" id="{8A16FE9C-5BF7-4D1C-AB9F-990B61CBF628}"/>
              </a:ext>
            </a:extLst>
          </p:cNvPr>
          <p:cNvSpPr>
            <a:spLocks xmlns:a="http://schemas.openxmlformats.org/drawingml/2006/main" noGrp="1"/>
          </p:cNvSpPr>
          <p:nvPr/>
        </p:nvSpPr>
        <p:spPr>
          <a:xfrm xmlns:a="http://schemas.openxmlformats.org/drawingml/2006/main">
            <a:off x="723900" y="53816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2686B"/>
                </a:solidFill>
                <a:latin typeface="Bitstream Charter"/>
                <a:ea typeface="Bitstream Charter"/>
                <a:cs typeface="Bitstream Charter"/>
              </a:defRPr>
            </a:pPr>
            <a:r>
              <a:rPr sz="1950" b="0">
                <a:solidFill>
                  <a:srgbClr val="52686B"/>
                </a:solidFill>
                <a:latin typeface="Bitstream Charter"/>
                <a:ea typeface="Bitstream Charter"/>
                <a:cs typeface="Bitstream Charter"/>
              </a:rPr>
              <a:t>Adjacent opportunity: medium-sized manufacturers, with ZTC as an early customer.</a:t>
            </a:r>
          </a:p>
        </p:txBody>
      </p:sp>
      <p:sp>
        <p:nvSpPr>
          <p:cNvPr id="8" name="">
            <a:extLst xmlns:a="http://schemas.openxmlformats.org/drawingml/2006/main">
              <a:ext uri="{FF2B5EF4-FFF2-40B4-BE49-F238E27FC236}">
                <a16:creationId xmlns:a16="http://schemas.microsoft.com/office/drawing/2014/main" id="{C3BB3BC9-0101-4A7C-A4E4-BDCE5E13154B}"/>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06</a:t>
            </a:r>
          </a:p>
        </p:txBody>
      </p:sp>
    </p:spTree>
    <p:extLst>
      <p:ext uri="{BB962C8B-B14F-4D97-AF65-F5344CB8AC3E}">
        <p14:creationId xmlns:p14="http://schemas.microsoft.com/office/powerpoint/2010/main" val="1199043535"/>
      </p:ext>
    </p:extLst>
  </p:cSld>
</p:sld>
</file>

<file path=ppt/slides/slide7.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256AE8B-D684-4A13-A85A-250D3EABC226}"/>
              </a:ext>
            </a:extLst>
          </p:cNvPr>
          <p:cNvSpPr>
            <a:spLocks xmlns:a="http://schemas.openxmlformats.org/drawingml/2006/main" noGrp="1"/>
          </p:cNvSpPr>
          <p:nvPr/>
        </p:nvSpPr>
        <p:spPr>
          <a:xfrm xmlns:a="http://schemas.openxmlformats.org/drawingml/2006/main">
            <a:off x="685800" y="5715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42F35"/>
                </a:solidFill>
                <a:latin typeface="Calibri"/>
                <a:ea typeface="Calibri"/>
                <a:cs typeface="Calibri"/>
              </a:defRPr>
            </a:pPr>
            <a:r>
              <a:rPr sz="3150" b="1">
                <a:solidFill>
                  <a:srgbClr val="142F35"/>
                </a:solidFill>
                <a:latin typeface="Calibri"/>
                <a:ea typeface="Calibri"/>
                <a:cs typeface="Calibri"/>
              </a:rPr>
              <a:t>EU-27 market opportunity</a:t>
            </a:r>
          </a:p>
        </p:txBody>
      </p:sp>
      <p:sp>
        <p:nvSpPr>
          <p:cNvPr id="2" name="">
            <a:extLst xmlns:a="http://schemas.openxmlformats.org/drawingml/2006/main">
              <a:ext uri="{FF2B5EF4-FFF2-40B4-BE49-F238E27FC236}">
                <a16:creationId xmlns:a16="http://schemas.microsoft.com/office/drawing/2014/main" id="{1B8B1A41-AA19-454C-9DAB-523AF33FAFCE}"/>
              </a:ext>
            </a:extLst>
          </p:cNvPr>
          <p:cNvSpPr>
            <a:spLocks xmlns:a="http://schemas.openxmlformats.org/drawingml/2006/main" noGrp="1"/>
          </p:cNvSpPr>
          <p:nvPr/>
        </p:nvSpPr>
        <p:spPr>
          <a:xfrm xmlns:a="http://schemas.openxmlformats.org/drawingml/2006/main">
            <a:off x="723900" y="13430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B70"/>
                </a:solidFill>
                <a:latin typeface="Calibri"/>
                <a:ea typeface="Calibri"/>
                <a:cs typeface="Calibri"/>
              </a:defRPr>
            </a:pPr>
            <a:r>
              <a:rPr sz="2025" b="0">
                <a:solidFill>
                  <a:srgbClr val="536B70"/>
                </a:solidFill>
                <a:latin typeface="Calibri"/>
                <a:ea typeface="Calibri"/>
                <a:cs typeface="Calibri"/>
              </a:rPr>
              <a:t>Specialty construction enterprises with 10–49 people employed</a:t>
            </a:r>
          </a:p>
        </p:txBody>
      </p:sp>
      <p:sp>
        <p:nvSpPr>
          <p:cNvPr id="3" name="">
            <a:extLst xmlns:a="http://schemas.openxmlformats.org/drawingml/2006/main">
              <a:ext uri="{FF2B5EF4-FFF2-40B4-BE49-F238E27FC236}">
                <a16:creationId xmlns:a16="http://schemas.microsoft.com/office/drawing/2014/main" id="{EBA2B9E8-4A6C-4F22-89F7-6CC6C247512D}"/>
              </a:ext>
            </a:extLst>
          </p:cNvPr>
          <p:cNvSpPr>
            <a:spLocks xmlns:a="http://schemas.openxmlformats.org/drawingml/2006/main" noGrp="1"/>
          </p:cNvSpPr>
          <p:nvPr/>
        </p:nvSpPr>
        <p:spPr>
          <a:xfrm xmlns:a="http://schemas.openxmlformats.org/drawingml/2006/main">
            <a:off x="723900" y="2162175"/>
            <a:ext cx="5238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008579"/>
                </a:solidFill>
                <a:latin typeface="Calibri"/>
                <a:ea typeface="Calibri"/>
                <a:cs typeface="Calibri"/>
              </a:defRPr>
            </a:pPr>
            <a:r>
              <a:rPr sz="6600" b="1">
                <a:solidFill>
                  <a:srgbClr val="008579"/>
                </a:solidFill>
                <a:latin typeface="Calibri"/>
                <a:ea typeface="Calibri"/>
                <a:cs typeface="Calibri"/>
              </a:rPr>
              <a:t>~142,000</a:t>
            </a:r>
          </a:p>
        </p:txBody>
      </p:sp>
      <p:sp>
        <p:nvSpPr>
          <p:cNvPr id="4" name="">
            <a:extLst xmlns:a="http://schemas.openxmlformats.org/drawingml/2006/main">
              <a:ext uri="{FF2B5EF4-FFF2-40B4-BE49-F238E27FC236}">
                <a16:creationId xmlns:a16="http://schemas.microsoft.com/office/drawing/2014/main" id="{3FEFC5D1-6DC8-435E-9E1C-057D5242EB9C}"/>
              </a:ext>
            </a:extLst>
          </p:cNvPr>
          <p:cNvSpPr>
            <a:spLocks xmlns:a="http://schemas.openxmlformats.org/drawingml/2006/main" noGrp="1"/>
          </p:cNvSpPr>
          <p:nvPr/>
        </p:nvSpPr>
        <p:spPr>
          <a:xfrm xmlns:a="http://schemas.openxmlformats.org/drawingml/2006/main">
            <a:off x="762000" y="3371850"/>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F35"/>
                </a:solidFill>
                <a:latin typeface="Calibri"/>
                <a:ea typeface="Calibri"/>
                <a:cs typeface="Calibri"/>
              </a:defRPr>
            </a:pPr>
            <a:r>
              <a:rPr sz="2175" b="0">
                <a:solidFill>
                  <a:srgbClr val="142F35"/>
                </a:solidFill>
                <a:latin typeface="Calibri"/>
                <a:ea typeface="Calibri"/>
                <a:cs typeface="Calibri"/>
              </a:rPr>
              <a:t>enterprises across the EU-27</a:t>
            </a:r>
          </a:p>
        </p:txBody>
      </p:sp>
      <p:sp>
        <p:nvSpPr>
          <p:cNvPr id="5" name="">
            <a:extLst xmlns:a="http://schemas.openxmlformats.org/drawingml/2006/main">
              <a:ext uri="{FF2B5EF4-FFF2-40B4-BE49-F238E27FC236}">
                <a16:creationId xmlns:a16="http://schemas.microsoft.com/office/drawing/2014/main" id="{77424D91-8A55-4FDE-B4B4-26960BCC529D}"/>
              </a:ext>
            </a:extLst>
          </p:cNvPr>
          <p:cNvSpPr>
            <a:spLocks xmlns:a="http://schemas.openxmlformats.org/drawingml/2006/main" noGrp="1"/>
          </p:cNvSpPr>
          <p:nvPr/>
        </p:nvSpPr>
        <p:spPr>
          <a:xfrm xmlns:a="http://schemas.openxmlformats.org/drawingml/2006/main">
            <a:off x="6477000" y="2162175"/>
            <a:ext cx="495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008579"/>
                </a:solidFill>
                <a:latin typeface="Calibri"/>
                <a:ea typeface="Calibri"/>
                <a:cs typeface="Calibri"/>
              </a:defRPr>
            </a:pPr>
            <a:r>
              <a:rPr sz="6600" b="1">
                <a:solidFill>
                  <a:srgbClr val="008579"/>
                </a:solidFill>
                <a:latin typeface="Calibri"/>
                <a:ea typeface="Calibri"/>
                <a:cs typeface="Calibri"/>
              </a:rPr>
              <a:t>~€255M</a:t>
            </a:r>
          </a:p>
        </p:txBody>
      </p:sp>
      <p:sp>
        <p:nvSpPr>
          <p:cNvPr id="6" name="">
            <a:extLst xmlns:a="http://schemas.openxmlformats.org/drawingml/2006/main">
              <a:ext uri="{FF2B5EF4-FFF2-40B4-BE49-F238E27FC236}">
                <a16:creationId xmlns:a16="http://schemas.microsoft.com/office/drawing/2014/main" id="{AC076E21-4D45-4EC2-ACB3-693049EC072D}"/>
              </a:ext>
            </a:extLst>
          </p:cNvPr>
          <p:cNvSpPr>
            <a:spLocks xmlns:a="http://schemas.openxmlformats.org/drawingml/2006/main" noGrp="1"/>
          </p:cNvSpPr>
          <p:nvPr/>
        </p:nvSpPr>
        <p:spPr>
          <a:xfrm xmlns:a="http://schemas.openxmlformats.org/drawingml/2006/main">
            <a:off x="6515100" y="3371850"/>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F35"/>
                </a:solidFill>
                <a:latin typeface="Calibri"/>
                <a:ea typeface="Calibri"/>
                <a:cs typeface="Calibri"/>
              </a:defRPr>
            </a:pPr>
            <a:r>
              <a:rPr sz="2175" b="0">
                <a:solidFill>
                  <a:srgbClr val="142F35"/>
                </a:solidFill>
                <a:latin typeface="Calibri"/>
                <a:ea typeface="Calibri"/>
                <a:cs typeface="Calibri"/>
              </a:rPr>
              <a:t>annual software market potential</a:t>
            </a:r>
          </a:p>
        </p:txBody>
      </p:sp>
      <p:sp>
        <p:nvSpPr>
          <p:cNvPr id="7" name="">
            <a:extLst xmlns:a="http://schemas.openxmlformats.org/drawingml/2006/main">
              <a:ext uri="{FF2B5EF4-FFF2-40B4-BE49-F238E27FC236}">
                <a16:creationId xmlns:a16="http://schemas.microsoft.com/office/drawing/2014/main" id="{7823B6F7-B1AA-441E-9401-241A2F5497DC}"/>
              </a:ext>
            </a:extLst>
          </p:cNvPr>
          <p:cNvSpPr>
            <a:spLocks xmlns:a="http://schemas.openxmlformats.org/drawingml/2006/main" noGrp="1"/>
          </p:cNvSpPr>
          <p:nvPr/>
        </p:nvSpPr>
        <p:spPr>
          <a:xfrm xmlns:a="http://schemas.openxmlformats.org/drawingml/2006/main">
            <a:off x="762000" y="41624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F35"/>
                </a:solidFill>
                <a:latin typeface="Calibri"/>
                <a:ea typeface="Calibri"/>
                <a:cs typeface="Calibri"/>
              </a:defRPr>
            </a:pPr>
            <a:r>
              <a:rPr sz="2250" b="1">
                <a:solidFill>
                  <a:srgbClr val="142F35"/>
                </a:solidFill>
                <a:latin typeface="Calibri"/>
                <a:ea typeface="Calibri"/>
                <a:cs typeface="Calibri"/>
              </a:rPr>
              <a:t>€150 per company/month × 12 months × 141,914 enterprises</a:t>
            </a:r>
          </a:p>
        </p:txBody>
      </p:sp>
      <p:sp>
        <p:nvSpPr>
          <p:cNvPr id="8" name="">
            <a:extLst xmlns:a="http://schemas.openxmlformats.org/drawingml/2006/main">
              <a:ext uri="{FF2B5EF4-FFF2-40B4-BE49-F238E27FC236}">
                <a16:creationId xmlns:a16="http://schemas.microsoft.com/office/drawing/2014/main" id="{E94888E0-E542-4B35-9985-CDD784FEF70B}"/>
              </a:ext>
            </a:extLst>
          </p:cNvPr>
          <p:cNvSpPr>
            <a:spLocks xmlns:a="http://schemas.openxmlformats.org/drawingml/2006/main" noGrp="1"/>
          </p:cNvSpPr>
          <p:nvPr/>
        </p:nvSpPr>
        <p:spPr>
          <a:xfrm xmlns:a="http://schemas.openxmlformats.org/drawingml/2006/main">
            <a:off x="762000" y="499110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F35"/>
                </a:solidFill>
                <a:latin typeface="Calibri"/>
                <a:ea typeface="Calibri"/>
                <a:cs typeface="Calibri"/>
              </a:defRPr>
            </a:pPr>
            <a:r>
              <a:rPr sz="2100" b="1">
                <a:solidFill>
                  <a:srgbClr val="142F35"/>
                </a:solidFill>
                <a:latin typeface="Calibri"/>
                <a:ea typeface="Calibri"/>
                <a:cs typeface="Calibri"/>
              </a:rPr>
              <a:t>Initial launch market: Latvia</a:t>
            </a:r>
          </a:p>
        </p:txBody>
      </p:sp>
      <p:sp>
        <p:nvSpPr>
          <p:cNvPr id="9" name="">
            <a:extLst xmlns:a="http://schemas.openxmlformats.org/drawingml/2006/main">
              <a:ext uri="{FF2B5EF4-FFF2-40B4-BE49-F238E27FC236}">
                <a16:creationId xmlns:a16="http://schemas.microsoft.com/office/drawing/2014/main" id="{4CC89E88-7FC3-450A-BB6B-45F6E5EF8094}"/>
              </a:ext>
            </a:extLst>
          </p:cNvPr>
          <p:cNvSpPr>
            <a:spLocks xmlns:a="http://schemas.openxmlformats.org/drawingml/2006/main" noGrp="1"/>
          </p:cNvSpPr>
          <p:nvPr/>
        </p:nvSpPr>
        <p:spPr>
          <a:xfrm xmlns:a="http://schemas.openxmlformats.org/drawingml/2006/main">
            <a:off x="762000" y="5457825"/>
            <a:ext cx="10572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36B70"/>
                </a:solidFill>
                <a:latin typeface="Calibri"/>
                <a:ea typeface="Calibri"/>
                <a:cs typeface="Calibri"/>
              </a:defRPr>
            </a:pPr>
            <a:r>
              <a:rPr sz="1950" b="0">
                <a:solidFill>
                  <a:srgbClr val="536B70"/>
                </a:solidFill>
                <a:latin typeface="Calibri"/>
                <a:ea typeface="Calibri"/>
                <a:cs typeface="Calibri"/>
              </a:rPr>
              <a:t>616 enterprises, representing €1.11M annually within the EU-27 total.</a:t>
            </a:r>
          </a:p>
        </p:txBody>
      </p:sp>
      <p:sp>
        <p:nvSpPr>
          <p:cNvPr id="10" name="">
            <a:extLst xmlns:a="http://schemas.openxmlformats.org/drawingml/2006/main">
              <a:ext uri="{FF2B5EF4-FFF2-40B4-BE49-F238E27FC236}">
                <a16:creationId xmlns:a16="http://schemas.microsoft.com/office/drawing/2014/main" id="{9D15625A-6913-4811-9424-8052714467AA}"/>
              </a:ext>
            </a:extLst>
          </p:cNvPr>
          <p:cNvSpPr>
            <a:spLocks xmlns:a="http://schemas.openxmlformats.org/drawingml/2006/main" noGrp="1"/>
          </p:cNvSpPr>
          <p:nvPr/>
        </p:nvSpPr>
        <p:spPr>
          <a:xfrm xmlns:a="http://schemas.openxmlformats.org/drawingml/2006/main">
            <a:off x="762000" y="60864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B70"/>
                </a:solidFill>
                <a:latin typeface="Calibri"/>
                <a:ea typeface="Calibri"/>
                <a:cs typeface="Calibri"/>
              </a:defRPr>
            </a:pPr>
            <a:r>
              <a:rPr sz="1425" b="0">
                <a:solidFill>
                  <a:srgbClr val="536B70"/>
                </a:solidFill>
                <a:latin typeface="Calibri"/>
                <a:ea typeface="Calibri"/>
                <a:cs typeface="Calibri"/>
              </a:rPr>
              <a:t>Eurostat SBS, NACE 43. EU-27: 2023, includes estimates. Latvia: 2024.</a:t>
            </a:r>
          </a:p>
          <a:p xmlns:a="http://schemas.openxmlformats.org/drawingml/2006/main">
            <a:pPr>
              <a:defRPr sz="1425" b="0">
                <a:solidFill>
                  <a:srgbClr val="536B70"/>
                </a:solidFill>
                <a:latin typeface="Calibri"/>
                <a:ea typeface="Calibri"/>
                <a:cs typeface="Calibri"/>
              </a:defRPr>
            </a:pPr>
            <a:r>
              <a:rPr sz="1425" b="0">
                <a:solidFill>
                  <a:srgbClr val="536B70"/>
                </a:solidFill>
                <a:latin typeface="Calibri"/>
                <a:ea typeface="Calibri"/>
                <a:cs typeface="Calibri"/>
              </a:rPr>
              <a:t>Full market potential at €150/month; acquisition and adoption determine realised revenue.</a:t>
            </a:r>
          </a:p>
        </p:txBody>
      </p:sp>
      <p:sp>
        <p:nvSpPr>
          <p:cNvPr id="11" name="">
            <a:extLst xmlns:a="http://schemas.openxmlformats.org/drawingml/2006/main">
              <a:ext uri="{FF2B5EF4-FFF2-40B4-BE49-F238E27FC236}">
                <a16:creationId xmlns:a16="http://schemas.microsoft.com/office/drawing/2014/main" id="{9F0A7089-DF03-4B3C-950E-A73AB6F63221}"/>
              </a:ext>
            </a:extLst>
          </p:cNvPr>
          <p:cNvSpPr>
            <a:spLocks xmlns:a="http://schemas.openxmlformats.org/drawingml/2006/main" noGrp="1"/>
          </p:cNvSpPr>
          <p:nvPr/>
        </p:nvSpPr>
        <p:spPr>
          <a:xfrm xmlns:a="http://schemas.openxmlformats.org/drawingml/2006/main">
            <a:off x="11001375" y="6515100"/>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B70"/>
                </a:solidFill>
                <a:latin typeface="Calibri"/>
                <a:ea typeface="Calibri"/>
                <a:cs typeface="Calibri"/>
              </a:defRPr>
            </a:pPr>
            <a:r>
              <a:rPr sz="1200" b="0">
                <a:solidFill>
                  <a:srgbClr val="536B70"/>
                </a:solidFill>
                <a:latin typeface="Calibri"/>
                <a:ea typeface="Calibri"/>
                <a:cs typeface="Calibri"/>
              </a:rPr>
              <a:t>07</a:t>
            </a:r>
          </a:p>
        </p:txBody>
      </p:sp>
    </p:spTree>
    <p:extLst>
      <p:ext uri="{BB962C8B-B14F-4D97-AF65-F5344CB8AC3E}">
        <p14:creationId xmlns:p14="http://schemas.microsoft.com/office/powerpoint/2010/main" val="848191782"/>
      </p:ext>
    </p:extLst>
  </p:cSld>
</p:sld>
</file>

<file path=ppt/slides/slide8.xml><?xml version="1.0" encoding="utf-8"?>
<p:sld xmlns:p="http://schemas.openxmlformats.org/presentationml/2006/main">
  <p:cSld>
    <p:bg>
      <p:bgPr>
        <a:solidFill xmlns:a="http://schemas.openxmlformats.org/drawingml/2006/main">
          <a:srgbClr val="122C32"/>
        </a:solidFill>
      </p:bgPr>
    </p:bg>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E0E2CD63-474A-4D05-8791-4CB3A9401BC7}"/>
              </a:ext>
            </a:extLst>
          </p:cNvPr>
          <p:cNvSpPr>
            <a:spLocks xmlns:a="http://schemas.openxmlformats.org/drawingml/2006/main" noGrp="1"/>
          </p:cNvSpPr>
          <p:nvPr/>
        </p:nvSpPr>
        <p:spPr>
          <a:xfrm xmlns:a="http://schemas.openxmlformats.org/drawingml/2006/main">
            <a:off x="685800" y="571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FFFFFF"/>
                </a:solidFill>
                <a:latin typeface="Bitstream Charter"/>
                <a:ea typeface="Bitstream Charter"/>
                <a:cs typeface="Bitstream Charter"/>
              </a:defRPr>
            </a:pPr>
            <a:r>
              <a:rPr sz="3600" b="1">
                <a:solidFill>
                  <a:srgbClr val="FFFFFF"/>
                </a:solidFill>
                <a:latin typeface="Bitstream Charter"/>
                <a:ea typeface="Bitstream Charter"/>
                <a:cs typeface="Bitstream Charter"/>
              </a:rPr>
              <a:t>Five active subscriptions</a:t>
            </a:r>
          </a:p>
        </p:txBody>
      </p:sp>
      <p:sp>
        <p:nvSpPr>
          <p:cNvPr id="3" name="Rectangle 2">
            <a:extLst xmlns:a="http://schemas.openxmlformats.org/drawingml/2006/main">
              <a:ext uri="{FF2B5EF4-FFF2-40B4-BE49-F238E27FC236}">
                <a16:creationId xmlns:a16="http://schemas.microsoft.com/office/drawing/2014/main" id="{B5384B42-24A6-4938-ABBF-849F9A0A764B}"/>
              </a:ext>
            </a:extLst>
          </p:cNvPr>
          <p:cNvSpPr>
            <a:spLocks xmlns:a="http://schemas.openxmlformats.org/drawingml/2006/main" noGrp="1"/>
          </p:cNvSpPr>
          <p:nvPr/>
        </p:nvSpPr>
        <p:spPr>
          <a:xfrm xmlns:a="http://schemas.openxmlformats.org/drawingml/2006/main">
            <a:off x="685800" y="2000250"/>
            <a:ext cx="685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600" b="1">
                <a:solidFill>
                  <a:srgbClr val="FFFFFF"/>
                </a:solidFill>
                <a:latin typeface="Bitstream Charter"/>
                <a:ea typeface="Bitstream Charter"/>
                <a:cs typeface="Bitstream Charter"/>
              </a:defRPr>
            </a:pPr>
            <a:r>
              <a:rPr sz="9600" b="1">
                <a:solidFill>
                  <a:srgbClr val="FFFFFF"/>
                </a:solidFill>
                <a:latin typeface="Bitstream Charter"/>
                <a:ea typeface="Bitstream Charter"/>
                <a:cs typeface="Bitstream Charter"/>
              </a:rPr>
              <a:t>€780</a:t>
            </a:r>
          </a:p>
        </p:txBody>
      </p:sp>
      <p:sp>
        <p:nvSpPr>
          <p:cNvPr id="4" name="Rectangle 3">
            <a:extLst xmlns:a="http://schemas.openxmlformats.org/drawingml/2006/main">
              <a:ext uri="{FF2B5EF4-FFF2-40B4-BE49-F238E27FC236}">
                <a16:creationId xmlns:a16="http://schemas.microsoft.com/office/drawing/2014/main" id="{F2F1FC68-FB05-41C1-B3AD-5587689647BB}"/>
              </a:ext>
            </a:extLst>
          </p:cNvPr>
          <p:cNvSpPr>
            <a:spLocks xmlns:a="http://schemas.openxmlformats.org/drawingml/2006/main" noGrp="1"/>
          </p:cNvSpPr>
          <p:nvPr/>
        </p:nvSpPr>
        <p:spPr>
          <a:xfrm xmlns:a="http://schemas.openxmlformats.org/drawingml/2006/main">
            <a:off x="742950" y="3667125"/>
            <a:ext cx="781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B9DCD5"/>
                </a:solidFill>
                <a:latin typeface="Bitstream Charter"/>
                <a:ea typeface="Bitstream Charter"/>
                <a:cs typeface="Bitstream Charter"/>
              </a:defRPr>
            </a:pPr>
            <a:r>
              <a:rPr sz="2550" b="0">
                <a:solidFill>
                  <a:srgbClr val="B9DCD5"/>
                </a:solidFill>
                <a:latin typeface="Bitstream Charter"/>
                <a:ea typeface="Bitstream Charter"/>
                <a:cs typeface="Bitstream Charter"/>
              </a:rPr>
              <a:t>monthly recurring revenue</a:t>
            </a:r>
          </a:p>
        </p:txBody>
      </p:sp>
      <p:sp>
        <p:nvSpPr>
          <p:cNvPr id="5" name="Rectangle 4">
            <a:extLst xmlns:a="http://schemas.openxmlformats.org/drawingml/2006/main">
              <a:ext uri="{FF2B5EF4-FFF2-40B4-BE49-F238E27FC236}">
                <a16:creationId xmlns:a16="http://schemas.microsoft.com/office/drawing/2014/main" id="{79BDBE97-186D-481C-B712-0D6E406B13B2}"/>
              </a:ext>
            </a:extLst>
          </p:cNvPr>
          <p:cNvSpPr>
            <a:spLocks xmlns:a="http://schemas.openxmlformats.org/drawingml/2006/main" noGrp="1"/>
          </p:cNvSpPr>
          <p:nvPr/>
        </p:nvSpPr>
        <p:spPr>
          <a:xfrm xmlns:a="http://schemas.openxmlformats.org/drawingml/2006/main">
            <a:off x="8143875" y="23622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950" b="1">
                <a:solidFill>
                  <a:srgbClr val="FFFFFF"/>
                </a:solidFill>
                <a:latin typeface="Bitstream Charter"/>
                <a:ea typeface="Bitstream Charter"/>
                <a:cs typeface="Bitstream Charter"/>
              </a:defRPr>
            </a:pPr>
            <a:r>
              <a:rPr sz="4950" b="1">
                <a:solidFill>
                  <a:srgbClr val="FFFFFF"/>
                </a:solidFill>
                <a:latin typeface="Bitstream Charter"/>
                <a:ea typeface="Bitstream Charter"/>
                <a:cs typeface="Bitstream Charter"/>
              </a:rPr>
              <a:t>~€150</a:t>
            </a:r>
          </a:p>
        </p:txBody>
      </p:sp>
      <p:sp>
        <p:nvSpPr>
          <p:cNvPr id="6" name="Rectangle 5">
            <a:extLst xmlns:a="http://schemas.openxmlformats.org/drawingml/2006/main">
              <a:ext uri="{FF2B5EF4-FFF2-40B4-BE49-F238E27FC236}">
                <a16:creationId xmlns:a16="http://schemas.microsoft.com/office/drawing/2014/main" id="{235E0144-25AA-42AA-BDA4-B2E3C18CE7D1}"/>
              </a:ext>
            </a:extLst>
          </p:cNvPr>
          <p:cNvSpPr>
            <a:spLocks xmlns:a="http://schemas.openxmlformats.org/drawingml/2006/main" noGrp="1"/>
          </p:cNvSpPr>
          <p:nvPr/>
        </p:nvSpPr>
        <p:spPr>
          <a:xfrm xmlns:a="http://schemas.openxmlformats.org/drawingml/2006/main">
            <a:off x="8143875" y="342900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B9DCD5"/>
                </a:solidFill>
                <a:latin typeface="Bitstream Charter"/>
                <a:ea typeface="Bitstream Charter"/>
                <a:cs typeface="Bitstream Charter"/>
              </a:defRPr>
            </a:pPr>
            <a:r>
              <a:rPr sz="2025" b="0">
                <a:solidFill>
                  <a:srgbClr val="B9DCD5"/>
                </a:solidFill>
                <a:latin typeface="Bitstream Charter"/>
                <a:ea typeface="Bitstream Charter"/>
                <a:cs typeface="Bitstream Charter"/>
              </a:rPr>
              <a:t>average monthly revenue</a:t>
            </a:r>
          </a:p>
          <a:p xmlns:a="http://schemas.openxmlformats.org/drawingml/2006/main">
            <a:pPr>
              <a:buNone/>
              <a:defRPr sz="2025" b="0">
                <a:solidFill>
                  <a:srgbClr val="B9DCD5"/>
                </a:solidFill>
                <a:latin typeface="Bitstream Charter"/>
                <a:ea typeface="Bitstream Charter"/>
                <a:cs typeface="Bitstream Charter"/>
              </a:defRPr>
            </a:pPr>
            <a:r>
              <a:rPr sz="2025" b="0">
                <a:solidFill>
                  <a:srgbClr val="B9DCD5"/>
                </a:solidFill>
                <a:latin typeface="Bitstream Charter"/>
                <a:ea typeface="Bitstream Charter"/>
                <a:cs typeface="Bitstream Charter"/>
              </a:rPr>
              <a:t>per company</a:t>
            </a:r>
          </a:p>
        </p:txBody>
      </p:sp>
      <p:sp>
        <p:nvSpPr>
          <p:cNvPr id="7" name="Rectangle 6">
            <a:extLst xmlns:a="http://schemas.openxmlformats.org/drawingml/2006/main">
              <a:ext uri="{FF2B5EF4-FFF2-40B4-BE49-F238E27FC236}">
                <a16:creationId xmlns:a16="http://schemas.microsoft.com/office/drawing/2014/main" id="{1720956F-9F3C-4BD3-AE98-3C4EC7155A8D}"/>
              </a:ext>
            </a:extLst>
          </p:cNvPr>
          <p:cNvSpPr>
            <a:spLocks xmlns:a="http://schemas.openxmlformats.org/drawingml/2006/main" noGrp="1"/>
          </p:cNvSpPr>
          <p:nvPr/>
        </p:nvSpPr>
        <p:spPr>
          <a:xfrm xmlns:a="http://schemas.openxmlformats.org/drawingml/2006/main">
            <a:off x="742950" y="53911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B9DCD5"/>
                </a:solidFill>
                <a:latin typeface="Bitstream Charter"/>
                <a:ea typeface="Bitstream Charter"/>
                <a:cs typeface="Bitstream Charter"/>
              </a:defRPr>
            </a:pPr>
            <a:r>
              <a:rPr sz="1875" b="0">
                <a:solidFill>
                  <a:srgbClr val="B9DCD5"/>
                </a:solidFill>
                <a:latin typeface="Bitstream Charter"/>
                <a:ea typeface="Bitstream Charter"/>
                <a:cs typeface="Bitstream Charter"/>
              </a:rPr>
              <a:t>€9,360 annualised revenue. Exact current average: €156/company/month.</a:t>
            </a:r>
          </a:p>
        </p:txBody>
      </p:sp>
      <p:sp>
        <p:nvSpPr>
          <p:cNvPr id="9" name="">
            <a:extLst xmlns:a="http://schemas.openxmlformats.org/drawingml/2006/main">
              <a:ext uri="{FF2B5EF4-FFF2-40B4-BE49-F238E27FC236}">
                <a16:creationId xmlns:a16="http://schemas.microsoft.com/office/drawing/2014/main" id="{A22DDCD3-B3E8-4048-AE0E-72C7790BBDC8}"/>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AEC2C5"/>
                </a:solidFill>
                <a:latin typeface="Calibri"/>
                <a:ea typeface="Calibri"/>
                <a:cs typeface="Calibri"/>
              </a:defRPr>
            </a:pPr>
            <a:r>
              <a:rPr sz="1200" b="0">
                <a:solidFill>
                  <a:srgbClr val="AEC2C5"/>
                </a:solidFill>
                <a:latin typeface="Calibri"/>
                <a:ea typeface="Calibri"/>
                <a:cs typeface="Calibri"/>
              </a:rPr>
              <a:t>08</a:t>
            </a:r>
          </a:p>
        </p:txBody>
      </p:sp>
    </p:spTree>
    <p:extLst>
      <p:ext uri="{BB962C8B-B14F-4D97-AF65-F5344CB8AC3E}">
        <p14:creationId xmlns:p14="http://schemas.microsoft.com/office/powerpoint/2010/main" val="1813662904"/>
      </p:ext>
    </p:extLst>
  </p:cSld>
</p:sld>
</file>

<file path=ppt/slides/slide9.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08EDF8BD-E63E-43D5-A36A-2354C150D192}"/>
              </a:ext>
            </a:extLst>
          </p:cNvPr>
          <p:cNvSpPr>
            <a:spLocks xmlns:a="http://schemas.openxmlformats.org/drawingml/2006/main" noGrp="1"/>
          </p:cNvSpPr>
          <p:nvPr/>
        </p:nvSpPr>
        <p:spPr>
          <a:xfrm xmlns:a="http://schemas.openxmlformats.org/drawingml/2006/main">
            <a:off x="685800" y="571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Current customer revenue</a:t>
            </a:r>
          </a:p>
        </p:txBody>
      </p:sp>
      <p:sp>
        <p:nvSpPr>
          <p:cNvPr id="3" name="Rectangle 2">
            <a:extLst xmlns:a="http://schemas.openxmlformats.org/drawingml/2006/main">
              <a:ext uri="{FF2B5EF4-FFF2-40B4-BE49-F238E27FC236}">
                <a16:creationId xmlns:a16="http://schemas.microsoft.com/office/drawing/2014/main" id="{455E1E9E-8924-44E0-B6FA-FE20ED7744AA}"/>
              </a:ext>
            </a:extLst>
          </p:cNvPr>
          <p:cNvSpPr>
            <a:spLocks xmlns:a="http://schemas.openxmlformats.org/drawingml/2006/main" noGrp="1"/>
          </p:cNvSpPr>
          <p:nvPr/>
        </p:nvSpPr>
        <p:spPr>
          <a:xfrm xmlns:a="http://schemas.openxmlformats.org/drawingml/2006/main">
            <a:off x="762000" y="190500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TGEM</a:t>
            </a:r>
          </a:p>
        </p:txBody>
      </p:sp>
      <p:sp>
        <p:nvSpPr>
          <p:cNvPr id="4" name="Rectangle 3">
            <a:extLst xmlns:a="http://schemas.openxmlformats.org/drawingml/2006/main">
              <a:ext uri="{FF2B5EF4-FFF2-40B4-BE49-F238E27FC236}">
                <a16:creationId xmlns:a16="http://schemas.microsoft.com/office/drawing/2014/main" id="{4635259B-5CA7-49B9-AB23-5C07881DF03A}"/>
              </a:ext>
            </a:extLst>
          </p:cNvPr>
          <p:cNvSpPr>
            <a:spLocks xmlns:a="http://schemas.openxmlformats.org/drawingml/2006/main" noGrp="1"/>
          </p:cNvSpPr>
          <p:nvPr/>
        </p:nvSpPr>
        <p:spPr>
          <a:xfrm xmlns:a="http://schemas.openxmlformats.org/drawingml/2006/main">
            <a:off x="7905750" y="190500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€250 / month</a:t>
            </a:r>
          </a:p>
        </p:txBody>
      </p:sp>
      <p:sp>
        <p:nvSpPr>
          <p:cNvPr id="5" name="Rectangle 4">
            <a:extLst xmlns:a="http://schemas.openxmlformats.org/drawingml/2006/main">
              <a:ext uri="{FF2B5EF4-FFF2-40B4-BE49-F238E27FC236}">
                <a16:creationId xmlns:a16="http://schemas.microsoft.com/office/drawing/2014/main" id="{4E4D18B8-14E2-441A-BE4B-22E964B5ED8D}"/>
              </a:ext>
            </a:extLst>
          </p:cNvPr>
          <p:cNvSpPr>
            <a:spLocks xmlns:a="http://schemas.openxmlformats.org/drawingml/2006/main" noGrp="1"/>
          </p:cNvSpPr>
          <p:nvPr/>
        </p:nvSpPr>
        <p:spPr>
          <a:xfrm xmlns:a="http://schemas.openxmlformats.org/drawingml/2006/main">
            <a:off x="762000" y="2581275"/>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Limeni.lv</a:t>
            </a:r>
          </a:p>
        </p:txBody>
      </p:sp>
      <p:sp>
        <p:nvSpPr>
          <p:cNvPr id="6" name="Rectangle 5">
            <a:extLst xmlns:a="http://schemas.openxmlformats.org/drawingml/2006/main">
              <a:ext uri="{FF2B5EF4-FFF2-40B4-BE49-F238E27FC236}">
                <a16:creationId xmlns:a16="http://schemas.microsoft.com/office/drawing/2014/main" id="{47C73B40-7A06-4F57-B3FD-4EE294C5913E}"/>
              </a:ext>
            </a:extLst>
          </p:cNvPr>
          <p:cNvSpPr>
            <a:spLocks xmlns:a="http://schemas.openxmlformats.org/drawingml/2006/main" noGrp="1"/>
          </p:cNvSpPr>
          <p:nvPr/>
        </p:nvSpPr>
        <p:spPr>
          <a:xfrm xmlns:a="http://schemas.openxmlformats.org/drawingml/2006/main">
            <a:off x="7905750" y="25812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€180 / month</a:t>
            </a:r>
          </a:p>
        </p:txBody>
      </p:sp>
      <p:sp>
        <p:nvSpPr>
          <p:cNvPr id="7" name="Rectangle 6">
            <a:extLst xmlns:a="http://schemas.openxmlformats.org/drawingml/2006/main">
              <a:ext uri="{FF2B5EF4-FFF2-40B4-BE49-F238E27FC236}">
                <a16:creationId xmlns:a16="http://schemas.microsoft.com/office/drawing/2014/main" id="{71CA1260-6304-4A1C-9460-E9221790A96F}"/>
              </a:ext>
            </a:extLst>
          </p:cNvPr>
          <p:cNvSpPr>
            <a:spLocks xmlns:a="http://schemas.openxmlformats.org/drawingml/2006/main" noGrp="1"/>
          </p:cNvSpPr>
          <p:nvPr/>
        </p:nvSpPr>
        <p:spPr>
          <a:xfrm xmlns:a="http://schemas.openxmlformats.org/drawingml/2006/main">
            <a:off x="762000" y="325755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ZTC</a:t>
            </a:r>
          </a:p>
        </p:txBody>
      </p:sp>
      <p:sp>
        <p:nvSpPr>
          <p:cNvPr id="8" name="Rectangle 7">
            <a:extLst xmlns:a="http://schemas.openxmlformats.org/drawingml/2006/main">
              <a:ext uri="{FF2B5EF4-FFF2-40B4-BE49-F238E27FC236}">
                <a16:creationId xmlns:a16="http://schemas.microsoft.com/office/drawing/2014/main" id="{CFF2BA1E-5CFA-41EF-9053-5A168087E686}"/>
              </a:ext>
            </a:extLst>
          </p:cNvPr>
          <p:cNvSpPr>
            <a:spLocks xmlns:a="http://schemas.openxmlformats.org/drawingml/2006/main" noGrp="1"/>
          </p:cNvSpPr>
          <p:nvPr/>
        </p:nvSpPr>
        <p:spPr>
          <a:xfrm xmlns:a="http://schemas.openxmlformats.org/drawingml/2006/main">
            <a:off x="7905750" y="325755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€150 / month</a:t>
            </a:r>
          </a:p>
        </p:txBody>
      </p:sp>
      <p:sp>
        <p:nvSpPr>
          <p:cNvPr id="9" name="Rectangle 8">
            <a:extLst xmlns:a="http://schemas.openxmlformats.org/drawingml/2006/main">
              <a:ext uri="{FF2B5EF4-FFF2-40B4-BE49-F238E27FC236}">
                <a16:creationId xmlns:a16="http://schemas.microsoft.com/office/drawing/2014/main" id="{4024057A-317B-4D08-975C-B2CF5F21A23A}"/>
              </a:ext>
            </a:extLst>
          </p:cNvPr>
          <p:cNvSpPr>
            <a:spLocks xmlns:a="http://schemas.openxmlformats.org/drawingml/2006/main" noGrp="1"/>
          </p:cNvSpPr>
          <p:nvPr/>
        </p:nvSpPr>
        <p:spPr>
          <a:xfrm xmlns:a="http://schemas.openxmlformats.org/drawingml/2006/main">
            <a:off x="762000" y="3933825"/>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Stone and Tree</a:t>
            </a:r>
          </a:p>
        </p:txBody>
      </p:sp>
      <p:sp>
        <p:nvSpPr>
          <p:cNvPr id="10" name="Rectangle 9">
            <a:extLst xmlns:a="http://schemas.openxmlformats.org/drawingml/2006/main">
              <a:ext uri="{FF2B5EF4-FFF2-40B4-BE49-F238E27FC236}">
                <a16:creationId xmlns:a16="http://schemas.microsoft.com/office/drawing/2014/main" id="{C9F33BDC-B105-43E4-B07F-D346123128EA}"/>
              </a:ext>
            </a:extLst>
          </p:cNvPr>
          <p:cNvSpPr>
            <a:spLocks xmlns:a="http://schemas.openxmlformats.org/drawingml/2006/main" noGrp="1"/>
          </p:cNvSpPr>
          <p:nvPr/>
        </p:nvSpPr>
        <p:spPr>
          <a:xfrm xmlns:a="http://schemas.openxmlformats.org/drawingml/2006/main">
            <a:off x="7905750" y="393382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€120 / month</a:t>
            </a:r>
          </a:p>
        </p:txBody>
      </p:sp>
      <p:sp>
        <p:nvSpPr>
          <p:cNvPr id="11" name="Rectangle 10">
            <a:extLst xmlns:a="http://schemas.openxmlformats.org/drawingml/2006/main">
              <a:ext uri="{FF2B5EF4-FFF2-40B4-BE49-F238E27FC236}">
                <a16:creationId xmlns:a16="http://schemas.microsoft.com/office/drawing/2014/main" id="{D1415E4E-9ABF-4A78-BFAE-904108F9C394}"/>
              </a:ext>
            </a:extLst>
          </p:cNvPr>
          <p:cNvSpPr>
            <a:spLocks xmlns:a="http://schemas.openxmlformats.org/drawingml/2006/main" noGrp="1"/>
          </p:cNvSpPr>
          <p:nvPr/>
        </p:nvSpPr>
        <p:spPr>
          <a:xfrm xmlns:a="http://schemas.openxmlformats.org/drawingml/2006/main">
            <a:off x="762000" y="461010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SIA 1212</a:t>
            </a:r>
          </a:p>
        </p:txBody>
      </p:sp>
      <p:sp>
        <p:nvSpPr>
          <p:cNvPr id="12" name="Rectangle 11">
            <a:extLst xmlns:a="http://schemas.openxmlformats.org/drawingml/2006/main">
              <a:ext uri="{FF2B5EF4-FFF2-40B4-BE49-F238E27FC236}">
                <a16:creationId xmlns:a16="http://schemas.microsoft.com/office/drawing/2014/main" id="{E88EA2D7-39A3-4FCE-BA45-17026E61D91C}"/>
              </a:ext>
            </a:extLst>
          </p:cNvPr>
          <p:cNvSpPr>
            <a:spLocks xmlns:a="http://schemas.openxmlformats.org/drawingml/2006/main" noGrp="1"/>
          </p:cNvSpPr>
          <p:nvPr/>
        </p:nvSpPr>
        <p:spPr>
          <a:xfrm xmlns:a="http://schemas.openxmlformats.org/drawingml/2006/main">
            <a:off x="7905750" y="461010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€80 / month</a:t>
            </a:r>
          </a:p>
        </p:txBody>
      </p:sp>
      <p:sp>
        <p:nvSpPr>
          <p:cNvPr id="13" name="Rectangle 12">
            <a:extLst xmlns:a="http://schemas.openxmlformats.org/drawingml/2006/main">
              <a:ext uri="{FF2B5EF4-FFF2-40B4-BE49-F238E27FC236}">
                <a16:creationId xmlns:a16="http://schemas.microsoft.com/office/drawing/2014/main" id="{D60AD922-7A01-4877-8EE9-C53F1F8DF59B}"/>
              </a:ext>
            </a:extLst>
          </p:cNvPr>
          <p:cNvSpPr>
            <a:spLocks xmlns:a="http://schemas.openxmlformats.org/drawingml/2006/main" noGrp="1"/>
          </p:cNvSpPr>
          <p:nvPr/>
        </p:nvSpPr>
        <p:spPr>
          <a:xfrm xmlns:a="http://schemas.openxmlformats.org/drawingml/2006/main">
            <a:off x="762000" y="6011418"/>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2686B"/>
                </a:solidFill>
                <a:latin typeface="Bitstream Charter"/>
                <a:ea typeface="Bitstream Charter"/>
                <a:cs typeface="Bitstream Charter"/>
              </a:defRPr>
            </a:pPr>
            <a:r>
              <a:rPr sz="1725" b="0">
                <a:solidFill>
                  <a:srgbClr val="52686B"/>
                </a:solidFill>
                <a:latin typeface="Bitstream Charter"/>
                <a:ea typeface="Bitstream Charter"/>
                <a:cs typeface="Bitstream Charter"/>
              </a:rPr>
              <a:t>Outside MRR: one free pilot, one active trial and one former paying customer.</a:t>
            </a:r>
          </a:p>
        </p:txBody>
      </p:sp>
      <p:sp>
        <p:nvSpPr>
          <p:cNvPr id="16" name="Rectangle 15">
            <a:extLst xmlns:a="http://schemas.openxmlformats.org/drawingml/2006/main">
              <a:ext uri="{FF2B5EF4-FFF2-40B4-BE49-F238E27FC236}">
                <a16:creationId xmlns:a16="http://schemas.microsoft.com/office/drawing/2014/main" id="{2C874276-C8AD-7D00-C92C-338B0347F467}"/>
              </a:ext>
            </a:extLst>
          </p:cNvPr>
          <p:cNvSpPr>
            <a:spLocks xmlns:a="http://schemas.openxmlformats.org/drawingml/2006/main" noGrp="1"/>
          </p:cNvSpPr>
          <p:nvPr/>
        </p:nvSpPr>
        <p:spPr>
          <a:xfrm xmlns:a="http://schemas.openxmlformats.org/drawingml/2006/main">
            <a:off x="762000" y="5286375"/>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SB STOMME (trial ongoing)</a:t>
            </a:r>
          </a:p>
        </p:txBody>
      </p:sp>
      <p:sp>
        <p:nvSpPr>
          <p:cNvPr id="18" name="Rectangle 17">
            <a:extLst xmlns:a="http://schemas.openxmlformats.org/drawingml/2006/main">
              <a:ext uri="{FF2B5EF4-FFF2-40B4-BE49-F238E27FC236}">
                <a16:creationId xmlns:a16="http://schemas.microsoft.com/office/drawing/2014/main" id="{D4FEF6AF-BCD3-47B9-DD7F-3A5362E97F46}"/>
              </a:ext>
            </a:extLst>
          </p:cNvPr>
          <p:cNvSpPr>
            <a:spLocks xmlns:a="http://schemas.openxmlformats.org/drawingml/2006/main" noGrp="1"/>
          </p:cNvSpPr>
          <p:nvPr/>
        </p:nvSpPr>
        <p:spPr>
          <a:xfrm xmlns:a="http://schemas.openxmlformats.org/drawingml/2006/main">
            <a:off x="7905750" y="52863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€90 / month after trial</a:t>
            </a:r>
          </a:p>
        </p:txBody>
      </p:sp>
      <p:sp>
        <p:nvSpPr>
          <p:cNvPr id="19" name="">
            <a:extLst xmlns:a="http://schemas.openxmlformats.org/drawingml/2006/main">
              <a:ext uri="{FF2B5EF4-FFF2-40B4-BE49-F238E27FC236}">
                <a16:creationId xmlns:a16="http://schemas.microsoft.com/office/drawing/2014/main" id="{B13D32E6-AFA2-458A-8661-584504F39E2B}"/>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09</a:t>
            </a:r>
          </a:p>
        </p:txBody>
      </p:sp>
    </p:spTree>
    <p:extLst>
      <p:ext uri="{BB962C8B-B14F-4D97-AF65-F5344CB8AC3E}">
        <p14:creationId xmlns:p14="http://schemas.microsoft.com/office/powerpoint/2010/main" val="788635400"/>
      </p:ext>
    </p:extLst>
  </p:cSld>
</p:sld>
</file>

<file path=ppt/slides/slide10.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D1C1F6D-50F7-43EB-81EA-45E208266C35}"/>
              </a:ext>
            </a:extLst>
          </p:cNvPr>
          <p:cNvSpPr>
            <a:spLocks xmlns:a="http://schemas.openxmlformats.org/drawingml/2006/main" noGrp="1"/>
          </p:cNvSpPr>
          <p:nvPr/>
        </p:nvSpPr>
        <p:spPr>
          <a:xfrm xmlns:a="http://schemas.openxmlformats.org/drawingml/2006/main">
            <a:off x="685800" y="571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Pricing and current revenue</a:t>
            </a:r>
          </a:p>
        </p:txBody>
      </p:sp>
      <p:sp>
        <p:nvSpPr>
          <p:cNvPr id="2" name="">
            <a:extLst xmlns:a="http://schemas.openxmlformats.org/drawingml/2006/main">
              <a:ext uri="{FF2B5EF4-FFF2-40B4-BE49-F238E27FC236}">
                <a16:creationId xmlns:a16="http://schemas.microsoft.com/office/drawing/2014/main" id="{A634716D-3CF2-4E33-A036-4E86B4376F9F}"/>
              </a:ext>
            </a:extLst>
          </p:cNvPr>
          <p:cNvSpPr>
            <a:spLocks xmlns:a="http://schemas.openxmlformats.org/drawingml/2006/main" noGrp="1"/>
          </p:cNvSpPr>
          <p:nvPr/>
        </p:nvSpPr>
        <p:spPr>
          <a:xfrm xmlns:a="http://schemas.openxmlformats.org/drawingml/2006/main">
            <a:off x="723900" y="1276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Average revenue of approximately €150 per company per month underpins our market sizing.</a:t>
            </a:r>
          </a:p>
        </p:txBody>
      </p:sp>
      <p:sp>
        <p:nvSpPr>
          <p:cNvPr id="3" name="">
            <a:extLst xmlns:a="http://schemas.openxmlformats.org/drawingml/2006/main">
              <a:ext uri="{FF2B5EF4-FFF2-40B4-BE49-F238E27FC236}">
                <a16:creationId xmlns:a16="http://schemas.microsoft.com/office/drawing/2014/main" id="{2A5A5C0A-30B5-4865-9B58-490686C672E0}"/>
              </a:ext>
            </a:extLst>
          </p:cNvPr>
          <p:cNvSpPr>
            <a:spLocks xmlns:a="http://schemas.openxmlformats.org/drawingml/2006/main" noGrp="1"/>
          </p:cNvSpPr>
          <p:nvPr/>
        </p:nvSpPr>
        <p:spPr>
          <a:xfrm xmlns:a="http://schemas.openxmlformats.org/drawingml/2006/main">
            <a:off x="723900" y="2152650"/>
            <a:ext cx="4572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600" b="1">
                <a:solidFill>
                  <a:srgbClr val="008579"/>
                </a:solidFill>
                <a:latin typeface="Calibri"/>
                <a:ea typeface="Calibri"/>
                <a:cs typeface="Calibri"/>
              </a:defRPr>
            </a:pPr>
            <a:r>
              <a:rPr sz="6600" b="1">
                <a:solidFill>
                  <a:srgbClr val="008579"/>
                </a:solidFill>
                <a:latin typeface="Calibri"/>
                <a:ea typeface="Calibri"/>
                <a:cs typeface="Calibri"/>
              </a:rPr>
              <a:t>~€150</a:t>
            </a:r>
          </a:p>
        </p:txBody>
      </p:sp>
      <p:sp>
        <p:nvSpPr>
          <p:cNvPr id="4" name="">
            <a:extLst xmlns:a="http://schemas.openxmlformats.org/drawingml/2006/main">
              <a:ext uri="{FF2B5EF4-FFF2-40B4-BE49-F238E27FC236}">
                <a16:creationId xmlns:a16="http://schemas.microsoft.com/office/drawing/2014/main" id="{4C43FCC6-23FB-4949-8D7D-686D8D9B1CAC}"/>
              </a:ext>
            </a:extLst>
          </p:cNvPr>
          <p:cNvSpPr>
            <a:spLocks xmlns:a="http://schemas.openxmlformats.org/drawingml/2006/main" noGrp="1"/>
          </p:cNvSpPr>
          <p:nvPr/>
        </p:nvSpPr>
        <p:spPr>
          <a:xfrm xmlns:a="http://schemas.openxmlformats.org/drawingml/2006/main">
            <a:off x="762000" y="321945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42F35"/>
                </a:solidFill>
                <a:latin typeface="Calibri"/>
                <a:ea typeface="Calibri"/>
                <a:cs typeface="Calibri"/>
              </a:defRPr>
            </a:pPr>
            <a:r>
              <a:rPr sz="2400" b="0">
                <a:solidFill>
                  <a:srgbClr val="142F35"/>
                </a:solidFill>
                <a:latin typeface="Calibri"/>
                <a:ea typeface="Calibri"/>
                <a:cs typeface="Calibri"/>
              </a:rPr>
              <a:t>current average / company / month</a:t>
            </a:r>
          </a:p>
        </p:txBody>
      </p:sp>
      <p:sp>
        <p:nvSpPr>
          <p:cNvPr id="5" name="">
            <a:extLst xmlns:a="http://schemas.openxmlformats.org/drawingml/2006/main">
              <a:ext uri="{FF2B5EF4-FFF2-40B4-BE49-F238E27FC236}">
                <a16:creationId xmlns:a16="http://schemas.microsoft.com/office/drawing/2014/main" id="{BE599F16-4A26-4C69-9D2F-49191BC86578}"/>
              </a:ext>
            </a:extLst>
          </p:cNvPr>
          <p:cNvSpPr>
            <a:spLocks xmlns:a="http://schemas.openxmlformats.org/drawingml/2006/main" noGrp="1"/>
          </p:cNvSpPr>
          <p:nvPr/>
        </p:nvSpPr>
        <p:spPr>
          <a:xfrm xmlns:a="http://schemas.openxmlformats.org/drawingml/2006/main">
            <a:off x="6572250" y="22098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42F35"/>
                </a:solidFill>
                <a:latin typeface="Calibri"/>
                <a:ea typeface="Calibri"/>
                <a:cs typeface="Calibri"/>
              </a:defRPr>
            </a:pPr>
            <a:r>
              <a:rPr sz="2250" b="1">
                <a:solidFill>
                  <a:srgbClr val="142F35"/>
                </a:solidFill>
                <a:latin typeface="Calibri"/>
                <a:ea typeface="Calibri"/>
                <a:cs typeface="Calibri"/>
              </a:rPr>
              <a:t>How we bill</a:t>
            </a:r>
          </a:p>
        </p:txBody>
      </p:sp>
      <p:sp>
        <p:nvSpPr>
          <p:cNvPr id="6" name="">
            <a:extLst xmlns:a="http://schemas.openxmlformats.org/drawingml/2006/main">
              <a:ext uri="{FF2B5EF4-FFF2-40B4-BE49-F238E27FC236}">
                <a16:creationId xmlns:a16="http://schemas.microsoft.com/office/drawing/2014/main" id="{1C4B0DDD-3FC2-41A4-A276-D990A2B30725}"/>
              </a:ext>
            </a:extLst>
          </p:cNvPr>
          <p:cNvSpPr>
            <a:spLocks xmlns:a="http://schemas.openxmlformats.org/drawingml/2006/main" noGrp="1"/>
          </p:cNvSpPr>
          <p:nvPr/>
        </p:nvSpPr>
        <p:spPr>
          <a:xfrm xmlns:a="http://schemas.openxmlformats.org/drawingml/2006/main">
            <a:off x="6572250" y="2819400"/>
            <a:ext cx="4762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42F35"/>
                </a:solidFill>
                <a:latin typeface="Calibri"/>
                <a:ea typeface="Calibri"/>
                <a:cs typeface="Calibri"/>
              </a:defRPr>
            </a:pPr>
            <a:r>
              <a:rPr sz="2175" b="0">
                <a:solidFill>
                  <a:srgbClr val="142F35"/>
                </a:solidFill>
                <a:latin typeface="Calibri"/>
                <a:ea typeface="Calibri"/>
                <a:cs typeface="Calibri"/>
              </a:rPr>
              <a:t>€50 per user per month</a:t>
            </a:r>
          </a:p>
          <a:p xmlns:a="http://schemas.openxmlformats.org/drawingml/2006/main">
            <a:pPr>
              <a:buNone/>
              <a:defRPr sz="2175" b="0">
                <a:solidFill>
                  <a:srgbClr val="142F35"/>
                </a:solidFill>
                <a:latin typeface="Calibri"/>
                <a:ea typeface="Calibri"/>
                <a:cs typeface="Calibri"/>
              </a:defRPr>
            </a:pPr>
            <a:r>
              <a:rPr sz="2175" b="0">
                <a:solidFill>
                  <a:srgbClr val="142F35"/>
                </a:solidFill>
                <a:latin typeface="Calibri"/>
                <a:ea typeface="Calibri"/>
                <a:cs typeface="Calibri"/>
              </a:rPr>
              <a:t>Agreed customer discounts</a:t>
            </a:r>
          </a:p>
          <a:p xmlns:a="http://schemas.openxmlformats.org/drawingml/2006/main">
            <a:pPr>
              <a:buNone/>
              <a:defRPr sz="2175" b="0">
                <a:solidFill>
                  <a:srgbClr val="142F35"/>
                </a:solidFill>
                <a:latin typeface="Calibri"/>
                <a:ea typeface="Calibri"/>
                <a:cs typeface="Calibri"/>
              </a:defRPr>
            </a:pPr>
            <a:r>
              <a:rPr sz="2175" b="0">
                <a:solidFill>
                  <a:srgbClr val="142F35"/>
                </a:solidFill>
                <a:latin typeface="Calibri"/>
                <a:ea typeface="Calibri"/>
                <a:cs typeface="Calibri"/>
              </a:rPr>
              <a:t>Paid custom functionality</a:t>
            </a:r>
          </a:p>
        </p:txBody>
      </p:sp>
      <p:graphicFrame>
        <p:nvGraphicFramePr>
          <p:cNvPr id="20" name=""/>
          <p:cNvGraphicFramePr/>
          <p:nvPr/>
        </p:nvGraphicFramePr>
        <p:xfrm>
          <a:off xmlns:a="http://schemas.openxmlformats.org/drawingml/2006/main" x="762000" y="4400550"/>
          <a:ext xmlns:a="http://schemas.openxmlformats.org/drawingml/2006/main" cx="10668000" cy="1028700"/>
        </p:xfrm>
        <a:graphic xmlns:a="http://schemas.openxmlformats.org/drawingml/2006/main">
          <a:graphicData uri="http://schemas.openxmlformats.org/drawingml/2006/table">
            <a:tbl>
              <a:tblPr/>
              <a:tblGrid>
                <a:gridCol w="4762500"/>
                <a:gridCol w="2952750"/>
                <a:gridCol w="2952750"/>
              </a:tblGrid>
              <a:tr h="466725">
                <a:tc>
                  <a:txBody>
                    <a:bodyPr/>
                    <a:lstStyle/>
                    <a:p>
                      <a:r>
                        <a:rPr sz="1875" b="1">
                          <a:solidFill>
                            <a:srgbClr val="FFFFFF"/>
                          </a:solidFill>
                          <a:latin typeface="Calibri"/>
                          <a:ea typeface="Calibri"/>
                          <a:cs typeface="Calibri"/>
                        </a:rPr>
                        <a:t>Revenue basis</a:t>
                      </a:r>
                    </a:p>
                  </a:txBody>
                  <a:tcPr marL="91440" marR="91440" marT="45720" marB="45720">
                    <a:solidFill>
                      <a:srgbClr val="142F35"/>
                    </a:solidFill>
                  </a:tcPr>
                </a:tc>
                <a:tc>
                  <a:txBody>
                    <a:bodyPr/>
                    <a:lstStyle/>
                    <a:p>
                      <a:r>
                        <a:rPr sz="1875" b="1">
                          <a:solidFill>
                            <a:srgbClr val="FFFFFF"/>
                          </a:solidFill>
                          <a:latin typeface="Calibri"/>
                          <a:ea typeface="Calibri"/>
                          <a:cs typeface="Calibri"/>
                        </a:rPr>
                        <a:t>Per month</a:t>
                      </a:r>
                    </a:p>
                  </a:txBody>
                  <a:tcPr marL="91440" marR="91440" marT="45720" marB="45720">
                    <a:solidFill>
                      <a:srgbClr val="142F35"/>
                    </a:solidFill>
                  </a:tcPr>
                </a:tc>
                <a:tc>
                  <a:txBody>
                    <a:bodyPr/>
                    <a:lstStyle/>
                    <a:p>
                      <a:r>
                        <a:rPr sz="1875" b="1">
                          <a:solidFill>
                            <a:srgbClr val="FFFFFF"/>
                          </a:solidFill>
                          <a:latin typeface="Calibri"/>
                          <a:ea typeface="Calibri"/>
                          <a:cs typeface="Calibri"/>
                        </a:rPr>
                        <a:t>Per year</a:t>
                      </a:r>
                    </a:p>
                  </a:txBody>
                  <a:tcPr marL="91440" marR="91440" marT="45720" marB="45720">
                    <a:solidFill>
                      <a:srgbClr val="142F35"/>
                    </a:solidFill>
                  </a:tcPr>
                </a:tc>
              </a:tr>
              <a:tr h="561975">
                <a:tc>
                  <a:txBody>
                    <a:bodyPr/>
                    <a:lstStyle/>
                    <a:p>
                      <a:r>
                        <a:rPr sz="1875" b="0">
                          <a:solidFill>
                            <a:srgbClr val="142F35"/>
                          </a:solidFill>
                          <a:latin typeface="Calibri"/>
                          <a:ea typeface="Calibri"/>
                          <a:cs typeface="Calibri"/>
                        </a:rPr>
                        <a:t>Average per company</a:t>
                      </a:r>
                    </a:p>
                  </a:txBody>
                  <a:tcPr marL="91440" marR="91440" marT="45720" marB="45720">
                    <a:solidFill>
                      <a:srgbClr val="F6F4EE"/>
                    </a:solidFill>
                  </a:tcPr>
                </a:tc>
                <a:tc>
                  <a:txBody>
                    <a:bodyPr/>
                    <a:lstStyle/>
                    <a:p>
                      <a:r>
                        <a:rPr sz="1875" b="0">
                          <a:solidFill>
                            <a:srgbClr val="142F35"/>
                          </a:solidFill>
                          <a:latin typeface="Calibri"/>
                          <a:ea typeface="Calibri"/>
                          <a:cs typeface="Calibri"/>
                        </a:rPr>
                        <a:t>~€150</a:t>
                      </a:r>
                    </a:p>
                  </a:txBody>
                  <a:tcPr marL="91440" marR="91440" marT="45720" marB="45720">
                    <a:solidFill>
                      <a:srgbClr val="F6F4EE"/>
                    </a:solidFill>
                  </a:tcPr>
                </a:tc>
                <a:tc>
                  <a:txBody>
                    <a:bodyPr/>
                    <a:lstStyle/>
                    <a:p>
                      <a:r>
                        <a:rPr sz="1875" b="0">
                          <a:solidFill>
                            <a:srgbClr val="142F35"/>
                          </a:solidFill>
                          <a:latin typeface="Calibri"/>
                          <a:ea typeface="Calibri"/>
                          <a:cs typeface="Calibri"/>
                        </a:rPr>
                        <a:t>~€1,800</a:t>
                      </a:r>
                    </a:p>
                  </a:txBody>
                  <a:tcPr marL="91440" marR="91440" marT="45720" marB="45720">
                    <a:solidFill>
                      <a:srgbClr val="F6F4EE"/>
                    </a:solidFill>
                  </a:tcPr>
                </a:tc>
              </a:tr>
            </a:tbl>
          </a:graphicData>
        </a:graphic>
      </p:graphicFrame>
      <p:sp>
        <p:nvSpPr>
          <p:cNvPr id="8" name="">
            <a:extLst xmlns:a="http://schemas.openxmlformats.org/drawingml/2006/main">
              <a:ext uri="{FF2B5EF4-FFF2-40B4-BE49-F238E27FC236}">
                <a16:creationId xmlns:a16="http://schemas.microsoft.com/office/drawing/2014/main" id="{2D1C5C2D-7BA8-4DF6-AA00-E0BB226B2F40}"/>
              </a:ext>
            </a:extLst>
          </p:cNvPr>
          <p:cNvSpPr>
            <a:spLocks xmlns:a="http://schemas.openxmlformats.org/drawingml/2006/main" noGrp="1"/>
          </p:cNvSpPr>
          <p:nvPr/>
        </p:nvSpPr>
        <p:spPr>
          <a:xfrm xmlns:a="http://schemas.openxmlformats.org/drawingml/2006/main">
            <a:off x="762000" y="5572125"/>
            <a:ext cx="1057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36B70"/>
                </a:solidFill>
                <a:latin typeface="Calibri"/>
                <a:ea typeface="Calibri"/>
                <a:cs typeface="Calibri"/>
              </a:defRPr>
            </a:pPr>
            <a:r>
              <a:rPr sz="1725" b="0">
                <a:solidFill>
                  <a:srgbClr val="536B70"/>
                </a:solidFill>
                <a:latin typeface="Calibri"/>
                <a:ea typeface="Calibri"/>
                <a:cs typeface="Calibri"/>
              </a:rPr>
              <a:t>€150 is the rounded average, rather than a fixed company tariff.</a:t>
            </a:r>
          </a:p>
          <a:p xmlns:a="http://schemas.openxmlformats.org/drawingml/2006/main">
            <a:pPr>
              <a:buNone/>
              <a:defRPr sz="1725" b="0">
                <a:solidFill>
                  <a:srgbClr val="536B70"/>
                </a:solidFill>
                <a:latin typeface="Calibri"/>
                <a:ea typeface="Calibri"/>
                <a:cs typeface="Calibri"/>
              </a:defRPr>
            </a:pPr>
            <a:r>
              <a:rPr sz="1725" b="0">
                <a:solidFill>
                  <a:srgbClr val="536B70"/>
                </a:solidFill>
                <a:latin typeface="Calibri"/>
                <a:ea typeface="Calibri"/>
                <a:cs typeface="Calibri"/>
              </a:rPr>
              <a:t>Five current subscriptions total €780 MRR, or €156 per company.</a:t>
            </a:r>
          </a:p>
        </p:txBody>
      </p:sp>
      <p:sp>
        <p:nvSpPr>
          <p:cNvPr id="12" name="">
            <a:extLst xmlns:a="http://schemas.openxmlformats.org/drawingml/2006/main">
              <a:ext uri="{FF2B5EF4-FFF2-40B4-BE49-F238E27FC236}">
                <a16:creationId xmlns:a16="http://schemas.microsoft.com/office/drawing/2014/main" id="{394FC422-C52E-4934-BD9F-F09F0B5FD2D0}"/>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10</a:t>
            </a:r>
          </a:p>
        </p:txBody>
      </p:sp>
    </p:spTree>
    <p:extLst>
      <p:ext uri="{BB962C8B-B14F-4D97-AF65-F5344CB8AC3E}">
        <p14:creationId xmlns:p14="http://schemas.microsoft.com/office/powerpoint/2010/main" val="682954197"/>
      </p:ext>
    </p:extLst>
  </p:cSld>
</p:sld>
</file>

<file path=ppt/slides/slide11.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02C4CDE-1EAC-4166-8622-C9F1E0CAD3CA}"/>
              </a:ext>
            </a:extLst>
          </p:cNvPr>
          <p:cNvSpPr>
            <a:spLocks xmlns:a="http://schemas.openxmlformats.org/drawingml/2006/main" noGrp="1"/>
          </p:cNvSpPr>
          <p:nvPr/>
        </p:nvSpPr>
        <p:spPr>
          <a:xfrm xmlns:a="http://schemas.openxmlformats.org/drawingml/2006/main">
            <a:off x="685800" y="571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Alternatives and our focus</a:t>
            </a:r>
          </a:p>
        </p:txBody>
      </p:sp>
      <p:sp>
        <p:nvSpPr>
          <p:cNvPr id="2" name="">
            <a:extLst xmlns:a="http://schemas.openxmlformats.org/drawingml/2006/main">
              <a:ext uri="{FF2B5EF4-FFF2-40B4-BE49-F238E27FC236}">
                <a16:creationId xmlns:a16="http://schemas.microsoft.com/office/drawing/2014/main" id="{3CB986C6-87D8-4983-BA87-1006353DCF1B}"/>
              </a:ext>
            </a:extLst>
          </p:cNvPr>
          <p:cNvSpPr>
            <a:spLocks xmlns:a="http://schemas.openxmlformats.org/drawingml/2006/main" noGrp="1"/>
          </p:cNvSpPr>
          <p:nvPr/>
        </p:nvSpPr>
        <p:spPr>
          <a:xfrm xmlns:a="http://schemas.openxmlformats.org/drawingml/2006/main">
            <a:off x="723900" y="1276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Our proposed advantage: site teams report through WhatsApp, and owners receive structured analytics.</a:t>
            </a:r>
          </a:p>
        </p:txBody>
      </p:sp>
      <p:graphicFrame>
        <p:nvGraphicFramePr>
          <p:cNvPr id="12" name=""/>
          <p:cNvGraphicFramePr/>
          <p:nvPr/>
        </p:nvGraphicFramePr>
        <p:xfrm>
          <a:off xmlns:a="http://schemas.openxmlformats.org/drawingml/2006/main" x="762000" y="2200275"/>
          <a:ext xmlns:a="http://schemas.openxmlformats.org/drawingml/2006/main" cx="10668000" cy="3181350"/>
        </p:xfrm>
        <a:graphic xmlns:a="http://schemas.openxmlformats.org/drawingml/2006/main">
          <a:graphicData uri="http://schemas.openxmlformats.org/drawingml/2006/table">
            <a:tbl>
              <a:tblPr/>
              <a:tblGrid>
                <a:gridCol w="2190750"/>
                <a:gridCol w="3905250"/>
                <a:gridCol w="4572000"/>
              </a:tblGrid>
              <a:tr h="523875">
                <a:tc>
                  <a:txBody>
                    <a:bodyPr/>
                    <a:lstStyle/>
                    <a:p>
                      <a:r>
                        <a:rPr sz="1800" b="1">
                          <a:solidFill>
                            <a:srgbClr val="FFFFFF"/>
                          </a:solidFill>
                          <a:latin typeface="Calibri"/>
                          <a:ea typeface="Calibri"/>
                          <a:cs typeface="Calibri"/>
                        </a:rPr>
                        <a:t>Alternative</a:t>
                      </a:r>
                    </a:p>
                  </a:txBody>
                  <a:tcPr marL="91440" marR="91440" marT="45720" marB="45720">
                    <a:solidFill>
                      <a:srgbClr val="142F35"/>
                    </a:solidFill>
                  </a:tcPr>
                </a:tc>
                <a:tc>
                  <a:txBody>
                    <a:bodyPr/>
                    <a:lstStyle/>
                    <a:p>
                      <a:r>
                        <a:rPr sz="1800" b="1">
                          <a:solidFill>
                            <a:srgbClr val="FFFFFF"/>
                          </a:solidFill>
                          <a:latin typeface="Calibri"/>
                          <a:ea typeface="Calibri"/>
                          <a:cs typeface="Calibri"/>
                        </a:rPr>
                        <a:t>What it offers</a:t>
                      </a:r>
                    </a:p>
                  </a:txBody>
                  <a:tcPr marL="91440" marR="91440" marT="45720" marB="45720">
                    <a:solidFill>
                      <a:srgbClr val="142F35"/>
                    </a:solidFill>
                  </a:tcPr>
                </a:tc>
                <a:tc>
                  <a:txBody>
                    <a:bodyPr/>
                    <a:lstStyle/>
                    <a:p>
                      <a:r>
                        <a:rPr sz="1800" b="1">
                          <a:solidFill>
                            <a:srgbClr val="FFFFFF"/>
                          </a:solidFill>
                          <a:latin typeface="Calibri"/>
                          <a:ea typeface="Calibri"/>
                          <a:cs typeface="Calibri"/>
                        </a:rPr>
                        <a:t>Our focus for a small contractor</a:t>
                      </a:r>
                    </a:p>
                  </a:txBody>
                  <a:tcPr marL="91440" marR="91440" marT="45720" marB="45720">
                    <a:solidFill>
                      <a:srgbClr val="142F35"/>
                    </a:solidFill>
                  </a:tcPr>
                </a:tc>
              </a:tr>
              <a:tr h="885825">
                <a:tc>
                  <a:txBody>
                    <a:bodyPr/>
                    <a:lstStyle/>
                    <a:p>
                      <a:r>
                        <a:rPr sz="1800" b="0">
                          <a:solidFill>
                            <a:srgbClr val="142F35"/>
                          </a:solidFill>
                          <a:latin typeface="Calibri"/>
                          <a:ea typeface="Calibri"/>
                          <a:cs typeface="Calibri"/>
                        </a:rPr>
                        <a:t>WhatsApp + Excel</a:t>
                      </a:r>
                    </a:p>
                  </a:txBody>
                  <a:tcPr marL="91440" marR="91440" marT="45720" marB="45720">
                    <a:solidFill>
                      <a:srgbClr val="F6F4EE"/>
                    </a:solidFill>
                  </a:tcPr>
                </a:tc>
                <a:tc>
                  <a:txBody>
                    <a:bodyPr/>
                    <a:lstStyle/>
                    <a:p>
                      <a:r>
                        <a:rPr sz="1800" b="0">
                          <a:solidFill>
                            <a:srgbClr val="142F35"/>
                          </a:solidFill>
                          <a:latin typeface="Calibri"/>
                          <a:ea typeface="Calibri"/>
                          <a:cs typeface="Calibri"/>
                        </a:rPr>
                        <a:t>Messages and flexible spreadsheets</a:t>
                      </a:r>
                    </a:p>
                  </a:txBody>
                  <a:tcPr marL="91440" marR="91440" marT="45720" marB="45720">
                    <a:solidFill>
                      <a:srgbClr val="F6F4EE"/>
                    </a:solidFill>
                  </a:tcPr>
                </a:tc>
                <a:tc>
                  <a:txBody>
                    <a:bodyPr/>
                    <a:lstStyle/>
                    <a:p>
                      <a:r>
                        <a:rPr sz="1800" b="0">
                          <a:solidFill>
                            <a:srgbClr val="142F35"/>
                          </a:solidFill>
                          <a:latin typeface="Calibri"/>
                          <a:ea typeface="Calibri"/>
                          <a:cs typeface="Calibri"/>
                        </a:rPr>
                        <a:t>Convert site updates into structured records and reports</a:t>
                      </a:r>
                    </a:p>
                  </a:txBody>
                  <a:tcPr marL="91440" marR="91440" marT="45720" marB="45720">
                    <a:solidFill>
                      <a:srgbClr val="F6F4EE"/>
                    </a:solidFill>
                  </a:tcPr>
                </a:tc>
              </a:tr>
              <a:tr h="885825">
                <a:tc>
                  <a:txBody>
                    <a:bodyPr/>
                    <a:lstStyle/>
                    <a:p>
                      <a:r>
                        <a:rPr sz="1800" b="0">
                          <a:solidFill>
                            <a:srgbClr val="142F35"/>
                          </a:solidFill>
                          <a:latin typeface="Calibri"/>
                          <a:ea typeface="Calibri"/>
                          <a:cs typeface="Calibri"/>
                        </a:rPr>
                        <a:t>Fieldwire</a:t>
                      </a:r>
                    </a:p>
                  </a:txBody>
                  <a:tcPr marL="91440" marR="91440" marT="45720" marB="45720">
                    <a:solidFill>
                      <a:srgbClr val="F6F4EE"/>
                    </a:solidFill>
                  </a:tcPr>
                </a:tc>
                <a:tc>
                  <a:txBody>
                    <a:bodyPr/>
                    <a:lstStyle/>
                    <a:p>
                      <a:r>
                        <a:rPr sz="1800" b="0">
                          <a:solidFill>
                            <a:srgbClr val="142F35"/>
                          </a:solidFill>
                          <a:latin typeface="Calibri"/>
                          <a:ea typeface="Calibri"/>
                          <a:cs typeface="Calibri"/>
                        </a:rPr>
                        <a:t>Plans, tasks, reports and forms</a:t>
                      </a:r>
                    </a:p>
                  </a:txBody>
                  <a:tcPr marL="91440" marR="91440" marT="45720" marB="45720">
                    <a:solidFill>
                      <a:srgbClr val="F6F4EE"/>
                    </a:solidFill>
                  </a:tcPr>
                </a:tc>
                <a:tc>
                  <a:txBody>
                    <a:bodyPr/>
                    <a:lstStyle/>
                    <a:p>
                      <a:r>
                        <a:rPr sz="1800" b="0">
                          <a:solidFill>
                            <a:srgbClr val="142F35"/>
                          </a:solidFill>
                          <a:latin typeface="Calibri"/>
                          <a:ea typeface="Calibri"/>
                          <a:cs typeface="Calibri"/>
                        </a:rPr>
                        <a:t>Collect WhatsApp voice updates, with supported setup</a:t>
                      </a:r>
                    </a:p>
                  </a:txBody>
                  <a:tcPr marL="91440" marR="91440" marT="45720" marB="45720">
                    <a:solidFill>
                      <a:srgbClr val="F6F4EE"/>
                    </a:solidFill>
                  </a:tcPr>
                </a:tc>
              </a:tr>
              <a:tr h="885825">
                <a:tc>
                  <a:txBody>
                    <a:bodyPr/>
                    <a:lstStyle/>
                    <a:p>
                      <a:r>
                        <a:rPr sz="1800" b="0">
                          <a:solidFill>
                            <a:srgbClr val="142F35"/>
                          </a:solidFill>
                          <a:latin typeface="Calibri"/>
                          <a:ea typeface="Calibri"/>
                          <a:cs typeface="Calibri"/>
                        </a:rPr>
                        <a:t>Buildertrend</a:t>
                      </a:r>
                    </a:p>
                  </a:txBody>
                  <a:tcPr marL="91440" marR="91440" marT="45720" marB="45720">
                    <a:solidFill>
                      <a:srgbClr val="F6F4EE"/>
                    </a:solidFill>
                  </a:tcPr>
                </a:tc>
                <a:tc>
                  <a:txBody>
                    <a:bodyPr/>
                    <a:lstStyle/>
                    <a:p>
                      <a:r>
                        <a:rPr sz="1800" b="0">
                          <a:solidFill>
                            <a:srgbClr val="142F35"/>
                          </a:solidFill>
                          <a:latin typeface="Calibri"/>
                          <a:ea typeface="Calibri"/>
                          <a:cs typeface="Calibri"/>
                        </a:rPr>
                        <a:t>Daily logs plus project and financial tools</a:t>
                      </a:r>
                    </a:p>
                  </a:txBody>
                  <a:tcPr marL="91440" marR="91440" marT="45720" marB="45720">
                    <a:solidFill>
                      <a:srgbClr val="F6F4EE"/>
                    </a:solidFill>
                  </a:tcPr>
                </a:tc>
                <a:tc>
                  <a:txBody>
                    <a:bodyPr/>
                    <a:lstStyle/>
                    <a:p>
                      <a:r>
                        <a:rPr sz="1800" b="0">
                          <a:solidFill>
                            <a:srgbClr val="142F35"/>
                          </a:solidFill>
                          <a:latin typeface="Calibri"/>
                          <a:ea typeface="Calibri"/>
                          <a:cs typeface="Calibri"/>
                        </a:rPr>
                        <a:t>Deliver focused reporting without a full platform rollout</a:t>
                      </a:r>
                    </a:p>
                  </a:txBody>
                  <a:tcPr marL="91440" marR="91440" marT="45720" marB="45720">
                    <a:solidFill>
                      <a:srgbClr val="F6F4EE"/>
                    </a:solidFill>
                  </a:tcPr>
                </a:tc>
              </a:tr>
            </a:tbl>
          </a:graphicData>
        </a:graphic>
      </p:graphicFrame>
      <p:sp>
        <p:nvSpPr>
          <p:cNvPr id="4" name="">
            <a:extLst xmlns:a="http://schemas.openxmlformats.org/drawingml/2006/main">
              <a:ext uri="{FF2B5EF4-FFF2-40B4-BE49-F238E27FC236}">
                <a16:creationId xmlns:a16="http://schemas.microsoft.com/office/drawing/2014/main" id="{25A5C58D-18D0-4561-8DAB-3E8189A85027}"/>
              </a:ext>
            </a:extLst>
          </p:cNvPr>
          <p:cNvSpPr>
            <a:spLocks xmlns:a="http://schemas.openxmlformats.org/drawingml/2006/main" noGrp="1"/>
          </p:cNvSpPr>
          <p:nvPr/>
        </p:nvSpPr>
        <p:spPr>
          <a:xfrm xmlns:a="http://schemas.openxmlformats.org/drawingml/2006/main">
            <a:off x="762000" y="57531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8579"/>
                </a:solidFill>
                <a:latin typeface="Calibri"/>
                <a:ea typeface="Calibri"/>
                <a:cs typeface="Calibri"/>
              </a:defRPr>
            </a:pPr>
            <a:r>
              <a:rPr sz="1800" b="1">
                <a:solidFill>
                  <a:srgbClr val="008579"/>
                </a:solidFill>
                <a:latin typeface="Calibri"/>
                <a:ea typeface="Calibri"/>
                <a:cs typeface="Calibri"/>
              </a:rPr>
              <a:t>We need to prove the advantage through activation, reporting consistency and time saved.</a:t>
            </a:r>
          </a:p>
        </p:txBody>
      </p:sp>
      <p:sp>
        <p:nvSpPr>
          <p:cNvPr id="8" name="">
            <a:extLst xmlns:a="http://schemas.openxmlformats.org/drawingml/2006/main">
              <a:ext uri="{FF2B5EF4-FFF2-40B4-BE49-F238E27FC236}">
                <a16:creationId xmlns:a16="http://schemas.microsoft.com/office/drawing/2014/main" id="{B3A9179F-11B2-44FE-9459-C8D3ACFD1BC5}"/>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11</a:t>
            </a:r>
          </a:p>
        </p:txBody>
      </p:sp>
    </p:spTree>
    <p:extLst>
      <p:ext uri="{BB962C8B-B14F-4D97-AF65-F5344CB8AC3E}">
        <p14:creationId xmlns:p14="http://schemas.microsoft.com/office/powerpoint/2010/main" val="619606636"/>
      </p:ext>
    </p:extLst>
  </p:cSld>
</p:sld>
</file>

<file path=ppt/slides/slide12.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F46F360-6998-41FD-BEF4-2EF9DB4B52E4}"/>
              </a:ext>
            </a:extLst>
          </p:cNvPr>
          <p:cNvSpPr>
            <a:spLocks xmlns:a="http://schemas.openxmlformats.org/drawingml/2006/main" noGrp="1"/>
          </p:cNvSpPr>
          <p:nvPr/>
        </p:nvSpPr>
        <p:spPr>
          <a:xfrm xmlns:a="http://schemas.openxmlformats.org/drawingml/2006/main">
            <a:off x="685800" y="571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What one year of outreach has shown</a:t>
            </a:r>
          </a:p>
        </p:txBody>
      </p:sp>
      <p:sp>
        <p:nvSpPr>
          <p:cNvPr id="2" name="">
            <a:extLst xmlns:a="http://schemas.openxmlformats.org/drawingml/2006/main">
              <a:ext uri="{FF2B5EF4-FFF2-40B4-BE49-F238E27FC236}">
                <a16:creationId xmlns:a16="http://schemas.microsoft.com/office/drawing/2014/main" id="{5C4F8EBF-BE18-47D3-AC17-D0BA450EB929}"/>
              </a:ext>
            </a:extLst>
          </p:cNvPr>
          <p:cNvSpPr>
            <a:spLocks xmlns:a="http://schemas.openxmlformats.org/drawingml/2006/main" noGrp="1"/>
          </p:cNvSpPr>
          <p:nvPr/>
        </p:nvSpPr>
        <p:spPr>
          <a:xfrm xmlns:a="http://schemas.openxmlformats.org/drawingml/2006/main">
            <a:off x="723900" y="12763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536B70"/>
                </a:solidFill>
                <a:latin typeface="Calibri"/>
                <a:ea typeface="Calibri"/>
                <a:cs typeface="Calibri"/>
              </a:defRPr>
            </a:pPr>
            <a:r>
              <a:rPr sz="2025" b="0">
                <a:solidFill>
                  <a:srgbClr val="536B70"/>
                </a:solidFill>
                <a:latin typeface="Calibri"/>
                <a:ea typeface="Calibri"/>
                <a:cs typeface="Calibri"/>
              </a:rPr>
              <a:t>Approximately 80 companies approached over about one year through outreach and Facebook.</a:t>
            </a:r>
          </a:p>
        </p:txBody>
      </p:sp>
      <p:sp>
        <p:nvSpPr>
          <p:cNvPr id="3" name="">
            <a:extLst xmlns:a="http://schemas.openxmlformats.org/drawingml/2006/main">
              <a:ext uri="{FF2B5EF4-FFF2-40B4-BE49-F238E27FC236}">
                <a16:creationId xmlns:a16="http://schemas.microsoft.com/office/drawing/2014/main" id="{91AFFBC1-2680-4948-9A99-3FF5483CC1FB}"/>
              </a:ext>
            </a:extLst>
          </p:cNvPr>
          <p:cNvSpPr>
            <a:spLocks xmlns:a="http://schemas.openxmlformats.org/drawingml/2006/main" noGrp="1"/>
          </p:cNvSpPr>
          <p:nvPr/>
        </p:nvSpPr>
        <p:spPr>
          <a:xfrm xmlns:a="http://schemas.openxmlformats.org/drawingml/2006/main">
            <a:off x="723900" y="2238375"/>
            <a:ext cx="323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000" b="1">
                <a:solidFill>
                  <a:srgbClr val="008579"/>
                </a:solidFill>
                <a:latin typeface="Calibri"/>
                <a:ea typeface="Calibri"/>
                <a:cs typeface="Calibri"/>
              </a:defRPr>
            </a:pPr>
            <a:r>
              <a:rPr sz="6000" b="1">
                <a:solidFill>
                  <a:srgbClr val="008579"/>
                </a:solidFill>
                <a:latin typeface="Calibri"/>
                <a:ea typeface="Calibri"/>
                <a:cs typeface="Calibri"/>
              </a:rPr>
              <a:t>~80</a:t>
            </a:r>
          </a:p>
        </p:txBody>
      </p:sp>
      <p:sp>
        <p:nvSpPr>
          <p:cNvPr id="4" name="">
            <a:extLst xmlns:a="http://schemas.openxmlformats.org/drawingml/2006/main">
              <a:ext uri="{FF2B5EF4-FFF2-40B4-BE49-F238E27FC236}">
                <a16:creationId xmlns:a16="http://schemas.microsoft.com/office/drawing/2014/main" id="{65C90AC9-029B-4EE4-A8B2-95CBDA0716AB}"/>
              </a:ext>
            </a:extLst>
          </p:cNvPr>
          <p:cNvSpPr>
            <a:spLocks xmlns:a="http://schemas.openxmlformats.org/drawingml/2006/main" noGrp="1"/>
          </p:cNvSpPr>
          <p:nvPr/>
        </p:nvSpPr>
        <p:spPr>
          <a:xfrm xmlns:a="http://schemas.openxmlformats.org/drawingml/2006/main">
            <a:off x="762000" y="3286125"/>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F35"/>
                </a:solidFill>
                <a:latin typeface="Calibri"/>
                <a:ea typeface="Calibri"/>
                <a:cs typeface="Calibri"/>
              </a:defRPr>
            </a:pPr>
            <a:r>
              <a:rPr sz="2100" b="0">
                <a:solidFill>
                  <a:srgbClr val="142F35"/>
                </a:solidFill>
                <a:latin typeface="Calibri"/>
                <a:ea typeface="Calibri"/>
                <a:cs typeface="Calibri"/>
              </a:rPr>
              <a:t>companies approached</a:t>
            </a:r>
          </a:p>
        </p:txBody>
      </p:sp>
      <p:sp>
        <p:nvSpPr>
          <p:cNvPr id="5" name="">
            <a:extLst xmlns:a="http://schemas.openxmlformats.org/drawingml/2006/main">
              <a:ext uri="{FF2B5EF4-FFF2-40B4-BE49-F238E27FC236}">
                <a16:creationId xmlns:a16="http://schemas.microsoft.com/office/drawing/2014/main" id="{3DB5FDE8-BE3D-400C-B52D-76B45201C223}"/>
              </a:ext>
            </a:extLst>
          </p:cNvPr>
          <p:cNvSpPr>
            <a:spLocks xmlns:a="http://schemas.openxmlformats.org/drawingml/2006/main" noGrp="1"/>
          </p:cNvSpPr>
          <p:nvPr/>
        </p:nvSpPr>
        <p:spPr>
          <a:xfrm xmlns:a="http://schemas.openxmlformats.org/drawingml/2006/main">
            <a:off x="4762500" y="2238375"/>
            <a:ext cx="285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000" b="1">
                <a:solidFill>
                  <a:srgbClr val="008579"/>
                </a:solidFill>
                <a:latin typeface="Calibri"/>
                <a:ea typeface="Calibri"/>
                <a:cs typeface="Calibri"/>
              </a:defRPr>
            </a:pPr>
            <a:r>
              <a:rPr sz="6000" b="1">
                <a:solidFill>
                  <a:srgbClr val="008579"/>
                </a:solidFill>
                <a:latin typeface="Calibri"/>
                <a:ea typeface="Calibri"/>
                <a:cs typeface="Calibri"/>
              </a:rPr>
              <a:t>5</a:t>
            </a:r>
          </a:p>
        </p:txBody>
      </p:sp>
      <p:sp>
        <p:nvSpPr>
          <p:cNvPr id="6" name="">
            <a:extLst xmlns:a="http://schemas.openxmlformats.org/drawingml/2006/main">
              <a:ext uri="{FF2B5EF4-FFF2-40B4-BE49-F238E27FC236}">
                <a16:creationId xmlns:a16="http://schemas.microsoft.com/office/drawing/2014/main" id="{9A8040C2-3985-43BC-AB24-DA4E0B9EC590}"/>
              </a:ext>
            </a:extLst>
          </p:cNvPr>
          <p:cNvSpPr>
            <a:spLocks xmlns:a="http://schemas.openxmlformats.org/drawingml/2006/main" noGrp="1"/>
          </p:cNvSpPr>
          <p:nvPr/>
        </p:nvSpPr>
        <p:spPr>
          <a:xfrm xmlns:a="http://schemas.openxmlformats.org/drawingml/2006/main">
            <a:off x="4800600" y="3286125"/>
            <a:ext cx="304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F35"/>
                </a:solidFill>
                <a:latin typeface="Calibri"/>
                <a:ea typeface="Calibri"/>
                <a:cs typeface="Calibri"/>
              </a:defRPr>
            </a:pPr>
            <a:r>
              <a:rPr sz="2100" b="0">
                <a:solidFill>
                  <a:srgbClr val="142F35"/>
                </a:solidFill>
                <a:latin typeface="Calibri"/>
                <a:ea typeface="Calibri"/>
                <a:cs typeface="Calibri"/>
              </a:rPr>
              <a:t>currently paying</a:t>
            </a:r>
          </a:p>
        </p:txBody>
      </p:sp>
      <p:sp>
        <p:nvSpPr>
          <p:cNvPr id="7" name="">
            <a:extLst xmlns:a="http://schemas.openxmlformats.org/drawingml/2006/main">
              <a:ext uri="{FF2B5EF4-FFF2-40B4-BE49-F238E27FC236}">
                <a16:creationId xmlns:a16="http://schemas.microsoft.com/office/drawing/2014/main" id="{076000FC-BCC2-4C16-A6B0-09DB9C789B06}"/>
              </a:ext>
            </a:extLst>
          </p:cNvPr>
          <p:cNvSpPr>
            <a:spLocks xmlns:a="http://schemas.openxmlformats.org/drawingml/2006/main" noGrp="1"/>
          </p:cNvSpPr>
          <p:nvPr/>
        </p:nvSpPr>
        <p:spPr>
          <a:xfrm xmlns:a="http://schemas.openxmlformats.org/drawingml/2006/main">
            <a:off x="8629650" y="2238375"/>
            <a:ext cx="2762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000" b="1">
                <a:solidFill>
                  <a:srgbClr val="008579"/>
                </a:solidFill>
                <a:latin typeface="Calibri"/>
                <a:ea typeface="Calibri"/>
                <a:cs typeface="Calibri"/>
              </a:defRPr>
            </a:pPr>
            <a:r>
              <a:rPr sz="6000" b="1">
                <a:solidFill>
                  <a:srgbClr val="008579"/>
                </a:solidFill>
                <a:latin typeface="Calibri"/>
                <a:ea typeface="Calibri"/>
                <a:cs typeface="Calibri"/>
              </a:rPr>
              <a:t>1</a:t>
            </a:r>
          </a:p>
        </p:txBody>
      </p:sp>
      <p:sp>
        <p:nvSpPr>
          <p:cNvPr id="8" name="">
            <a:extLst xmlns:a="http://schemas.openxmlformats.org/drawingml/2006/main">
              <a:ext uri="{FF2B5EF4-FFF2-40B4-BE49-F238E27FC236}">
                <a16:creationId xmlns:a16="http://schemas.microsoft.com/office/drawing/2014/main" id="{3C074390-DD9D-4776-87A8-244589A2A673}"/>
              </a:ext>
            </a:extLst>
          </p:cNvPr>
          <p:cNvSpPr>
            <a:spLocks xmlns:a="http://schemas.openxmlformats.org/drawingml/2006/main" noGrp="1"/>
          </p:cNvSpPr>
          <p:nvPr/>
        </p:nvSpPr>
        <p:spPr>
          <a:xfrm xmlns:a="http://schemas.openxmlformats.org/drawingml/2006/main">
            <a:off x="8667750" y="3286125"/>
            <a:ext cx="285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F35"/>
                </a:solidFill>
                <a:latin typeface="Calibri"/>
                <a:ea typeface="Calibri"/>
                <a:cs typeface="Calibri"/>
              </a:defRPr>
            </a:pPr>
            <a:r>
              <a:rPr sz="2100" b="0">
                <a:solidFill>
                  <a:srgbClr val="142F35"/>
                </a:solidFill>
                <a:latin typeface="Calibri"/>
                <a:ea typeface="Calibri"/>
                <a:cs typeface="Calibri"/>
              </a:rPr>
              <a:t>former payer churned</a:t>
            </a:r>
          </a:p>
        </p:txBody>
      </p:sp>
      <p:sp>
        <p:nvSpPr>
          <p:cNvPr id="9" name="">
            <a:extLst xmlns:a="http://schemas.openxmlformats.org/drawingml/2006/main">
              <a:ext uri="{FF2B5EF4-FFF2-40B4-BE49-F238E27FC236}">
                <a16:creationId xmlns:a16="http://schemas.microsoft.com/office/drawing/2014/main" id="{F444A170-84E2-4BB8-A33C-3277DCC6A8CA}"/>
              </a:ext>
            </a:extLst>
          </p:cNvPr>
          <p:cNvSpPr>
            <a:spLocks xmlns:a="http://schemas.openxmlformats.org/drawingml/2006/main" noGrp="1"/>
          </p:cNvSpPr>
          <p:nvPr/>
        </p:nvSpPr>
        <p:spPr>
          <a:xfrm xmlns:a="http://schemas.openxmlformats.org/drawingml/2006/main">
            <a:off x="762000" y="4276725"/>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42F35"/>
                </a:solidFill>
                <a:latin typeface="Calibri"/>
                <a:ea typeface="Calibri"/>
                <a:cs typeface="Calibri"/>
              </a:defRPr>
            </a:pPr>
            <a:r>
              <a:rPr sz="2325" b="1">
                <a:solidFill>
                  <a:srgbClr val="142F35"/>
                </a:solidFill>
                <a:latin typeface="Calibri"/>
                <a:ea typeface="Calibri"/>
                <a:cs typeface="Calibri"/>
              </a:rPr>
              <a:t>Also in progress: one free pilot and one active trial</a:t>
            </a:r>
          </a:p>
        </p:txBody>
      </p:sp>
      <p:sp>
        <p:nvSpPr>
          <p:cNvPr id="10" name="">
            <a:extLst xmlns:a="http://schemas.openxmlformats.org/drawingml/2006/main">
              <a:ext uri="{FF2B5EF4-FFF2-40B4-BE49-F238E27FC236}">
                <a16:creationId xmlns:a16="http://schemas.microsoft.com/office/drawing/2014/main" id="{6DCD413D-F16D-480E-B616-537261583343}"/>
              </a:ext>
            </a:extLst>
          </p:cNvPr>
          <p:cNvSpPr>
            <a:spLocks xmlns:a="http://schemas.openxmlformats.org/drawingml/2006/main" noGrp="1"/>
          </p:cNvSpPr>
          <p:nvPr/>
        </p:nvSpPr>
        <p:spPr>
          <a:xfrm xmlns:a="http://schemas.openxmlformats.org/drawingml/2006/main">
            <a:off x="762000" y="5076825"/>
            <a:ext cx="10572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6.25% currently paying / approached. 7.5% became paying customers.</a:t>
            </a:r>
          </a:p>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Seven signed in total, including one free pilot. One paying customer left after 3 months.</a:t>
            </a:r>
          </a:p>
        </p:txBody>
      </p:sp>
      <p:sp>
        <p:nvSpPr>
          <p:cNvPr id="13" name="">
            <a:extLst xmlns:a="http://schemas.openxmlformats.org/drawingml/2006/main">
              <a:ext uri="{FF2B5EF4-FFF2-40B4-BE49-F238E27FC236}">
                <a16:creationId xmlns:a16="http://schemas.microsoft.com/office/drawing/2014/main" id="{465F9A23-3F0E-4EA9-B3A6-FFCE61275542}"/>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12</a:t>
            </a:r>
          </a:p>
        </p:txBody>
      </p:sp>
    </p:spTree>
    <p:extLst>
      <p:ext uri="{BB962C8B-B14F-4D97-AF65-F5344CB8AC3E}">
        <p14:creationId xmlns:p14="http://schemas.microsoft.com/office/powerpoint/2010/main" val="1281979934"/>
      </p:ext>
    </p:extLst>
  </p:cSld>
</p:sld>
</file>

<file path=ppt/slides/slide13.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63668A3-D7E2-4E4F-9229-BD49406876CE}"/>
              </a:ext>
            </a:extLst>
          </p:cNvPr>
          <p:cNvSpPr>
            <a:spLocks xmlns:a="http://schemas.openxmlformats.org/drawingml/2006/main" noGrp="1"/>
          </p:cNvSpPr>
          <p:nvPr/>
        </p:nvSpPr>
        <p:spPr>
          <a:xfrm xmlns:a="http://schemas.openxmlformats.org/drawingml/2006/main">
            <a:off x="685800" y="5715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75" b="1">
                <a:solidFill>
                  <a:srgbClr val="142F35"/>
                </a:solidFill>
                <a:latin typeface="Calibri"/>
                <a:ea typeface="Calibri"/>
                <a:cs typeface="Calibri"/>
              </a:defRPr>
            </a:pPr>
            <a:r>
              <a:rPr sz="3075" b="1">
                <a:solidFill>
                  <a:srgbClr val="142F35"/>
                </a:solidFill>
                <a:latin typeface="Calibri"/>
                <a:ea typeface="Calibri"/>
                <a:cs typeface="Calibri"/>
              </a:rPr>
              <a:t>Revenue scenarios from early acquisition results</a:t>
            </a:r>
          </a:p>
        </p:txBody>
      </p:sp>
      <p:sp>
        <p:nvSpPr>
          <p:cNvPr id="2" name="">
            <a:extLst xmlns:a="http://schemas.openxmlformats.org/drawingml/2006/main">
              <a:ext uri="{FF2B5EF4-FFF2-40B4-BE49-F238E27FC236}">
                <a16:creationId xmlns:a16="http://schemas.microsoft.com/office/drawing/2014/main" id="{C0DA8213-C8E7-435F-9C90-8F8AFCFC79C4}"/>
              </a:ext>
            </a:extLst>
          </p:cNvPr>
          <p:cNvSpPr>
            <a:spLocks xmlns:a="http://schemas.openxmlformats.org/drawingml/2006/main" noGrp="1"/>
          </p:cNvSpPr>
          <p:nvPr/>
        </p:nvSpPr>
        <p:spPr>
          <a:xfrm xmlns:a="http://schemas.openxmlformats.org/drawingml/2006/main">
            <a:off x="762000" y="1343025"/>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~80 approached: 7 signed, including 1 free pilot and 1 payer who left after 3 months.</a:t>
            </a:r>
          </a:p>
        </p:txBody>
      </p:sp>
      <p:sp>
        <p:nvSpPr>
          <p:cNvPr id="3" name="">
            <a:extLst xmlns:a="http://schemas.openxmlformats.org/drawingml/2006/main">
              <a:ext uri="{FF2B5EF4-FFF2-40B4-BE49-F238E27FC236}">
                <a16:creationId xmlns:a16="http://schemas.microsoft.com/office/drawing/2014/main" id="{2128E1B4-493C-48CA-BF56-FE213D789F52}"/>
              </a:ext>
            </a:extLst>
          </p:cNvPr>
          <p:cNvSpPr>
            <a:spLocks xmlns:a="http://schemas.openxmlformats.org/drawingml/2006/main" noGrp="1"/>
          </p:cNvSpPr>
          <p:nvPr/>
        </p:nvSpPr>
        <p:spPr>
          <a:xfrm xmlns:a="http://schemas.openxmlformats.org/drawingml/2006/main">
            <a:off x="762000" y="20859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008579"/>
                </a:solidFill>
                <a:latin typeface="Calibri"/>
                <a:ea typeface="Calibri"/>
                <a:cs typeface="Calibri"/>
              </a:defRPr>
            </a:pPr>
            <a:r>
              <a:rPr sz="2625" b="1">
                <a:solidFill>
                  <a:srgbClr val="008579"/>
                </a:solidFill>
                <a:latin typeface="Calibri"/>
                <a:ea typeface="Calibri"/>
                <a:cs typeface="Calibri"/>
              </a:rPr>
              <a:t>5 current payers ÷ 80 approached = 6.25%</a:t>
            </a:r>
          </a:p>
        </p:txBody>
      </p:sp>
      <p:sp>
        <p:nvSpPr>
          <p:cNvPr id="4" name="">
            <a:extLst xmlns:a="http://schemas.openxmlformats.org/drawingml/2006/main">
              <a:ext uri="{FF2B5EF4-FFF2-40B4-BE49-F238E27FC236}">
                <a16:creationId xmlns:a16="http://schemas.microsoft.com/office/drawing/2014/main" id="{48963C9F-7B1F-4561-9BC5-F0084CBC501A}"/>
              </a:ext>
            </a:extLst>
          </p:cNvPr>
          <p:cNvSpPr>
            <a:spLocks xmlns:a="http://schemas.openxmlformats.org/drawingml/2006/main" noGrp="1"/>
          </p:cNvSpPr>
          <p:nvPr/>
        </p:nvSpPr>
        <p:spPr>
          <a:xfrm xmlns:a="http://schemas.openxmlformats.org/drawingml/2006/main">
            <a:off x="762000" y="26765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42F35"/>
                </a:solidFill>
                <a:latin typeface="Calibri"/>
                <a:ea typeface="Calibri"/>
                <a:cs typeface="Calibri"/>
              </a:defRPr>
            </a:pPr>
            <a:r>
              <a:rPr sz="2175" b="0">
                <a:solidFill>
                  <a:srgbClr val="142F35"/>
                </a:solidFill>
                <a:latin typeface="Calibri"/>
                <a:ea typeface="Calibri"/>
                <a:cs typeface="Calibri"/>
              </a:rPr>
              <a:t>Companies reached × 6.25% × €150/month × 12</a:t>
            </a:r>
          </a:p>
        </p:txBody>
      </p:sp>
      <p:graphicFrame>
        <p:nvGraphicFramePr>
          <p:cNvPr id="14" name=""/>
          <p:cNvGraphicFramePr/>
          <p:nvPr/>
        </p:nvGraphicFramePr>
        <p:xfrm>
          <a:off xmlns:a="http://schemas.openxmlformats.org/drawingml/2006/main" x="762000" y="3314700"/>
          <a:ext xmlns:a="http://schemas.openxmlformats.org/drawingml/2006/main" cx="10668000" cy="2114550"/>
        </p:xfrm>
        <a:graphic xmlns:a="http://schemas.openxmlformats.org/drawingml/2006/main">
          <a:graphicData uri="http://schemas.openxmlformats.org/drawingml/2006/table">
            <a:tbl>
              <a:tblPr/>
              <a:tblGrid>
                <a:gridCol w="5286375"/>
                <a:gridCol w="2524125"/>
                <a:gridCol w="2857500"/>
              </a:tblGrid>
              <a:tr h="457200">
                <a:tc>
                  <a:txBody>
                    <a:bodyPr/>
                    <a:lstStyle/>
                    <a:p>
                      <a:r>
                        <a:rPr sz="1875" b="1">
                          <a:solidFill>
                            <a:srgbClr val="FFFFFF"/>
                          </a:solidFill>
                          <a:latin typeface="Calibri"/>
                          <a:ea typeface="Calibri"/>
                          <a:cs typeface="Calibri"/>
                        </a:rPr>
                        <a:t>Reach scenario</a:t>
                      </a:r>
                    </a:p>
                  </a:txBody>
                  <a:tcPr marL="91440" marR="91440" marT="45720" marB="45720">
                    <a:solidFill>
                      <a:srgbClr val="142F35"/>
                    </a:solidFill>
                  </a:tcPr>
                </a:tc>
                <a:tc>
                  <a:txBody>
                    <a:bodyPr/>
                    <a:lstStyle/>
                    <a:p>
                      <a:r>
                        <a:rPr sz="1875" b="1">
                          <a:solidFill>
                            <a:srgbClr val="FFFFFF"/>
                          </a:solidFill>
                          <a:latin typeface="Calibri"/>
                          <a:ea typeface="Calibri"/>
                          <a:cs typeface="Calibri"/>
                        </a:rPr>
                        <a:t>Paying companies</a:t>
                      </a:r>
                    </a:p>
                  </a:txBody>
                  <a:tcPr marL="91440" marR="91440" marT="45720" marB="45720">
                    <a:solidFill>
                      <a:srgbClr val="142F35"/>
                    </a:solidFill>
                  </a:tcPr>
                </a:tc>
                <a:tc>
                  <a:txBody>
                    <a:bodyPr/>
                    <a:lstStyle/>
                    <a:p>
                      <a:r>
                        <a:rPr sz="1875" b="1">
                          <a:solidFill>
                            <a:srgbClr val="FFFFFF"/>
                          </a:solidFill>
                          <a:latin typeface="Calibri"/>
                          <a:ea typeface="Calibri"/>
                          <a:cs typeface="Calibri"/>
                        </a:rPr>
                        <a:t>Annualised revenue</a:t>
                      </a:r>
                    </a:p>
                  </a:txBody>
                  <a:tcPr marL="91440" marR="91440" marT="45720" marB="45720">
                    <a:solidFill>
                      <a:srgbClr val="142F35"/>
                    </a:solidFill>
                  </a:tcPr>
                </a:tc>
              </a:tr>
              <a:tr h="552450">
                <a:tc>
                  <a:txBody>
                    <a:bodyPr/>
                    <a:lstStyle/>
                    <a:p>
                      <a:r>
                        <a:rPr sz="1875" b="0">
                          <a:solidFill>
                            <a:srgbClr val="142F35"/>
                          </a:solidFill>
                          <a:latin typeface="Calibri"/>
                          <a:ea typeface="Calibri"/>
                          <a:cs typeface="Calibri"/>
                        </a:rPr>
                        <a:t>80 companies (observed sample)</a:t>
                      </a:r>
                    </a:p>
                  </a:txBody>
                  <a:tcPr marL="91440" marR="91440" marT="45720" marB="45720">
                    <a:solidFill>
                      <a:srgbClr val="F6F4EE"/>
                    </a:solidFill>
                  </a:tcPr>
                </a:tc>
                <a:tc>
                  <a:txBody>
                    <a:bodyPr/>
                    <a:lstStyle/>
                    <a:p>
                      <a:r>
                        <a:rPr sz="1875" b="0">
                          <a:solidFill>
                            <a:srgbClr val="142F35"/>
                          </a:solidFill>
                          <a:latin typeface="Calibri"/>
                          <a:ea typeface="Calibri"/>
                          <a:cs typeface="Calibri"/>
                        </a:rPr>
                        <a:t>5</a:t>
                      </a:r>
                    </a:p>
                  </a:txBody>
                  <a:tcPr marL="91440" marR="91440" marT="45720" marB="45720">
                    <a:solidFill>
                      <a:srgbClr val="F6F4EE"/>
                    </a:solidFill>
                  </a:tcPr>
                </a:tc>
                <a:tc>
                  <a:txBody>
                    <a:bodyPr/>
                    <a:lstStyle/>
                    <a:p>
                      <a:r>
                        <a:rPr sz="1875" b="0">
                          <a:solidFill>
                            <a:srgbClr val="142F35"/>
                          </a:solidFill>
                          <a:latin typeface="Calibri"/>
                          <a:ea typeface="Calibri"/>
                          <a:cs typeface="Calibri"/>
                        </a:rPr>
                        <a:t>€9,000</a:t>
                      </a:r>
                    </a:p>
                  </a:txBody>
                  <a:tcPr marL="91440" marR="91440" marT="45720" marB="45720">
                    <a:solidFill>
                      <a:srgbClr val="F6F4EE"/>
                    </a:solidFill>
                  </a:tcPr>
                </a:tc>
              </a:tr>
              <a:tr h="552450">
                <a:tc>
                  <a:txBody>
                    <a:bodyPr/>
                    <a:lstStyle/>
                    <a:p>
                      <a:r>
                        <a:rPr sz="1875" b="0">
                          <a:solidFill>
                            <a:srgbClr val="142F35"/>
                          </a:solidFill>
                          <a:latin typeface="Calibri"/>
                          <a:ea typeface="Calibri"/>
                          <a:cs typeface="Calibri"/>
                        </a:rPr>
                        <a:t>141,914 companies (all EU-27 ICP)</a:t>
                      </a:r>
                    </a:p>
                  </a:txBody>
                  <a:tcPr marL="91440" marR="91440" marT="45720" marB="45720">
                    <a:solidFill>
                      <a:srgbClr val="F6F4EE"/>
                    </a:solidFill>
                  </a:tcPr>
                </a:tc>
                <a:tc>
                  <a:txBody>
                    <a:bodyPr/>
                    <a:lstStyle/>
                    <a:p>
                      <a:r>
                        <a:rPr sz="1875" b="0">
                          <a:solidFill>
                            <a:srgbClr val="142F35"/>
                          </a:solidFill>
                          <a:latin typeface="Calibri"/>
                          <a:ea typeface="Calibri"/>
                          <a:cs typeface="Calibri"/>
                        </a:rPr>
                        <a:t>~8,870</a:t>
                      </a:r>
                    </a:p>
                  </a:txBody>
                  <a:tcPr marL="91440" marR="91440" marT="45720" marB="45720">
                    <a:solidFill>
                      <a:srgbClr val="F6F4EE"/>
                    </a:solidFill>
                  </a:tcPr>
                </a:tc>
                <a:tc>
                  <a:txBody>
                    <a:bodyPr/>
                    <a:lstStyle/>
                    <a:p>
                      <a:r>
                        <a:rPr sz="1875" b="0">
                          <a:solidFill>
                            <a:srgbClr val="142F35"/>
                          </a:solidFill>
                          <a:latin typeface="Calibri"/>
                          <a:ea typeface="Calibri"/>
                          <a:cs typeface="Calibri"/>
                        </a:rPr>
                        <a:t>~€15.97M</a:t>
                      </a:r>
                    </a:p>
                  </a:txBody>
                  <a:tcPr marL="91440" marR="91440" marT="45720" marB="45720">
                    <a:solidFill>
                      <a:srgbClr val="F6F4EE"/>
                    </a:solidFill>
                  </a:tcPr>
                </a:tc>
              </a:tr>
              <a:tr h="552450">
                <a:tc>
                  <a:txBody>
                    <a:bodyPr/>
                    <a:lstStyle/>
                    <a:p>
                      <a:r>
                        <a:rPr sz="1875" b="0">
                          <a:solidFill>
                            <a:srgbClr val="142F35"/>
                          </a:solidFill>
                          <a:latin typeface="Calibri"/>
                          <a:ea typeface="Calibri"/>
                          <a:cs typeface="Calibri"/>
                        </a:rPr>
                        <a:t>616 companies (Latvia launch market)</a:t>
                      </a:r>
                    </a:p>
                  </a:txBody>
                  <a:tcPr marL="91440" marR="91440" marT="45720" marB="45720">
                    <a:solidFill>
                      <a:srgbClr val="F6F4EE"/>
                    </a:solidFill>
                  </a:tcPr>
                </a:tc>
                <a:tc>
                  <a:txBody>
                    <a:bodyPr/>
                    <a:lstStyle/>
                    <a:p>
                      <a:r>
                        <a:rPr sz="1875" b="0">
                          <a:solidFill>
                            <a:srgbClr val="142F35"/>
                          </a:solidFill>
                          <a:latin typeface="Calibri"/>
                          <a:ea typeface="Calibri"/>
                          <a:cs typeface="Calibri"/>
                        </a:rPr>
                        <a:t>~39</a:t>
                      </a:r>
                    </a:p>
                  </a:txBody>
                  <a:tcPr marL="91440" marR="91440" marT="45720" marB="45720">
                    <a:solidFill>
                      <a:srgbClr val="F6F4EE"/>
                    </a:solidFill>
                  </a:tcPr>
                </a:tc>
                <a:tc>
                  <a:txBody>
                    <a:bodyPr/>
                    <a:lstStyle/>
                    <a:p>
                      <a:r>
                        <a:rPr sz="1875" b="0">
                          <a:solidFill>
                            <a:srgbClr val="142F35"/>
                          </a:solidFill>
                          <a:latin typeface="Calibri"/>
                          <a:ea typeface="Calibri"/>
                          <a:cs typeface="Calibri"/>
                        </a:rPr>
                        <a:t>~€69,300</a:t>
                      </a:r>
                    </a:p>
                  </a:txBody>
                  <a:tcPr marL="91440" marR="91440" marT="45720" marB="45720">
                    <a:solidFill>
                      <a:srgbClr val="F6F4EE"/>
                    </a:solidFill>
                  </a:tcPr>
                </a:tc>
              </a:tr>
            </a:tbl>
          </a:graphicData>
        </a:graphic>
      </p:graphicFrame>
      <p:sp>
        <p:nvSpPr>
          <p:cNvPr id="6" name="">
            <a:extLst xmlns:a="http://schemas.openxmlformats.org/drawingml/2006/main">
              <a:ext uri="{FF2B5EF4-FFF2-40B4-BE49-F238E27FC236}">
                <a16:creationId xmlns:a16="http://schemas.microsoft.com/office/drawing/2014/main" id="{B379D7DD-AA56-49B2-9504-19F35DF40A5F}"/>
              </a:ext>
            </a:extLst>
          </p:cNvPr>
          <p:cNvSpPr>
            <a:spLocks xmlns:a="http://schemas.openxmlformats.org/drawingml/2006/main" noGrp="1"/>
          </p:cNvSpPr>
          <p:nvPr/>
        </p:nvSpPr>
        <p:spPr>
          <a:xfrm xmlns:a="http://schemas.openxmlformats.org/drawingml/2006/main">
            <a:off x="762000" y="56769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36B70"/>
                </a:solidFill>
                <a:latin typeface="Calibri"/>
                <a:ea typeface="Calibri"/>
                <a:cs typeface="Calibri"/>
              </a:defRPr>
            </a:pPr>
            <a:r>
              <a:rPr sz="1650" b="0">
                <a:solidFill>
                  <a:srgbClr val="536B70"/>
                </a:solidFill>
                <a:latin typeface="Calibri"/>
                <a:ea typeface="Calibri"/>
                <a:cs typeface="Calibri"/>
              </a:rPr>
              <a:t>Conditional scenarios assume the same ratio after reaching every company shown.</a:t>
            </a:r>
          </a:p>
          <a:p xmlns:a="http://schemas.openxmlformats.org/drawingml/2006/main">
            <a:pPr>
              <a:buNone/>
              <a:defRPr sz="1650" b="0">
                <a:solidFill>
                  <a:srgbClr val="536B70"/>
                </a:solidFill>
                <a:latin typeface="Calibri"/>
                <a:ea typeface="Calibri"/>
                <a:cs typeface="Calibri"/>
              </a:defRPr>
            </a:pPr>
            <a:r>
              <a:rPr sz="1650" b="0">
                <a:solidFill>
                  <a:srgbClr val="536B70"/>
                </a:solidFill>
                <a:latin typeface="Calibri"/>
                <a:ea typeface="Calibri"/>
                <a:cs typeface="Calibri"/>
              </a:rPr>
              <a:t>€150 is a modelling average. Results use unrounded counts and are not a sales forecast.</a:t>
            </a:r>
          </a:p>
        </p:txBody>
      </p:sp>
      <p:sp>
        <p:nvSpPr>
          <p:cNvPr id="7" name="">
            <a:extLst xmlns:a="http://schemas.openxmlformats.org/drawingml/2006/main">
              <a:ext uri="{FF2B5EF4-FFF2-40B4-BE49-F238E27FC236}">
                <a16:creationId xmlns:a16="http://schemas.microsoft.com/office/drawing/2014/main" id="{E14E9AB7-147D-4E29-876D-889A9346476D}"/>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13</a:t>
            </a:r>
          </a:p>
        </p:txBody>
      </p:sp>
    </p:spTree>
    <p:extLst>
      <p:ext uri="{BB962C8B-B14F-4D97-AF65-F5344CB8AC3E}">
        <p14:creationId xmlns:p14="http://schemas.microsoft.com/office/powerpoint/2010/main" val="846852963"/>
      </p:ext>
    </p:extLst>
  </p:cSld>
</p:sld>
</file>

<file path=ppt/slides/slide14.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CECE95E-B0E7-433B-BCDE-044062BCD5D3}"/>
              </a:ext>
            </a:extLst>
          </p:cNvPr>
          <p:cNvSpPr>
            <a:spLocks xmlns:a="http://schemas.openxmlformats.org/drawingml/2006/main" noGrp="1"/>
          </p:cNvSpPr>
          <p:nvPr/>
        </p:nvSpPr>
        <p:spPr>
          <a:xfrm xmlns:a="http://schemas.openxmlformats.org/drawingml/2006/main">
            <a:off x="685800" y="571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The next 90 days: test a repeatable sales process</a:t>
            </a:r>
          </a:p>
        </p:txBody>
      </p:sp>
      <p:sp>
        <p:nvSpPr>
          <p:cNvPr id="2" name="">
            <a:extLst xmlns:a="http://schemas.openxmlformats.org/drawingml/2006/main">
              <a:ext uri="{FF2B5EF4-FFF2-40B4-BE49-F238E27FC236}">
                <a16:creationId xmlns:a16="http://schemas.microsoft.com/office/drawing/2014/main" id="{B5F17BDE-5728-4346-80CA-AA2A1B63D268}"/>
              </a:ext>
            </a:extLst>
          </p:cNvPr>
          <p:cNvSpPr>
            <a:spLocks xmlns:a="http://schemas.openxmlformats.org/drawingml/2006/main" noGrp="1"/>
          </p:cNvSpPr>
          <p:nvPr/>
        </p:nvSpPr>
        <p:spPr>
          <a:xfrm xmlns:a="http://schemas.openxmlformats.org/drawingml/2006/main">
            <a:off x="723900" y="1276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Proposed experiments, with results deciding the next spending step.</a:t>
            </a:r>
          </a:p>
        </p:txBody>
      </p:sp>
      <p:sp>
        <p:nvSpPr>
          <p:cNvPr id="3" name="">
            <a:extLst xmlns:a="http://schemas.openxmlformats.org/drawingml/2006/main">
              <a:ext uri="{FF2B5EF4-FFF2-40B4-BE49-F238E27FC236}">
                <a16:creationId xmlns:a16="http://schemas.microsoft.com/office/drawing/2014/main" id="{798CF8A3-4355-49B6-9B37-1363B737460C}"/>
              </a:ext>
            </a:extLst>
          </p:cNvPr>
          <p:cNvSpPr>
            <a:spLocks xmlns:a="http://schemas.openxmlformats.org/drawingml/2006/main" noGrp="1"/>
          </p:cNvSpPr>
          <p:nvPr/>
        </p:nvSpPr>
        <p:spPr>
          <a:xfrm xmlns:a="http://schemas.openxmlformats.org/drawingml/2006/main">
            <a:off x="762000" y="213360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8579"/>
                </a:solidFill>
                <a:latin typeface="Calibri"/>
                <a:ea typeface="Calibri"/>
                <a:cs typeface="Calibri"/>
              </a:defRPr>
            </a:pPr>
            <a:r>
              <a:rPr sz="2325" b="1">
                <a:solidFill>
                  <a:srgbClr val="008579"/>
                </a:solidFill>
                <a:latin typeface="Calibri"/>
                <a:ea typeface="Calibri"/>
                <a:cs typeface="Calibri"/>
              </a:rPr>
              <a:t>Latvia: targeted outbound</a:t>
            </a:r>
          </a:p>
        </p:txBody>
      </p:sp>
      <p:sp>
        <p:nvSpPr>
          <p:cNvPr id="4" name="">
            <a:extLst xmlns:a="http://schemas.openxmlformats.org/drawingml/2006/main">
              <a:ext uri="{FF2B5EF4-FFF2-40B4-BE49-F238E27FC236}">
                <a16:creationId xmlns:a16="http://schemas.microsoft.com/office/drawing/2014/main" id="{A71FA044-5D49-4E48-86C5-BF6615928F9C}"/>
              </a:ext>
            </a:extLst>
          </p:cNvPr>
          <p:cNvSpPr>
            <a:spLocks xmlns:a="http://schemas.openxmlformats.org/drawingml/2006/main" noGrp="1"/>
          </p:cNvSpPr>
          <p:nvPr/>
        </p:nvSpPr>
        <p:spPr>
          <a:xfrm xmlns:a="http://schemas.openxmlformats.org/drawingml/2006/main">
            <a:off x="762000" y="2600325"/>
            <a:ext cx="1038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F35"/>
                </a:solidFill>
                <a:latin typeface="Calibri"/>
                <a:ea typeface="Calibri"/>
                <a:cs typeface="Calibri"/>
              </a:defRPr>
            </a:pPr>
            <a:r>
              <a:rPr sz="2025" b="0">
                <a:solidFill>
                  <a:srgbClr val="142F35"/>
                </a:solidFill>
                <a:latin typeface="Calibri"/>
                <a:ea typeface="Calibri"/>
                <a:cs typeface="Calibri"/>
              </a:rPr>
              <a:t>Build a list of 10–49 person contractors. Track each contact, demo, trial and payment.</a:t>
            </a:r>
          </a:p>
        </p:txBody>
      </p:sp>
      <p:sp>
        <p:nvSpPr>
          <p:cNvPr id="5" name="">
            <a:extLst xmlns:a="http://schemas.openxmlformats.org/drawingml/2006/main">
              <a:ext uri="{FF2B5EF4-FFF2-40B4-BE49-F238E27FC236}">
                <a16:creationId xmlns:a16="http://schemas.microsoft.com/office/drawing/2014/main" id="{0BA357FD-3CE3-4E88-81B3-A0B445B0EA0E}"/>
              </a:ext>
            </a:extLst>
          </p:cNvPr>
          <p:cNvSpPr>
            <a:spLocks xmlns:a="http://schemas.openxmlformats.org/drawingml/2006/main" noGrp="1"/>
          </p:cNvSpPr>
          <p:nvPr/>
        </p:nvSpPr>
        <p:spPr>
          <a:xfrm xmlns:a="http://schemas.openxmlformats.org/drawingml/2006/main">
            <a:off x="762000" y="345757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8579"/>
                </a:solidFill>
                <a:latin typeface="Calibri"/>
                <a:ea typeface="Calibri"/>
                <a:cs typeface="Calibri"/>
              </a:defRPr>
            </a:pPr>
            <a:r>
              <a:rPr sz="2325" b="1">
                <a:solidFill>
                  <a:srgbClr val="008579"/>
                </a:solidFill>
                <a:latin typeface="Calibri"/>
                <a:ea typeface="Calibri"/>
                <a:cs typeface="Calibri"/>
              </a:rPr>
              <a:t>Turn demos into live project trials</a:t>
            </a:r>
          </a:p>
        </p:txBody>
      </p:sp>
      <p:sp>
        <p:nvSpPr>
          <p:cNvPr id="6" name="">
            <a:extLst xmlns:a="http://schemas.openxmlformats.org/drawingml/2006/main">
              <a:ext uri="{FF2B5EF4-FFF2-40B4-BE49-F238E27FC236}">
                <a16:creationId xmlns:a16="http://schemas.microsoft.com/office/drawing/2014/main" id="{A94C35E2-5177-4751-863A-558948AD756D}"/>
              </a:ext>
            </a:extLst>
          </p:cNvPr>
          <p:cNvSpPr>
            <a:spLocks xmlns:a="http://schemas.openxmlformats.org/drawingml/2006/main" noGrp="1"/>
          </p:cNvSpPr>
          <p:nvPr/>
        </p:nvSpPr>
        <p:spPr>
          <a:xfrm xmlns:a="http://schemas.openxmlformats.org/drawingml/2006/main">
            <a:off x="762000" y="3924300"/>
            <a:ext cx="1038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F35"/>
                </a:solidFill>
                <a:latin typeface="Calibri"/>
                <a:ea typeface="Calibri"/>
                <a:cs typeface="Calibri"/>
              </a:defRPr>
            </a:pPr>
            <a:r>
              <a:rPr sz="2025" b="0">
                <a:solidFill>
                  <a:srgbClr val="142F35"/>
                </a:solidFill>
                <a:latin typeface="Calibri"/>
                <a:ea typeface="Calibri"/>
                <a:cs typeface="Calibri"/>
              </a:rPr>
              <a:t>Use the contractor’s own project in the demo. Set up the first report together and agree the paid start date.</a:t>
            </a:r>
          </a:p>
        </p:txBody>
      </p:sp>
      <p:sp>
        <p:nvSpPr>
          <p:cNvPr id="7" name="">
            <a:extLst xmlns:a="http://schemas.openxmlformats.org/drawingml/2006/main">
              <a:ext uri="{FF2B5EF4-FFF2-40B4-BE49-F238E27FC236}">
                <a16:creationId xmlns:a16="http://schemas.microsoft.com/office/drawing/2014/main" id="{461BACA2-3C4E-4617-8462-AEA285D5FB5B}"/>
              </a:ext>
            </a:extLst>
          </p:cNvPr>
          <p:cNvSpPr>
            <a:spLocks xmlns:a="http://schemas.openxmlformats.org/drawingml/2006/main" noGrp="1"/>
          </p:cNvSpPr>
          <p:nvPr/>
        </p:nvSpPr>
        <p:spPr>
          <a:xfrm xmlns:a="http://schemas.openxmlformats.org/drawingml/2006/main">
            <a:off x="762000" y="47815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8579"/>
                </a:solidFill>
                <a:latin typeface="Calibri"/>
                <a:ea typeface="Calibri"/>
                <a:cs typeface="Calibri"/>
              </a:defRPr>
            </a:pPr>
            <a:r>
              <a:rPr sz="2325" b="1">
                <a:solidFill>
                  <a:srgbClr val="008579"/>
                </a:solidFill>
                <a:latin typeface="Calibri"/>
                <a:ea typeface="Calibri"/>
                <a:cs typeface="Calibri"/>
              </a:rPr>
              <a:t>Test one expansion market</a:t>
            </a:r>
          </a:p>
        </p:txBody>
      </p:sp>
      <p:sp>
        <p:nvSpPr>
          <p:cNvPr id="8" name="">
            <a:extLst xmlns:a="http://schemas.openxmlformats.org/drawingml/2006/main">
              <a:ext uri="{FF2B5EF4-FFF2-40B4-BE49-F238E27FC236}">
                <a16:creationId xmlns:a16="http://schemas.microsoft.com/office/drawing/2014/main" id="{7879436E-9935-4CE1-863C-68E07788F929}"/>
              </a:ext>
            </a:extLst>
          </p:cNvPr>
          <p:cNvSpPr>
            <a:spLocks xmlns:a="http://schemas.openxmlformats.org/drawingml/2006/main" noGrp="1"/>
          </p:cNvSpPr>
          <p:nvPr/>
        </p:nvSpPr>
        <p:spPr>
          <a:xfrm xmlns:a="http://schemas.openxmlformats.org/drawingml/2006/main">
            <a:off x="762000" y="5248275"/>
            <a:ext cx="1038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F35"/>
                </a:solidFill>
                <a:latin typeface="Calibri"/>
                <a:ea typeface="Calibri"/>
                <a:cs typeface="Calibri"/>
              </a:defRPr>
            </a:pPr>
            <a:r>
              <a:rPr sz="2025" b="0">
                <a:solidFill>
                  <a:srgbClr val="142F35"/>
                </a:solidFill>
                <a:latin typeface="Calibri"/>
                <a:ea typeface="Calibri"/>
                <a:cs typeface="Calibri"/>
              </a:rPr>
              <a:t>Start with a small Swedish pilot cohort. Compare paid conversion and support effort before scaling or adding the UK.</a:t>
            </a:r>
          </a:p>
        </p:txBody>
      </p:sp>
      <p:sp>
        <p:nvSpPr>
          <p:cNvPr id="11" name="">
            <a:extLst xmlns:a="http://schemas.openxmlformats.org/drawingml/2006/main">
              <a:ext uri="{FF2B5EF4-FFF2-40B4-BE49-F238E27FC236}">
                <a16:creationId xmlns:a16="http://schemas.microsoft.com/office/drawing/2014/main" id="{BE26C493-393E-47DD-8491-7331A3980B9D}"/>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14</a:t>
            </a:r>
          </a:p>
        </p:txBody>
      </p:sp>
    </p:spTree>
    <p:extLst>
      <p:ext uri="{BB962C8B-B14F-4D97-AF65-F5344CB8AC3E}">
        <p14:creationId xmlns:p14="http://schemas.microsoft.com/office/powerpoint/2010/main" val="259193421"/>
      </p:ext>
    </p:extLst>
  </p:cSld>
</p:sld>
</file>

<file path=ppt/slides/slide15.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4B485CE-993E-4557-A124-AE7E65281CF5}"/>
              </a:ext>
            </a:extLst>
          </p:cNvPr>
          <p:cNvSpPr>
            <a:spLocks xmlns:a="http://schemas.openxmlformats.org/drawingml/2006/main" noGrp="1"/>
          </p:cNvSpPr>
          <p:nvPr/>
        </p:nvSpPr>
        <p:spPr>
          <a:xfrm xmlns:a="http://schemas.openxmlformats.org/drawingml/2006/main">
            <a:off x="685800" y="571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Acquisition evidence and the next measurements</a:t>
            </a:r>
          </a:p>
        </p:txBody>
      </p:sp>
      <p:sp>
        <p:nvSpPr>
          <p:cNvPr id="2" name="">
            <a:extLst xmlns:a="http://schemas.openxmlformats.org/drawingml/2006/main">
              <a:ext uri="{FF2B5EF4-FFF2-40B4-BE49-F238E27FC236}">
                <a16:creationId xmlns:a16="http://schemas.microsoft.com/office/drawing/2014/main" id="{E699C6B5-3B0F-4627-9DCF-97FB3DEE0721}"/>
              </a:ext>
            </a:extLst>
          </p:cNvPr>
          <p:cNvSpPr>
            <a:spLocks xmlns:a="http://schemas.openxmlformats.org/drawingml/2006/main" noGrp="1"/>
          </p:cNvSpPr>
          <p:nvPr/>
        </p:nvSpPr>
        <p:spPr>
          <a:xfrm xmlns:a="http://schemas.openxmlformats.org/drawingml/2006/main">
            <a:off x="723900" y="1276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Follow each monthly cohort from first contact through payment and renewal.</a:t>
            </a:r>
          </a:p>
        </p:txBody>
      </p:sp>
      <p:graphicFrame>
        <p:nvGraphicFramePr>
          <p:cNvPr id="13" name=""/>
          <p:cNvGraphicFramePr/>
          <p:nvPr/>
        </p:nvGraphicFramePr>
        <p:xfrm>
          <a:off xmlns:a="http://schemas.openxmlformats.org/drawingml/2006/main" x="762000" y="2133600"/>
          <a:ext xmlns:a="http://schemas.openxmlformats.org/drawingml/2006/main" cx="10668000" cy="2667000"/>
        </p:xfrm>
        <a:graphic xmlns:a="http://schemas.openxmlformats.org/drawingml/2006/main">
          <a:graphicData uri="http://schemas.openxmlformats.org/drawingml/2006/table">
            <a:tbl>
              <a:tblPr/>
              <a:tblGrid>
                <a:gridCol w="2857500"/>
                <a:gridCol w="3810000"/>
                <a:gridCol w="4000500"/>
              </a:tblGrid>
              <a:tr h="523875">
                <a:tc>
                  <a:txBody>
                    <a:bodyPr/>
                    <a:lstStyle/>
                    <a:p>
                      <a:r>
                        <a:rPr sz="1800" b="1">
                          <a:solidFill>
                            <a:srgbClr val="FFFFFF"/>
                          </a:solidFill>
                          <a:latin typeface="Calibri"/>
                          <a:ea typeface="Calibri"/>
                          <a:cs typeface="Calibri"/>
                        </a:rPr>
                        <a:t>Evidence / channel</a:t>
                      </a:r>
                    </a:p>
                  </a:txBody>
                  <a:tcPr marL="91440" marR="91440" marT="45720" marB="45720">
                    <a:solidFill>
                      <a:srgbClr val="142F35"/>
                    </a:solidFill>
                  </a:tcPr>
                </a:tc>
                <a:tc>
                  <a:txBody>
                    <a:bodyPr/>
                    <a:lstStyle/>
                    <a:p>
                      <a:r>
                        <a:rPr sz="1800" b="1">
                          <a:solidFill>
                            <a:srgbClr val="FFFFFF"/>
                          </a:solidFill>
                          <a:latin typeface="Calibri"/>
                          <a:ea typeface="Calibri"/>
                          <a:cs typeface="Calibri"/>
                        </a:rPr>
                        <a:t>Observed so far</a:t>
                      </a:r>
                    </a:p>
                  </a:txBody>
                  <a:tcPr marL="91440" marR="91440" marT="45720" marB="45720">
                    <a:solidFill>
                      <a:srgbClr val="142F35"/>
                    </a:solidFill>
                  </a:tcPr>
                </a:tc>
                <a:tc>
                  <a:txBody>
                    <a:bodyPr/>
                    <a:lstStyle/>
                    <a:p>
                      <a:r>
                        <a:rPr sz="1800" b="1">
                          <a:solidFill>
                            <a:srgbClr val="FFFFFF"/>
                          </a:solidFill>
                          <a:latin typeface="Calibri"/>
                          <a:ea typeface="Calibri"/>
                          <a:cs typeface="Calibri"/>
                        </a:rPr>
                        <a:t>Measure next</a:t>
                      </a:r>
                    </a:p>
                  </a:txBody>
                  <a:tcPr marL="91440" marR="91440" marT="45720" marB="45720">
                    <a:solidFill>
                      <a:srgbClr val="142F35"/>
                    </a:solidFill>
                  </a:tcPr>
                </a:tc>
              </a:tr>
              <a:tr h="714375">
                <a:tc>
                  <a:txBody>
                    <a:bodyPr/>
                    <a:lstStyle/>
                    <a:p>
                      <a:r>
                        <a:rPr sz="1800" b="0">
                          <a:solidFill>
                            <a:srgbClr val="142F35"/>
                          </a:solidFill>
                          <a:latin typeface="Calibri"/>
                          <a:ea typeface="Calibri"/>
                          <a:cs typeface="Calibri"/>
                        </a:rPr>
                        <a:t>All outreach, ~1 year</a:t>
                      </a:r>
                    </a:p>
                  </a:txBody>
                  <a:tcPr marL="91440" marR="91440" marT="45720" marB="45720">
                    <a:solidFill>
                      <a:srgbClr val="F6F4EE"/>
                    </a:solidFill>
                  </a:tcPr>
                </a:tc>
                <a:tc>
                  <a:txBody>
                    <a:bodyPr/>
                    <a:lstStyle/>
                    <a:p>
                      <a:r>
                        <a:rPr sz="1800" b="0">
                          <a:solidFill>
                            <a:srgbClr val="142F35"/>
                          </a:solidFill>
                          <a:latin typeface="Calibri"/>
                          <a:ea typeface="Calibri"/>
                          <a:cs typeface="Calibri"/>
                        </a:rPr>
                        <a:t>~80 approached, 6 ever paid</a:t>
                      </a:r>
                    </a:p>
                  </a:txBody>
                  <a:tcPr marL="91440" marR="91440" marT="45720" marB="45720">
                    <a:solidFill>
                      <a:srgbClr val="F6F4EE"/>
                    </a:solidFill>
                  </a:tcPr>
                </a:tc>
                <a:tc>
                  <a:txBody>
                    <a:bodyPr/>
                    <a:lstStyle/>
                    <a:p>
                      <a:r>
                        <a:rPr sz="1800" b="0">
                          <a:solidFill>
                            <a:srgbClr val="142F35"/>
                          </a:solidFill>
                          <a:latin typeface="Calibri"/>
                          <a:ea typeface="Calibri"/>
                          <a:cs typeface="Calibri"/>
                        </a:rPr>
                        <a:t>5 current, 1 churned; cohort retention</a:t>
                      </a:r>
                    </a:p>
                  </a:txBody>
                  <a:tcPr marL="91440" marR="91440" marT="45720" marB="45720">
                    <a:solidFill>
                      <a:srgbClr val="F6F4EE"/>
                    </a:solidFill>
                  </a:tcPr>
                </a:tc>
              </a:tr>
              <a:tr h="714375">
                <a:tc>
                  <a:txBody>
                    <a:bodyPr/>
                    <a:lstStyle/>
                    <a:p>
                      <a:r>
                        <a:rPr sz="1800" b="0">
                          <a:solidFill>
                            <a:srgbClr val="142F35"/>
                          </a:solidFill>
                          <a:latin typeface="Calibri"/>
                          <a:ea typeface="Calibri"/>
                          <a:cs typeface="Calibri"/>
                        </a:rPr>
                        <a:t>Direct outreach sample</a:t>
                      </a:r>
                    </a:p>
                  </a:txBody>
                  <a:tcPr marL="91440" marR="91440" marT="45720" marB="45720">
                    <a:solidFill>
                      <a:srgbClr val="F6F4EE"/>
                    </a:solidFill>
                  </a:tcPr>
                </a:tc>
                <a:tc>
                  <a:txBody>
                    <a:bodyPr/>
                    <a:lstStyle/>
                    <a:p>
                      <a:r>
                        <a:rPr sz="1800" b="0">
                          <a:solidFill>
                            <a:srgbClr val="142F35"/>
                          </a:solidFill>
                          <a:latin typeface="Calibri"/>
                          <a:ea typeface="Calibri"/>
                          <a:cs typeface="Calibri"/>
                        </a:rPr>
                        <a:t>55 calls, 7 demos booked</a:t>
                      </a:r>
                    </a:p>
                  </a:txBody>
                  <a:tcPr marL="91440" marR="91440" marT="45720" marB="45720">
                    <a:solidFill>
                      <a:srgbClr val="F6F4EE"/>
                    </a:solidFill>
                  </a:tcPr>
                </a:tc>
                <a:tc>
                  <a:txBody>
                    <a:bodyPr/>
                    <a:lstStyle/>
                    <a:p>
                      <a:r>
                        <a:rPr sz="1800" b="0">
                          <a:solidFill>
                            <a:srgbClr val="142F35"/>
                          </a:solidFill>
                          <a:latin typeface="Calibri"/>
                          <a:ea typeface="Calibri"/>
                          <a:cs typeface="Calibri"/>
                        </a:rPr>
                        <a:t>Trials and paid conversion by cohort</a:t>
                      </a:r>
                    </a:p>
                  </a:txBody>
                  <a:tcPr marL="91440" marR="91440" marT="45720" marB="45720">
                    <a:solidFill>
                      <a:srgbClr val="F6F4EE"/>
                    </a:solidFill>
                  </a:tcPr>
                </a:tc>
              </a:tr>
              <a:tr h="714375">
                <a:tc>
                  <a:txBody>
                    <a:bodyPr/>
                    <a:lstStyle/>
                    <a:p>
                      <a:r>
                        <a:rPr sz="1800" b="0">
                          <a:solidFill>
                            <a:srgbClr val="142F35"/>
                          </a:solidFill>
                          <a:latin typeface="Calibri"/>
                          <a:ea typeface="Calibri"/>
                          <a:cs typeface="Calibri"/>
                        </a:rPr>
                        <a:t>Facebook advertising</a:t>
                      </a:r>
                    </a:p>
                  </a:txBody>
                  <a:tcPr marL="91440" marR="91440" marT="45720" marB="45720">
                    <a:solidFill>
                      <a:srgbClr val="F6F4EE"/>
                    </a:solidFill>
                  </a:tcPr>
                </a:tc>
                <a:tc>
                  <a:txBody>
                    <a:bodyPr/>
                    <a:lstStyle/>
                    <a:p>
                      <a:r>
                        <a:rPr sz="1800" b="0">
                          <a:solidFill>
                            <a:srgbClr val="142F35"/>
                          </a:solidFill>
                          <a:latin typeface="Calibri"/>
                          <a:ea typeface="Calibri"/>
                          <a:cs typeface="Calibri"/>
                        </a:rPr>
                        <a:t>Paying customers reported</a:t>
                      </a:r>
                    </a:p>
                  </a:txBody>
                  <a:tcPr marL="91440" marR="91440" marT="45720" marB="45720">
                    <a:solidFill>
                      <a:srgbClr val="F6F4EE"/>
                    </a:solidFill>
                  </a:tcPr>
                </a:tc>
                <a:tc>
                  <a:txBody>
                    <a:bodyPr/>
                    <a:lstStyle/>
                    <a:p>
                      <a:r>
                        <a:rPr sz="1800" b="0">
                          <a:solidFill>
                            <a:srgbClr val="142F35"/>
                          </a:solidFill>
                          <a:latin typeface="Calibri"/>
                          <a:ea typeface="Calibri"/>
                          <a:cs typeface="Calibri"/>
                        </a:rPr>
                        <a:t>Attributed spend, new payers and CAC</a:t>
                      </a:r>
                    </a:p>
                  </a:txBody>
                  <a:tcPr marL="91440" marR="91440" marT="45720" marB="45720">
                    <a:solidFill>
                      <a:srgbClr val="F6F4EE"/>
                    </a:solidFill>
                  </a:tcPr>
                </a:tc>
              </a:tr>
            </a:tbl>
          </a:graphicData>
        </a:graphic>
      </p:graphicFrame>
      <p:sp>
        <p:nvSpPr>
          <p:cNvPr id="4" name="">
            <a:extLst xmlns:a="http://schemas.openxmlformats.org/drawingml/2006/main">
              <a:ext uri="{FF2B5EF4-FFF2-40B4-BE49-F238E27FC236}">
                <a16:creationId xmlns:a16="http://schemas.microsoft.com/office/drawing/2014/main" id="{FEB56EF1-AD44-4ED7-9976-6DB3D8E8DA62}"/>
              </a:ext>
            </a:extLst>
          </p:cNvPr>
          <p:cNvSpPr>
            <a:spLocks xmlns:a="http://schemas.openxmlformats.org/drawingml/2006/main" noGrp="1"/>
          </p:cNvSpPr>
          <p:nvPr/>
        </p:nvSpPr>
        <p:spPr>
          <a:xfrm xmlns:a="http://schemas.openxmlformats.org/drawingml/2006/main">
            <a:off x="762000" y="505777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08579"/>
                </a:solidFill>
                <a:latin typeface="Calibri"/>
                <a:ea typeface="Calibri"/>
                <a:cs typeface="Calibri"/>
              </a:defRPr>
            </a:pPr>
            <a:r>
              <a:rPr sz="2100" b="1">
                <a:solidFill>
                  <a:srgbClr val="008579"/>
                </a:solidFill>
                <a:latin typeface="Calibri"/>
                <a:ea typeface="Calibri"/>
                <a:cs typeface="Calibri"/>
              </a:rPr>
              <a:t>Revenue assumption: €150/month = €1,800/year per company</a:t>
            </a:r>
          </a:p>
        </p:txBody>
      </p:sp>
      <p:sp>
        <p:nvSpPr>
          <p:cNvPr id="5" name="">
            <a:extLst xmlns:a="http://schemas.openxmlformats.org/drawingml/2006/main">
              <a:ext uri="{FF2B5EF4-FFF2-40B4-BE49-F238E27FC236}">
                <a16:creationId xmlns:a16="http://schemas.microsoft.com/office/drawing/2014/main" id="{C388DCC3-3BE3-4163-99F1-3D33675AC5CC}"/>
              </a:ext>
            </a:extLst>
          </p:cNvPr>
          <p:cNvSpPr>
            <a:spLocks xmlns:a="http://schemas.openxmlformats.org/drawingml/2006/main" noGrp="1"/>
          </p:cNvSpPr>
          <p:nvPr/>
        </p:nvSpPr>
        <p:spPr>
          <a:xfrm xmlns:a="http://schemas.openxmlformats.org/drawingml/2006/main">
            <a:off x="762000" y="55530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142F35"/>
                </a:solidFill>
                <a:latin typeface="Calibri"/>
                <a:ea typeface="Calibri"/>
                <a:cs typeface="Calibri"/>
              </a:defRPr>
            </a:pPr>
            <a:r>
              <a:rPr sz="1800" b="0">
                <a:solidFill>
                  <a:srgbClr val="142F35"/>
                </a:solidFill>
                <a:latin typeface="Calibri"/>
                <a:ea typeface="Calibri"/>
                <a:cs typeface="Calibri"/>
              </a:rPr>
              <a:t>Track each monthly cohort by country, channel, price and renewal.</a:t>
            </a:r>
          </a:p>
          <a:p xmlns:a="http://schemas.openxmlformats.org/drawingml/2006/main">
            <a:pPr>
              <a:buNone/>
              <a:defRPr sz="1800" b="0">
                <a:solidFill>
                  <a:srgbClr val="142F35"/>
                </a:solidFill>
                <a:latin typeface="Calibri"/>
                <a:ea typeface="Calibri"/>
                <a:cs typeface="Calibri"/>
              </a:defRPr>
            </a:pPr>
            <a:r>
              <a:rPr sz="1800" b="0">
                <a:solidFill>
                  <a:srgbClr val="142F35"/>
                </a:solidFill>
                <a:latin typeface="Calibri"/>
                <a:ea typeface="Calibri"/>
                <a:cs typeface="Calibri"/>
              </a:rPr>
              <a:t>CAC = (channel spend + allocated sales labour) ÷ new paying customers</a:t>
            </a:r>
          </a:p>
        </p:txBody>
      </p:sp>
      <p:sp>
        <p:nvSpPr>
          <p:cNvPr id="9" name="">
            <a:extLst xmlns:a="http://schemas.openxmlformats.org/drawingml/2006/main">
              <a:ext uri="{FF2B5EF4-FFF2-40B4-BE49-F238E27FC236}">
                <a16:creationId xmlns:a16="http://schemas.microsoft.com/office/drawing/2014/main" id="{CD647DF6-52CC-4563-AB46-A2A1ED6618C3}"/>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15</a:t>
            </a:r>
          </a:p>
        </p:txBody>
      </p:sp>
    </p:spTree>
    <p:extLst>
      <p:ext uri="{BB962C8B-B14F-4D97-AF65-F5344CB8AC3E}">
        <p14:creationId xmlns:p14="http://schemas.microsoft.com/office/powerpoint/2010/main" val="1854655625"/>
      </p:ext>
    </p:extLst>
  </p:cSld>
</p:sld>
</file>

<file path=ppt/slides/slide16.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88435C8-77CC-492C-9A50-B5E787DE2757}"/>
              </a:ext>
            </a:extLst>
          </p:cNvPr>
          <p:cNvSpPr>
            <a:spLocks xmlns:a="http://schemas.openxmlformats.org/drawingml/2006/main" noGrp="1"/>
          </p:cNvSpPr>
          <p:nvPr/>
        </p:nvSpPr>
        <p:spPr>
          <a:xfrm xmlns:a="http://schemas.openxmlformats.org/drawingml/2006/main">
            <a:off x="685800" y="571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Delivery costs and capacity</a:t>
            </a:r>
          </a:p>
        </p:txBody>
      </p:sp>
      <p:sp>
        <p:nvSpPr>
          <p:cNvPr id="2" name="">
            <a:extLst xmlns:a="http://schemas.openxmlformats.org/drawingml/2006/main">
              <a:ext uri="{FF2B5EF4-FFF2-40B4-BE49-F238E27FC236}">
                <a16:creationId xmlns:a16="http://schemas.microsoft.com/office/drawing/2014/main" id="{9EBD675A-F49A-431A-9FF1-89FE6C01F81E}"/>
              </a:ext>
            </a:extLst>
          </p:cNvPr>
          <p:cNvSpPr>
            <a:spLocks xmlns:a="http://schemas.openxmlformats.org/drawingml/2006/main" noGrp="1"/>
          </p:cNvSpPr>
          <p:nvPr/>
        </p:nvSpPr>
        <p:spPr>
          <a:xfrm xmlns:a="http://schemas.openxmlformats.org/drawingml/2006/main">
            <a:off x="723900" y="1276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The next test must measure the labour behind each subscription.</a:t>
            </a:r>
          </a:p>
        </p:txBody>
      </p:sp>
      <p:sp>
        <p:nvSpPr>
          <p:cNvPr id="3" name="">
            <a:extLst xmlns:a="http://schemas.openxmlformats.org/drawingml/2006/main">
              <a:ext uri="{FF2B5EF4-FFF2-40B4-BE49-F238E27FC236}">
                <a16:creationId xmlns:a16="http://schemas.microsoft.com/office/drawing/2014/main" id="{F5287D3A-EE14-497D-A6B8-14B4C2621E5E}"/>
              </a:ext>
            </a:extLst>
          </p:cNvPr>
          <p:cNvSpPr>
            <a:spLocks xmlns:a="http://schemas.openxmlformats.org/drawingml/2006/main" noGrp="1"/>
          </p:cNvSpPr>
          <p:nvPr/>
        </p:nvSpPr>
        <p:spPr>
          <a:xfrm xmlns:a="http://schemas.openxmlformats.org/drawingml/2006/main">
            <a:off x="762000" y="215265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8579"/>
                </a:solidFill>
                <a:latin typeface="Calibri"/>
                <a:ea typeface="Calibri"/>
                <a:cs typeface="Calibri"/>
              </a:defRPr>
            </a:pPr>
            <a:r>
              <a:rPr sz="2325" b="1">
                <a:solidFill>
                  <a:srgbClr val="008579"/>
                </a:solidFill>
                <a:latin typeface="Calibri"/>
                <a:ea typeface="Calibri"/>
                <a:cs typeface="Calibri"/>
              </a:rPr>
              <a:t>Current software spend</a:t>
            </a:r>
          </a:p>
        </p:txBody>
      </p:sp>
      <p:sp>
        <p:nvSpPr>
          <p:cNvPr id="4" name="">
            <a:extLst xmlns:a="http://schemas.openxmlformats.org/drawingml/2006/main">
              <a:ext uri="{FF2B5EF4-FFF2-40B4-BE49-F238E27FC236}">
                <a16:creationId xmlns:a16="http://schemas.microsoft.com/office/drawing/2014/main" id="{A7F8475C-2904-4744-B03E-5E4CDBE33D9C}"/>
              </a:ext>
            </a:extLst>
          </p:cNvPr>
          <p:cNvSpPr>
            <a:spLocks xmlns:a="http://schemas.openxmlformats.org/drawingml/2006/main" noGrp="1"/>
          </p:cNvSpPr>
          <p:nvPr/>
        </p:nvSpPr>
        <p:spPr>
          <a:xfrm xmlns:a="http://schemas.openxmlformats.org/drawingml/2006/main">
            <a:off x="762000" y="274320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42F35"/>
                </a:solidFill>
                <a:latin typeface="Calibri"/>
                <a:ea typeface="Calibri"/>
                <a:cs typeface="Calibri"/>
              </a:defRPr>
            </a:pPr>
            <a:r>
              <a:rPr sz="2250" b="0">
                <a:solidFill>
                  <a:srgbClr val="142F35"/>
                </a:solidFill>
                <a:latin typeface="Calibri"/>
                <a:ea typeface="Calibri"/>
                <a:cs typeface="Calibri"/>
              </a:rPr>
              <a:t>About $80 / month</a:t>
            </a:r>
          </a:p>
          <a:p xmlns:a="http://schemas.openxmlformats.org/drawingml/2006/main">
            <a:pPr>
              <a:buNone/>
              <a:defRPr sz="2250" b="0">
                <a:solidFill>
                  <a:srgbClr val="142F35"/>
                </a:solidFill>
                <a:latin typeface="Calibri"/>
                <a:ea typeface="Calibri"/>
                <a:cs typeface="Calibri"/>
              </a:defRPr>
            </a:pPr>
            <a:r>
              <a:rPr sz="2250" b="0">
                <a:solidFill>
                  <a:srgbClr val="142F35"/>
                </a:solidFill>
                <a:latin typeface="Calibri"/>
                <a:ea typeface="Calibri"/>
                <a:cs typeface="Calibri"/>
              </a:rPr>
              <a:t>$40 OpenAI + $40 hosting</a:t>
            </a:r>
          </a:p>
        </p:txBody>
      </p:sp>
      <p:sp>
        <p:nvSpPr>
          <p:cNvPr id="5" name="">
            <a:extLst xmlns:a="http://schemas.openxmlformats.org/drawingml/2006/main">
              <a:ext uri="{FF2B5EF4-FFF2-40B4-BE49-F238E27FC236}">
                <a16:creationId xmlns:a16="http://schemas.microsoft.com/office/drawing/2014/main" id="{3F94CEA4-22D9-4F31-930D-72255E2BE1E5}"/>
              </a:ext>
            </a:extLst>
          </p:cNvPr>
          <p:cNvSpPr>
            <a:spLocks xmlns:a="http://schemas.openxmlformats.org/drawingml/2006/main" noGrp="1"/>
          </p:cNvSpPr>
          <p:nvPr/>
        </p:nvSpPr>
        <p:spPr>
          <a:xfrm xmlns:a="http://schemas.openxmlformats.org/drawingml/2006/main">
            <a:off x="6572250" y="21526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8579"/>
                </a:solidFill>
                <a:latin typeface="Calibri"/>
                <a:ea typeface="Calibri"/>
                <a:cs typeface="Calibri"/>
              </a:defRPr>
            </a:pPr>
            <a:r>
              <a:rPr sz="2325" b="1">
                <a:solidFill>
                  <a:srgbClr val="008579"/>
                </a:solidFill>
                <a:latin typeface="Calibri"/>
                <a:ea typeface="Calibri"/>
                <a:cs typeface="Calibri"/>
              </a:rPr>
              <a:t>Current delivery effort</a:t>
            </a:r>
          </a:p>
        </p:txBody>
      </p:sp>
      <p:sp>
        <p:nvSpPr>
          <p:cNvPr id="6" name="">
            <a:extLst xmlns:a="http://schemas.openxmlformats.org/drawingml/2006/main">
              <a:ext uri="{FF2B5EF4-FFF2-40B4-BE49-F238E27FC236}">
                <a16:creationId xmlns:a16="http://schemas.microsoft.com/office/drawing/2014/main" id="{313EAE4E-51C7-4D97-80A8-0CB9AE6AB8FC}"/>
              </a:ext>
            </a:extLst>
          </p:cNvPr>
          <p:cNvSpPr>
            <a:spLocks xmlns:a="http://schemas.openxmlformats.org/drawingml/2006/main" noGrp="1"/>
          </p:cNvSpPr>
          <p:nvPr/>
        </p:nvSpPr>
        <p:spPr>
          <a:xfrm xmlns:a="http://schemas.openxmlformats.org/drawingml/2006/main">
            <a:off x="6572250" y="2743200"/>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42F35"/>
                </a:solidFill>
                <a:latin typeface="Calibri"/>
                <a:ea typeface="Calibri"/>
                <a:cs typeface="Calibri"/>
              </a:defRPr>
            </a:pPr>
            <a:r>
              <a:rPr sz="2250" b="0">
                <a:solidFill>
                  <a:srgbClr val="142F35"/>
                </a:solidFill>
                <a:latin typeface="Calibri"/>
                <a:ea typeface="Calibri"/>
                <a:cs typeface="Calibri"/>
              </a:rPr>
              <a:t>About 3 hours to onboard</a:t>
            </a:r>
          </a:p>
          <a:p xmlns:a="http://schemas.openxmlformats.org/drawingml/2006/main">
            <a:pPr>
              <a:buNone/>
              <a:defRPr sz="2250" b="0">
                <a:solidFill>
                  <a:srgbClr val="142F35"/>
                </a:solidFill>
                <a:latin typeface="Calibri"/>
                <a:ea typeface="Calibri"/>
                <a:cs typeface="Calibri"/>
              </a:defRPr>
            </a:pPr>
            <a:r>
              <a:rPr sz="2250" b="0">
                <a:solidFill>
                  <a:srgbClr val="142F35"/>
                </a:solidFill>
                <a:latin typeface="Calibri"/>
                <a:ea typeface="Calibri"/>
                <a:cs typeface="Calibri"/>
              </a:rPr>
              <a:t>Under 1 hour/week per client</a:t>
            </a:r>
          </a:p>
        </p:txBody>
      </p:sp>
      <p:sp>
        <p:nvSpPr>
          <p:cNvPr id="7" name="">
            <a:extLst xmlns:a="http://schemas.openxmlformats.org/drawingml/2006/main">
              <a:ext uri="{FF2B5EF4-FFF2-40B4-BE49-F238E27FC236}">
                <a16:creationId xmlns:a16="http://schemas.microsoft.com/office/drawing/2014/main" id="{4A20ACE9-1E39-4FB4-9B54-10BF6ACCABF3}"/>
              </a:ext>
            </a:extLst>
          </p:cNvPr>
          <p:cNvSpPr>
            <a:spLocks xmlns:a="http://schemas.openxmlformats.org/drawingml/2006/main" noGrp="1"/>
          </p:cNvSpPr>
          <p:nvPr/>
        </p:nvSpPr>
        <p:spPr>
          <a:xfrm xmlns:a="http://schemas.openxmlformats.org/drawingml/2006/main">
            <a:off x="762000" y="4295775"/>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42F35"/>
                </a:solidFill>
                <a:latin typeface="Calibri"/>
                <a:ea typeface="Calibri"/>
                <a:cs typeface="Calibri"/>
              </a:defRPr>
            </a:pPr>
            <a:r>
              <a:rPr sz="2325" b="1">
                <a:solidFill>
                  <a:srgbClr val="142F35"/>
                </a:solidFill>
                <a:latin typeface="Calibri"/>
                <a:ea typeface="Calibri"/>
                <a:cs typeface="Calibri"/>
              </a:rPr>
              <a:t>Measure before scaling</a:t>
            </a:r>
          </a:p>
        </p:txBody>
      </p:sp>
      <p:sp>
        <p:nvSpPr>
          <p:cNvPr id="8" name="">
            <a:extLst xmlns:a="http://schemas.openxmlformats.org/drawingml/2006/main">
              <a:ext uri="{FF2B5EF4-FFF2-40B4-BE49-F238E27FC236}">
                <a16:creationId xmlns:a16="http://schemas.microsoft.com/office/drawing/2014/main" id="{B32B7306-0889-4BC8-AA8B-B902CC7115C2}"/>
              </a:ext>
            </a:extLst>
          </p:cNvPr>
          <p:cNvSpPr>
            <a:spLocks xmlns:a="http://schemas.openxmlformats.org/drawingml/2006/main" noGrp="1"/>
          </p:cNvSpPr>
          <p:nvPr/>
        </p:nvSpPr>
        <p:spPr>
          <a:xfrm xmlns:a="http://schemas.openxmlformats.org/drawingml/2006/main">
            <a:off x="762000" y="4857750"/>
            <a:ext cx="10477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F35"/>
                </a:solidFill>
                <a:latin typeface="Calibri"/>
                <a:ea typeface="Calibri"/>
                <a:cs typeface="Calibri"/>
              </a:defRPr>
            </a:pPr>
            <a:r>
              <a:rPr sz="2100" b="0">
                <a:solidFill>
                  <a:srgbClr val="142F35"/>
                </a:solidFill>
                <a:latin typeface="Calibri"/>
                <a:ea typeface="Calibri"/>
                <a:cs typeface="Calibri"/>
              </a:rPr>
              <a:t>Track founder and developer time, support minutes and advertising spend.</a:t>
            </a:r>
          </a:p>
          <a:p xmlns:a="http://schemas.openxmlformats.org/drawingml/2006/main">
            <a:pPr>
              <a:buNone/>
              <a:defRPr sz="2100" b="0">
                <a:solidFill>
                  <a:srgbClr val="142F35"/>
                </a:solidFill>
                <a:latin typeface="Calibri"/>
                <a:ea typeface="Calibri"/>
                <a:cs typeface="Calibri"/>
              </a:defRPr>
            </a:pPr>
            <a:r>
              <a:rPr sz="2100" b="0">
                <a:solidFill>
                  <a:srgbClr val="142F35"/>
                </a:solidFill>
                <a:latin typeface="Calibri"/>
                <a:ea typeface="Calibri"/>
                <a:cs typeface="Calibri"/>
              </a:rPr>
              <a:t>Calculate contribution after delivery labour and variable software costs.</a:t>
            </a:r>
          </a:p>
        </p:txBody>
      </p:sp>
      <p:sp>
        <p:nvSpPr>
          <p:cNvPr id="11" name="">
            <a:extLst xmlns:a="http://schemas.openxmlformats.org/drawingml/2006/main">
              <a:ext uri="{FF2B5EF4-FFF2-40B4-BE49-F238E27FC236}">
                <a16:creationId xmlns:a16="http://schemas.microsoft.com/office/drawing/2014/main" id="{FB37D982-C657-4701-8627-A5957CC3C9C9}"/>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16</a:t>
            </a:r>
          </a:p>
        </p:txBody>
      </p:sp>
    </p:spTree>
    <p:extLst>
      <p:ext uri="{BB962C8B-B14F-4D97-AF65-F5344CB8AC3E}">
        <p14:creationId xmlns:p14="http://schemas.microsoft.com/office/powerpoint/2010/main" val="236899290"/>
      </p:ext>
    </p:extLst>
  </p:cSld>
</p:sld>
</file>

<file path=ppt/slides/slide17.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A35BA4CD-5C4E-4732-A2A9-759D110AA252}"/>
              </a:ext>
            </a:extLst>
          </p:cNvPr>
          <p:cNvSpPr>
            <a:spLocks xmlns:a="http://schemas.openxmlformats.org/drawingml/2006/main" noGrp="1"/>
          </p:cNvSpPr>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Team</a:t>
            </a:r>
          </a:p>
        </p:txBody>
      </p:sp>
      <p:sp>
        <p:nvSpPr>
          <p:cNvPr id="3" name="Rectangle 2">
            <a:extLst xmlns:a="http://schemas.openxmlformats.org/drawingml/2006/main">
              <a:ext uri="{FF2B5EF4-FFF2-40B4-BE49-F238E27FC236}">
                <a16:creationId xmlns:a16="http://schemas.microsoft.com/office/drawing/2014/main" id="{B127BB7F-75C3-4988-BA77-6FEBD1E928D9}"/>
              </a:ext>
            </a:extLst>
          </p:cNvPr>
          <p:cNvSpPr>
            <a:spLocks xmlns:a="http://schemas.openxmlformats.org/drawingml/2006/main" noGrp="1"/>
          </p:cNvSpPr>
          <p:nvPr/>
        </p:nvSpPr>
        <p:spPr>
          <a:xfrm xmlns:a="http://schemas.openxmlformats.org/drawingml/2006/main">
            <a:off x="685800" y="1809750"/>
            <a:ext cx="5095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Vjaceslavs</a:t>
            </a:r>
          </a:p>
          <a:p xmlns:a="http://schemas.openxmlformats.org/drawingml/2006/main">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Gromatovics</a:t>
            </a:r>
          </a:p>
        </p:txBody>
      </p:sp>
      <p:sp>
        <p:nvSpPr>
          <p:cNvPr id="4" name="Rectangle 3">
            <a:extLst xmlns:a="http://schemas.openxmlformats.org/drawingml/2006/main">
              <a:ext uri="{FF2B5EF4-FFF2-40B4-BE49-F238E27FC236}">
                <a16:creationId xmlns:a16="http://schemas.microsoft.com/office/drawing/2014/main" id="{9A392C90-1DB6-4B05-802B-1CF647FFE0AB}"/>
              </a:ext>
            </a:extLst>
          </p:cNvPr>
          <p:cNvSpPr>
            <a:spLocks xmlns:a="http://schemas.openxmlformats.org/drawingml/2006/main" noGrp="1"/>
          </p:cNvSpPr>
          <p:nvPr/>
        </p:nvSpPr>
        <p:spPr>
          <a:xfrm xmlns:a="http://schemas.openxmlformats.org/drawingml/2006/main">
            <a:off x="685800" y="3190875"/>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60787D"/>
                </a:solidFill>
                <a:latin typeface="Bitstream Charter"/>
                <a:ea typeface="Bitstream Charter"/>
                <a:cs typeface="Bitstream Charter"/>
              </a:defRPr>
            </a:pPr>
            <a:r>
              <a:rPr sz="2025" b="0">
                <a:solidFill>
                  <a:srgbClr val="60787D"/>
                </a:solidFill>
                <a:latin typeface="Bitstream Charter"/>
                <a:ea typeface="Bitstream Charter"/>
                <a:cs typeface="Bitstream Charter"/>
              </a:rPr>
              <a:t>BEng in Civil Engineering</a:t>
            </a:r>
          </a:p>
        </p:txBody>
      </p:sp>
      <p:sp>
        <p:nvSpPr>
          <p:cNvPr id="5" name="Rectangle 4">
            <a:extLst xmlns:a="http://schemas.openxmlformats.org/drawingml/2006/main">
              <a:ext uri="{FF2B5EF4-FFF2-40B4-BE49-F238E27FC236}">
                <a16:creationId xmlns:a16="http://schemas.microsoft.com/office/drawing/2014/main" id="{1508F114-2165-43E5-9F7B-FBCFE7D19450}"/>
              </a:ext>
            </a:extLst>
          </p:cNvPr>
          <p:cNvSpPr>
            <a:spLocks xmlns:a="http://schemas.openxmlformats.org/drawingml/2006/main" noGrp="1"/>
          </p:cNvSpPr>
          <p:nvPr/>
        </p:nvSpPr>
        <p:spPr>
          <a:xfrm xmlns:a="http://schemas.openxmlformats.org/drawingml/2006/main">
            <a:off x="685800" y="3924300"/>
            <a:ext cx="5286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3037"/>
                </a:solidFill>
                <a:latin typeface="Bitstream Charter"/>
                <a:ea typeface="Bitstream Charter"/>
                <a:cs typeface="Bitstream Charter"/>
              </a:defRPr>
            </a:pPr>
            <a:r>
              <a:rPr sz="1875" b="0">
                <a:solidFill>
                  <a:srgbClr val="143037"/>
                </a:solidFill>
                <a:latin typeface="Bitstream Charter"/>
                <a:ea typeface="Bitstream Charter"/>
                <a:cs typeface="Bitstream Charter"/>
              </a:rPr>
              <a:t>5 years as a construction site manager</a:t>
            </a:r>
          </a:p>
          <a:p xmlns:a="http://schemas.openxmlformats.org/drawingml/2006/main">
            <a:pPr>
              <a:buNone/>
              <a:defRPr sz="1875" b="0">
                <a:solidFill>
                  <a:srgbClr val="143037"/>
                </a:solidFill>
                <a:latin typeface="Bitstream Charter"/>
                <a:ea typeface="Bitstream Charter"/>
                <a:cs typeface="Bitstream Charter"/>
              </a:defRPr>
            </a:pPr>
            <a:r>
              <a:rPr sz="1875" b="0">
                <a:solidFill>
                  <a:srgbClr val="143037"/>
                </a:solidFill>
                <a:latin typeface="Bitstream Charter"/>
                <a:ea typeface="Bitstream Charter"/>
                <a:cs typeface="Bitstream Charter"/>
              </a:rPr>
              <a:t>5 years as a project manager</a:t>
            </a:r>
          </a:p>
        </p:txBody>
      </p:sp>
      <p:sp>
        <p:nvSpPr>
          <p:cNvPr id="6" name="Rectangle 5">
            <a:extLst xmlns:a="http://schemas.openxmlformats.org/drawingml/2006/main">
              <a:ext uri="{FF2B5EF4-FFF2-40B4-BE49-F238E27FC236}">
                <a16:creationId xmlns:a16="http://schemas.microsoft.com/office/drawing/2014/main" id="{DEB1E63E-44C7-41C4-B4A9-57405C400FCF}"/>
              </a:ext>
            </a:extLst>
          </p:cNvPr>
          <p:cNvSpPr>
            <a:spLocks xmlns:a="http://schemas.openxmlformats.org/drawingml/2006/main" noGrp="1"/>
          </p:cNvSpPr>
          <p:nvPr/>
        </p:nvSpPr>
        <p:spPr>
          <a:xfrm xmlns:a="http://schemas.openxmlformats.org/drawingml/2006/main">
            <a:off x="685800" y="504825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3037"/>
                </a:solidFill>
                <a:latin typeface="Bitstream Charter"/>
                <a:ea typeface="Bitstream Charter"/>
                <a:cs typeface="Bitstream Charter"/>
              </a:defRPr>
            </a:pPr>
            <a:r>
              <a:rPr sz="1875" b="0">
                <a:solidFill>
                  <a:srgbClr val="143037"/>
                </a:solidFill>
                <a:latin typeface="Bitstream Charter"/>
                <a:ea typeface="Bitstream Charter"/>
                <a:cs typeface="Bitstream Charter"/>
              </a:rPr>
              <a:t>Working full-time on WorksRecorded</a:t>
            </a:r>
          </a:p>
        </p:txBody>
      </p:sp>
      <p:sp>
        <p:nvSpPr>
          <p:cNvPr id="7" name="Rectangle 6">
            <a:extLst xmlns:a="http://schemas.openxmlformats.org/drawingml/2006/main">
              <a:ext uri="{FF2B5EF4-FFF2-40B4-BE49-F238E27FC236}">
                <a16:creationId xmlns:a16="http://schemas.microsoft.com/office/drawing/2014/main" id="{80F50FFB-D2AA-4373-8BB3-C8BE5842B85C}"/>
              </a:ext>
            </a:extLst>
          </p:cNvPr>
          <p:cNvSpPr>
            <a:spLocks xmlns:a="http://schemas.openxmlformats.org/drawingml/2006/main" noGrp="1"/>
          </p:cNvSpPr>
          <p:nvPr/>
        </p:nvSpPr>
        <p:spPr>
          <a:xfrm xmlns:a="http://schemas.openxmlformats.org/drawingml/2006/main">
            <a:off x="685800" y="5791200"/>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8B80"/>
                </a:solidFill>
                <a:latin typeface="Bitstream Charter"/>
                <a:ea typeface="Bitstream Charter"/>
                <a:cs typeface="Bitstream Charter"/>
              </a:defRPr>
            </a:pPr>
            <a:r>
              <a:rPr sz="2175" b="1">
                <a:solidFill>
                  <a:srgbClr val="008B80"/>
                </a:solidFill>
                <a:latin typeface="Bitstream Charter"/>
                <a:ea typeface="Bitstream Charter"/>
                <a:cs typeface="Bitstream Charter"/>
              </a:rPr>
              <a:t>80% ownership</a:t>
            </a:r>
          </a:p>
        </p:txBody>
      </p:sp>
      <p:sp>
        <p:nvSpPr>
          <p:cNvPr id="8" name="Rectangle 7">
            <a:extLst xmlns:a="http://schemas.openxmlformats.org/drawingml/2006/main">
              <a:ext uri="{FF2B5EF4-FFF2-40B4-BE49-F238E27FC236}">
                <a16:creationId xmlns:a16="http://schemas.microsoft.com/office/drawing/2014/main" id="{D8CED15D-0ACF-4BCF-B8E8-55FFA9754638}"/>
              </a:ext>
            </a:extLst>
          </p:cNvPr>
          <p:cNvSpPr>
            <a:spLocks xmlns:a="http://schemas.openxmlformats.org/drawingml/2006/main" noGrp="1"/>
          </p:cNvSpPr>
          <p:nvPr/>
        </p:nvSpPr>
        <p:spPr>
          <a:xfrm xmlns:a="http://schemas.openxmlformats.org/drawingml/2006/main">
            <a:off x="6762750" y="1809750"/>
            <a:ext cx="476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Deivids</a:t>
            </a:r>
          </a:p>
          <a:p xmlns:a="http://schemas.openxmlformats.org/drawingml/2006/main">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Berkolds</a:t>
            </a:r>
          </a:p>
        </p:txBody>
      </p:sp>
      <p:sp>
        <p:nvSpPr>
          <p:cNvPr id="9" name="Rectangle 8">
            <a:extLst xmlns:a="http://schemas.openxmlformats.org/drawingml/2006/main">
              <a:ext uri="{FF2B5EF4-FFF2-40B4-BE49-F238E27FC236}">
                <a16:creationId xmlns:a16="http://schemas.microsoft.com/office/drawing/2014/main" id="{92CC7D36-CA00-490F-80BC-B7215D712883}"/>
              </a:ext>
            </a:extLst>
          </p:cNvPr>
          <p:cNvSpPr>
            <a:spLocks xmlns:a="http://schemas.openxmlformats.org/drawingml/2006/main" noGrp="1"/>
          </p:cNvSpPr>
          <p:nvPr/>
        </p:nvSpPr>
        <p:spPr>
          <a:xfrm xmlns:a="http://schemas.openxmlformats.org/drawingml/2006/main">
            <a:off x="6762750" y="3190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60787D"/>
                </a:solidFill>
                <a:latin typeface="Bitstream Charter"/>
                <a:ea typeface="Bitstream Charter"/>
                <a:cs typeface="Bitstream Charter"/>
              </a:defRPr>
            </a:pPr>
            <a:r>
              <a:rPr sz="2025" b="0">
                <a:solidFill>
                  <a:srgbClr val="60787D"/>
                </a:solidFill>
                <a:latin typeface="Bitstream Charter"/>
                <a:ea typeface="Bitstream Charter"/>
                <a:cs typeface="Bitstream Charter"/>
              </a:rPr>
              <a:t>BEng in Computer Science</a:t>
            </a:r>
          </a:p>
        </p:txBody>
      </p:sp>
      <p:sp>
        <p:nvSpPr>
          <p:cNvPr id="10" name="Rectangle 9">
            <a:extLst xmlns:a="http://schemas.openxmlformats.org/drawingml/2006/main">
              <a:ext uri="{FF2B5EF4-FFF2-40B4-BE49-F238E27FC236}">
                <a16:creationId xmlns:a16="http://schemas.microsoft.com/office/drawing/2014/main" id="{5588DBD3-9DF8-4BB0-901D-8973D3E8DC97}"/>
              </a:ext>
            </a:extLst>
          </p:cNvPr>
          <p:cNvSpPr>
            <a:spLocks xmlns:a="http://schemas.openxmlformats.org/drawingml/2006/main" noGrp="1"/>
          </p:cNvSpPr>
          <p:nvPr/>
        </p:nvSpPr>
        <p:spPr>
          <a:xfrm xmlns:a="http://schemas.openxmlformats.org/drawingml/2006/main">
            <a:off x="6762750" y="392430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3037"/>
                </a:solidFill>
                <a:latin typeface="Bitstream Charter"/>
                <a:ea typeface="Bitstream Charter"/>
                <a:cs typeface="Bitstream Charter"/>
              </a:defRPr>
            </a:pPr>
            <a:r>
              <a:rPr sz="2025" b="0">
                <a:solidFill>
                  <a:srgbClr val="143037"/>
                </a:solidFill>
                <a:latin typeface="Bitstream Charter"/>
                <a:ea typeface="Bitstream Charter"/>
                <a:cs typeface="Bitstream Charter"/>
              </a:rPr>
              <a:t>Senior JavaScript developer</a:t>
            </a:r>
          </a:p>
        </p:txBody>
      </p:sp>
      <p:sp>
        <p:nvSpPr>
          <p:cNvPr id="11" name="Rectangle 10">
            <a:extLst xmlns:a="http://schemas.openxmlformats.org/drawingml/2006/main">
              <a:ext uri="{FF2B5EF4-FFF2-40B4-BE49-F238E27FC236}">
                <a16:creationId xmlns:a16="http://schemas.microsoft.com/office/drawing/2014/main" id="{DA33AE3B-7944-4879-BD3D-AD5DEE002A8F}"/>
              </a:ext>
            </a:extLst>
          </p:cNvPr>
          <p:cNvSpPr>
            <a:spLocks xmlns:a="http://schemas.openxmlformats.org/drawingml/2006/main" noGrp="1"/>
          </p:cNvSpPr>
          <p:nvPr/>
        </p:nvSpPr>
        <p:spPr>
          <a:xfrm xmlns:a="http://schemas.openxmlformats.org/drawingml/2006/main">
            <a:off x="6762750" y="57912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8B80"/>
                </a:solidFill>
                <a:latin typeface="Bitstream Charter"/>
                <a:ea typeface="Bitstream Charter"/>
                <a:cs typeface="Bitstream Charter"/>
              </a:defRPr>
            </a:pPr>
            <a:r>
              <a:rPr sz="2175" b="1">
                <a:solidFill>
                  <a:srgbClr val="008B80"/>
                </a:solidFill>
                <a:latin typeface="Bitstream Charter"/>
                <a:ea typeface="Bitstream Charter"/>
                <a:cs typeface="Bitstream Charter"/>
              </a:rPr>
              <a:t>20% ownership</a:t>
            </a:r>
            <a:endParaRPr sz="1875" b="0">
              <a:solidFill>
                <a:srgbClr val="52686B"/>
              </a:solidFill>
              <a:latin typeface="Bitstream Charter"/>
              <a:ea typeface="Bitstream Charter"/>
              <a:cs typeface="Bitstream Charter"/>
            </a:endParaRPr>
          </a:p>
        </p:txBody>
      </p:sp>
      <p:sp>
        <p:nvSpPr>
          <p:cNvPr id="13" name="">
            <a:extLst xmlns:a="http://schemas.openxmlformats.org/drawingml/2006/main">
              <a:ext uri="{FF2B5EF4-FFF2-40B4-BE49-F238E27FC236}">
                <a16:creationId xmlns:a16="http://schemas.microsoft.com/office/drawing/2014/main" id="{01215526-A494-4F73-905C-77BA36B359A9}"/>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17</a:t>
            </a:r>
          </a:p>
        </p:txBody>
      </p:sp>
    </p:spTree>
    <p:extLst>
      <p:ext uri="{BB962C8B-B14F-4D97-AF65-F5344CB8AC3E}">
        <p14:creationId xmlns:p14="http://schemas.microsoft.com/office/powerpoint/2010/main" val="1732788866"/>
      </p:ext>
    </p:extLst>
  </p:cSld>
</p:sld>
</file>

<file path=ppt/slides/slide18.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738C983-CC17-4EDB-A96A-1BDB484FF158}"/>
              </a:ext>
            </a:extLst>
          </p:cNvPr>
          <p:cNvSpPr>
            <a:spLocks xmlns:a="http://schemas.openxmlformats.org/drawingml/2006/main" noGrp="1"/>
          </p:cNvSpPr>
          <p:nvPr/>
        </p:nvSpPr>
        <p:spPr>
          <a:xfrm xmlns:a="http://schemas.openxmlformats.org/drawingml/2006/main">
            <a:off x="685800" y="5238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Investment ask</a:t>
            </a:r>
          </a:p>
        </p:txBody>
      </p:sp>
      <p:sp>
        <p:nvSpPr>
          <p:cNvPr id="2" name="">
            <a:extLst xmlns:a="http://schemas.openxmlformats.org/drawingml/2006/main">
              <a:ext uri="{FF2B5EF4-FFF2-40B4-BE49-F238E27FC236}">
                <a16:creationId xmlns:a16="http://schemas.microsoft.com/office/drawing/2014/main" id="{6ED44287-5D49-43F7-A8B3-59DEED943E6E}"/>
              </a:ext>
            </a:extLst>
          </p:cNvPr>
          <p:cNvSpPr>
            <a:spLocks xmlns:a="http://schemas.openxmlformats.org/drawingml/2006/main" noGrp="1"/>
          </p:cNvSpPr>
          <p:nvPr/>
        </p:nvSpPr>
        <p:spPr>
          <a:xfrm xmlns:a="http://schemas.openxmlformats.org/drawingml/2006/main">
            <a:off x="723900" y="125730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500" b="1">
                <a:solidFill>
                  <a:srgbClr val="008579"/>
                </a:solidFill>
                <a:latin typeface="Calibri"/>
                <a:ea typeface="Calibri"/>
                <a:cs typeface="Calibri"/>
              </a:defRPr>
            </a:pPr>
            <a:r>
              <a:rPr sz="4500" b="1">
                <a:solidFill>
                  <a:srgbClr val="008579"/>
                </a:solidFill>
                <a:latin typeface="Calibri"/>
                <a:ea typeface="Calibri"/>
                <a:cs typeface="Calibri"/>
              </a:rPr>
              <a:t>€30,000 for 10% equity</a:t>
            </a:r>
          </a:p>
        </p:txBody>
      </p:sp>
      <p:sp>
        <p:nvSpPr>
          <p:cNvPr id="3" name="">
            <a:extLst xmlns:a="http://schemas.openxmlformats.org/drawingml/2006/main">
              <a:ext uri="{FF2B5EF4-FFF2-40B4-BE49-F238E27FC236}">
                <a16:creationId xmlns:a16="http://schemas.microsoft.com/office/drawing/2014/main" id="{F4A7EFCA-4705-4D22-9B23-90115F0D1511}"/>
              </a:ext>
            </a:extLst>
          </p:cNvPr>
          <p:cNvSpPr>
            <a:spLocks xmlns:a="http://schemas.openxmlformats.org/drawingml/2006/main" noGrp="1"/>
          </p:cNvSpPr>
          <p:nvPr/>
        </p:nvSpPr>
        <p:spPr>
          <a:xfrm xmlns:a="http://schemas.openxmlformats.org/drawingml/2006/main">
            <a:off x="762000" y="21145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Proposed terms: €270,000 pre-money valuation. Six-month validation budget.</a:t>
            </a:r>
          </a:p>
        </p:txBody>
      </p:sp>
      <p:sp>
        <p:nvSpPr>
          <p:cNvPr id="4" name="">
            <a:extLst xmlns:a="http://schemas.openxmlformats.org/drawingml/2006/main">
              <a:ext uri="{FF2B5EF4-FFF2-40B4-BE49-F238E27FC236}">
                <a16:creationId xmlns:a16="http://schemas.microsoft.com/office/drawing/2014/main" id="{554B6378-9CEB-4304-85FA-D1EA22A5B71B}"/>
              </a:ext>
            </a:extLst>
          </p:cNvPr>
          <p:cNvSpPr>
            <a:spLocks xmlns:a="http://schemas.openxmlformats.org/drawingml/2006/main" noGrp="1"/>
          </p:cNvSpPr>
          <p:nvPr/>
        </p:nvSpPr>
        <p:spPr>
          <a:xfrm xmlns:a="http://schemas.openxmlformats.org/drawingml/2006/main">
            <a:off x="762000" y="2838450"/>
            <a:ext cx="481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42F35"/>
                </a:solidFill>
                <a:latin typeface="Calibri"/>
                <a:ea typeface="Calibri"/>
                <a:cs typeface="Calibri"/>
              </a:defRPr>
            </a:pPr>
            <a:r>
              <a:rPr sz="2250" b="1">
                <a:solidFill>
                  <a:srgbClr val="142F35"/>
                </a:solidFill>
                <a:latin typeface="Calibri"/>
                <a:ea typeface="Calibri"/>
                <a:cs typeface="Calibri"/>
              </a:rPr>
              <a:t>Use of funds</a:t>
            </a:r>
          </a:p>
        </p:txBody>
      </p:sp>
      <p:sp>
        <p:nvSpPr>
          <p:cNvPr id="5" name="">
            <a:extLst xmlns:a="http://schemas.openxmlformats.org/drawingml/2006/main">
              <a:ext uri="{FF2B5EF4-FFF2-40B4-BE49-F238E27FC236}">
                <a16:creationId xmlns:a16="http://schemas.microsoft.com/office/drawing/2014/main" id="{02042D68-73D3-4864-9E60-1F14854E7BAC}"/>
              </a:ext>
            </a:extLst>
          </p:cNvPr>
          <p:cNvSpPr>
            <a:spLocks xmlns:a="http://schemas.openxmlformats.org/drawingml/2006/main" noGrp="1"/>
          </p:cNvSpPr>
          <p:nvPr/>
        </p:nvSpPr>
        <p:spPr>
          <a:xfrm xmlns:a="http://schemas.openxmlformats.org/drawingml/2006/main">
            <a:off x="762000" y="3362325"/>
            <a:ext cx="328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F35"/>
                </a:solidFill>
                <a:latin typeface="Calibri"/>
                <a:ea typeface="Calibri"/>
                <a:cs typeface="Calibri"/>
              </a:defRPr>
            </a:pPr>
            <a:r>
              <a:rPr sz="1950" b="0">
                <a:solidFill>
                  <a:srgbClr val="142F35"/>
                </a:solidFill>
                <a:latin typeface="Calibri"/>
                <a:ea typeface="Calibri"/>
                <a:cs typeface="Calibri"/>
              </a:rPr>
              <a:t>Founder time</a:t>
            </a:r>
          </a:p>
        </p:txBody>
      </p:sp>
      <p:sp>
        <p:nvSpPr>
          <p:cNvPr id="6" name="">
            <a:extLst xmlns:a="http://schemas.openxmlformats.org/drawingml/2006/main">
              <a:ext uri="{FF2B5EF4-FFF2-40B4-BE49-F238E27FC236}">
                <a16:creationId xmlns:a16="http://schemas.microsoft.com/office/drawing/2014/main" id="{3C1D0AFE-10BA-49A5-B417-96D4E157145C}"/>
              </a:ext>
            </a:extLst>
          </p:cNvPr>
          <p:cNvSpPr>
            <a:spLocks xmlns:a="http://schemas.openxmlformats.org/drawingml/2006/main" noGrp="1"/>
          </p:cNvSpPr>
          <p:nvPr/>
        </p:nvSpPr>
        <p:spPr>
          <a:xfrm xmlns:a="http://schemas.openxmlformats.org/drawingml/2006/main">
            <a:off x="4429125" y="336232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F35"/>
                </a:solidFill>
                <a:latin typeface="Calibri"/>
                <a:ea typeface="Calibri"/>
                <a:cs typeface="Calibri"/>
              </a:defRPr>
            </a:pPr>
            <a:r>
              <a:rPr sz="1950" b="0">
                <a:solidFill>
                  <a:srgbClr val="142F35"/>
                </a:solidFill>
                <a:latin typeface="Calibri"/>
                <a:ea typeface="Calibri"/>
                <a:cs typeface="Calibri"/>
              </a:rPr>
              <a:t>€18,000</a:t>
            </a:r>
          </a:p>
        </p:txBody>
      </p:sp>
      <p:sp>
        <p:nvSpPr>
          <p:cNvPr id="7" name="">
            <a:extLst xmlns:a="http://schemas.openxmlformats.org/drawingml/2006/main">
              <a:ext uri="{FF2B5EF4-FFF2-40B4-BE49-F238E27FC236}">
                <a16:creationId xmlns:a16="http://schemas.microsoft.com/office/drawing/2014/main" id="{5682D533-9443-41CA-9DAB-1E88EE141779}"/>
              </a:ext>
            </a:extLst>
          </p:cNvPr>
          <p:cNvSpPr>
            <a:spLocks xmlns:a="http://schemas.openxmlformats.org/drawingml/2006/main" noGrp="1"/>
          </p:cNvSpPr>
          <p:nvPr/>
        </p:nvSpPr>
        <p:spPr>
          <a:xfrm xmlns:a="http://schemas.openxmlformats.org/drawingml/2006/main">
            <a:off x="762000" y="3705225"/>
            <a:ext cx="328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F35"/>
                </a:solidFill>
                <a:latin typeface="Calibri"/>
                <a:ea typeface="Calibri"/>
                <a:cs typeface="Calibri"/>
              </a:defRPr>
            </a:pPr>
            <a:r>
              <a:rPr sz="1950" b="0">
                <a:solidFill>
                  <a:srgbClr val="142F35"/>
                </a:solidFill>
                <a:latin typeface="Calibri"/>
                <a:ea typeface="Calibri"/>
                <a:cs typeface="Calibri"/>
              </a:rPr>
              <a:t>Product and onboarding</a:t>
            </a:r>
          </a:p>
        </p:txBody>
      </p:sp>
      <p:sp>
        <p:nvSpPr>
          <p:cNvPr id="8" name="">
            <a:extLst xmlns:a="http://schemas.openxmlformats.org/drawingml/2006/main">
              <a:ext uri="{FF2B5EF4-FFF2-40B4-BE49-F238E27FC236}">
                <a16:creationId xmlns:a16="http://schemas.microsoft.com/office/drawing/2014/main" id="{02495F71-861D-4371-A5B9-40DD7C1ED927}"/>
              </a:ext>
            </a:extLst>
          </p:cNvPr>
          <p:cNvSpPr>
            <a:spLocks xmlns:a="http://schemas.openxmlformats.org/drawingml/2006/main" noGrp="1"/>
          </p:cNvSpPr>
          <p:nvPr/>
        </p:nvSpPr>
        <p:spPr>
          <a:xfrm xmlns:a="http://schemas.openxmlformats.org/drawingml/2006/main">
            <a:off x="4429125" y="370522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F35"/>
                </a:solidFill>
                <a:latin typeface="Calibri"/>
                <a:ea typeface="Calibri"/>
                <a:cs typeface="Calibri"/>
              </a:defRPr>
            </a:pPr>
            <a:r>
              <a:rPr sz="1950" b="0">
                <a:solidFill>
                  <a:srgbClr val="142F35"/>
                </a:solidFill>
                <a:latin typeface="Calibri"/>
                <a:ea typeface="Calibri"/>
                <a:cs typeface="Calibri"/>
              </a:rPr>
              <a:t>€6,000</a:t>
            </a:r>
          </a:p>
        </p:txBody>
      </p:sp>
      <p:sp>
        <p:nvSpPr>
          <p:cNvPr id="9" name="">
            <a:extLst xmlns:a="http://schemas.openxmlformats.org/drawingml/2006/main">
              <a:ext uri="{FF2B5EF4-FFF2-40B4-BE49-F238E27FC236}">
                <a16:creationId xmlns:a16="http://schemas.microsoft.com/office/drawing/2014/main" id="{E6C092B1-39AC-4513-837F-229F54F2CB99}"/>
              </a:ext>
            </a:extLst>
          </p:cNvPr>
          <p:cNvSpPr>
            <a:spLocks xmlns:a="http://schemas.openxmlformats.org/drawingml/2006/main" noGrp="1"/>
          </p:cNvSpPr>
          <p:nvPr/>
        </p:nvSpPr>
        <p:spPr>
          <a:xfrm xmlns:a="http://schemas.openxmlformats.org/drawingml/2006/main">
            <a:off x="762000" y="4048125"/>
            <a:ext cx="328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F35"/>
                </a:solidFill>
                <a:latin typeface="Calibri"/>
                <a:ea typeface="Calibri"/>
                <a:cs typeface="Calibri"/>
              </a:defRPr>
            </a:pPr>
            <a:r>
              <a:rPr sz="1950" b="0">
                <a:solidFill>
                  <a:srgbClr val="142F35"/>
                </a:solidFill>
                <a:latin typeface="Calibri"/>
                <a:ea typeface="Calibri"/>
                <a:cs typeface="Calibri"/>
              </a:rPr>
              <a:t>Acquisition tests</a:t>
            </a:r>
          </a:p>
        </p:txBody>
      </p:sp>
      <p:sp>
        <p:nvSpPr>
          <p:cNvPr id="10" name="">
            <a:extLst xmlns:a="http://schemas.openxmlformats.org/drawingml/2006/main">
              <a:ext uri="{FF2B5EF4-FFF2-40B4-BE49-F238E27FC236}">
                <a16:creationId xmlns:a16="http://schemas.microsoft.com/office/drawing/2014/main" id="{2388459B-3D44-4407-979C-4739841355C9}"/>
              </a:ext>
            </a:extLst>
          </p:cNvPr>
          <p:cNvSpPr>
            <a:spLocks xmlns:a="http://schemas.openxmlformats.org/drawingml/2006/main" noGrp="1"/>
          </p:cNvSpPr>
          <p:nvPr/>
        </p:nvSpPr>
        <p:spPr>
          <a:xfrm xmlns:a="http://schemas.openxmlformats.org/drawingml/2006/main">
            <a:off x="4429125" y="404812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F35"/>
                </a:solidFill>
                <a:latin typeface="Calibri"/>
                <a:ea typeface="Calibri"/>
                <a:cs typeface="Calibri"/>
              </a:defRPr>
            </a:pPr>
            <a:r>
              <a:rPr sz="1950" b="0">
                <a:solidFill>
                  <a:srgbClr val="142F35"/>
                </a:solidFill>
                <a:latin typeface="Calibri"/>
                <a:ea typeface="Calibri"/>
                <a:cs typeface="Calibri"/>
              </a:rPr>
              <a:t>€3,000</a:t>
            </a:r>
          </a:p>
        </p:txBody>
      </p:sp>
      <p:sp>
        <p:nvSpPr>
          <p:cNvPr id="11" name="">
            <a:extLst xmlns:a="http://schemas.openxmlformats.org/drawingml/2006/main">
              <a:ext uri="{FF2B5EF4-FFF2-40B4-BE49-F238E27FC236}">
                <a16:creationId xmlns:a16="http://schemas.microsoft.com/office/drawing/2014/main" id="{E6EFF58F-41C0-40E8-A399-6CC51506ED99}"/>
              </a:ext>
            </a:extLst>
          </p:cNvPr>
          <p:cNvSpPr>
            <a:spLocks xmlns:a="http://schemas.openxmlformats.org/drawingml/2006/main" noGrp="1"/>
          </p:cNvSpPr>
          <p:nvPr/>
        </p:nvSpPr>
        <p:spPr>
          <a:xfrm xmlns:a="http://schemas.openxmlformats.org/drawingml/2006/main">
            <a:off x="762000" y="4391025"/>
            <a:ext cx="328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F35"/>
                </a:solidFill>
                <a:latin typeface="Calibri"/>
                <a:ea typeface="Calibri"/>
                <a:cs typeface="Calibri"/>
              </a:defRPr>
            </a:pPr>
            <a:r>
              <a:rPr sz="1950" b="0">
                <a:solidFill>
                  <a:srgbClr val="142F35"/>
                </a:solidFill>
                <a:latin typeface="Calibri"/>
                <a:ea typeface="Calibri"/>
                <a:cs typeface="Calibri"/>
              </a:rPr>
              <a:t>Software and administration</a:t>
            </a:r>
          </a:p>
        </p:txBody>
      </p:sp>
      <p:sp>
        <p:nvSpPr>
          <p:cNvPr id="12" name="">
            <a:extLst xmlns:a="http://schemas.openxmlformats.org/drawingml/2006/main">
              <a:ext uri="{FF2B5EF4-FFF2-40B4-BE49-F238E27FC236}">
                <a16:creationId xmlns:a16="http://schemas.microsoft.com/office/drawing/2014/main" id="{883B0505-929C-44C2-B89B-8688E21F82BD}"/>
              </a:ext>
            </a:extLst>
          </p:cNvPr>
          <p:cNvSpPr>
            <a:spLocks xmlns:a="http://schemas.openxmlformats.org/drawingml/2006/main" noGrp="1"/>
          </p:cNvSpPr>
          <p:nvPr/>
        </p:nvSpPr>
        <p:spPr>
          <a:xfrm xmlns:a="http://schemas.openxmlformats.org/drawingml/2006/main">
            <a:off x="4429125" y="439102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F35"/>
                </a:solidFill>
                <a:latin typeface="Calibri"/>
                <a:ea typeface="Calibri"/>
                <a:cs typeface="Calibri"/>
              </a:defRPr>
            </a:pPr>
            <a:r>
              <a:rPr sz="1950" b="0">
                <a:solidFill>
                  <a:srgbClr val="142F35"/>
                </a:solidFill>
                <a:latin typeface="Calibri"/>
                <a:ea typeface="Calibri"/>
                <a:cs typeface="Calibri"/>
              </a:rPr>
              <a:t>€1,500</a:t>
            </a:r>
          </a:p>
        </p:txBody>
      </p:sp>
      <p:sp>
        <p:nvSpPr>
          <p:cNvPr id="13" name="">
            <a:extLst xmlns:a="http://schemas.openxmlformats.org/drawingml/2006/main">
              <a:ext uri="{FF2B5EF4-FFF2-40B4-BE49-F238E27FC236}">
                <a16:creationId xmlns:a16="http://schemas.microsoft.com/office/drawing/2014/main" id="{C01CEE1A-22DA-4270-9B81-97A18D4BF7D0}"/>
              </a:ext>
            </a:extLst>
          </p:cNvPr>
          <p:cNvSpPr>
            <a:spLocks xmlns:a="http://schemas.openxmlformats.org/drawingml/2006/main" noGrp="1"/>
          </p:cNvSpPr>
          <p:nvPr/>
        </p:nvSpPr>
        <p:spPr>
          <a:xfrm xmlns:a="http://schemas.openxmlformats.org/drawingml/2006/main">
            <a:off x="762000" y="4733925"/>
            <a:ext cx="328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F35"/>
                </a:solidFill>
                <a:latin typeface="Calibri"/>
                <a:ea typeface="Calibri"/>
                <a:cs typeface="Calibri"/>
              </a:defRPr>
            </a:pPr>
            <a:r>
              <a:rPr sz="1950" b="0">
                <a:solidFill>
                  <a:srgbClr val="142F35"/>
                </a:solidFill>
                <a:latin typeface="Calibri"/>
                <a:ea typeface="Calibri"/>
                <a:cs typeface="Calibri"/>
              </a:rPr>
              <a:t>Contingency</a:t>
            </a:r>
          </a:p>
        </p:txBody>
      </p:sp>
      <p:sp>
        <p:nvSpPr>
          <p:cNvPr id="14" name="">
            <a:extLst xmlns:a="http://schemas.openxmlformats.org/drawingml/2006/main">
              <a:ext uri="{FF2B5EF4-FFF2-40B4-BE49-F238E27FC236}">
                <a16:creationId xmlns:a16="http://schemas.microsoft.com/office/drawing/2014/main" id="{4F8E492B-D3CD-459E-A1FF-BE4AFB73B990}"/>
              </a:ext>
            </a:extLst>
          </p:cNvPr>
          <p:cNvSpPr>
            <a:spLocks xmlns:a="http://schemas.openxmlformats.org/drawingml/2006/main" noGrp="1"/>
          </p:cNvSpPr>
          <p:nvPr/>
        </p:nvSpPr>
        <p:spPr>
          <a:xfrm xmlns:a="http://schemas.openxmlformats.org/drawingml/2006/main">
            <a:off x="4429125" y="473392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F35"/>
                </a:solidFill>
                <a:latin typeface="Calibri"/>
                <a:ea typeface="Calibri"/>
                <a:cs typeface="Calibri"/>
              </a:defRPr>
            </a:pPr>
            <a:r>
              <a:rPr sz="1950" b="0">
                <a:solidFill>
                  <a:srgbClr val="142F35"/>
                </a:solidFill>
                <a:latin typeface="Calibri"/>
                <a:ea typeface="Calibri"/>
                <a:cs typeface="Calibri"/>
              </a:rPr>
              <a:t>€1,500</a:t>
            </a:r>
          </a:p>
        </p:txBody>
      </p:sp>
      <p:sp>
        <p:nvSpPr>
          <p:cNvPr id="15" name="">
            <a:extLst xmlns:a="http://schemas.openxmlformats.org/drawingml/2006/main">
              <a:ext uri="{FF2B5EF4-FFF2-40B4-BE49-F238E27FC236}">
                <a16:creationId xmlns:a16="http://schemas.microsoft.com/office/drawing/2014/main" id="{757E543A-6655-4B73-AEE6-6E62E3FABBA8}"/>
              </a:ext>
            </a:extLst>
          </p:cNvPr>
          <p:cNvSpPr>
            <a:spLocks xmlns:a="http://schemas.openxmlformats.org/drawingml/2006/main" noGrp="1"/>
          </p:cNvSpPr>
          <p:nvPr/>
        </p:nvSpPr>
        <p:spPr>
          <a:xfrm xmlns:a="http://schemas.openxmlformats.org/drawingml/2006/main">
            <a:off x="6572250" y="283845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42F35"/>
                </a:solidFill>
                <a:latin typeface="Calibri"/>
                <a:ea typeface="Calibri"/>
                <a:cs typeface="Calibri"/>
              </a:defRPr>
            </a:pPr>
            <a:r>
              <a:rPr sz="2250" b="1">
                <a:solidFill>
                  <a:srgbClr val="142F35"/>
                </a:solidFill>
                <a:latin typeface="Calibri"/>
                <a:ea typeface="Calibri"/>
                <a:cs typeface="Calibri"/>
              </a:rPr>
              <a:t>Six-month milestones</a:t>
            </a:r>
          </a:p>
        </p:txBody>
      </p:sp>
      <p:sp>
        <p:nvSpPr>
          <p:cNvPr id="16" name="">
            <a:extLst xmlns:a="http://schemas.openxmlformats.org/drawingml/2006/main">
              <a:ext uri="{FF2B5EF4-FFF2-40B4-BE49-F238E27FC236}">
                <a16:creationId xmlns:a16="http://schemas.microsoft.com/office/drawing/2014/main" id="{BF4F5E3D-93E7-45CF-B2F0-5EEE218F8A35}"/>
              </a:ext>
            </a:extLst>
          </p:cNvPr>
          <p:cNvSpPr>
            <a:spLocks xmlns:a="http://schemas.openxmlformats.org/drawingml/2006/main" noGrp="1"/>
          </p:cNvSpPr>
          <p:nvPr/>
        </p:nvSpPr>
        <p:spPr>
          <a:xfrm xmlns:a="http://schemas.openxmlformats.org/drawingml/2006/main">
            <a:off x="6572250" y="3362325"/>
            <a:ext cx="4857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08579"/>
                </a:solidFill>
                <a:latin typeface="Calibri"/>
                <a:ea typeface="Calibri"/>
                <a:cs typeface="Calibri"/>
              </a:defRPr>
            </a:pPr>
            <a:r>
              <a:rPr sz="2025" b="1">
                <a:solidFill>
                  <a:srgbClr val="008579"/>
                </a:solidFill>
                <a:latin typeface="Calibri"/>
                <a:ea typeface="Calibri"/>
                <a:cs typeface="Calibri"/>
              </a:rPr>
              <a:t>15 paying companies in total</a:t>
            </a:r>
          </a:p>
          <a:p xmlns:a="http://schemas.openxmlformats.org/drawingml/2006/main">
            <a:pPr>
              <a:buNone/>
              <a:defRPr sz="2025" b="1">
                <a:solidFill>
                  <a:srgbClr val="008579"/>
                </a:solidFill>
                <a:latin typeface="Calibri"/>
                <a:ea typeface="Calibri"/>
                <a:cs typeface="Calibri"/>
              </a:defRPr>
            </a:pPr>
            <a:r>
              <a:rPr sz="2025" b="1">
                <a:solidFill>
                  <a:srgbClr val="008579"/>
                </a:solidFill>
                <a:latin typeface="Calibri"/>
                <a:ea typeface="Calibri"/>
                <a:cs typeface="Calibri"/>
              </a:rPr>
              <a:t>~€2,250 MRR at €150/company</a:t>
            </a:r>
          </a:p>
        </p:txBody>
      </p:sp>
      <p:sp>
        <p:nvSpPr>
          <p:cNvPr id="17" name="">
            <a:extLst xmlns:a="http://schemas.openxmlformats.org/drawingml/2006/main">
              <a:ext uri="{FF2B5EF4-FFF2-40B4-BE49-F238E27FC236}">
                <a16:creationId xmlns:a16="http://schemas.microsoft.com/office/drawing/2014/main" id="{E425EE4B-7304-40E9-A7A9-4E8F46EF2754}"/>
              </a:ext>
            </a:extLst>
          </p:cNvPr>
          <p:cNvSpPr>
            <a:spLocks xmlns:a="http://schemas.openxmlformats.org/drawingml/2006/main" noGrp="1"/>
          </p:cNvSpPr>
          <p:nvPr/>
        </p:nvSpPr>
        <p:spPr>
          <a:xfrm xmlns:a="http://schemas.openxmlformats.org/drawingml/2006/main">
            <a:off x="6572250" y="4181475"/>
            <a:ext cx="4857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F35"/>
                </a:solidFill>
                <a:latin typeface="Calibri"/>
                <a:ea typeface="Calibri"/>
                <a:cs typeface="Calibri"/>
              </a:defRPr>
            </a:pPr>
            <a:r>
              <a:rPr sz="1950" b="0">
                <a:solidFill>
                  <a:srgbClr val="142F35"/>
                </a:solidFill>
                <a:latin typeface="Calibri"/>
                <a:ea typeface="Calibri"/>
                <a:cs typeface="Calibri"/>
              </a:rPr>
              <a:t>80% retention after 8 weeks</a:t>
            </a:r>
          </a:p>
          <a:p xmlns:a="http://schemas.openxmlformats.org/drawingml/2006/main">
            <a:pPr>
              <a:buNone/>
              <a:defRPr sz="1950" b="0">
                <a:solidFill>
                  <a:srgbClr val="142F35"/>
                </a:solidFill>
                <a:latin typeface="Calibri"/>
                <a:ea typeface="Calibri"/>
                <a:cs typeface="Calibri"/>
              </a:defRPr>
            </a:pPr>
            <a:r>
              <a:rPr sz="1950" b="0">
                <a:solidFill>
                  <a:srgbClr val="142F35"/>
                </a:solidFill>
                <a:latin typeface="Calibri"/>
                <a:ea typeface="Calibri"/>
                <a:cs typeface="Calibri"/>
              </a:rPr>
              <a:t>Across eligible new paying customers</a:t>
            </a:r>
          </a:p>
        </p:txBody>
      </p:sp>
      <p:sp>
        <p:nvSpPr>
          <p:cNvPr id="18" name="">
            <a:extLst xmlns:a="http://schemas.openxmlformats.org/drawingml/2006/main">
              <a:ext uri="{FF2B5EF4-FFF2-40B4-BE49-F238E27FC236}">
                <a16:creationId xmlns:a16="http://schemas.microsoft.com/office/drawing/2014/main" id="{34F434AF-88A4-4BC5-9680-34D212B49864}"/>
              </a:ext>
            </a:extLst>
          </p:cNvPr>
          <p:cNvSpPr>
            <a:spLocks xmlns:a="http://schemas.openxmlformats.org/drawingml/2006/main" noGrp="1"/>
          </p:cNvSpPr>
          <p:nvPr/>
        </p:nvSpPr>
        <p:spPr>
          <a:xfrm xmlns:a="http://schemas.openxmlformats.org/drawingml/2006/main">
            <a:off x="6572250" y="4991100"/>
            <a:ext cx="4857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F35"/>
                </a:solidFill>
                <a:latin typeface="Calibri"/>
                <a:ea typeface="Calibri"/>
                <a:cs typeface="Calibri"/>
              </a:defRPr>
            </a:pPr>
            <a:r>
              <a:rPr sz="1950" b="0">
                <a:solidFill>
                  <a:srgbClr val="142F35"/>
                </a:solidFill>
                <a:latin typeface="Calibri"/>
                <a:ea typeface="Calibri"/>
                <a:cs typeface="Calibri"/>
              </a:rPr>
              <a:t>Support ≤30 min/client/week</a:t>
            </a:r>
          </a:p>
          <a:p xmlns:a="http://schemas.openxmlformats.org/drawingml/2006/main">
            <a:pPr>
              <a:buNone/>
              <a:defRPr sz="1950" b="0">
                <a:solidFill>
                  <a:srgbClr val="142F35"/>
                </a:solidFill>
                <a:latin typeface="Calibri"/>
                <a:ea typeface="Calibri"/>
                <a:cs typeface="Calibri"/>
              </a:defRPr>
            </a:pPr>
            <a:r>
              <a:rPr sz="1950" b="0">
                <a:solidFill>
                  <a:srgbClr val="142F35"/>
                </a:solidFill>
                <a:latin typeface="Calibri"/>
                <a:ea typeface="Calibri"/>
                <a:cs typeface="Calibri"/>
              </a:rPr>
              <a:t>Measured across paying customers</a:t>
            </a:r>
          </a:p>
        </p:txBody>
      </p:sp>
      <p:sp>
        <p:nvSpPr>
          <p:cNvPr id="19" name="">
            <a:extLst xmlns:a="http://schemas.openxmlformats.org/drawingml/2006/main">
              <a:ext uri="{FF2B5EF4-FFF2-40B4-BE49-F238E27FC236}">
                <a16:creationId xmlns:a16="http://schemas.microsoft.com/office/drawing/2014/main" id="{96E4007B-964B-4451-BF33-2C267B854825}"/>
              </a:ext>
            </a:extLst>
          </p:cNvPr>
          <p:cNvSpPr>
            <a:spLocks xmlns:a="http://schemas.openxmlformats.org/drawingml/2006/main" noGrp="1"/>
          </p:cNvSpPr>
          <p:nvPr/>
        </p:nvSpPr>
        <p:spPr>
          <a:xfrm xmlns:a="http://schemas.openxmlformats.org/drawingml/2006/main">
            <a:off x="762000" y="5943600"/>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B70"/>
                </a:solidFill>
                <a:latin typeface="Calibri"/>
                <a:ea typeface="Calibri"/>
                <a:cs typeface="Calibri"/>
              </a:defRPr>
            </a:pPr>
            <a:r>
              <a:rPr sz="1500" b="0">
                <a:solidFill>
                  <a:srgbClr val="536B70"/>
                </a:solidFill>
                <a:latin typeface="Calibri"/>
                <a:ea typeface="Calibri"/>
                <a:cs typeface="Calibri"/>
              </a:rPr>
              <a:t>Planning assumptions: €3,000/month founder cost and €1,000/month product budget.</a:t>
            </a:r>
          </a:p>
          <a:p xmlns:a="http://schemas.openxmlformats.org/drawingml/2006/main">
            <a:pPr>
              <a:buNone/>
              <a:defRPr sz="1500" b="0">
                <a:solidFill>
                  <a:srgbClr val="536B70"/>
                </a:solidFill>
                <a:latin typeface="Calibri"/>
                <a:ea typeface="Calibri"/>
                <a:cs typeface="Calibri"/>
              </a:defRPr>
            </a:pPr>
            <a:r>
              <a:rPr sz="1500" b="0">
                <a:solidFill>
                  <a:srgbClr val="536B70"/>
                </a:solidFill>
                <a:latin typeface="Calibri"/>
                <a:ea typeface="Calibri"/>
                <a:cs typeface="Calibri"/>
              </a:rPr>
              <a:t>Milestones are targets. Existing revenue is additional buffer. Terms are negotiable.</a:t>
            </a:r>
          </a:p>
        </p:txBody>
      </p:sp>
      <p:sp>
        <p:nvSpPr>
          <p:cNvPr id="20" name="">
            <a:extLst xmlns:a="http://schemas.openxmlformats.org/drawingml/2006/main">
              <a:ext uri="{FF2B5EF4-FFF2-40B4-BE49-F238E27FC236}">
                <a16:creationId xmlns:a16="http://schemas.microsoft.com/office/drawing/2014/main" id="{B9E601F6-C23E-47E1-9483-EB83969D5DDB}"/>
              </a:ext>
            </a:extLst>
          </p:cNvPr>
          <p:cNvSpPr>
            <a:spLocks xmlns:a="http://schemas.openxmlformats.org/drawingml/2006/main" noGrp="1"/>
          </p:cNvSpPr>
          <p:nvPr/>
        </p:nvSpPr>
        <p:spPr>
          <a:xfrm xmlns:a="http://schemas.openxmlformats.org/drawingml/2006/main">
            <a:off x="11001375" y="65246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18</a:t>
            </a:r>
          </a:p>
        </p:txBody>
      </p:sp>
    </p:spTree>
    <p:extLst>
      <p:ext uri="{BB962C8B-B14F-4D97-AF65-F5344CB8AC3E}">
        <p14:creationId xmlns:p14="http://schemas.microsoft.com/office/powerpoint/2010/main" val="17205520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2026-09-18T13:51:24.3040000Z</dcterms:created>
  <dcterms:modified xsi:type="dcterms:W3CDTF">2026-09-18T13:51:24.3040000Z</dcterms:modified>
</coreProperties>
</file>