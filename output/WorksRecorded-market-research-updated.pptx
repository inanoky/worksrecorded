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f5d8859c54435a" /><Relationship Type="http://schemas.openxmlformats.org/officeDocument/2006/relationships/extended-properties" Target="/docProps/app.xml" Id="R3390a289327b42dd" /><Relationship Type="http://schemas.openxmlformats.org/officeDocument/2006/relationships/officeDocument" Target="/ppt/presentation.xml" Id="Ra223c05d4808498b" /></Relationships>
</file>

<file path=ppt/presentation.xml><?xml version="1.0" encoding="utf-8"?>
<p:presentation xmlns:p="http://schemas.openxmlformats.org/presentationml/2006/main">
  <p:sldMasterIdLst>
    <p:sldMasterId xmlns:r="http://schemas.openxmlformats.org/officeDocument/2006/relationships" id="2147483648" r:id="R6b14d28d1f064e90"/>
  </p:sldMasterIdLst>
  <p:notesMasterIdLst>
    <p:notesMasterId xmlns:r="http://schemas.openxmlformats.org/officeDocument/2006/relationships" r:id="Rcec918168b5b436a"/>
  </p:notesMasterIdLst>
  <p:sldIdLst>
    <p:sldId xmlns:r="http://schemas.openxmlformats.org/officeDocument/2006/relationships" id="256" r:id="R9c626ba7c1fa40b9"/>
    <p:sldId xmlns:r="http://schemas.openxmlformats.org/officeDocument/2006/relationships" id="257" r:id="R93e8412d873c4c5c"/>
    <p:sldId xmlns:r="http://schemas.openxmlformats.org/officeDocument/2006/relationships" id="258" r:id="Red26985198a941a2"/>
    <p:sldId xmlns:r="http://schemas.openxmlformats.org/officeDocument/2006/relationships" id="259" r:id="R5b503be6e65149f8"/>
    <p:sldId xmlns:r="http://schemas.openxmlformats.org/officeDocument/2006/relationships" id="260" r:id="R4a4977a27f124898"/>
    <p:sldId xmlns:r="http://schemas.openxmlformats.org/officeDocument/2006/relationships" id="261" r:id="Recf1ea24a2a7459e"/>
    <p:sldId xmlns:r="http://schemas.openxmlformats.org/officeDocument/2006/relationships" id="262" r:id="Rf17c1760097b4265"/>
    <p:sldId xmlns:r="http://schemas.openxmlformats.org/officeDocument/2006/relationships" id="263" r:id="R65a1698f40cd4738"/>
    <p:sldId xmlns:r="http://schemas.openxmlformats.org/officeDocument/2006/relationships" id="264" r:id="R781778b32eba45a1"/>
    <p:sldId xmlns:r="http://schemas.openxmlformats.org/officeDocument/2006/relationships" id="265" r:id="R41c94bf4e3b94ddd"/>
    <p:sldId xmlns:r="http://schemas.openxmlformats.org/officeDocument/2006/relationships" id="266" r:id="R65f2ba45e8084bf2"/>
    <p:sldId xmlns:r="http://schemas.openxmlformats.org/officeDocument/2006/relationships" id="267" r:id="R1a5c863a457c4cef"/>
    <p:sldId xmlns:r="http://schemas.openxmlformats.org/officeDocument/2006/relationships" id="268" r:id="R3fbe7dc8630442ef"/>
    <p:sldId xmlns:r="http://schemas.openxmlformats.org/officeDocument/2006/relationships" id="269" r:id="Re5ad442fbb9e49e9"/>
    <p:sldId xmlns:r="http://schemas.openxmlformats.org/officeDocument/2006/relationships" id="270" r:id="R716ecdb81bbb4be7"/>
    <p:sldId xmlns:r="http://schemas.openxmlformats.org/officeDocument/2006/relationships" id="271" r:id="R8b343bc8f6fe413c"/>
    <p:sldId xmlns:r="http://schemas.openxmlformats.org/officeDocument/2006/relationships" id="272" r:id="Raba80984095a43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35045d92e8d4ba0" /><Relationship Type="http://schemas.openxmlformats.org/officeDocument/2006/relationships/slideMaster" Target="/ppt/slideMasters/slideMaster1.xml" Id="R6b14d28d1f064e90" /><Relationship Type="http://schemas.openxmlformats.org/officeDocument/2006/relationships/notesMaster" Target="/ppt/notesMasters/notesMaster1.xml" Id="Rcec918168b5b436a" /><Relationship Type="http://schemas.openxmlformats.org/officeDocument/2006/relationships/presProps" Target="/ppt/presProps.xml" Id="Ra73fee596bff4c45" /><Relationship Type="http://schemas.openxmlformats.org/officeDocument/2006/relationships/viewProps" Target="/ppt/viewProps.xml" Id="Rb192e9f686fc44c6" /><Relationship Type="http://schemas.openxmlformats.org/officeDocument/2006/relationships/tableStyles" Target="/ppt/tableStyles.xml" Id="R0e832ab95a224e36" /><Relationship Type="http://schemas.openxmlformats.org/officeDocument/2006/relationships/slide" Target="/ppt/slides/slide1.xml" Id="R9c626ba7c1fa40b9" /><Relationship Type="http://schemas.openxmlformats.org/officeDocument/2006/relationships/slide" Target="/ppt/slides/slide2.xml" Id="R93e8412d873c4c5c" /><Relationship Type="http://schemas.openxmlformats.org/officeDocument/2006/relationships/slide" Target="/ppt/slides/slide3.xml" Id="Red26985198a941a2" /><Relationship Type="http://schemas.openxmlformats.org/officeDocument/2006/relationships/slide" Target="/ppt/slides/slide4.xml" Id="R5b503be6e65149f8" /><Relationship Type="http://schemas.openxmlformats.org/officeDocument/2006/relationships/slide" Target="/ppt/slides/slide5.xml" Id="R4a4977a27f124898" /><Relationship Type="http://schemas.openxmlformats.org/officeDocument/2006/relationships/slide" Target="/ppt/slides/slide6.xml" Id="Recf1ea24a2a7459e" /><Relationship Type="http://schemas.openxmlformats.org/officeDocument/2006/relationships/slide" Target="/ppt/slides/slide7.xml" Id="Rf17c1760097b4265" /><Relationship Type="http://schemas.openxmlformats.org/officeDocument/2006/relationships/slide" Target="/ppt/slides/slide8.xml" Id="R65a1698f40cd4738" /><Relationship Type="http://schemas.openxmlformats.org/officeDocument/2006/relationships/slide" Target="/ppt/slides/slide9.xml" Id="R781778b32eba45a1" /><Relationship Type="http://schemas.openxmlformats.org/officeDocument/2006/relationships/slide" Target="/ppt/slides/slide10.xml" Id="R41c94bf4e3b94ddd" /><Relationship Type="http://schemas.openxmlformats.org/officeDocument/2006/relationships/slide" Target="/ppt/slides/slide11.xml" Id="R65f2ba45e8084bf2" /><Relationship Type="http://schemas.openxmlformats.org/officeDocument/2006/relationships/slide" Target="/ppt/slides/slide12.xml" Id="R1a5c863a457c4cef" /><Relationship Type="http://schemas.openxmlformats.org/officeDocument/2006/relationships/slide" Target="/ppt/slides/slide13.xml" Id="R3fbe7dc8630442ef" /><Relationship Type="http://schemas.openxmlformats.org/officeDocument/2006/relationships/slide" Target="/ppt/slides/slide14.xml" Id="Re5ad442fbb9e49e9" /><Relationship Type="http://schemas.openxmlformats.org/officeDocument/2006/relationships/slide" Target="/ppt/slides/slide15.xml" Id="R716ecdb81bbb4be7" /><Relationship Type="http://schemas.openxmlformats.org/officeDocument/2006/relationships/slide" Target="/ppt/slides/slide16.xml" Id="R8b343bc8f6fe413c" /><Relationship Type="http://schemas.openxmlformats.org/officeDocument/2006/relationships/slide" Target="/ppt/slides/slide17.xml" Id="Raba80984095a43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d21820e2fd4c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23540465a74470" /><Relationship Type="http://schemas.openxmlformats.org/officeDocument/2006/relationships/notesMaster" Target="/ppt/notesMasters/notesMaster1.xml" Id="Rb6b2b939d08c4c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baf5b3f7a042c8" /><Relationship Type="http://schemas.openxmlformats.org/officeDocument/2006/relationships/notesMaster" Target="/ppt/notesMasters/notesMaster1.xml" Id="R99dc71f8166047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65dd7b743e4a24" /><Relationship Type="http://schemas.openxmlformats.org/officeDocument/2006/relationships/notesMaster" Target="/ppt/notesMasters/notesMaster1.xml" Id="Rf5222432c83d4f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1ec28a61094d26" /><Relationship Type="http://schemas.openxmlformats.org/officeDocument/2006/relationships/notesMaster" Target="/ppt/notesMasters/notesMaster1.xml" Id="R98b44c66d5644c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8fe6d7cb1e48a9" /><Relationship Type="http://schemas.openxmlformats.org/officeDocument/2006/relationships/notesMaster" Target="/ppt/notesMasters/notesMaster1.xml" Id="R8b570915a62948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d7d0e2fab54da0" /><Relationship Type="http://schemas.openxmlformats.org/officeDocument/2006/relationships/notesMaster" Target="/ppt/notesMasters/notesMaster1.xml" Id="Rbfdee09bf86b4c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2261cb0e1d64b9e" /><Relationship Type="http://schemas.openxmlformats.org/officeDocument/2006/relationships/notesMaster" Target="/ppt/notesMasters/notesMaster1.xml" Id="Rfbf241f7f3c246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bd29fcb26664214" /><Relationship Type="http://schemas.openxmlformats.org/officeDocument/2006/relationships/notesMaster" Target="/ppt/notesMasters/notesMaster1.xml" Id="Rff231100f0f4440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9277dd246e45d7" /><Relationship Type="http://schemas.openxmlformats.org/officeDocument/2006/relationships/notesMaster" Target="/ppt/notesMasters/notesMaster1.xml" Id="R6a5a7af4fb8f4b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90cea022794b09" /><Relationship Type="http://schemas.openxmlformats.org/officeDocument/2006/relationships/notesMaster" Target="/ppt/notesMasters/notesMaster1.xml" Id="R49b9b93341734b4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0c5eed3ed014a9c" /><Relationship Type="http://schemas.openxmlformats.org/officeDocument/2006/relationships/notesMaster" Target="/ppt/notesMasters/notesMaster1.xml" Id="R83be7a83eacf41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5f43c19a69441eb" /><Relationship Type="http://schemas.openxmlformats.org/officeDocument/2006/relationships/notesMaster" Target="/ppt/notesMasters/notesMaster1.xml" Id="Rdf85313cd5d643b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2a36844b33a4283" /><Relationship Type="http://schemas.openxmlformats.org/officeDocument/2006/relationships/notesMaster" Target="/ppt/notesMasters/notesMaster1.xml" Id="R6eb4b3b461254e3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f6a3fe196934c5a" /><Relationship Type="http://schemas.openxmlformats.org/officeDocument/2006/relationships/notesMaster" Target="/ppt/notesMasters/notesMaster1.xml" Id="R75af39a404e4495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5066278340d4abe" /><Relationship Type="http://schemas.openxmlformats.org/officeDocument/2006/relationships/notesMaster" Target="/ppt/notesMasters/notesMaster1.xml" Id="Ra26581d8bc83432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3412bd57e10412b" /><Relationship Type="http://schemas.openxmlformats.org/officeDocument/2006/relationships/notesMaster" Target="/ppt/notesMasters/notesMaster1.xml" Id="R63c44c89ed834d6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34bb8d1d15d4f90" /><Relationship Type="http://schemas.openxmlformats.org/officeDocument/2006/relationships/notesMaster" Target="/ppt/notesMasters/notesMaster1.xml" Id="R018532a399684d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input and output, not a customer case study or product screenshot. Arithmetic: 4 people × 8 hours = 32 labour-hours; 32 / 20 panels = 1.6 labour-hours per panel. No delay cost or cost saving is inferred.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Eurostat SBS_SC_OVW, ENT_NR, F43, size_emp 10-19 and 20-49. Latvia 2024: 408+208=616. EU27 2023: 101914+40000=141914, with 40000 flagged estimated. EU 2024 aggregate unavailable at retrieval on 18 September 2026. Sources: https://ec.europa.eu/eurostat/api/dissemination/statistics/1.0/data/sbs_sc_ovw?geo=LV&amp;nace_r2=F43&amp;indic_sbs=ENT_NR&amp;time=2024&amp;size_emp=10-19&amp;size_emp=20-49 and https://ec.europa.eu/eurostat/api/dissemination/statistics/1.0/data/sbs_sc_ovw?geo=EU27_2020&amp;nace_r2=F43&amp;indic_sbs=ENT_NR&amp;time=2023&amp;size_emp=10-19&amp;size_emp=20-49 . Founder target price EUR300/company/month, annual EUR3600. Latvia=EUR2217600; EU=EUR510890400. Full penetration market potential, not expected revenue. At current rounded EUR150/company/month the corresponding benchmarks are EUR1108800 and EUR255445200. Latvia is included in EU. UK and non-EU Europe excluded. Persons employed may include owners.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describes current average company revenue as EUR150/month, rounded. Existing five listed subscriptions sum to EUR780 MRR and EUR156 exact mean. Keep actual total rather than replacing with 5*150. Annualised recurring revenue EUR9360, not annual revenue collected. Current customers have only 1–2 months of payment history per original deck, while total outreach spans approximately one year. Five current paying, one former payer churned, one free pilot and one active trial. Target EUR300/company/month is not yet achieved.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DEPROM/DEPRMO spelling differs in source materials, so pilot name omitted. Latvijas Energoceltnieks churned after three months.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update: approximately EUR150 current monthly revenue per company, intended EUR300 per company monthly. Exact current average from source subscriptions EUR156. Previously founder confirmed EUR50/user with discounts and custom-function upsells. Present current billing and planned company subscription separately. Do not claim EUR300 is current achieved ARPA or that every customer will upgrade. Package scope and recurring versus one-off custom charges remain to define. Target ACV=300*12=3600. Current rounded ACV=150*12=1800, exact current=1872.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competitor sources, 18 September 2026: https://www.fieldwire.com/pricing/ and https://help.fieldwire.com/hc/en-us/articles/360000574203-Introduction-to-Task-Reports-in-Fieldwire ; https://buildertrend.com/pricing/ and https://buildertrend.com/help-article/daily-logs-overview/ . WhatsApp plus Excel is a workflow alternative. Named brands are relevant alternatives, not verified tools used by current customers. WorksRecorded positioning needs validation. No claim that competitors cannot support voice, AI or integrations.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Founder-supplied acquisition history: over approximately one year, around 100 companies approached. Five currently paying, one former paying customer churned. One free pilot, one active trial. Mix of direct outreach and Facebook advertising. Reliable channel-level CAC unavailable. Calculations: 5/100~5% currently paying, (5+1)/100~6% ever paid. Approximate cumulative ratios are not cohort conversion rates, annual/monthly churn rates or channel-specific conversion. Deduplication and channel attribution of the ~100 denominator have not been independently verified. Do not treat the former payer as an annual churn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activities. Latvia initial market. Sweden first expansion test is a sequencing proposal based on the original deck naming UK and Sweden, not evidence of validated demand. Facebook should be a separately measured channel. Allocate budget based on paid conversion and retention.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history: ~100 companies approached over ~one year, six ever paid, five remain paying, one former payer churned, free pilot and active trial. Previous one-month direct outreach sample:55 calls,7 demos booked=12.7%. Relationship of this sample to annual total not fully documented; do not sum the two. Target company subscription EUR300/month=EUR3600 ACV; current ~EUR150. Track monthly cohorts by geography and channel to establish comparable conversion and retention. Do not extrapolate the cumulative ~5% ratio as a stable forecast. Channel costs unavailable, so CAC remains uncalculated.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deck: 2h onboarding +1h AI adjustment, ongoing &lt;1h/week/client, USD80 monthly software. Facebook spend ambiguous: EUR150/month with wording spend to date. Omit until reconciled. Founder/developer compensation and labour cost not supplied. Runway and margin not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details supplied by the founder. Vjaceslavs Gromatovics: BEng in Civil Engineering, five years as a construction site manager and five years as a project manager, working full-time on WorksRecorded, 80% ownership. Deivids Berkolds: BEng in Computer Science, senior JavaScript developer, 20% ownership. The supplied abbreviation Bent has been interpreted as BEng.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Draft scope for a 90-day validation period. Funding amount and instrument remain undecided. Proposed milestones, not forecasts:10 additional paying companies;80% retention after8weeks among eligible cohorts;support&lt;=30min/client/week. Validate the EUR300 company/month offer alongside actual acquisition costs. Founder-supplied annual acquisition history ~100 approached,5 current payers,1 former payer,1 free pilot,1 trial. Targets have not been validated by historical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9f18a45d8b48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92f487afdb43af" /><Relationship Type="http://schemas.openxmlformats.org/officeDocument/2006/relationships/slideLayout" Target="/ppt/slideLayouts/slideLayout1.xml" Id="R8519ec927c044a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19ec927c044a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f2ee36587b144f3" /><Relationship Type="http://schemas.openxmlformats.org/officeDocument/2006/relationships/notesSlide" Target="/ppt/notesSlides/notesSlide1.xml" Id="R20149f44e5b54b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c28df067504a10" /><Relationship Type="http://schemas.openxmlformats.org/officeDocument/2006/relationships/notesSlide" Target="/ppt/notesSlides/notesSlide2.xml" Id="Rc3e7cb35ab8f4d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51c0917c254734" /><Relationship Type="http://schemas.openxmlformats.org/officeDocument/2006/relationships/notesSlide" Target="/ppt/notesSlides/notesSlide3.xml" Id="Reb1a862b22e04e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2f4913571234645" /><Relationship Type="http://schemas.openxmlformats.org/officeDocument/2006/relationships/notesSlide" Target="/ppt/notesSlides/notesSlide4.xml" Id="R1edc549170e847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5b4ab9bb40845e9" /><Relationship Type="http://schemas.openxmlformats.org/officeDocument/2006/relationships/image" Target="/ppt/media/image.png" Id="R1b8bbe7b9d524216" /><Relationship Type="http://schemas.openxmlformats.org/officeDocument/2006/relationships/notesSlide" Target="/ppt/notesSlides/notesSlide5.xml" Id="Rdb74cd34929741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e0700e07ad4ad6" /><Relationship Type="http://schemas.openxmlformats.org/officeDocument/2006/relationships/notesSlide" Target="/ppt/notesSlides/notesSlide6.xml" Id="R76c908dda03e46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14ee8f4e66746b7" /><Relationship Type="http://schemas.openxmlformats.org/officeDocument/2006/relationships/notesSlide" Target="/ppt/notesSlides/notesSlide7.xml" Id="Rb65f161e233747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edaac741aed49c6" /><Relationship Type="http://schemas.openxmlformats.org/officeDocument/2006/relationships/notesSlide" Target="/ppt/notesSlides/notesSlide8.xml" Id="R2eb4bc5fa9f341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6684ffdc6c14bcb" /><Relationship Type="http://schemas.openxmlformats.org/officeDocument/2006/relationships/notesSlide" Target="/ppt/notesSlides/notesSlide9.xml" Id="R597eacb972a24b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a7f53bffde14286" /><Relationship Type="http://schemas.openxmlformats.org/officeDocument/2006/relationships/notesSlide" Target="/ppt/notesSlides/notesSlide10.xml" Id="R315c37bd3e7a49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310cd0d72b84537" /><Relationship Type="http://schemas.openxmlformats.org/officeDocument/2006/relationships/notesSlide" Target="/ppt/notesSlides/notesSlide11.xml" Id="R54caabd32a914e3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cf384f506c34d74" /><Relationship Type="http://schemas.openxmlformats.org/officeDocument/2006/relationships/notesSlide" Target="/ppt/notesSlides/notesSlide12.xml" Id="R8953eba431eb47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e33cadcf6674863" /><Relationship Type="http://schemas.openxmlformats.org/officeDocument/2006/relationships/notesSlide" Target="/ppt/notesSlides/notesSlide13.xml" Id="R03cb954d7973485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090ecd533604984" /><Relationship Type="http://schemas.openxmlformats.org/officeDocument/2006/relationships/notesSlide" Target="/ppt/notesSlides/notesSlide14.xml" Id="R5f510ead824740d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88e27cde1c54344" /><Relationship Type="http://schemas.openxmlformats.org/officeDocument/2006/relationships/notesSlide" Target="/ppt/notesSlides/notesSlide15.xml" Id="Rb791599385d54c5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d7e61a169e74a6c" /><Relationship Type="http://schemas.openxmlformats.org/officeDocument/2006/relationships/notesSlide" Target="/ppt/notesSlides/notesSlide16.xml" Id="Rbbac734264a341e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06b7ae76da9486e" /><Relationship Type="http://schemas.openxmlformats.org/officeDocument/2006/relationships/notesSlide" Target="/ppt/notesSlides/notesSlide17.xml" Id="R155ae52ca46e4b5b" /></Relationships>
</file>

<file path=ppt/slides/slide1.xml><?xml version="1.0" encoding="utf-8"?>
<p:sld xmlns:p="http://schemas.openxmlformats.org/presentationml/2006/main">
  <p:cSld>
    <p:bg>
      <p:bgPr>
        <a:solidFill xmlns:a="http://schemas.openxmlformats.org/drawingml/2006/main">
          <a:srgbClr val="122C32"/>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1E5FC32-0DEE-4A21-B9C0-577B454F2882}"/>
              </a:ext>
            </a:extLst>
          </p:cNvPr>
          <p:cNvSpPr>
            <a:spLocks xmlns:a="http://schemas.openxmlformats.org/drawingml/2006/main" noGrp="1"/>
          </p:cNvSpPr>
          <p:nvPr/>
        </p:nvSpPr>
        <p:spPr>
          <a:xfrm xmlns:a="http://schemas.openxmlformats.org/drawingml/2006/main">
            <a:off x="685800" y="9048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FFFFFF"/>
                </a:solidFill>
                <a:latin typeface="Bitstream Charter"/>
                <a:ea typeface="Bitstream Charter"/>
                <a:cs typeface="Bitstream Charter"/>
              </a:defRPr>
            </a:pPr>
            <a:r>
              <a:rPr sz="5700" b="1">
                <a:solidFill>
                  <a:srgbClr val="FFFFFF"/>
                </a:solidFill>
                <a:latin typeface="Bitstream Charter"/>
                <a:ea typeface="Bitstream Charter"/>
                <a:cs typeface="Bitstream Charter"/>
              </a:rPr>
              <a:t>WorksRecorded</a:t>
            </a:r>
          </a:p>
        </p:txBody>
      </p:sp>
      <p:sp>
        <p:nvSpPr>
          <p:cNvPr id="3" name="Rectangle 2">
            <a:extLst xmlns:a="http://schemas.openxmlformats.org/drawingml/2006/main">
              <a:ext uri="{FF2B5EF4-FFF2-40B4-BE49-F238E27FC236}">
                <a16:creationId xmlns:a16="http://schemas.microsoft.com/office/drawing/2014/main" id="{3C6033E0-0B5D-472C-810C-0F7D39581D1C}"/>
              </a:ext>
            </a:extLst>
          </p:cNvPr>
          <p:cNvSpPr>
            <a:spLocks xmlns:a="http://schemas.openxmlformats.org/drawingml/2006/main" noGrp="1"/>
          </p:cNvSpPr>
          <p:nvPr/>
        </p:nvSpPr>
        <p:spPr>
          <a:xfrm xmlns:a="http://schemas.openxmlformats.org/drawingml/2006/main">
            <a:off x="685800" y="2619375"/>
            <a:ext cx="10191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350" b="1">
                <a:solidFill>
                  <a:srgbClr val="FFFFFF"/>
                </a:solidFill>
                <a:latin typeface="Bitstream Charter"/>
                <a:ea typeface="Bitstream Charter"/>
                <a:cs typeface="Bitstream Charter"/>
              </a:defRPr>
            </a:pPr>
            <a:r>
              <a:rPr sz="4350" b="1">
                <a:solidFill>
                  <a:srgbClr val="FFFFFF"/>
                </a:solidFill>
                <a:latin typeface="Bitstream Charter"/>
                <a:ea typeface="Bitstream Charter"/>
                <a:cs typeface="Bitstream Charter"/>
              </a:rPr>
              <a:t>Construction site data analytics</a:t>
            </a:r>
          </a:p>
        </p:txBody>
      </p:sp>
      <p:sp>
        <p:nvSpPr>
          <p:cNvPr id="4" name="Rectangle 3">
            <a:extLst xmlns:a="http://schemas.openxmlformats.org/drawingml/2006/main">
              <a:ext uri="{FF2B5EF4-FFF2-40B4-BE49-F238E27FC236}">
                <a16:creationId xmlns:a16="http://schemas.microsoft.com/office/drawing/2014/main" id="{C5C52780-E57C-4F40-984A-4BD187FD2111}"/>
              </a:ext>
            </a:extLst>
          </p:cNvPr>
          <p:cNvSpPr>
            <a:spLocks xmlns:a="http://schemas.openxmlformats.org/drawingml/2006/main" noGrp="1"/>
          </p:cNvSpPr>
          <p:nvPr/>
        </p:nvSpPr>
        <p:spPr>
          <a:xfrm xmlns:a="http://schemas.openxmlformats.org/drawingml/2006/main">
            <a:off x="723900" y="509587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B9DCD5"/>
                </a:solidFill>
                <a:latin typeface="Bitstream Charter"/>
                <a:ea typeface="Bitstream Charter"/>
                <a:cs typeface="Bitstream Charter"/>
              </a:defRPr>
            </a:pPr>
            <a:r>
              <a:rPr sz="2100" b="0">
                <a:solidFill>
                  <a:srgbClr val="B9DCD5"/>
                </a:solidFill>
                <a:latin typeface="Bitstream Charter"/>
                <a:ea typeface="Bitstream Charter"/>
                <a:cs typeface="Bitstream Charter"/>
              </a:rPr>
              <a:t>For construction contractors</a:t>
            </a:r>
          </a:p>
        </p:txBody>
      </p:sp>
      <p:sp>
        <p:nvSpPr>
          <p:cNvPr id="5" name="Rectangle 4">
            <a:extLst xmlns:a="http://schemas.openxmlformats.org/drawingml/2006/main">
              <a:ext uri="{FF2B5EF4-FFF2-40B4-BE49-F238E27FC236}">
                <a16:creationId xmlns:a16="http://schemas.microsoft.com/office/drawing/2014/main" id="{C2FCABF3-F45B-4F20-8BD7-8C945E0A4605}"/>
              </a:ext>
            </a:extLst>
          </p:cNvPr>
          <p:cNvSpPr>
            <a:spLocks xmlns:a="http://schemas.openxmlformats.org/drawingml/2006/main" noGrp="1"/>
          </p:cNvSpPr>
          <p:nvPr/>
        </p:nvSpPr>
        <p:spPr>
          <a:xfrm xmlns:a="http://schemas.openxmlformats.org/drawingml/2006/main">
            <a:off x="723900" y="6143625"/>
            <a:ext cx="904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9DCD5"/>
                </a:solidFill>
                <a:latin typeface="Bitstream Charter"/>
                <a:ea typeface="Bitstream Charter"/>
                <a:cs typeface="Bitstream Charter"/>
              </a:defRPr>
            </a:pPr>
            <a:r>
              <a:rPr sz="1350" b="0">
                <a:solidFill>
                  <a:srgbClr val="B9DCD5"/>
                </a:solidFill>
                <a:latin typeface="Bitstream Charter"/>
                <a:ea typeface="Bitstream Charter"/>
                <a:cs typeface="Bitstream Charter"/>
              </a:rPr>
              <a:t>Investor presentation | September 2026</a:t>
            </a:r>
            <a:r>
              <a:rPr sz="1350">
                <a:solidFill>
                  <a:srgbClr val="B9DCD5"/>
                </a:solidFill>
                <a:latin typeface="Bitstream Charter"/>
                <a:ea typeface="Bitstream Charter"/>
                <a:cs typeface="Bitstream Charter"/>
              </a:rPr>
              <a:t> |  https://www.worksrecorded.com/</a:t>
            </a:r>
            <a:endParaRPr sz="1350" b="0">
              <a:solidFill>
                <a:srgbClr val="B9DCD5"/>
              </a:solidFill>
              <a:latin typeface="Bitstream Charter"/>
              <a:ea typeface="Bitstream Charter"/>
              <a:cs typeface="Bitstream Charter"/>
            </a:endParaRPr>
          </a:p>
        </p:txBody>
      </p:sp>
      <p:sp>
        <p:nvSpPr>
          <p:cNvPr id="6" name="">
            <a:extLst xmlns:a="http://schemas.openxmlformats.org/drawingml/2006/main">
              <a:ext uri="{FF2B5EF4-FFF2-40B4-BE49-F238E27FC236}">
                <a16:creationId xmlns:a16="http://schemas.microsoft.com/office/drawing/2014/main" id="{056B9B50-45BB-4165-9D52-E87F2BF27035}"/>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AEC2C5"/>
                </a:solidFill>
                <a:latin typeface="Calibri"/>
                <a:ea typeface="Calibri"/>
                <a:cs typeface="Calibri"/>
              </a:defRPr>
            </a:pPr>
            <a:r>
              <a:rPr sz="1200" b="0">
                <a:solidFill>
                  <a:srgbClr val="AEC2C5"/>
                </a:solidFill>
                <a:latin typeface="Calibri"/>
                <a:ea typeface="Calibri"/>
                <a:cs typeface="Calibri"/>
              </a:rPr>
              <a:t>01</a:t>
            </a:r>
          </a:p>
        </p:txBody>
      </p:sp>
    </p:spTree>
    <p:extLst>
      <p:ext uri="{BB962C8B-B14F-4D97-AF65-F5344CB8AC3E}">
        <p14:creationId xmlns:p14="http://schemas.microsoft.com/office/powerpoint/2010/main" val="1148562711"/>
      </p:ext>
    </p:extLst>
  </p:cSld>
</p:sld>
</file>

<file path=ppt/slides/slide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8C0778ED-BCB2-4B42-8D42-E530CCAADE3A}"/>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Problem: Construction contractors don’t have the skills to collect and analyze site data.</a:t>
            </a:r>
          </a:p>
          <a:p xmlns:a="http://schemas.openxmlformats.org/drawingml/2006/main">
            <a:pPr>
              <a:buNone/>
              <a:defRPr sz="3600" b="1">
                <a:solidFill>
                  <a:srgbClr val="122C32"/>
                </a:solidFill>
                <a:latin typeface="Bitstream Charter"/>
                <a:ea typeface="Bitstream Charter"/>
                <a:cs typeface="Bitstream Charter"/>
              </a:defRPr>
            </a:pPr>
            <a:endParaRPr sz="3600" b="1">
              <a:solidFill>
                <a:srgbClr val="122C32"/>
              </a:solidFill>
              <a:highlight>
                <a:srgbClr val="FFFF00"/>
              </a:highlight>
              <a:latin typeface="Bitstream Charter"/>
              <a:ea typeface="Bitstream Charter"/>
              <a:cs typeface="Bitstream Charter"/>
            </a:endParaRPr>
          </a:p>
        </p:txBody>
      </p:sp>
      <p:sp>
        <p:nvSpPr>
          <p:cNvPr id="3" name="Rectangle 2">
            <a:extLst xmlns:a="http://schemas.openxmlformats.org/drawingml/2006/main">
              <a:ext uri="{FF2B5EF4-FFF2-40B4-BE49-F238E27FC236}">
                <a16:creationId xmlns:a16="http://schemas.microsoft.com/office/drawing/2014/main" id="{B0BDDCAD-D72E-4831-A6AD-FC36049E0588}"/>
              </a:ext>
            </a:extLst>
          </p:cNvPr>
          <p:cNvSpPr>
            <a:spLocks xmlns:a="http://schemas.openxmlformats.org/drawingml/2006/main" noGrp="1"/>
          </p:cNvSpPr>
          <p:nvPr/>
        </p:nvSpPr>
        <p:spPr>
          <a:xfrm xmlns:a="http://schemas.openxmlformats.org/drawingml/2006/main">
            <a:off x="685800" y="18383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22C32"/>
                </a:solidFill>
                <a:latin typeface="Bitstream Charter"/>
                <a:ea typeface="Bitstream Charter"/>
                <a:cs typeface="Bitstream Charter"/>
              </a:defRPr>
            </a:pPr>
            <a:r>
              <a:rPr sz="2400" b="0">
                <a:solidFill>
                  <a:srgbClr val="122C32"/>
                </a:solidFill>
                <a:latin typeface="Bitstream Charter"/>
                <a:ea typeface="Bitstream Charter"/>
                <a:cs typeface="Bitstream Charter"/>
              </a:rPr>
              <a:t>WorksRecorded will do it for them</a:t>
            </a:r>
          </a:p>
        </p:txBody>
      </p:sp>
      <p:sp>
        <p:nvSpPr>
          <p:cNvPr id="4" name="Rectangle 3">
            <a:extLst xmlns:a="http://schemas.openxmlformats.org/drawingml/2006/main">
              <a:ext uri="{FF2B5EF4-FFF2-40B4-BE49-F238E27FC236}">
                <a16:creationId xmlns:a16="http://schemas.microsoft.com/office/drawing/2014/main" id="{DF9F14C3-3F94-4553-9594-7AE3726B09A3}"/>
              </a:ext>
            </a:extLst>
          </p:cNvPr>
          <p:cNvSpPr>
            <a:spLocks xmlns:a="http://schemas.openxmlformats.org/drawingml/2006/main" noGrp="1"/>
          </p:cNvSpPr>
          <p:nvPr/>
        </p:nvSpPr>
        <p:spPr>
          <a:xfrm xmlns:a="http://schemas.openxmlformats.org/drawingml/2006/main">
            <a:off x="685800" y="31432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5" name="Rectangle 4">
            <a:extLst xmlns:a="http://schemas.openxmlformats.org/drawingml/2006/main">
              <a:ext uri="{FF2B5EF4-FFF2-40B4-BE49-F238E27FC236}">
                <a16:creationId xmlns:a16="http://schemas.microsoft.com/office/drawing/2014/main" id="{4D940AC5-04DA-4D32-80C5-7AAEDD3311FE}"/>
              </a:ext>
            </a:extLst>
          </p:cNvPr>
          <p:cNvSpPr>
            <a:spLocks xmlns:a="http://schemas.openxmlformats.org/drawingml/2006/main" noGrp="1"/>
          </p:cNvSpPr>
          <p:nvPr/>
        </p:nvSpPr>
        <p:spPr>
          <a:xfrm xmlns:a="http://schemas.openxmlformats.org/drawingml/2006/main">
            <a:off x="1524000" y="314325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Losing money</a:t>
            </a:r>
          </a:p>
        </p:txBody>
      </p:sp>
      <p:sp>
        <p:nvSpPr>
          <p:cNvPr id="6" name="Rectangle 5">
            <a:extLst xmlns:a="http://schemas.openxmlformats.org/drawingml/2006/main">
              <a:ext uri="{FF2B5EF4-FFF2-40B4-BE49-F238E27FC236}">
                <a16:creationId xmlns:a16="http://schemas.microsoft.com/office/drawing/2014/main" id="{77C495F6-8883-43A7-BE1F-B21C1D694BB7}"/>
              </a:ext>
            </a:extLst>
          </p:cNvPr>
          <p:cNvSpPr>
            <a:spLocks xmlns:a="http://schemas.openxmlformats.org/drawingml/2006/main" noGrp="1"/>
          </p:cNvSpPr>
          <p:nvPr/>
        </p:nvSpPr>
        <p:spPr>
          <a:xfrm xmlns:a="http://schemas.openxmlformats.org/drawingml/2006/main">
            <a:off x="1524000" y="360045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No data → no visibility → bad decisions → losing money</a:t>
            </a:r>
          </a:p>
        </p:txBody>
      </p:sp>
      <p:sp>
        <p:nvSpPr>
          <p:cNvPr id="7" name="Rectangle 6">
            <a:extLst xmlns:a="http://schemas.openxmlformats.org/drawingml/2006/main">
              <a:ext uri="{FF2B5EF4-FFF2-40B4-BE49-F238E27FC236}">
                <a16:creationId xmlns:a16="http://schemas.microsoft.com/office/drawing/2014/main" id="{2E0EB585-E9C5-402A-A012-3AAF584131CF}"/>
              </a:ext>
            </a:extLst>
          </p:cNvPr>
          <p:cNvSpPr>
            <a:spLocks xmlns:a="http://schemas.openxmlformats.org/drawingml/2006/main" noGrp="1"/>
          </p:cNvSpPr>
          <p:nvPr/>
        </p:nvSpPr>
        <p:spPr>
          <a:xfrm xmlns:a="http://schemas.openxmlformats.org/drawingml/2006/main">
            <a:off x="685800" y="46958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8" name="Rectangle 7">
            <a:extLst xmlns:a="http://schemas.openxmlformats.org/drawingml/2006/main">
              <a:ext uri="{FF2B5EF4-FFF2-40B4-BE49-F238E27FC236}">
                <a16:creationId xmlns:a16="http://schemas.microsoft.com/office/drawing/2014/main" id="{5461938E-ED1C-4B79-89A4-1A63F100F5BB}"/>
              </a:ext>
            </a:extLst>
          </p:cNvPr>
          <p:cNvSpPr>
            <a:spLocks xmlns:a="http://schemas.openxmlformats.org/drawingml/2006/main" noGrp="1"/>
          </p:cNvSpPr>
          <p:nvPr/>
        </p:nvSpPr>
        <p:spPr>
          <a:xfrm xmlns:a="http://schemas.openxmlformats.org/drawingml/2006/main">
            <a:off x="1524000" y="46958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Costs are unpredictable</a:t>
            </a:r>
          </a:p>
        </p:txBody>
      </p:sp>
      <p:sp>
        <p:nvSpPr>
          <p:cNvPr id="9" name="Rectangle 8">
            <a:extLst xmlns:a="http://schemas.openxmlformats.org/drawingml/2006/main">
              <a:ext uri="{FF2B5EF4-FFF2-40B4-BE49-F238E27FC236}">
                <a16:creationId xmlns:a16="http://schemas.microsoft.com/office/drawing/2014/main" id="{AE14D021-5633-4CA7-B7BD-ADD9E092A521}"/>
              </a:ext>
            </a:extLst>
          </p:cNvPr>
          <p:cNvSpPr>
            <a:spLocks xmlns:a="http://schemas.openxmlformats.org/drawingml/2006/main" noGrp="1"/>
          </p:cNvSpPr>
          <p:nvPr/>
        </p:nvSpPr>
        <p:spPr>
          <a:xfrm xmlns:a="http://schemas.openxmlformats.org/drawingml/2006/main">
            <a:off x="1524000" y="521970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a:solidFill>
                  <a:srgbClr val="52686B"/>
                </a:solidFill>
                <a:latin typeface="Bitstream Charter"/>
                <a:ea typeface="Bitstream Charter"/>
                <a:cs typeface="Bitstream Charter"/>
              </a:rPr>
              <a:t>Will the project be profitable? Without data, you can’t answer.</a:t>
            </a:r>
            <a:endParaRPr sz="1875" b="0">
              <a:solidFill>
                <a:srgbClr val="52686B"/>
              </a:solidFill>
              <a:latin typeface="Bitstream Charter"/>
              <a:ea typeface="Bitstream Charter"/>
              <a:cs typeface="Bitstream Charter"/>
            </a:endParaRPr>
          </a:p>
        </p:txBody>
      </p:sp>
      <p:sp>
        <p:nvSpPr>
          <p:cNvPr id="11" name="">
            <a:extLst xmlns:a="http://schemas.openxmlformats.org/drawingml/2006/main">
              <a:ext uri="{FF2B5EF4-FFF2-40B4-BE49-F238E27FC236}">
                <a16:creationId xmlns:a16="http://schemas.microsoft.com/office/drawing/2014/main" id="{610D82F2-5E24-46A2-8063-9369D3AB2FAF}"/>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02</a:t>
            </a:r>
          </a:p>
        </p:txBody>
      </p:sp>
    </p:spTree>
    <p:extLst>
      <p:ext uri="{BB962C8B-B14F-4D97-AF65-F5344CB8AC3E}">
        <p14:creationId xmlns:p14="http://schemas.microsoft.com/office/powerpoint/2010/main" val="1464692274"/>
      </p:ext>
    </p:extLst>
  </p:cSld>
</p:sld>
</file>

<file path=ppt/slides/slide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1F514FA7-0554-4316-91E5-30FDDE89B4EB}"/>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Why don’t contractors use data?</a:t>
            </a:r>
          </a:p>
        </p:txBody>
      </p:sp>
      <p:sp>
        <p:nvSpPr>
          <p:cNvPr id="3" name="Rectangle 2">
            <a:extLst xmlns:a="http://schemas.openxmlformats.org/drawingml/2006/main">
              <a:ext uri="{FF2B5EF4-FFF2-40B4-BE49-F238E27FC236}">
                <a16:creationId xmlns:a16="http://schemas.microsoft.com/office/drawing/2014/main" id="{766CF1E1-1D5C-4E3E-83B0-4C3E4D57E753}"/>
              </a:ext>
            </a:extLst>
          </p:cNvPr>
          <p:cNvSpPr>
            <a:spLocks xmlns:a="http://schemas.openxmlformats.org/drawingml/2006/main" noGrp="1"/>
          </p:cNvSpPr>
          <p:nvPr/>
        </p:nvSpPr>
        <p:spPr>
          <a:xfrm xmlns:a="http://schemas.openxmlformats.org/drawingml/2006/main">
            <a:off x="685800" y="18573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xmlns:a="http://schemas.openxmlformats.org/drawingml/2006/main">
              <a:ext uri="{FF2B5EF4-FFF2-40B4-BE49-F238E27FC236}">
                <a16:creationId xmlns:a16="http://schemas.microsoft.com/office/drawing/2014/main" id="{A2A7A93A-5549-496F-A374-F394A6EC4CA1}"/>
              </a:ext>
            </a:extLst>
          </p:cNvPr>
          <p:cNvSpPr>
            <a:spLocks xmlns:a="http://schemas.openxmlformats.org/drawingml/2006/main" noGrp="1"/>
          </p:cNvSpPr>
          <p:nvPr/>
        </p:nvSpPr>
        <p:spPr>
          <a:xfrm xmlns:a="http://schemas.openxmlformats.org/drawingml/2006/main">
            <a:off x="1524000" y="185737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collect</a:t>
            </a:r>
          </a:p>
        </p:txBody>
      </p:sp>
      <p:sp>
        <p:nvSpPr>
          <p:cNvPr id="5" name="Rectangle 4">
            <a:extLst xmlns:a="http://schemas.openxmlformats.org/drawingml/2006/main">
              <a:ext uri="{FF2B5EF4-FFF2-40B4-BE49-F238E27FC236}">
                <a16:creationId xmlns:a16="http://schemas.microsoft.com/office/drawing/2014/main" id="{33BCD30B-329D-4DCC-B4E1-0CE203F80E24}"/>
              </a:ext>
            </a:extLst>
          </p:cNvPr>
          <p:cNvSpPr>
            <a:spLocks xmlns:a="http://schemas.openxmlformats.org/drawingml/2006/main" noGrp="1"/>
          </p:cNvSpPr>
          <p:nvPr/>
        </p:nvSpPr>
        <p:spPr>
          <a:xfrm xmlns:a="http://schemas.openxmlformats.org/drawingml/2006/main">
            <a:off x="1524000" y="238125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a:solidFill>
                  <a:srgbClr val="52686B"/>
                </a:solidFill>
                <a:latin typeface="Bitstream Charter"/>
                <a:ea typeface="Bitstream Charter"/>
                <a:cs typeface="Bitstream Charter"/>
              </a:rPr>
              <a:t>How do you even track what 20 workers do during the day? </a:t>
            </a:r>
          </a:p>
        </p:txBody>
      </p:sp>
      <p:sp>
        <p:nvSpPr>
          <p:cNvPr id="6" name="Rectangle 5">
            <a:extLst xmlns:a="http://schemas.openxmlformats.org/drawingml/2006/main">
              <a:ext uri="{FF2B5EF4-FFF2-40B4-BE49-F238E27FC236}">
                <a16:creationId xmlns:a16="http://schemas.microsoft.com/office/drawing/2014/main" id="{A0C3026F-41DF-4EE6-953C-D66B620F47E0}"/>
              </a:ext>
            </a:extLst>
          </p:cNvPr>
          <p:cNvSpPr>
            <a:spLocks xmlns:a="http://schemas.openxmlformats.org/drawingml/2006/main" noGrp="1"/>
          </p:cNvSpPr>
          <p:nvPr/>
        </p:nvSpPr>
        <p:spPr>
          <a:xfrm xmlns:a="http://schemas.openxmlformats.org/drawingml/2006/main">
            <a:off x="685800" y="3333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xmlns:a="http://schemas.openxmlformats.org/drawingml/2006/main">
              <a:ext uri="{FF2B5EF4-FFF2-40B4-BE49-F238E27FC236}">
                <a16:creationId xmlns:a16="http://schemas.microsoft.com/office/drawing/2014/main" id="{72657F94-172D-49F9-9A94-8B8DEA8B55B7}"/>
              </a:ext>
            </a:extLst>
          </p:cNvPr>
          <p:cNvSpPr>
            <a:spLocks xmlns:a="http://schemas.openxmlformats.org/drawingml/2006/main" noGrp="1"/>
          </p:cNvSpPr>
          <p:nvPr/>
        </p:nvSpPr>
        <p:spPr>
          <a:xfrm xmlns:a="http://schemas.openxmlformats.org/drawingml/2006/main">
            <a:off x="1524000" y="333375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structure</a:t>
            </a:r>
          </a:p>
        </p:txBody>
      </p:sp>
      <p:sp>
        <p:nvSpPr>
          <p:cNvPr id="8" name="Rectangle 7">
            <a:extLst xmlns:a="http://schemas.openxmlformats.org/drawingml/2006/main">
              <a:ext uri="{FF2B5EF4-FFF2-40B4-BE49-F238E27FC236}">
                <a16:creationId xmlns:a16="http://schemas.microsoft.com/office/drawing/2014/main" id="{5CE9F297-D90B-4F83-B221-FC09E6E71972}"/>
              </a:ext>
            </a:extLst>
          </p:cNvPr>
          <p:cNvSpPr>
            <a:spLocks xmlns:a="http://schemas.openxmlformats.org/drawingml/2006/main" noGrp="1"/>
          </p:cNvSpPr>
          <p:nvPr/>
        </p:nvSpPr>
        <p:spPr>
          <a:xfrm xmlns:a="http://schemas.openxmlformats.org/drawingml/2006/main">
            <a:off x="1524000" y="3857625"/>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What do you record, and how?</a:t>
            </a:r>
          </a:p>
        </p:txBody>
      </p:sp>
      <p:sp>
        <p:nvSpPr>
          <p:cNvPr id="9" name="Rectangle 8">
            <a:extLst xmlns:a="http://schemas.openxmlformats.org/drawingml/2006/main">
              <a:ext uri="{FF2B5EF4-FFF2-40B4-BE49-F238E27FC236}">
                <a16:creationId xmlns:a16="http://schemas.microsoft.com/office/drawing/2014/main" id="{94A69771-EE8C-48B2-B62E-7FDE26F9F693}"/>
              </a:ext>
            </a:extLst>
          </p:cNvPr>
          <p:cNvSpPr>
            <a:spLocks xmlns:a="http://schemas.openxmlformats.org/drawingml/2006/main" noGrp="1"/>
          </p:cNvSpPr>
          <p:nvPr/>
        </p:nvSpPr>
        <p:spPr>
          <a:xfrm xmlns:a="http://schemas.openxmlformats.org/drawingml/2006/main">
            <a:off x="685800" y="48101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03</a:t>
            </a:r>
          </a:p>
        </p:txBody>
      </p:sp>
      <p:sp>
        <p:nvSpPr>
          <p:cNvPr id="10" name="Rectangle 9">
            <a:extLst xmlns:a="http://schemas.openxmlformats.org/drawingml/2006/main">
              <a:ext uri="{FF2B5EF4-FFF2-40B4-BE49-F238E27FC236}">
                <a16:creationId xmlns:a16="http://schemas.microsoft.com/office/drawing/2014/main" id="{466E4A16-E5C9-48D9-976B-203573C4AE29}"/>
              </a:ext>
            </a:extLst>
          </p:cNvPr>
          <p:cNvSpPr>
            <a:spLocks xmlns:a="http://schemas.openxmlformats.org/drawingml/2006/main" noGrp="1"/>
          </p:cNvSpPr>
          <p:nvPr/>
        </p:nvSpPr>
        <p:spPr>
          <a:xfrm xmlns:a="http://schemas.openxmlformats.org/drawingml/2006/main">
            <a:off x="1524000" y="48101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analyze</a:t>
            </a:r>
          </a:p>
        </p:txBody>
      </p:sp>
      <p:sp>
        <p:nvSpPr>
          <p:cNvPr id="11" name="Rectangle 10">
            <a:extLst xmlns:a="http://schemas.openxmlformats.org/drawingml/2006/main">
              <a:ext uri="{FF2B5EF4-FFF2-40B4-BE49-F238E27FC236}">
                <a16:creationId xmlns:a16="http://schemas.microsoft.com/office/drawing/2014/main" id="{A8AE9124-B3BD-463C-8E00-230CE3CFD146}"/>
              </a:ext>
            </a:extLst>
          </p:cNvPr>
          <p:cNvSpPr>
            <a:spLocks xmlns:a="http://schemas.openxmlformats.org/drawingml/2006/main" noGrp="1"/>
          </p:cNvSpPr>
          <p:nvPr/>
        </p:nvSpPr>
        <p:spPr>
          <a:xfrm xmlns:a="http://schemas.openxmlformats.org/drawingml/2006/main">
            <a:off x="1524000" y="533400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What do you do with 2,000 Excel rows after a year-long construction project?</a:t>
            </a:r>
          </a:p>
        </p:txBody>
      </p:sp>
      <p:sp>
        <p:nvSpPr>
          <p:cNvPr id="13" name="">
            <a:extLst xmlns:a="http://schemas.openxmlformats.org/drawingml/2006/main">
              <a:ext uri="{FF2B5EF4-FFF2-40B4-BE49-F238E27FC236}">
                <a16:creationId xmlns:a16="http://schemas.microsoft.com/office/drawing/2014/main" id="{037EEB29-8E5F-4284-BB51-4C741FE5734C}"/>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03</a:t>
            </a:r>
          </a:p>
        </p:txBody>
      </p:sp>
    </p:spTree>
    <p:extLst>
      <p:ext uri="{BB962C8B-B14F-4D97-AF65-F5344CB8AC3E}">
        <p14:creationId xmlns:p14="http://schemas.microsoft.com/office/powerpoint/2010/main" val="2011982024"/>
      </p:ext>
    </p:extLst>
  </p:cSld>
</p:sld>
</file>

<file path=ppt/slides/slide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FA645D17-DC3B-CD19-1A56-49C34E0154A6}"/>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How we help </a:t>
            </a:r>
          </a:p>
        </p:txBody>
      </p:sp>
      <p:sp>
        <p:nvSpPr>
          <p:cNvPr id="3" name="Rectangle 2">
            <a:extLst xmlns:a="http://schemas.openxmlformats.org/drawingml/2006/main">
              <a:ext uri="{FF2B5EF4-FFF2-40B4-BE49-F238E27FC236}">
                <a16:creationId xmlns:a16="http://schemas.microsoft.com/office/drawing/2014/main" id="{D8D09C23-A343-119D-0640-E09AAE2702C9}"/>
              </a:ext>
            </a:extLst>
          </p:cNvPr>
          <p:cNvSpPr>
            <a:spLocks xmlns:a="http://schemas.openxmlformats.org/drawingml/2006/main" noGrp="1"/>
          </p:cNvSpPr>
          <p:nvPr/>
        </p:nvSpPr>
        <p:spPr>
          <a:xfrm xmlns:a="http://schemas.openxmlformats.org/drawingml/2006/main">
            <a:off x="685800" y="18573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xmlns:a="http://schemas.openxmlformats.org/drawingml/2006/main">
              <a:ext uri="{FF2B5EF4-FFF2-40B4-BE49-F238E27FC236}">
                <a16:creationId xmlns:a16="http://schemas.microsoft.com/office/drawing/2014/main" id="{361D22E2-D781-3AC0-19FC-AF18102F03C4}"/>
              </a:ext>
            </a:extLst>
          </p:cNvPr>
          <p:cNvSpPr>
            <a:spLocks xmlns:a="http://schemas.openxmlformats.org/drawingml/2006/main" noGrp="1"/>
          </p:cNvSpPr>
          <p:nvPr/>
        </p:nvSpPr>
        <p:spPr>
          <a:xfrm xmlns:a="http://schemas.openxmlformats.org/drawingml/2006/main">
            <a:off x="1524000" y="185737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Provide a data collection tool – WhatsApp automation</a:t>
            </a:r>
          </a:p>
        </p:txBody>
      </p:sp>
      <p:sp>
        <p:nvSpPr>
          <p:cNvPr id="5" name="Rectangle 4">
            <a:extLst xmlns:a="http://schemas.openxmlformats.org/drawingml/2006/main">
              <a:ext uri="{FF2B5EF4-FFF2-40B4-BE49-F238E27FC236}">
                <a16:creationId xmlns:a16="http://schemas.microsoft.com/office/drawing/2014/main" id="{ADF20A53-2AD3-4CA3-6B21-D35FC07ED6D9}"/>
              </a:ext>
            </a:extLst>
          </p:cNvPr>
          <p:cNvSpPr>
            <a:spLocks xmlns:a="http://schemas.openxmlformats.org/drawingml/2006/main" noGrp="1"/>
          </p:cNvSpPr>
          <p:nvPr/>
        </p:nvSpPr>
        <p:spPr>
          <a:xfrm xmlns:a="http://schemas.openxmlformats.org/drawingml/2006/main">
            <a:off x="1524000" y="238125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875">
                <a:solidFill>
                  <a:srgbClr val="52686B"/>
                </a:solidFill>
                <a:latin typeface="Bitstream Charter"/>
                <a:ea typeface="Bitstream Charter"/>
                <a:cs typeface="Bitstream Charter"/>
              </a:rPr>
              <a:t>The site manager sends a WhatsApp voice message describing the day’s work.</a:t>
            </a:r>
          </a:p>
        </p:txBody>
      </p:sp>
      <p:sp>
        <p:nvSpPr>
          <p:cNvPr id="6" name="Rectangle 5">
            <a:extLst xmlns:a="http://schemas.openxmlformats.org/drawingml/2006/main">
              <a:ext uri="{FF2B5EF4-FFF2-40B4-BE49-F238E27FC236}">
                <a16:creationId xmlns:a16="http://schemas.microsoft.com/office/drawing/2014/main" id="{65EE6F05-0976-85CC-862D-D4FBA490DFEF}"/>
              </a:ext>
            </a:extLst>
          </p:cNvPr>
          <p:cNvSpPr>
            <a:spLocks xmlns:a="http://schemas.openxmlformats.org/drawingml/2006/main" noGrp="1"/>
          </p:cNvSpPr>
          <p:nvPr/>
        </p:nvSpPr>
        <p:spPr>
          <a:xfrm xmlns:a="http://schemas.openxmlformats.org/drawingml/2006/main">
            <a:off x="685800" y="3333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xmlns:a="http://schemas.openxmlformats.org/drawingml/2006/main">
              <a:ext uri="{FF2B5EF4-FFF2-40B4-BE49-F238E27FC236}">
                <a16:creationId xmlns:a16="http://schemas.microsoft.com/office/drawing/2014/main" id="{345F904B-50CB-29E8-96FB-0F3139356CF2}"/>
              </a:ext>
            </a:extLst>
          </p:cNvPr>
          <p:cNvSpPr>
            <a:spLocks xmlns:a="http://schemas.openxmlformats.org/drawingml/2006/main" noGrp="1"/>
          </p:cNvSpPr>
          <p:nvPr/>
        </p:nvSpPr>
        <p:spPr>
          <a:xfrm xmlns:a="http://schemas.openxmlformats.org/drawingml/2006/main">
            <a:off x="1524000" y="333375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WorksRecorded analyzes and structures messages</a:t>
            </a:r>
          </a:p>
        </p:txBody>
      </p:sp>
      <p:sp>
        <p:nvSpPr>
          <p:cNvPr id="8" name="Rectangle 7">
            <a:extLst xmlns:a="http://schemas.openxmlformats.org/drawingml/2006/main">
              <a:ext uri="{FF2B5EF4-FFF2-40B4-BE49-F238E27FC236}">
                <a16:creationId xmlns:a16="http://schemas.microsoft.com/office/drawing/2014/main" id="{00971A1E-9BC9-44EF-1A19-CBD10E29D59E}"/>
              </a:ext>
            </a:extLst>
          </p:cNvPr>
          <p:cNvSpPr>
            <a:spLocks xmlns:a="http://schemas.openxmlformats.org/drawingml/2006/main" noGrp="1"/>
          </p:cNvSpPr>
          <p:nvPr/>
        </p:nvSpPr>
        <p:spPr>
          <a:xfrm xmlns:a="http://schemas.openxmlformats.org/drawingml/2006/main">
            <a:off x="1524000" y="3857625"/>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WorksRecorded turns messages into structured records and tracks costs against the budget.</a:t>
            </a:r>
          </a:p>
        </p:txBody>
      </p:sp>
      <p:sp>
        <p:nvSpPr>
          <p:cNvPr id="9" name="Rectangle 8">
            <a:extLst xmlns:a="http://schemas.openxmlformats.org/drawingml/2006/main">
              <a:ext uri="{FF2B5EF4-FFF2-40B4-BE49-F238E27FC236}">
                <a16:creationId xmlns:a16="http://schemas.microsoft.com/office/drawing/2014/main" id="{49388B51-3B61-CACC-AC9B-480F0BB88D15}"/>
              </a:ext>
            </a:extLst>
          </p:cNvPr>
          <p:cNvSpPr>
            <a:spLocks xmlns:a="http://schemas.openxmlformats.org/drawingml/2006/main" noGrp="1"/>
          </p:cNvSpPr>
          <p:nvPr/>
        </p:nvSpPr>
        <p:spPr>
          <a:xfrm xmlns:a="http://schemas.openxmlformats.org/drawingml/2006/main">
            <a:off x="685800" y="48101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03</a:t>
            </a:r>
          </a:p>
        </p:txBody>
      </p:sp>
      <p:sp>
        <p:nvSpPr>
          <p:cNvPr id="10" name="Rectangle 9">
            <a:extLst xmlns:a="http://schemas.openxmlformats.org/drawingml/2006/main">
              <a:ext uri="{FF2B5EF4-FFF2-40B4-BE49-F238E27FC236}">
                <a16:creationId xmlns:a16="http://schemas.microsoft.com/office/drawing/2014/main" id="{9BE9775C-1FDF-9F7C-68A7-1AC278BF4F5C}"/>
              </a:ext>
            </a:extLst>
          </p:cNvPr>
          <p:cNvSpPr>
            <a:spLocks xmlns:a="http://schemas.openxmlformats.org/drawingml/2006/main" noGrp="1"/>
          </p:cNvSpPr>
          <p:nvPr/>
        </p:nvSpPr>
        <p:spPr>
          <a:xfrm xmlns:a="http://schemas.openxmlformats.org/drawingml/2006/main">
            <a:off x="1524000" y="48101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The project manager or owner receives analytics</a:t>
            </a:r>
          </a:p>
        </p:txBody>
      </p:sp>
      <p:sp>
        <p:nvSpPr>
          <p:cNvPr id="11" name="Rectangle 10">
            <a:extLst xmlns:a="http://schemas.openxmlformats.org/drawingml/2006/main">
              <a:ext uri="{FF2B5EF4-FFF2-40B4-BE49-F238E27FC236}">
                <a16:creationId xmlns:a16="http://schemas.microsoft.com/office/drawing/2014/main" id="{21E616BF-B03A-854C-AB20-527C08EE5D24}"/>
              </a:ext>
            </a:extLst>
          </p:cNvPr>
          <p:cNvSpPr>
            <a:spLocks xmlns:a="http://schemas.openxmlformats.org/drawingml/2006/main" noGrp="1"/>
          </p:cNvSpPr>
          <p:nvPr/>
        </p:nvSpPr>
        <p:spPr>
          <a:xfrm xmlns:a="http://schemas.openxmlformats.org/drawingml/2006/main">
            <a:off x="1524000" y="533400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Spending breakdowns, delays, additional work and progress reports – everything needed to make decisions based on data.</a:t>
            </a:r>
          </a:p>
        </p:txBody>
      </p:sp>
      <p:sp>
        <p:nvSpPr>
          <p:cNvPr id="13" name="">
            <a:extLst xmlns:a="http://schemas.openxmlformats.org/drawingml/2006/main">
              <a:ext uri="{FF2B5EF4-FFF2-40B4-BE49-F238E27FC236}">
                <a16:creationId xmlns:a16="http://schemas.microsoft.com/office/drawing/2014/main" id="{B99F35EB-7035-4015-BD9F-9D86C82538C4}"/>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04</a:t>
            </a:r>
          </a:p>
        </p:txBody>
      </p:sp>
    </p:spTree>
    <p:extLst>
      <p:ext uri="{BB962C8B-B14F-4D97-AF65-F5344CB8AC3E}">
        <p14:creationId xmlns:p14="http://schemas.microsoft.com/office/powerpoint/2010/main" val="4206997084"/>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FA645D17-DC3B-CD19-1A56-49C34E0154A6}"/>
              </a:ext>
            </a:extLst>
          </p:cNvPr>
          <p:cNvSpPr>
            <a:spLocks xmlns:a="http://schemas.openxmlformats.org/drawingml/2006/main" noGrp="1"/>
          </p:cNvSpPr>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StoneAndTree (client) example </a:t>
            </a:r>
            <a:endParaRPr sz="3600" b="1" i="0" u="none" kern="1200" cap="none" spc="0" baseline="0">
              <a:ln>
                <a:noFill/>
              </a:ln>
              <a:solidFill>
                <a:srgbClr val="122C32"/>
              </a:solidFill>
              <a:latin typeface="Bitstream Charter"/>
              <a:ea typeface="Bitstream Charter"/>
              <a:cs typeface="Bitstream Charter"/>
            </a:endParaRPr>
          </a:p>
        </p:txBody>
      </p:sp>
      <p:sp>
        <p:nvSpPr>
          <p:cNvPr id="3" name="Rectangle 2">
            <a:extLst xmlns:a="http://schemas.openxmlformats.org/drawingml/2006/main">
              <a:ext uri="{FF2B5EF4-FFF2-40B4-BE49-F238E27FC236}">
                <a16:creationId xmlns:a16="http://schemas.microsoft.com/office/drawing/2014/main" id="{D8D09C23-A343-119D-0640-E09AAE2702C9}"/>
              </a:ext>
            </a:extLst>
          </p:cNvPr>
          <p:cNvSpPr>
            <a:spLocks xmlns:a="http://schemas.openxmlformats.org/drawingml/2006/main" noGrp="1"/>
          </p:cNvSpPr>
          <p:nvPr/>
        </p:nvSpPr>
        <p:spPr>
          <a:xfrm xmlns:a="http://schemas.openxmlformats.org/drawingml/2006/main">
            <a:off x="685800" y="1628013"/>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defRPr sz="1350" b="1">
                <a:solidFill>
                  <a:srgbClr val="008B80"/>
                </a:solidFill>
                <a:latin typeface="Bitstream Charter"/>
                <a:ea typeface="Bitstream Charter"/>
                <a:cs typeface="Bitstream Charter"/>
              </a:defRPr>
            </a:pPr>
            <a:endParaRPr sz="1350" b="1" i="0" u="none" cap="none" spc="0">
              <a:ln>
                <a:noFill/>
              </a:ln>
              <a:solidFill>
                <a:srgbClr val="008B80"/>
              </a:solidFill>
              <a:latin typeface="Bitstream Charter"/>
              <a:ea typeface="Bitstream Charter"/>
              <a:cs typeface="Bitstream Charter"/>
            </a:endParaRPr>
          </a:p>
        </p:txBody>
      </p:sp>
      <p:pic>
        <p:nvPicPr>
          <p:cNvPr id="18" name="Picture 9"/>
          <p:cNvPicPr>
            <a:picLocks xmlns:a="http://schemas.openxmlformats.org/drawingml/2006/main" noChangeAspect="1"/>
          </p:cNvPicPr>
          <p:nvPr/>
        </p:nvPicPr>
        <p:blipFill>
          <a:blip xmlns:r="http://schemas.openxmlformats.org/officeDocument/2006/relationships" xmlns:a="http://schemas.openxmlformats.org/drawingml/2006/main" r:embed="R1b8bbe7b9d524216"/>
          <a:stretch xmlns:a="http://schemas.openxmlformats.org/drawingml/2006/main">
            <a:fillRect l="0" t="0" r="0" b="0"/>
          </a:stretch>
        </p:blipFill>
        <p:spPr>
          <a:xfrm xmlns:a="http://schemas.openxmlformats.org/drawingml/2006/main">
            <a:off x="1511046" y="1628013"/>
            <a:ext cx="8827008" cy="4413504"/>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E69786E7-9BD7-49E1-8E00-D7DF88C0869A}"/>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05</a:t>
            </a:r>
          </a:p>
        </p:txBody>
      </p:sp>
    </p:spTree>
    <p:extLst>
      <p:ext uri="{BB962C8B-B14F-4D97-AF65-F5344CB8AC3E}">
        <p14:creationId xmlns:p14="http://schemas.microsoft.com/office/powerpoint/2010/main" val="1904699756"/>
      </p:ext>
    </p:extLst>
  </p:cSld>
</p:sld>
</file>

<file path=ppt/slides/slide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A78C0D80-D5DE-467F-A114-569B00F59906}"/>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ICP - specialty trade contractors</a:t>
            </a:r>
          </a:p>
        </p:txBody>
      </p:sp>
      <p:sp>
        <p:nvSpPr>
          <p:cNvPr id="3" name="Rectangle 2">
            <a:extLst xmlns:a="http://schemas.openxmlformats.org/drawingml/2006/main">
              <a:ext uri="{FF2B5EF4-FFF2-40B4-BE49-F238E27FC236}">
                <a16:creationId xmlns:a16="http://schemas.microsoft.com/office/drawing/2014/main" id="{64E5D290-6F78-4046-A7CE-E38222F86C5D}"/>
              </a:ext>
            </a:extLst>
          </p:cNvPr>
          <p:cNvSpPr>
            <a:spLocks xmlns:a="http://schemas.openxmlformats.org/drawingml/2006/main" noGrp="1"/>
          </p:cNvSpPr>
          <p:nvPr/>
        </p:nvSpPr>
        <p:spPr>
          <a:xfrm xmlns:a="http://schemas.openxmlformats.org/drawingml/2006/main">
            <a:off x="685800" y="1952625"/>
            <a:ext cx="571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950" b="1">
                <a:solidFill>
                  <a:srgbClr val="007F73"/>
                </a:solidFill>
                <a:latin typeface="Bitstream Charter"/>
                <a:ea typeface="Bitstream Charter"/>
                <a:cs typeface="Bitstream Charter"/>
              </a:defRPr>
            </a:pPr>
            <a:r>
              <a:rPr sz="7950" b="1">
                <a:solidFill>
                  <a:srgbClr val="007F73"/>
                </a:solidFill>
                <a:latin typeface="Bitstream Charter"/>
                <a:ea typeface="Bitstream Charter"/>
                <a:cs typeface="Bitstream Charter"/>
              </a:rPr>
              <a:t>10–49 </a:t>
            </a:r>
          </a:p>
        </p:txBody>
      </p:sp>
      <p:sp>
        <p:nvSpPr>
          <p:cNvPr id="4" name="Rectangle 3">
            <a:extLst xmlns:a="http://schemas.openxmlformats.org/drawingml/2006/main">
              <a:ext uri="{FF2B5EF4-FFF2-40B4-BE49-F238E27FC236}">
                <a16:creationId xmlns:a16="http://schemas.microsoft.com/office/drawing/2014/main" id="{BB7BDF1D-5A67-4F36-A377-4F8580A99F95}"/>
              </a:ext>
            </a:extLst>
          </p:cNvPr>
          <p:cNvSpPr>
            <a:spLocks xmlns:a="http://schemas.openxmlformats.org/drawingml/2006/main" noGrp="1"/>
          </p:cNvSpPr>
          <p:nvPr/>
        </p:nvSpPr>
        <p:spPr>
          <a:xfrm xmlns:a="http://schemas.openxmlformats.org/drawingml/2006/main">
            <a:off x="723900" y="3362325"/>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C32"/>
                </a:solidFill>
                <a:latin typeface="Bitstream Charter"/>
                <a:ea typeface="Bitstream Charter"/>
                <a:cs typeface="Bitstream Charter"/>
              </a:defRPr>
            </a:pPr>
            <a:r>
              <a:rPr sz="2250" b="0">
                <a:solidFill>
                  <a:srgbClr val="122C32"/>
                </a:solidFill>
                <a:latin typeface="Bitstream Charter"/>
                <a:ea typeface="Bitstream Charter"/>
                <a:cs typeface="Bitstream Charter"/>
              </a:rPr>
              <a:t>Employees in the company </a:t>
            </a:r>
          </a:p>
        </p:txBody>
      </p:sp>
      <p:sp>
        <p:nvSpPr>
          <p:cNvPr id="5" name="Rectangle 4">
            <a:extLst xmlns:a="http://schemas.openxmlformats.org/drawingml/2006/main">
              <a:ext uri="{FF2B5EF4-FFF2-40B4-BE49-F238E27FC236}">
                <a16:creationId xmlns:a16="http://schemas.microsoft.com/office/drawing/2014/main" id="{4340E1A3-BC7F-4E71-A39C-55B522DA4B04}"/>
              </a:ext>
            </a:extLst>
          </p:cNvPr>
          <p:cNvSpPr>
            <a:spLocks xmlns:a="http://schemas.openxmlformats.org/drawingml/2006/main" noGrp="1"/>
          </p:cNvSpPr>
          <p:nvPr/>
        </p:nvSpPr>
        <p:spPr>
          <a:xfrm xmlns:a="http://schemas.openxmlformats.org/drawingml/2006/main">
            <a:off x="6858000" y="2076450"/>
            <a:ext cx="4572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Enough operational complexity</a:t>
            </a:r>
          </a:p>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to need better records.</a:t>
            </a:r>
          </a:p>
          <a:p xmlns:a="http://schemas.openxmlformats.org/drawingml/2006/main">
            <a:endParaRPr sz="2325" b="0">
              <a:solidFill>
                <a:srgbClr val="122C32"/>
              </a:solidFill>
              <a:latin typeface="Bitstream Charter"/>
              <a:ea typeface="Bitstream Charter"/>
              <a:cs typeface="Bitstream Charter"/>
            </a:endParaRPr>
          </a:p>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Limited capacity to build and</a:t>
            </a:r>
          </a:p>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maintain an internal system.</a:t>
            </a:r>
          </a:p>
        </p:txBody>
      </p:sp>
      <p:sp>
        <p:nvSpPr>
          <p:cNvPr id="6" name="Rectangle 5">
            <a:extLst xmlns:a="http://schemas.openxmlformats.org/drawingml/2006/main">
              <a:ext uri="{FF2B5EF4-FFF2-40B4-BE49-F238E27FC236}">
                <a16:creationId xmlns:a16="http://schemas.microsoft.com/office/drawing/2014/main" id="{8A16FE9C-5BF7-4D1C-AB9F-990B61CBF628}"/>
              </a:ext>
            </a:extLst>
          </p:cNvPr>
          <p:cNvSpPr>
            <a:spLocks xmlns:a="http://schemas.openxmlformats.org/drawingml/2006/main" noGrp="1"/>
          </p:cNvSpPr>
          <p:nvPr/>
        </p:nvSpPr>
        <p:spPr>
          <a:xfrm xmlns:a="http://schemas.openxmlformats.org/drawingml/2006/main">
            <a:off x="723900" y="53816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2686B"/>
                </a:solidFill>
                <a:latin typeface="Bitstream Charter"/>
                <a:ea typeface="Bitstream Charter"/>
                <a:cs typeface="Bitstream Charter"/>
              </a:defRPr>
            </a:pPr>
            <a:r>
              <a:rPr sz="1950" b="0">
                <a:solidFill>
                  <a:srgbClr val="52686B"/>
                </a:solidFill>
                <a:latin typeface="Bitstream Charter"/>
                <a:ea typeface="Bitstream Charter"/>
                <a:cs typeface="Bitstream Charter"/>
              </a:rPr>
              <a:t>Adjacent opportunity: medium-sized manufacturers, with ZTC as an early customer.</a:t>
            </a:r>
          </a:p>
        </p:txBody>
      </p:sp>
      <p:sp>
        <p:nvSpPr>
          <p:cNvPr id="8" name="">
            <a:extLst xmlns:a="http://schemas.openxmlformats.org/drawingml/2006/main">
              <a:ext uri="{FF2B5EF4-FFF2-40B4-BE49-F238E27FC236}">
                <a16:creationId xmlns:a16="http://schemas.microsoft.com/office/drawing/2014/main" id="{38A13C7B-5C67-4031-9A6C-983B9E173DD9}"/>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06</a:t>
            </a:r>
          </a:p>
        </p:txBody>
      </p:sp>
    </p:spTree>
    <p:extLst>
      <p:ext uri="{BB962C8B-B14F-4D97-AF65-F5344CB8AC3E}">
        <p14:creationId xmlns:p14="http://schemas.microsoft.com/office/powerpoint/2010/main" val="1199043535"/>
      </p:ext>
    </p:extLst>
  </p:cSld>
</p:sld>
</file>

<file path=ppt/slides/slide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3B364AFB-16BF-F4EF-3178-6AEA19547355}"/>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Market size </a:t>
            </a:r>
          </a:p>
        </p:txBody>
      </p:sp>
      <p:sp>
        <p:nvSpPr>
          <p:cNvPr id="3" name="Rectangle 2">
            <a:extLst xmlns:a="http://schemas.openxmlformats.org/drawingml/2006/main">
              <a:ext uri="{FF2B5EF4-FFF2-40B4-BE49-F238E27FC236}">
                <a16:creationId xmlns:a16="http://schemas.microsoft.com/office/drawing/2014/main" id="{0BE60FE1-845C-7487-4A26-426E652B8CD9}"/>
              </a:ext>
            </a:extLst>
          </p:cNvPr>
          <p:cNvSpPr>
            <a:spLocks xmlns:a="http://schemas.openxmlformats.org/drawingml/2006/main" noGrp="1"/>
          </p:cNvSpPr>
          <p:nvPr/>
        </p:nvSpPr>
        <p:spPr>
          <a:xfrm xmlns:a="http://schemas.openxmlformats.org/drawingml/2006/main">
            <a:off x="685800" y="2143125"/>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b="1">
                <a:solidFill>
                  <a:srgbClr val="008579"/>
                </a:solidFill>
                <a:latin typeface="Calibri"/>
                <a:ea typeface="Calibri"/>
                <a:cs typeface="Calibri"/>
              </a:defRPr>
            </a:pPr>
            <a:r>
              <a:rPr sz="6600" b="1">
                <a:solidFill>
                  <a:srgbClr val="008579"/>
                </a:solidFill>
                <a:latin typeface="Calibri"/>
                <a:ea typeface="Calibri"/>
                <a:cs typeface="Calibri"/>
              </a:rPr>
              <a:t>616</a:t>
            </a:r>
          </a:p>
        </p:txBody>
      </p:sp>
      <p:sp>
        <p:nvSpPr>
          <p:cNvPr id="4" name="Rectangle 3">
            <a:extLst xmlns:a="http://schemas.openxmlformats.org/drawingml/2006/main">
              <a:ext uri="{FF2B5EF4-FFF2-40B4-BE49-F238E27FC236}">
                <a16:creationId xmlns:a16="http://schemas.microsoft.com/office/drawing/2014/main" id="{9AB11E46-278C-EBFF-5C4E-458F6ED0551D}"/>
              </a:ext>
            </a:extLst>
          </p:cNvPr>
          <p:cNvSpPr>
            <a:spLocks xmlns:a="http://schemas.openxmlformats.org/drawingml/2006/main" noGrp="1"/>
          </p:cNvSpPr>
          <p:nvPr/>
        </p:nvSpPr>
        <p:spPr>
          <a:xfrm xmlns:a="http://schemas.openxmlformats.org/drawingml/2006/main">
            <a:off x="723900" y="17621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42F35"/>
                </a:solidFill>
                <a:latin typeface="Calibri"/>
                <a:ea typeface="Calibri"/>
                <a:cs typeface="Calibri"/>
              </a:defRPr>
            </a:pPr>
            <a:r>
              <a:rPr sz="2100" b="1">
                <a:solidFill>
                  <a:srgbClr val="142F35"/>
                </a:solidFill>
                <a:latin typeface="Calibri"/>
                <a:ea typeface="Calibri"/>
                <a:cs typeface="Calibri"/>
              </a:rPr>
              <a:t>Latvia: initial market</a:t>
            </a:r>
            <a:endParaRPr sz="2250" b="0">
              <a:solidFill>
                <a:srgbClr val="122C32"/>
              </a:solidFill>
              <a:latin typeface="Bitstream Charter"/>
              <a:ea typeface="Bitstream Charter"/>
              <a:cs typeface="Bitstream Charter"/>
            </a:endParaRPr>
          </a:p>
        </p:txBody>
      </p:sp>
      <p:sp>
        <p:nvSpPr>
          <p:cNvPr id="6" name="Rectangle 5">
            <a:extLst xmlns:a="http://schemas.openxmlformats.org/drawingml/2006/main">
              <a:ext uri="{FF2B5EF4-FFF2-40B4-BE49-F238E27FC236}">
                <a16:creationId xmlns:a16="http://schemas.microsoft.com/office/drawing/2014/main" id="{718A1BE3-7B39-CA6F-4775-D4C9A4690FC5}"/>
              </a:ext>
            </a:extLst>
          </p:cNvPr>
          <p:cNvSpPr>
            <a:spLocks xmlns:a="http://schemas.openxmlformats.org/drawingml/2006/main" noGrp="1"/>
          </p:cNvSpPr>
          <p:nvPr/>
        </p:nvSpPr>
        <p:spPr>
          <a:xfrm xmlns:a="http://schemas.openxmlformats.org/drawingml/2006/main">
            <a:off x="723900" y="5286375"/>
            <a:ext cx="1071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36B70"/>
                </a:solidFill>
                <a:latin typeface="Calibri"/>
                <a:ea typeface="Calibri"/>
                <a:cs typeface="Calibri"/>
              </a:defRPr>
            </a:pPr>
            <a:r>
              <a:rPr sz="1425" b="0">
                <a:solidFill>
                  <a:srgbClr val="536B70"/>
                </a:solidFill>
                <a:latin typeface="Calibri"/>
                <a:ea typeface="Calibri"/>
                <a:cs typeface="Calibri"/>
              </a:rPr>
              <a:t>Sizing at target price: €300/company/month. Annual potential at full penetration.</a:t>
            </a:r>
          </a:p>
          <a:p xmlns:a="http://schemas.openxmlformats.org/drawingml/2006/main">
            <a:pPr>
              <a:buNone/>
              <a:defRPr sz="1425" b="0">
                <a:solidFill>
                  <a:srgbClr val="536B70"/>
                </a:solidFill>
                <a:latin typeface="Calibri"/>
                <a:ea typeface="Calibri"/>
                <a:cs typeface="Calibri"/>
              </a:defRPr>
            </a:pPr>
            <a:r>
              <a:rPr sz="1425" b="0">
                <a:solidFill>
                  <a:srgbClr val="536B70"/>
                </a:solidFill>
                <a:latin typeface="Calibri"/>
                <a:ea typeface="Calibri"/>
                <a:cs typeface="Calibri"/>
              </a:rPr>
              <a:t>Eurostat, NACE 43, 10–49 people employed. Latvia: 2024. EU-27: 2023, includes estimates.</a:t>
            </a:r>
          </a:p>
        </p:txBody>
      </p:sp>
      <p:sp>
        <p:nvSpPr>
          <p:cNvPr id="8" name="Rectangle 7">
            <a:extLst xmlns:a="http://schemas.openxmlformats.org/drawingml/2006/main">
              <a:ext uri="{FF2B5EF4-FFF2-40B4-BE49-F238E27FC236}">
                <a16:creationId xmlns:a16="http://schemas.microsoft.com/office/drawing/2014/main" id="{9B4E1047-7A69-45E8-968D-5E7CE38EB8AC}"/>
              </a:ext>
            </a:extLst>
          </p:cNvPr>
          <p:cNvSpPr>
            <a:spLocks xmlns:a="http://schemas.openxmlformats.org/drawingml/2006/main" noGrp="1"/>
          </p:cNvSpPr>
          <p:nvPr/>
        </p:nvSpPr>
        <p:spPr>
          <a:xfrm xmlns:a="http://schemas.openxmlformats.org/drawingml/2006/main">
            <a:off x="723900" y="124777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Specialty construction enterprises with 10–49 people employed</a:t>
            </a:r>
          </a:p>
        </p:txBody>
      </p:sp>
      <p:sp>
        <p:nvSpPr>
          <p:cNvPr id="9" name="Rectangle 8">
            <a:extLst xmlns:a="http://schemas.openxmlformats.org/drawingml/2006/main">
              <a:ext uri="{FF2B5EF4-FFF2-40B4-BE49-F238E27FC236}">
                <a16:creationId xmlns:a16="http://schemas.microsoft.com/office/drawing/2014/main" id="{A06AD83F-7468-490A-A930-8211664FA294}"/>
              </a:ext>
            </a:extLst>
          </p:cNvPr>
          <p:cNvSpPr>
            <a:spLocks xmlns:a="http://schemas.openxmlformats.org/drawingml/2006/main" noGrp="1"/>
          </p:cNvSpPr>
          <p:nvPr/>
        </p:nvSpPr>
        <p:spPr>
          <a:xfrm xmlns:a="http://schemas.openxmlformats.org/drawingml/2006/main">
            <a:off x="6619875" y="17621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42F35"/>
                </a:solidFill>
                <a:latin typeface="Calibri"/>
                <a:ea typeface="Calibri"/>
                <a:cs typeface="Calibri"/>
              </a:defRPr>
            </a:pPr>
            <a:r>
              <a:rPr sz="2100" b="1">
                <a:solidFill>
                  <a:srgbClr val="142F35"/>
                </a:solidFill>
                <a:latin typeface="Calibri"/>
                <a:ea typeface="Calibri"/>
                <a:cs typeface="Calibri"/>
              </a:rPr>
              <a:t>Europe: EU-27 market</a:t>
            </a:r>
          </a:p>
        </p:txBody>
      </p:sp>
      <p:sp>
        <p:nvSpPr>
          <p:cNvPr id="10" name="Rectangle 9">
            <a:extLst xmlns:a="http://schemas.openxmlformats.org/drawingml/2006/main">
              <a:ext uri="{FF2B5EF4-FFF2-40B4-BE49-F238E27FC236}">
                <a16:creationId xmlns:a16="http://schemas.microsoft.com/office/drawing/2014/main" id="{EAA65947-32FB-4098-BFA3-759A1FB234BD}"/>
              </a:ext>
            </a:extLst>
          </p:cNvPr>
          <p:cNvSpPr>
            <a:spLocks xmlns:a="http://schemas.openxmlformats.org/drawingml/2006/main" noGrp="1"/>
          </p:cNvSpPr>
          <p:nvPr/>
        </p:nvSpPr>
        <p:spPr>
          <a:xfrm xmlns:a="http://schemas.openxmlformats.org/drawingml/2006/main">
            <a:off x="6581775" y="214312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b="1">
                <a:solidFill>
                  <a:srgbClr val="008579"/>
                </a:solidFill>
                <a:latin typeface="Calibri"/>
                <a:ea typeface="Calibri"/>
                <a:cs typeface="Calibri"/>
              </a:defRPr>
            </a:pPr>
            <a:r>
              <a:rPr sz="6600" b="1">
                <a:solidFill>
                  <a:srgbClr val="008579"/>
                </a:solidFill>
                <a:latin typeface="Calibri"/>
                <a:ea typeface="Calibri"/>
                <a:cs typeface="Calibri"/>
              </a:rPr>
              <a:t>~142,000</a:t>
            </a:r>
          </a:p>
        </p:txBody>
      </p:sp>
      <p:sp>
        <p:nvSpPr>
          <p:cNvPr id="11" name="Rectangle 10">
            <a:extLst xmlns:a="http://schemas.openxmlformats.org/drawingml/2006/main">
              <a:ext uri="{FF2B5EF4-FFF2-40B4-BE49-F238E27FC236}">
                <a16:creationId xmlns:a16="http://schemas.microsoft.com/office/drawing/2014/main" id="{9C0B9765-8382-445A-BA16-16D453F48D5F}"/>
              </a:ext>
            </a:extLst>
          </p:cNvPr>
          <p:cNvSpPr>
            <a:spLocks xmlns:a="http://schemas.openxmlformats.org/drawingml/2006/main" noGrp="1"/>
          </p:cNvSpPr>
          <p:nvPr/>
        </p:nvSpPr>
        <p:spPr>
          <a:xfrm xmlns:a="http://schemas.openxmlformats.org/drawingml/2006/main">
            <a:off x="723900" y="3162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enterprises</a:t>
            </a:r>
          </a:p>
        </p:txBody>
      </p:sp>
      <p:sp>
        <p:nvSpPr>
          <p:cNvPr id="12" name="Rectangle 11">
            <a:extLst xmlns:a="http://schemas.openxmlformats.org/drawingml/2006/main">
              <a:ext uri="{FF2B5EF4-FFF2-40B4-BE49-F238E27FC236}">
                <a16:creationId xmlns:a16="http://schemas.microsoft.com/office/drawing/2014/main" id="{73B0AF8E-71AC-49E1-9AD2-C49556F525A2}"/>
              </a:ext>
            </a:extLst>
          </p:cNvPr>
          <p:cNvSpPr>
            <a:spLocks xmlns:a="http://schemas.openxmlformats.org/drawingml/2006/main" noGrp="1"/>
          </p:cNvSpPr>
          <p:nvPr/>
        </p:nvSpPr>
        <p:spPr>
          <a:xfrm xmlns:a="http://schemas.openxmlformats.org/drawingml/2006/main">
            <a:off x="6619875" y="3162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enterprises</a:t>
            </a:r>
          </a:p>
        </p:txBody>
      </p:sp>
      <p:sp>
        <p:nvSpPr>
          <p:cNvPr id="13" name="Rectangle 12">
            <a:extLst xmlns:a="http://schemas.openxmlformats.org/drawingml/2006/main">
              <a:ext uri="{FF2B5EF4-FFF2-40B4-BE49-F238E27FC236}">
                <a16:creationId xmlns:a16="http://schemas.microsoft.com/office/drawing/2014/main" id="{AD8CA223-3E1A-45B1-94F5-E6903AF3BD36}"/>
              </a:ext>
            </a:extLst>
          </p:cNvPr>
          <p:cNvSpPr>
            <a:spLocks xmlns:a="http://schemas.openxmlformats.org/drawingml/2006/main" noGrp="1"/>
          </p:cNvSpPr>
          <p:nvPr/>
        </p:nvSpPr>
        <p:spPr>
          <a:xfrm xmlns:a="http://schemas.openxmlformats.org/drawingml/2006/main">
            <a:off x="723900" y="38671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€2.22M / year</a:t>
            </a:r>
          </a:p>
        </p:txBody>
      </p:sp>
      <p:sp>
        <p:nvSpPr>
          <p:cNvPr id="14" name="Rectangle 13">
            <a:extLst xmlns:a="http://schemas.openxmlformats.org/drawingml/2006/main">
              <a:ext uri="{FF2B5EF4-FFF2-40B4-BE49-F238E27FC236}">
                <a16:creationId xmlns:a16="http://schemas.microsoft.com/office/drawing/2014/main" id="{24CDE4BC-C25F-4124-8528-379009162667}"/>
              </a:ext>
            </a:extLst>
          </p:cNvPr>
          <p:cNvSpPr>
            <a:spLocks xmlns:a="http://schemas.openxmlformats.org/drawingml/2006/main" noGrp="1"/>
          </p:cNvSpPr>
          <p:nvPr/>
        </p:nvSpPr>
        <p:spPr>
          <a:xfrm xmlns:a="http://schemas.openxmlformats.org/drawingml/2006/main">
            <a:off x="6619875" y="38671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~€511M / year</a:t>
            </a:r>
          </a:p>
        </p:txBody>
      </p:sp>
      <p:sp>
        <p:nvSpPr>
          <p:cNvPr id="15" name="Rectangle 14">
            <a:extLst xmlns:a="http://schemas.openxmlformats.org/drawingml/2006/main">
              <a:ext uri="{FF2B5EF4-FFF2-40B4-BE49-F238E27FC236}">
                <a16:creationId xmlns:a16="http://schemas.microsoft.com/office/drawing/2014/main" id="{4BB14F53-9F2D-400C-B29F-A599DFB9C285}"/>
              </a:ext>
            </a:extLst>
          </p:cNvPr>
          <p:cNvSpPr>
            <a:spLocks xmlns:a="http://schemas.openxmlformats.org/drawingml/2006/main" noGrp="1"/>
          </p:cNvSpPr>
          <p:nvPr/>
        </p:nvSpPr>
        <p:spPr>
          <a:xfrm xmlns:a="http://schemas.openxmlformats.org/drawingml/2006/main">
            <a:off x="723900" y="44672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B70"/>
                </a:solidFill>
                <a:latin typeface="Calibri"/>
                <a:ea typeface="Calibri"/>
                <a:cs typeface="Calibri"/>
              </a:defRPr>
            </a:pPr>
            <a:r>
              <a:rPr sz="1875" b="0">
                <a:solidFill>
                  <a:srgbClr val="536B70"/>
                </a:solidFill>
                <a:latin typeface="Calibri"/>
                <a:ea typeface="Calibri"/>
                <a:cs typeface="Calibri"/>
              </a:rPr>
              <a:t>annual software opportunity</a:t>
            </a:r>
          </a:p>
        </p:txBody>
      </p:sp>
      <p:sp>
        <p:nvSpPr>
          <p:cNvPr id="16" name="Rectangle 15">
            <a:extLst xmlns:a="http://schemas.openxmlformats.org/drawingml/2006/main">
              <a:ext uri="{FF2B5EF4-FFF2-40B4-BE49-F238E27FC236}">
                <a16:creationId xmlns:a16="http://schemas.microsoft.com/office/drawing/2014/main" id="{2E857783-EE91-463F-858F-92B98E83F6A8}"/>
              </a:ext>
            </a:extLst>
          </p:cNvPr>
          <p:cNvSpPr>
            <a:spLocks xmlns:a="http://schemas.openxmlformats.org/drawingml/2006/main" noGrp="1"/>
          </p:cNvSpPr>
          <p:nvPr/>
        </p:nvSpPr>
        <p:spPr>
          <a:xfrm xmlns:a="http://schemas.openxmlformats.org/drawingml/2006/main">
            <a:off x="6619875" y="44672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B70"/>
                </a:solidFill>
                <a:latin typeface="Calibri"/>
                <a:ea typeface="Calibri"/>
                <a:cs typeface="Calibri"/>
              </a:defRPr>
            </a:pPr>
            <a:r>
              <a:rPr sz="1875" b="0">
                <a:solidFill>
                  <a:srgbClr val="536B70"/>
                </a:solidFill>
                <a:latin typeface="Calibri"/>
                <a:ea typeface="Calibri"/>
                <a:cs typeface="Calibri"/>
              </a:rPr>
              <a:t>annual software opportunity</a:t>
            </a:r>
          </a:p>
        </p:txBody>
      </p:sp>
      <p:sp>
        <p:nvSpPr>
          <p:cNvPr id="17" name="">
            <a:extLst xmlns:a="http://schemas.openxmlformats.org/drawingml/2006/main">
              <a:ext uri="{FF2B5EF4-FFF2-40B4-BE49-F238E27FC236}">
                <a16:creationId xmlns:a16="http://schemas.microsoft.com/office/drawing/2014/main" id="{3A922960-3E58-44F0-8275-7975C75D0EAC}"/>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07</a:t>
            </a:r>
          </a:p>
        </p:txBody>
      </p:sp>
    </p:spTree>
    <p:extLst>
      <p:ext uri="{BB962C8B-B14F-4D97-AF65-F5344CB8AC3E}">
        <p14:creationId xmlns:p14="http://schemas.microsoft.com/office/powerpoint/2010/main" val="848191782"/>
      </p:ext>
    </p:extLst>
  </p:cSld>
</p:sld>
</file>

<file path=ppt/slides/slide8.xml><?xml version="1.0" encoding="utf-8"?>
<p:sld xmlns:p="http://schemas.openxmlformats.org/presentationml/2006/main">
  <p:cSld>
    <p:bg>
      <p:bgPr>
        <a:solidFill xmlns:a="http://schemas.openxmlformats.org/drawingml/2006/main">
          <a:srgbClr val="122C32"/>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E0E2CD63-474A-4D05-8791-4CB3A9401BC7}"/>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FFFFF"/>
                </a:solidFill>
                <a:latin typeface="Bitstream Charter"/>
                <a:ea typeface="Bitstream Charter"/>
                <a:cs typeface="Bitstream Charter"/>
              </a:defRPr>
            </a:pPr>
            <a:r>
              <a:rPr sz="3600" b="1">
                <a:solidFill>
                  <a:srgbClr val="FFFFFF"/>
                </a:solidFill>
                <a:latin typeface="Bitstream Charter"/>
                <a:ea typeface="Bitstream Charter"/>
                <a:cs typeface="Bitstream Charter"/>
              </a:rPr>
              <a:t>Five active subscriptions</a:t>
            </a:r>
          </a:p>
        </p:txBody>
      </p:sp>
      <p:sp>
        <p:nvSpPr>
          <p:cNvPr id="3" name="Rectangle 2">
            <a:extLst xmlns:a="http://schemas.openxmlformats.org/drawingml/2006/main">
              <a:ext uri="{FF2B5EF4-FFF2-40B4-BE49-F238E27FC236}">
                <a16:creationId xmlns:a16="http://schemas.microsoft.com/office/drawing/2014/main" id="{B5384B42-24A6-4938-ABBF-849F9A0A764B}"/>
              </a:ext>
            </a:extLst>
          </p:cNvPr>
          <p:cNvSpPr>
            <a:spLocks xmlns:a="http://schemas.openxmlformats.org/drawingml/2006/main" noGrp="1"/>
          </p:cNvSpPr>
          <p:nvPr/>
        </p:nvSpPr>
        <p:spPr>
          <a:xfrm xmlns:a="http://schemas.openxmlformats.org/drawingml/2006/main">
            <a:off x="685800" y="2000250"/>
            <a:ext cx="685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600" b="1">
                <a:solidFill>
                  <a:srgbClr val="FFFFFF"/>
                </a:solidFill>
                <a:latin typeface="Bitstream Charter"/>
                <a:ea typeface="Bitstream Charter"/>
                <a:cs typeface="Bitstream Charter"/>
              </a:defRPr>
            </a:pPr>
            <a:r>
              <a:rPr sz="9600" b="1">
                <a:solidFill>
                  <a:srgbClr val="FFFFFF"/>
                </a:solidFill>
                <a:latin typeface="Bitstream Charter"/>
                <a:ea typeface="Bitstream Charter"/>
                <a:cs typeface="Bitstream Charter"/>
              </a:rPr>
              <a:t>€780</a:t>
            </a:r>
          </a:p>
        </p:txBody>
      </p:sp>
      <p:sp>
        <p:nvSpPr>
          <p:cNvPr id="4" name="Rectangle 3">
            <a:extLst xmlns:a="http://schemas.openxmlformats.org/drawingml/2006/main">
              <a:ext uri="{FF2B5EF4-FFF2-40B4-BE49-F238E27FC236}">
                <a16:creationId xmlns:a16="http://schemas.microsoft.com/office/drawing/2014/main" id="{F2F1FC68-FB05-41C1-B3AD-5587689647BB}"/>
              </a:ext>
            </a:extLst>
          </p:cNvPr>
          <p:cNvSpPr>
            <a:spLocks xmlns:a="http://schemas.openxmlformats.org/drawingml/2006/main" noGrp="1"/>
          </p:cNvSpPr>
          <p:nvPr/>
        </p:nvSpPr>
        <p:spPr>
          <a:xfrm xmlns:a="http://schemas.openxmlformats.org/drawingml/2006/main">
            <a:off x="742950" y="3667125"/>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B9DCD5"/>
                </a:solidFill>
                <a:latin typeface="Bitstream Charter"/>
                <a:ea typeface="Bitstream Charter"/>
                <a:cs typeface="Bitstream Charter"/>
              </a:defRPr>
            </a:pPr>
            <a:r>
              <a:rPr sz="2550" b="0">
                <a:solidFill>
                  <a:srgbClr val="B9DCD5"/>
                </a:solidFill>
                <a:latin typeface="Bitstream Charter"/>
                <a:ea typeface="Bitstream Charter"/>
                <a:cs typeface="Bitstream Charter"/>
              </a:rPr>
              <a:t>monthly recurring revenue</a:t>
            </a:r>
          </a:p>
        </p:txBody>
      </p:sp>
      <p:sp>
        <p:nvSpPr>
          <p:cNvPr id="5" name="Rectangle 4">
            <a:extLst xmlns:a="http://schemas.openxmlformats.org/drawingml/2006/main">
              <a:ext uri="{FF2B5EF4-FFF2-40B4-BE49-F238E27FC236}">
                <a16:creationId xmlns:a16="http://schemas.microsoft.com/office/drawing/2014/main" id="{79BDBE97-186D-481C-B712-0D6E406B13B2}"/>
              </a:ext>
            </a:extLst>
          </p:cNvPr>
          <p:cNvSpPr>
            <a:spLocks xmlns:a="http://schemas.openxmlformats.org/drawingml/2006/main" noGrp="1"/>
          </p:cNvSpPr>
          <p:nvPr/>
        </p:nvSpPr>
        <p:spPr>
          <a:xfrm xmlns:a="http://schemas.openxmlformats.org/drawingml/2006/main">
            <a:off x="8143875" y="23622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950" b="1">
                <a:solidFill>
                  <a:srgbClr val="FFFFFF"/>
                </a:solidFill>
                <a:latin typeface="Bitstream Charter"/>
                <a:ea typeface="Bitstream Charter"/>
                <a:cs typeface="Bitstream Charter"/>
              </a:defRPr>
            </a:pPr>
            <a:r>
              <a:rPr sz="4950" b="1">
                <a:solidFill>
                  <a:srgbClr val="FFFFFF"/>
                </a:solidFill>
                <a:latin typeface="Bitstream Charter"/>
                <a:ea typeface="Bitstream Charter"/>
                <a:cs typeface="Bitstream Charter"/>
              </a:rPr>
              <a:t>~€150</a:t>
            </a:r>
          </a:p>
        </p:txBody>
      </p:sp>
      <p:sp>
        <p:nvSpPr>
          <p:cNvPr id="6" name="Rectangle 5">
            <a:extLst xmlns:a="http://schemas.openxmlformats.org/drawingml/2006/main">
              <a:ext uri="{FF2B5EF4-FFF2-40B4-BE49-F238E27FC236}">
                <a16:creationId xmlns:a16="http://schemas.microsoft.com/office/drawing/2014/main" id="{235E0144-25AA-42AA-BDA4-B2E3C18CE7D1}"/>
              </a:ext>
            </a:extLst>
          </p:cNvPr>
          <p:cNvSpPr>
            <a:spLocks xmlns:a="http://schemas.openxmlformats.org/drawingml/2006/main" noGrp="1"/>
          </p:cNvSpPr>
          <p:nvPr/>
        </p:nvSpPr>
        <p:spPr>
          <a:xfrm xmlns:a="http://schemas.openxmlformats.org/drawingml/2006/main">
            <a:off x="8143875" y="342900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B9DCD5"/>
                </a:solidFill>
                <a:latin typeface="Bitstream Charter"/>
                <a:ea typeface="Bitstream Charter"/>
                <a:cs typeface="Bitstream Charter"/>
              </a:defRPr>
            </a:pPr>
            <a:r>
              <a:rPr sz="2025" b="0">
                <a:solidFill>
                  <a:srgbClr val="B9DCD5"/>
                </a:solidFill>
                <a:latin typeface="Bitstream Charter"/>
                <a:ea typeface="Bitstream Charter"/>
                <a:cs typeface="Bitstream Charter"/>
              </a:rPr>
              <a:t>average monthly revenue</a:t>
            </a:r>
          </a:p>
          <a:p xmlns:a="http://schemas.openxmlformats.org/drawingml/2006/main">
            <a:pPr>
              <a:buNone/>
              <a:defRPr sz="2025" b="0">
                <a:solidFill>
                  <a:srgbClr val="B9DCD5"/>
                </a:solidFill>
                <a:latin typeface="Bitstream Charter"/>
                <a:ea typeface="Bitstream Charter"/>
                <a:cs typeface="Bitstream Charter"/>
              </a:defRPr>
            </a:pPr>
            <a:r>
              <a:rPr sz="2025" b="0">
                <a:solidFill>
                  <a:srgbClr val="B9DCD5"/>
                </a:solidFill>
                <a:latin typeface="Bitstream Charter"/>
                <a:ea typeface="Bitstream Charter"/>
                <a:cs typeface="Bitstream Charter"/>
              </a:rPr>
              <a:t>per company</a:t>
            </a:r>
          </a:p>
        </p:txBody>
      </p:sp>
      <p:sp>
        <p:nvSpPr>
          <p:cNvPr id="7" name="Rectangle 6">
            <a:extLst xmlns:a="http://schemas.openxmlformats.org/drawingml/2006/main">
              <a:ext uri="{FF2B5EF4-FFF2-40B4-BE49-F238E27FC236}">
                <a16:creationId xmlns:a16="http://schemas.microsoft.com/office/drawing/2014/main" id="{1720956F-9F3C-4BD3-AE98-3C4EC7155A8D}"/>
              </a:ext>
            </a:extLst>
          </p:cNvPr>
          <p:cNvSpPr>
            <a:spLocks xmlns:a="http://schemas.openxmlformats.org/drawingml/2006/main" noGrp="1"/>
          </p:cNvSpPr>
          <p:nvPr/>
        </p:nvSpPr>
        <p:spPr>
          <a:xfrm xmlns:a="http://schemas.openxmlformats.org/drawingml/2006/main">
            <a:off x="742950" y="5391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9DCD5"/>
                </a:solidFill>
                <a:latin typeface="Bitstream Charter"/>
                <a:ea typeface="Bitstream Charter"/>
                <a:cs typeface="Bitstream Charter"/>
              </a:defRPr>
            </a:pPr>
            <a:r>
              <a:rPr sz="1875" b="0">
                <a:solidFill>
                  <a:srgbClr val="B9DCD5"/>
                </a:solidFill>
                <a:latin typeface="Bitstream Charter"/>
                <a:ea typeface="Bitstream Charter"/>
                <a:cs typeface="Bitstream Charter"/>
              </a:rPr>
              <a:t>€9,360 annualised revenue. Exact current average: €156/company/month.</a:t>
            </a:r>
          </a:p>
        </p:txBody>
      </p:sp>
      <p:sp>
        <p:nvSpPr>
          <p:cNvPr id="9" name="">
            <a:extLst xmlns:a="http://schemas.openxmlformats.org/drawingml/2006/main">
              <a:ext uri="{FF2B5EF4-FFF2-40B4-BE49-F238E27FC236}">
                <a16:creationId xmlns:a16="http://schemas.microsoft.com/office/drawing/2014/main" id="{4A1E6458-941F-4B9F-8AD0-499E257FE82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AEC2C5"/>
                </a:solidFill>
                <a:latin typeface="Calibri"/>
                <a:ea typeface="Calibri"/>
                <a:cs typeface="Calibri"/>
              </a:defRPr>
            </a:pPr>
            <a:r>
              <a:rPr sz="1200" b="0">
                <a:solidFill>
                  <a:srgbClr val="AEC2C5"/>
                </a:solidFill>
                <a:latin typeface="Calibri"/>
                <a:ea typeface="Calibri"/>
                <a:cs typeface="Calibri"/>
              </a:rPr>
              <a:t>08</a:t>
            </a:r>
          </a:p>
        </p:txBody>
      </p:sp>
    </p:spTree>
    <p:extLst>
      <p:ext uri="{BB962C8B-B14F-4D97-AF65-F5344CB8AC3E}">
        <p14:creationId xmlns:p14="http://schemas.microsoft.com/office/powerpoint/2010/main" val="1813662904"/>
      </p:ext>
    </p:extLst>
  </p:cSld>
</p:sld>
</file>

<file path=ppt/slides/slide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08EDF8BD-E63E-43D5-A36A-2354C150D192}"/>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Current customer revenue</a:t>
            </a:r>
          </a:p>
        </p:txBody>
      </p:sp>
      <p:sp>
        <p:nvSpPr>
          <p:cNvPr id="3" name="Rectangle 2">
            <a:extLst xmlns:a="http://schemas.openxmlformats.org/drawingml/2006/main">
              <a:ext uri="{FF2B5EF4-FFF2-40B4-BE49-F238E27FC236}">
                <a16:creationId xmlns:a16="http://schemas.microsoft.com/office/drawing/2014/main" id="{455E1E9E-8924-44E0-B6FA-FE20ED7744AA}"/>
              </a:ext>
            </a:extLst>
          </p:cNvPr>
          <p:cNvSpPr>
            <a:spLocks xmlns:a="http://schemas.openxmlformats.org/drawingml/2006/main" noGrp="1"/>
          </p:cNvSpPr>
          <p:nvPr/>
        </p:nvSpPr>
        <p:spPr>
          <a:xfrm xmlns:a="http://schemas.openxmlformats.org/drawingml/2006/main">
            <a:off x="762000" y="19050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TGEM</a:t>
            </a:r>
          </a:p>
        </p:txBody>
      </p:sp>
      <p:sp>
        <p:nvSpPr>
          <p:cNvPr id="4" name="Rectangle 3">
            <a:extLst xmlns:a="http://schemas.openxmlformats.org/drawingml/2006/main">
              <a:ext uri="{FF2B5EF4-FFF2-40B4-BE49-F238E27FC236}">
                <a16:creationId xmlns:a16="http://schemas.microsoft.com/office/drawing/2014/main" id="{4635259B-5CA7-49B9-AB23-5C07881DF03A}"/>
              </a:ext>
            </a:extLst>
          </p:cNvPr>
          <p:cNvSpPr>
            <a:spLocks xmlns:a="http://schemas.openxmlformats.org/drawingml/2006/main" noGrp="1"/>
          </p:cNvSpPr>
          <p:nvPr/>
        </p:nvSpPr>
        <p:spPr>
          <a:xfrm xmlns:a="http://schemas.openxmlformats.org/drawingml/2006/main">
            <a:off x="7905750" y="19050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€250 / month</a:t>
            </a:r>
          </a:p>
        </p:txBody>
      </p:sp>
      <p:sp>
        <p:nvSpPr>
          <p:cNvPr id="5" name="Rectangle 4">
            <a:extLst xmlns:a="http://schemas.openxmlformats.org/drawingml/2006/main">
              <a:ext uri="{FF2B5EF4-FFF2-40B4-BE49-F238E27FC236}">
                <a16:creationId xmlns:a16="http://schemas.microsoft.com/office/drawing/2014/main" id="{4E4D18B8-14E2-441A-BE4B-22E964B5ED8D}"/>
              </a:ext>
            </a:extLst>
          </p:cNvPr>
          <p:cNvSpPr>
            <a:spLocks xmlns:a="http://schemas.openxmlformats.org/drawingml/2006/main" noGrp="1"/>
          </p:cNvSpPr>
          <p:nvPr/>
        </p:nvSpPr>
        <p:spPr>
          <a:xfrm xmlns:a="http://schemas.openxmlformats.org/drawingml/2006/main">
            <a:off x="762000" y="258127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Limeni.lv</a:t>
            </a:r>
          </a:p>
        </p:txBody>
      </p:sp>
      <p:sp>
        <p:nvSpPr>
          <p:cNvPr id="6" name="Rectangle 5">
            <a:extLst xmlns:a="http://schemas.openxmlformats.org/drawingml/2006/main">
              <a:ext uri="{FF2B5EF4-FFF2-40B4-BE49-F238E27FC236}">
                <a16:creationId xmlns:a16="http://schemas.microsoft.com/office/drawing/2014/main" id="{47C73B40-7A06-4F57-B3FD-4EE294C5913E}"/>
              </a:ext>
            </a:extLst>
          </p:cNvPr>
          <p:cNvSpPr>
            <a:spLocks xmlns:a="http://schemas.openxmlformats.org/drawingml/2006/main" noGrp="1"/>
          </p:cNvSpPr>
          <p:nvPr/>
        </p:nvSpPr>
        <p:spPr>
          <a:xfrm xmlns:a="http://schemas.openxmlformats.org/drawingml/2006/main">
            <a:off x="7905750" y="25812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€180 / month</a:t>
            </a:r>
          </a:p>
        </p:txBody>
      </p:sp>
      <p:sp>
        <p:nvSpPr>
          <p:cNvPr id="7" name="Rectangle 6">
            <a:extLst xmlns:a="http://schemas.openxmlformats.org/drawingml/2006/main">
              <a:ext uri="{FF2B5EF4-FFF2-40B4-BE49-F238E27FC236}">
                <a16:creationId xmlns:a16="http://schemas.microsoft.com/office/drawing/2014/main" id="{71CA1260-6304-4A1C-9460-E9221790A96F}"/>
              </a:ext>
            </a:extLst>
          </p:cNvPr>
          <p:cNvSpPr>
            <a:spLocks xmlns:a="http://schemas.openxmlformats.org/drawingml/2006/main" noGrp="1"/>
          </p:cNvSpPr>
          <p:nvPr/>
        </p:nvSpPr>
        <p:spPr>
          <a:xfrm xmlns:a="http://schemas.openxmlformats.org/drawingml/2006/main">
            <a:off x="762000" y="325755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ZTC</a:t>
            </a:r>
          </a:p>
        </p:txBody>
      </p:sp>
      <p:sp>
        <p:nvSpPr>
          <p:cNvPr id="8" name="Rectangle 7">
            <a:extLst xmlns:a="http://schemas.openxmlformats.org/drawingml/2006/main">
              <a:ext uri="{FF2B5EF4-FFF2-40B4-BE49-F238E27FC236}">
                <a16:creationId xmlns:a16="http://schemas.microsoft.com/office/drawing/2014/main" id="{CFF2BA1E-5CFA-41EF-9053-5A168087E686}"/>
              </a:ext>
            </a:extLst>
          </p:cNvPr>
          <p:cNvSpPr>
            <a:spLocks xmlns:a="http://schemas.openxmlformats.org/drawingml/2006/main" noGrp="1"/>
          </p:cNvSpPr>
          <p:nvPr/>
        </p:nvSpPr>
        <p:spPr>
          <a:xfrm xmlns:a="http://schemas.openxmlformats.org/drawingml/2006/main">
            <a:off x="7905750" y="32575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€150 / month</a:t>
            </a:r>
          </a:p>
        </p:txBody>
      </p:sp>
      <p:sp>
        <p:nvSpPr>
          <p:cNvPr id="9" name="Rectangle 8">
            <a:extLst xmlns:a="http://schemas.openxmlformats.org/drawingml/2006/main">
              <a:ext uri="{FF2B5EF4-FFF2-40B4-BE49-F238E27FC236}">
                <a16:creationId xmlns:a16="http://schemas.microsoft.com/office/drawing/2014/main" id="{4024057A-317B-4D08-975C-B2CF5F21A23A}"/>
              </a:ext>
            </a:extLst>
          </p:cNvPr>
          <p:cNvSpPr>
            <a:spLocks xmlns:a="http://schemas.openxmlformats.org/drawingml/2006/main" noGrp="1"/>
          </p:cNvSpPr>
          <p:nvPr/>
        </p:nvSpPr>
        <p:spPr>
          <a:xfrm xmlns:a="http://schemas.openxmlformats.org/drawingml/2006/main">
            <a:off x="762000" y="393382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Stone and Tree</a:t>
            </a:r>
          </a:p>
        </p:txBody>
      </p:sp>
      <p:sp>
        <p:nvSpPr>
          <p:cNvPr id="10" name="Rectangle 9">
            <a:extLst xmlns:a="http://schemas.openxmlformats.org/drawingml/2006/main">
              <a:ext uri="{FF2B5EF4-FFF2-40B4-BE49-F238E27FC236}">
                <a16:creationId xmlns:a16="http://schemas.microsoft.com/office/drawing/2014/main" id="{C9F33BDC-B105-43E4-B07F-D346123128EA}"/>
              </a:ext>
            </a:extLst>
          </p:cNvPr>
          <p:cNvSpPr>
            <a:spLocks xmlns:a="http://schemas.openxmlformats.org/drawingml/2006/main" noGrp="1"/>
          </p:cNvSpPr>
          <p:nvPr/>
        </p:nvSpPr>
        <p:spPr>
          <a:xfrm xmlns:a="http://schemas.openxmlformats.org/drawingml/2006/main">
            <a:off x="7905750" y="39338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€120 / month</a:t>
            </a:r>
          </a:p>
        </p:txBody>
      </p:sp>
      <p:sp>
        <p:nvSpPr>
          <p:cNvPr id="11" name="Rectangle 10">
            <a:extLst xmlns:a="http://schemas.openxmlformats.org/drawingml/2006/main">
              <a:ext uri="{FF2B5EF4-FFF2-40B4-BE49-F238E27FC236}">
                <a16:creationId xmlns:a16="http://schemas.microsoft.com/office/drawing/2014/main" id="{D1415E4E-9ABF-4A78-BFAE-904108F9C394}"/>
              </a:ext>
            </a:extLst>
          </p:cNvPr>
          <p:cNvSpPr>
            <a:spLocks xmlns:a="http://schemas.openxmlformats.org/drawingml/2006/main" noGrp="1"/>
          </p:cNvSpPr>
          <p:nvPr/>
        </p:nvSpPr>
        <p:spPr>
          <a:xfrm xmlns:a="http://schemas.openxmlformats.org/drawingml/2006/main">
            <a:off x="762000" y="46101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SIA 1212</a:t>
            </a:r>
          </a:p>
        </p:txBody>
      </p:sp>
      <p:sp>
        <p:nvSpPr>
          <p:cNvPr id="12" name="Rectangle 11">
            <a:extLst xmlns:a="http://schemas.openxmlformats.org/drawingml/2006/main">
              <a:ext uri="{FF2B5EF4-FFF2-40B4-BE49-F238E27FC236}">
                <a16:creationId xmlns:a16="http://schemas.microsoft.com/office/drawing/2014/main" id="{E88EA2D7-39A3-4FCE-BA45-17026E61D91C}"/>
              </a:ext>
            </a:extLst>
          </p:cNvPr>
          <p:cNvSpPr>
            <a:spLocks xmlns:a="http://schemas.openxmlformats.org/drawingml/2006/main" noGrp="1"/>
          </p:cNvSpPr>
          <p:nvPr/>
        </p:nvSpPr>
        <p:spPr>
          <a:xfrm xmlns:a="http://schemas.openxmlformats.org/drawingml/2006/main">
            <a:off x="7905750" y="46101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€80 / month</a:t>
            </a:r>
          </a:p>
        </p:txBody>
      </p:sp>
      <p:sp>
        <p:nvSpPr>
          <p:cNvPr id="13" name="Rectangle 12">
            <a:extLst xmlns:a="http://schemas.openxmlformats.org/drawingml/2006/main">
              <a:ext uri="{FF2B5EF4-FFF2-40B4-BE49-F238E27FC236}">
                <a16:creationId xmlns:a16="http://schemas.microsoft.com/office/drawing/2014/main" id="{D60AD922-7A01-4877-8EE9-C53F1F8DF59B}"/>
              </a:ext>
            </a:extLst>
          </p:cNvPr>
          <p:cNvSpPr>
            <a:spLocks xmlns:a="http://schemas.openxmlformats.org/drawingml/2006/main" noGrp="1"/>
          </p:cNvSpPr>
          <p:nvPr/>
        </p:nvSpPr>
        <p:spPr>
          <a:xfrm xmlns:a="http://schemas.openxmlformats.org/drawingml/2006/main">
            <a:off x="762000" y="6011418"/>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86B"/>
                </a:solidFill>
                <a:latin typeface="Bitstream Charter"/>
                <a:ea typeface="Bitstream Charter"/>
                <a:cs typeface="Bitstream Charter"/>
              </a:defRPr>
            </a:pPr>
            <a:r>
              <a:rPr sz="1725" b="0">
                <a:solidFill>
                  <a:srgbClr val="52686B"/>
                </a:solidFill>
                <a:latin typeface="Bitstream Charter"/>
                <a:ea typeface="Bitstream Charter"/>
                <a:cs typeface="Bitstream Charter"/>
              </a:rPr>
              <a:t>Outside MRR: one free pilot, one active trial and one former paying customer.</a:t>
            </a:r>
          </a:p>
        </p:txBody>
      </p:sp>
      <p:sp>
        <p:nvSpPr>
          <p:cNvPr id="16" name="Rectangle 15">
            <a:extLst xmlns:a="http://schemas.openxmlformats.org/drawingml/2006/main">
              <a:ext uri="{FF2B5EF4-FFF2-40B4-BE49-F238E27FC236}">
                <a16:creationId xmlns:a16="http://schemas.microsoft.com/office/drawing/2014/main" id="{2C874276-C8AD-7D00-C92C-338B0347F467}"/>
              </a:ext>
            </a:extLst>
          </p:cNvPr>
          <p:cNvSpPr>
            <a:spLocks xmlns:a="http://schemas.openxmlformats.org/drawingml/2006/main" noGrp="1"/>
          </p:cNvSpPr>
          <p:nvPr/>
        </p:nvSpPr>
        <p:spPr>
          <a:xfrm xmlns:a="http://schemas.openxmlformats.org/drawingml/2006/main">
            <a:off x="762000" y="528637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SB STOMME (trial ongoing)</a:t>
            </a:r>
          </a:p>
        </p:txBody>
      </p:sp>
      <p:sp>
        <p:nvSpPr>
          <p:cNvPr id="18" name="Rectangle 17">
            <a:extLst xmlns:a="http://schemas.openxmlformats.org/drawingml/2006/main">
              <a:ext uri="{FF2B5EF4-FFF2-40B4-BE49-F238E27FC236}">
                <a16:creationId xmlns:a16="http://schemas.microsoft.com/office/drawing/2014/main" id="{D4FEF6AF-BCD3-47B9-DD7F-3A5362E97F46}"/>
              </a:ext>
            </a:extLst>
          </p:cNvPr>
          <p:cNvSpPr>
            <a:spLocks xmlns:a="http://schemas.openxmlformats.org/drawingml/2006/main" noGrp="1"/>
          </p:cNvSpPr>
          <p:nvPr/>
        </p:nvSpPr>
        <p:spPr>
          <a:xfrm xmlns:a="http://schemas.openxmlformats.org/drawingml/2006/main">
            <a:off x="7905750" y="52863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€90 / month after trial</a:t>
            </a:r>
          </a:p>
        </p:txBody>
      </p:sp>
      <p:sp>
        <p:nvSpPr>
          <p:cNvPr id="19" name="">
            <a:extLst xmlns:a="http://schemas.openxmlformats.org/drawingml/2006/main">
              <a:ext uri="{FF2B5EF4-FFF2-40B4-BE49-F238E27FC236}">
                <a16:creationId xmlns:a16="http://schemas.microsoft.com/office/drawing/2014/main" id="{DBBEF601-AE91-438F-9B34-1F4B12D218D0}"/>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09</a:t>
            </a:r>
          </a:p>
        </p:txBody>
      </p:sp>
    </p:spTree>
    <p:extLst>
      <p:ext uri="{BB962C8B-B14F-4D97-AF65-F5344CB8AC3E}">
        <p14:creationId xmlns:p14="http://schemas.microsoft.com/office/powerpoint/2010/main" val="788635400"/>
      </p:ext>
    </p:extLst>
  </p:cSld>
</p:sld>
</file>

<file path=ppt/slides/slide10.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D1C1F6D-50F7-43EB-81EA-45E208266C35}"/>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Current pricing and target pricing</a:t>
            </a:r>
          </a:p>
        </p:txBody>
      </p:sp>
      <p:sp>
        <p:nvSpPr>
          <p:cNvPr id="2" name="">
            <a:extLst xmlns:a="http://schemas.openxmlformats.org/drawingml/2006/main">
              <a:ext uri="{FF2B5EF4-FFF2-40B4-BE49-F238E27FC236}">
                <a16:creationId xmlns:a16="http://schemas.microsoft.com/office/drawing/2014/main" id="{A634716D-3CF2-4E33-A036-4E86B4376F9F}"/>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Current average revenue is about €150/company/month. Target: €300/company/month.</a:t>
            </a:r>
          </a:p>
        </p:txBody>
      </p:sp>
      <p:sp>
        <p:nvSpPr>
          <p:cNvPr id="3" name="">
            <a:extLst xmlns:a="http://schemas.openxmlformats.org/drawingml/2006/main">
              <a:ext uri="{FF2B5EF4-FFF2-40B4-BE49-F238E27FC236}">
                <a16:creationId xmlns:a16="http://schemas.microsoft.com/office/drawing/2014/main" id="{2A5A5C0A-30B5-4865-9B58-490686C672E0}"/>
              </a:ext>
            </a:extLst>
          </p:cNvPr>
          <p:cNvSpPr>
            <a:spLocks xmlns:a="http://schemas.openxmlformats.org/drawingml/2006/main" noGrp="1"/>
          </p:cNvSpPr>
          <p:nvPr/>
        </p:nvSpPr>
        <p:spPr>
          <a:xfrm xmlns:a="http://schemas.openxmlformats.org/drawingml/2006/main">
            <a:off x="723900" y="2152650"/>
            <a:ext cx="457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b="1">
                <a:solidFill>
                  <a:srgbClr val="008579"/>
                </a:solidFill>
                <a:latin typeface="Calibri"/>
                <a:ea typeface="Calibri"/>
                <a:cs typeface="Calibri"/>
              </a:defRPr>
            </a:pPr>
            <a:r>
              <a:rPr sz="6600" b="1">
                <a:solidFill>
                  <a:srgbClr val="008579"/>
                </a:solidFill>
                <a:latin typeface="Calibri"/>
                <a:ea typeface="Calibri"/>
                <a:cs typeface="Calibri"/>
              </a:rPr>
              <a:t>~€150</a:t>
            </a:r>
          </a:p>
        </p:txBody>
      </p:sp>
      <p:sp>
        <p:nvSpPr>
          <p:cNvPr id="4" name="">
            <a:extLst xmlns:a="http://schemas.openxmlformats.org/drawingml/2006/main">
              <a:ext uri="{FF2B5EF4-FFF2-40B4-BE49-F238E27FC236}">
                <a16:creationId xmlns:a16="http://schemas.microsoft.com/office/drawing/2014/main" id="{4C43FCC6-23FB-4949-8D7D-686D8D9B1CAC}"/>
              </a:ext>
            </a:extLst>
          </p:cNvPr>
          <p:cNvSpPr>
            <a:spLocks xmlns:a="http://schemas.openxmlformats.org/drawingml/2006/main" noGrp="1"/>
          </p:cNvSpPr>
          <p:nvPr/>
        </p:nvSpPr>
        <p:spPr>
          <a:xfrm xmlns:a="http://schemas.openxmlformats.org/drawingml/2006/main">
            <a:off x="762000" y="32194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42F35"/>
                </a:solidFill>
                <a:latin typeface="Calibri"/>
                <a:ea typeface="Calibri"/>
                <a:cs typeface="Calibri"/>
              </a:defRPr>
            </a:pPr>
            <a:r>
              <a:rPr sz="2400" b="0">
                <a:solidFill>
                  <a:srgbClr val="142F35"/>
                </a:solidFill>
                <a:latin typeface="Calibri"/>
                <a:ea typeface="Calibri"/>
                <a:cs typeface="Calibri"/>
              </a:rPr>
              <a:t>current average / company / month</a:t>
            </a:r>
          </a:p>
        </p:txBody>
      </p:sp>
      <p:sp>
        <p:nvSpPr>
          <p:cNvPr id="5" name="">
            <a:extLst xmlns:a="http://schemas.openxmlformats.org/drawingml/2006/main">
              <a:ext uri="{FF2B5EF4-FFF2-40B4-BE49-F238E27FC236}">
                <a16:creationId xmlns:a16="http://schemas.microsoft.com/office/drawing/2014/main" id="{BE599F16-4A26-4C69-9D2F-49191BC86578}"/>
              </a:ext>
            </a:extLst>
          </p:cNvPr>
          <p:cNvSpPr>
            <a:spLocks xmlns:a="http://schemas.openxmlformats.org/drawingml/2006/main" noGrp="1"/>
          </p:cNvSpPr>
          <p:nvPr/>
        </p:nvSpPr>
        <p:spPr>
          <a:xfrm xmlns:a="http://schemas.openxmlformats.org/drawingml/2006/main">
            <a:off x="6572250" y="22098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F35"/>
                </a:solidFill>
                <a:latin typeface="Calibri"/>
                <a:ea typeface="Calibri"/>
                <a:cs typeface="Calibri"/>
              </a:defRPr>
            </a:pPr>
            <a:r>
              <a:rPr sz="2250" b="1">
                <a:solidFill>
                  <a:srgbClr val="142F35"/>
                </a:solidFill>
                <a:latin typeface="Calibri"/>
                <a:ea typeface="Calibri"/>
                <a:cs typeface="Calibri"/>
              </a:rPr>
              <a:t>€300 target / company / month</a:t>
            </a:r>
          </a:p>
        </p:txBody>
      </p:sp>
      <p:sp>
        <p:nvSpPr>
          <p:cNvPr id="6" name="">
            <a:extLst xmlns:a="http://schemas.openxmlformats.org/drawingml/2006/main">
              <a:ext uri="{FF2B5EF4-FFF2-40B4-BE49-F238E27FC236}">
                <a16:creationId xmlns:a16="http://schemas.microsoft.com/office/drawing/2014/main" id="{1C4B0DDD-3FC2-41A4-A276-D990A2B30725}"/>
              </a:ext>
            </a:extLst>
          </p:cNvPr>
          <p:cNvSpPr>
            <a:spLocks xmlns:a="http://schemas.openxmlformats.org/drawingml/2006/main" noGrp="1"/>
          </p:cNvSpPr>
          <p:nvPr/>
        </p:nvSpPr>
        <p:spPr>
          <a:xfrm xmlns:a="http://schemas.openxmlformats.org/drawingml/2006/main">
            <a:off x="6572250" y="2819400"/>
            <a:ext cx="4762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Test a company subscription</a:t>
            </a:r>
          </a:p>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Define included users and features</a:t>
            </a:r>
          </a:p>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Validate upgrades with paying clients</a:t>
            </a:r>
          </a:p>
        </p:txBody>
      </p:sp>
      <p:graphicFrame>
        <p:nvGraphicFramePr>
          <p:cNvPr id="18" name=""/>
          <p:cNvGraphicFramePr/>
          <p:nvPr/>
        </p:nvGraphicFramePr>
        <p:xfrm>
          <a:off xmlns:a="http://schemas.openxmlformats.org/drawingml/2006/main" x="762000" y="4400550"/>
          <a:ext xmlns:a="http://schemas.openxmlformats.org/drawingml/2006/main" cx="10668000" cy="1028700"/>
        </p:xfrm>
        <a:graphic xmlns:a="http://schemas.openxmlformats.org/drawingml/2006/main">
          <a:graphicData uri="http://schemas.openxmlformats.org/drawingml/2006/table">
            <a:tbl>
              <a:tblPr/>
              <a:tblGrid>
                <a:gridCol w="4762500"/>
                <a:gridCol w="2952750"/>
                <a:gridCol w="2952750"/>
              </a:tblGrid>
              <a:tr h="466725">
                <a:tc>
                  <a:txBody>
                    <a:bodyPr/>
                    <a:lstStyle/>
                    <a:p>
                      <a:r>
                        <a:rPr sz="1875" b="1">
                          <a:solidFill>
                            <a:srgbClr val="FFFFFF"/>
                          </a:solidFill>
                          <a:latin typeface="Calibri"/>
                          <a:ea typeface="Calibri"/>
                          <a:cs typeface="Calibri"/>
                        </a:rPr>
                        <a:t>Company subscription</a:t>
                      </a:r>
                    </a:p>
                  </a:txBody>
                  <a:tcPr marL="91440" marR="91440" marT="45720" marB="45720">
                    <a:solidFill>
                      <a:srgbClr val="142F35"/>
                    </a:solidFill>
                  </a:tcPr>
                </a:tc>
                <a:tc>
                  <a:txBody>
                    <a:bodyPr/>
                    <a:lstStyle/>
                    <a:p>
                      <a:r>
                        <a:rPr sz="1875" b="1">
                          <a:solidFill>
                            <a:srgbClr val="FFFFFF"/>
                          </a:solidFill>
                          <a:latin typeface="Calibri"/>
                          <a:ea typeface="Calibri"/>
                          <a:cs typeface="Calibri"/>
                        </a:rPr>
                        <a:t>Current average</a:t>
                      </a:r>
                    </a:p>
                  </a:txBody>
                  <a:tcPr marL="91440" marR="91440" marT="45720" marB="45720">
                    <a:solidFill>
                      <a:srgbClr val="142F35"/>
                    </a:solidFill>
                  </a:tcPr>
                </a:tc>
                <a:tc>
                  <a:txBody>
                    <a:bodyPr/>
                    <a:lstStyle/>
                    <a:p>
                      <a:r>
                        <a:rPr sz="1875" b="1">
                          <a:solidFill>
                            <a:srgbClr val="FFFFFF"/>
                          </a:solidFill>
                          <a:latin typeface="Calibri"/>
                          <a:ea typeface="Calibri"/>
                          <a:cs typeface="Calibri"/>
                        </a:rPr>
                        <a:t>Target price</a:t>
                      </a:r>
                    </a:p>
                  </a:txBody>
                  <a:tcPr marL="91440" marR="91440" marT="45720" marB="45720">
                    <a:solidFill>
                      <a:srgbClr val="142F35"/>
                    </a:solidFill>
                  </a:tcPr>
                </a:tc>
              </a:tr>
              <a:tr h="561975">
                <a:tc>
                  <a:txBody>
                    <a:bodyPr/>
                    <a:lstStyle/>
                    <a:p>
                      <a:r>
                        <a:rPr sz="1875" b="0">
                          <a:solidFill>
                            <a:srgbClr val="142F35"/>
                          </a:solidFill>
                          <a:latin typeface="Calibri"/>
                          <a:ea typeface="Calibri"/>
                          <a:cs typeface="Calibri"/>
                        </a:rPr>
                        <a:t>Annual revenue per company</a:t>
                      </a:r>
                    </a:p>
                  </a:txBody>
                  <a:tcPr marL="91440" marR="91440" marT="45720" marB="45720">
                    <a:solidFill>
                      <a:srgbClr val="F6F4EE"/>
                    </a:solidFill>
                  </a:tcPr>
                </a:tc>
                <a:tc>
                  <a:txBody>
                    <a:bodyPr/>
                    <a:lstStyle/>
                    <a:p>
                      <a:r>
                        <a:rPr sz="1875" b="0">
                          <a:solidFill>
                            <a:srgbClr val="142F35"/>
                          </a:solidFill>
                          <a:latin typeface="Calibri"/>
                          <a:ea typeface="Calibri"/>
                          <a:cs typeface="Calibri"/>
                        </a:rPr>
                        <a:t>~€1,800</a:t>
                      </a:r>
                    </a:p>
                  </a:txBody>
                  <a:tcPr marL="91440" marR="91440" marT="45720" marB="45720">
                    <a:solidFill>
                      <a:srgbClr val="F6F4EE"/>
                    </a:solidFill>
                  </a:tcPr>
                </a:tc>
                <a:tc>
                  <a:txBody>
                    <a:bodyPr/>
                    <a:lstStyle/>
                    <a:p>
                      <a:r>
                        <a:rPr sz="1875" b="0">
                          <a:solidFill>
                            <a:srgbClr val="142F35"/>
                          </a:solidFill>
                          <a:latin typeface="Calibri"/>
                          <a:ea typeface="Calibri"/>
                          <a:cs typeface="Calibri"/>
                        </a:rPr>
                        <a:t>€3,600</a:t>
                      </a:r>
                    </a:p>
                  </a:txBody>
                  <a:tcPr marL="91440" marR="91440" marT="45720" marB="45720">
                    <a:solidFill>
                      <a:srgbClr val="F6F4EE"/>
                    </a:solidFill>
                  </a:tcPr>
                </a:tc>
              </a:tr>
            </a:tbl>
          </a:graphicData>
        </a:graphic>
      </p:graphicFrame>
      <p:sp>
        <p:nvSpPr>
          <p:cNvPr id="8" name="">
            <a:extLst xmlns:a="http://schemas.openxmlformats.org/drawingml/2006/main">
              <a:ext uri="{FF2B5EF4-FFF2-40B4-BE49-F238E27FC236}">
                <a16:creationId xmlns:a16="http://schemas.microsoft.com/office/drawing/2014/main" id="{2D1C5C2D-7BA8-4DF6-AA00-E0BB226B2F40}"/>
              </a:ext>
            </a:extLst>
          </p:cNvPr>
          <p:cNvSpPr>
            <a:spLocks xmlns:a="http://schemas.openxmlformats.org/drawingml/2006/main" noGrp="1"/>
          </p:cNvSpPr>
          <p:nvPr/>
        </p:nvSpPr>
        <p:spPr>
          <a:xfrm xmlns:a="http://schemas.openxmlformats.org/drawingml/2006/main">
            <a:off x="762000" y="557212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36B70"/>
                </a:solidFill>
                <a:latin typeface="Calibri"/>
                <a:ea typeface="Calibri"/>
                <a:cs typeface="Calibri"/>
              </a:defRPr>
            </a:pPr>
            <a:r>
              <a:rPr sz="1725" b="0">
                <a:solidFill>
                  <a:srgbClr val="536B70"/>
                </a:solidFill>
                <a:latin typeface="Calibri"/>
                <a:ea typeface="Calibri"/>
                <a:cs typeface="Calibri"/>
              </a:rPr>
              <a:t>Current billing: €50/user/month, adjusted for discounts and custom features.</a:t>
            </a:r>
          </a:p>
          <a:p xmlns:a="http://schemas.openxmlformats.org/drawingml/2006/main">
            <a:pPr>
              <a:buNone/>
              <a:defRPr sz="1725" b="0">
                <a:solidFill>
                  <a:srgbClr val="536B70"/>
                </a:solidFill>
                <a:latin typeface="Calibri"/>
                <a:ea typeface="Calibri"/>
                <a:cs typeface="Calibri"/>
              </a:defRPr>
            </a:pPr>
            <a:r>
              <a:rPr sz="1725" b="0">
                <a:solidFill>
                  <a:srgbClr val="536B70"/>
                </a:solidFill>
                <a:latin typeface="Calibri"/>
                <a:ea typeface="Calibri"/>
                <a:cs typeface="Calibri"/>
              </a:rPr>
              <a:t>The €300 company price is a target. Included scope and adoption remain to be tested.</a:t>
            </a:r>
          </a:p>
        </p:txBody>
      </p:sp>
      <p:sp>
        <p:nvSpPr>
          <p:cNvPr id="9" name="">
            <a:extLst xmlns:a="http://schemas.openxmlformats.org/drawingml/2006/main">
              <a:ext uri="{FF2B5EF4-FFF2-40B4-BE49-F238E27FC236}">
                <a16:creationId xmlns:a16="http://schemas.microsoft.com/office/drawing/2014/main" id="{98CA1597-5DF9-41E0-99C0-D56FD7C4856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10</a:t>
            </a:r>
          </a:p>
        </p:txBody>
      </p:sp>
    </p:spTree>
    <p:extLst>
      <p:ext uri="{BB962C8B-B14F-4D97-AF65-F5344CB8AC3E}">
        <p14:creationId xmlns:p14="http://schemas.microsoft.com/office/powerpoint/2010/main" val="682954197"/>
      </p:ext>
    </p:extLst>
  </p:cSld>
</p:sld>
</file>

<file path=ppt/slides/slide1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2C4CDE-1EAC-4166-8622-C9F1E0CAD3CA}"/>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Alternatives and our focus</a:t>
            </a:r>
          </a:p>
        </p:txBody>
      </p:sp>
      <p:sp>
        <p:nvSpPr>
          <p:cNvPr id="2" name="">
            <a:extLst xmlns:a="http://schemas.openxmlformats.org/drawingml/2006/main">
              <a:ext uri="{FF2B5EF4-FFF2-40B4-BE49-F238E27FC236}">
                <a16:creationId xmlns:a16="http://schemas.microsoft.com/office/drawing/2014/main" id="{3CB986C6-87D8-4983-BA87-1006353DCF1B}"/>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Our proposed advantage: site teams report through WhatsApp, and owners receive structured analytics.</a:t>
            </a:r>
          </a:p>
        </p:txBody>
      </p:sp>
      <p:graphicFrame>
        <p:nvGraphicFramePr>
          <p:cNvPr id="10" name=""/>
          <p:cNvGraphicFramePr/>
          <p:nvPr/>
        </p:nvGraphicFramePr>
        <p:xfrm>
          <a:off xmlns:a="http://schemas.openxmlformats.org/drawingml/2006/main" x="762000" y="2200275"/>
          <a:ext xmlns:a="http://schemas.openxmlformats.org/drawingml/2006/main" cx="10668000" cy="3181350"/>
        </p:xfrm>
        <a:graphic xmlns:a="http://schemas.openxmlformats.org/drawingml/2006/main">
          <a:graphicData uri="http://schemas.openxmlformats.org/drawingml/2006/table">
            <a:tbl>
              <a:tblPr/>
              <a:tblGrid>
                <a:gridCol w="2190750"/>
                <a:gridCol w="3905250"/>
                <a:gridCol w="4572000"/>
              </a:tblGrid>
              <a:tr h="523875">
                <a:tc>
                  <a:txBody>
                    <a:bodyPr/>
                    <a:lstStyle/>
                    <a:p>
                      <a:r>
                        <a:rPr sz="1800" b="1">
                          <a:solidFill>
                            <a:srgbClr val="FFFFFF"/>
                          </a:solidFill>
                          <a:latin typeface="Calibri"/>
                          <a:ea typeface="Calibri"/>
                          <a:cs typeface="Calibri"/>
                        </a:rPr>
                        <a:t>Alternative</a:t>
                      </a:r>
                    </a:p>
                  </a:txBody>
                  <a:tcPr marL="91440" marR="91440" marT="45720" marB="45720">
                    <a:solidFill>
                      <a:srgbClr val="142F35"/>
                    </a:solidFill>
                  </a:tcPr>
                </a:tc>
                <a:tc>
                  <a:txBody>
                    <a:bodyPr/>
                    <a:lstStyle/>
                    <a:p>
                      <a:r>
                        <a:rPr sz="1800" b="1">
                          <a:solidFill>
                            <a:srgbClr val="FFFFFF"/>
                          </a:solidFill>
                          <a:latin typeface="Calibri"/>
                          <a:ea typeface="Calibri"/>
                          <a:cs typeface="Calibri"/>
                        </a:rPr>
                        <a:t>What it offers</a:t>
                      </a:r>
                    </a:p>
                  </a:txBody>
                  <a:tcPr marL="91440" marR="91440" marT="45720" marB="45720">
                    <a:solidFill>
                      <a:srgbClr val="142F35"/>
                    </a:solidFill>
                  </a:tcPr>
                </a:tc>
                <a:tc>
                  <a:txBody>
                    <a:bodyPr/>
                    <a:lstStyle/>
                    <a:p>
                      <a:r>
                        <a:rPr sz="1800" b="1">
                          <a:solidFill>
                            <a:srgbClr val="FFFFFF"/>
                          </a:solidFill>
                          <a:latin typeface="Calibri"/>
                          <a:ea typeface="Calibri"/>
                          <a:cs typeface="Calibri"/>
                        </a:rPr>
                        <a:t>Our focus for a small contractor</a:t>
                      </a:r>
                    </a:p>
                  </a:txBody>
                  <a:tcPr marL="91440" marR="91440" marT="45720" marB="45720">
                    <a:solidFill>
                      <a:srgbClr val="142F35"/>
                    </a:solidFill>
                  </a:tcPr>
                </a:tc>
              </a:tr>
              <a:tr h="885825">
                <a:tc>
                  <a:txBody>
                    <a:bodyPr/>
                    <a:lstStyle/>
                    <a:p>
                      <a:r>
                        <a:rPr sz="1800" b="0">
                          <a:solidFill>
                            <a:srgbClr val="142F35"/>
                          </a:solidFill>
                          <a:latin typeface="Calibri"/>
                          <a:ea typeface="Calibri"/>
                          <a:cs typeface="Calibri"/>
                        </a:rPr>
                        <a:t>WhatsApp + Excel</a:t>
                      </a:r>
                    </a:p>
                  </a:txBody>
                  <a:tcPr marL="91440" marR="91440" marT="45720" marB="45720">
                    <a:solidFill>
                      <a:srgbClr val="F6F4EE"/>
                    </a:solidFill>
                  </a:tcPr>
                </a:tc>
                <a:tc>
                  <a:txBody>
                    <a:bodyPr/>
                    <a:lstStyle/>
                    <a:p>
                      <a:r>
                        <a:rPr sz="1800" b="0">
                          <a:solidFill>
                            <a:srgbClr val="142F35"/>
                          </a:solidFill>
                          <a:latin typeface="Calibri"/>
                          <a:ea typeface="Calibri"/>
                          <a:cs typeface="Calibri"/>
                        </a:rPr>
                        <a:t>Messages and flexible spreadsheets</a:t>
                      </a:r>
                    </a:p>
                  </a:txBody>
                  <a:tcPr marL="91440" marR="91440" marT="45720" marB="45720">
                    <a:solidFill>
                      <a:srgbClr val="F6F4EE"/>
                    </a:solidFill>
                  </a:tcPr>
                </a:tc>
                <a:tc>
                  <a:txBody>
                    <a:bodyPr/>
                    <a:lstStyle/>
                    <a:p>
                      <a:r>
                        <a:rPr sz="1800" b="0">
                          <a:solidFill>
                            <a:srgbClr val="142F35"/>
                          </a:solidFill>
                          <a:latin typeface="Calibri"/>
                          <a:ea typeface="Calibri"/>
                          <a:cs typeface="Calibri"/>
                        </a:rPr>
                        <a:t>Convert site updates into structured records and reports</a:t>
                      </a:r>
                    </a:p>
                  </a:txBody>
                  <a:tcPr marL="91440" marR="91440" marT="45720" marB="45720">
                    <a:solidFill>
                      <a:srgbClr val="F6F4EE"/>
                    </a:solidFill>
                  </a:tcPr>
                </a:tc>
              </a:tr>
              <a:tr h="885825">
                <a:tc>
                  <a:txBody>
                    <a:bodyPr/>
                    <a:lstStyle/>
                    <a:p>
                      <a:r>
                        <a:rPr sz="1800" b="0">
                          <a:solidFill>
                            <a:srgbClr val="142F35"/>
                          </a:solidFill>
                          <a:latin typeface="Calibri"/>
                          <a:ea typeface="Calibri"/>
                          <a:cs typeface="Calibri"/>
                        </a:rPr>
                        <a:t>Fieldwire</a:t>
                      </a:r>
                    </a:p>
                  </a:txBody>
                  <a:tcPr marL="91440" marR="91440" marT="45720" marB="45720">
                    <a:solidFill>
                      <a:srgbClr val="F6F4EE"/>
                    </a:solidFill>
                  </a:tcPr>
                </a:tc>
                <a:tc>
                  <a:txBody>
                    <a:bodyPr/>
                    <a:lstStyle/>
                    <a:p>
                      <a:r>
                        <a:rPr sz="1800" b="0">
                          <a:solidFill>
                            <a:srgbClr val="142F35"/>
                          </a:solidFill>
                          <a:latin typeface="Calibri"/>
                          <a:ea typeface="Calibri"/>
                          <a:cs typeface="Calibri"/>
                        </a:rPr>
                        <a:t>Plans, tasks, reports and forms</a:t>
                      </a:r>
                    </a:p>
                  </a:txBody>
                  <a:tcPr marL="91440" marR="91440" marT="45720" marB="45720">
                    <a:solidFill>
                      <a:srgbClr val="F6F4EE"/>
                    </a:solidFill>
                  </a:tcPr>
                </a:tc>
                <a:tc>
                  <a:txBody>
                    <a:bodyPr/>
                    <a:lstStyle/>
                    <a:p>
                      <a:r>
                        <a:rPr sz="1800" b="0">
                          <a:solidFill>
                            <a:srgbClr val="142F35"/>
                          </a:solidFill>
                          <a:latin typeface="Calibri"/>
                          <a:ea typeface="Calibri"/>
                          <a:cs typeface="Calibri"/>
                        </a:rPr>
                        <a:t>Collect WhatsApp voice updates, with supported setup</a:t>
                      </a:r>
                    </a:p>
                  </a:txBody>
                  <a:tcPr marL="91440" marR="91440" marT="45720" marB="45720">
                    <a:solidFill>
                      <a:srgbClr val="F6F4EE"/>
                    </a:solidFill>
                  </a:tcPr>
                </a:tc>
              </a:tr>
              <a:tr h="885825">
                <a:tc>
                  <a:txBody>
                    <a:bodyPr/>
                    <a:lstStyle/>
                    <a:p>
                      <a:r>
                        <a:rPr sz="1800" b="0">
                          <a:solidFill>
                            <a:srgbClr val="142F35"/>
                          </a:solidFill>
                          <a:latin typeface="Calibri"/>
                          <a:ea typeface="Calibri"/>
                          <a:cs typeface="Calibri"/>
                        </a:rPr>
                        <a:t>Buildertrend</a:t>
                      </a:r>
                    </a:p>
                  </a:txBody>
                  <a:tcPr marL="91440" marR="91440" marT="45720" marB="45720">
                    <a:solidFill>
                      <a:srgbClr val="F6F4EE"/>
                    </a:solidFill>
                  </a:tcPr>
                </a:tc>
                <a:tc>
                  <a:txBody>
                    <a:bodyPr/>
                    <a:lstStyle/>
                    <a:p>
                      <a:r>
                        <a:rPr sz="1800" b="0">
                          <a:solidFill>
                            <a:srgbClr val="142F35"/>
                          </a:solidFill>
                          <a:latin typeface="Calibri"/>
                          <a:ea typeface="Calibri"/>
                          <a:cs typeface="Calibri"/>
                        </a:rPr>
                        <a:t>Daily logs plus project and financial tools</a:t>
                      </a:r>
                    </a:p>
                  </a:txBody>
                  <a:tcPr marL="91440" marR="91440" marT="45720" marB="45720">
                    <a:solidFill>
                      <a:srgbClr val="F6F4EE"/>
                    </a:solidFill>
                  </a:tcPr>
                </a:tc>
                <a:tc>
                  <a:txBody>
                    <a:bodyPr/>
                    <a:lstStyle/>
                    <a:p>
                      <a:r>
                        <a:rPr sz="1800" b="0">
                          <a:solidFill>
                            <a:srgbClr val="142F35"/>
                          </a:solidFill>
                          <a:latin typeface="Calibri"/>
                          <a:ea typeface="Calibri"/>
                          <a:cs typeface="Calibri"/>
                        </a:rPr>
                        <a:t>Deliver focused reporting without a full platform rollout</a:t>
                      </a:r>
                    </a:p>
                  </a:txBody>
                  <a:tcPr marL="91440" marR="91440" marT="45720" marB="45720">
                    <a:solidFill>
                      <a:srgbClr val="F6F4EE"/>
                    </a:solidFill>
                  </a:tcPr>
                </a:tc>
              </a:tr>
            </a:tbl>
          </a:graphicData>
        </a:graphic>
      </p:graphicFrame>
      <p:sp>
        <p:nvSpPr>
          <p:cNvPr id="4" name="">
            <a:extLst xmlns:a="http://schemas.openxmlformats.org/drawingml/2006/main">
              <a:ext uri="{FF2B5EF4-FFF2-40B4-BE49-F238E27FC236}">
                <a16:creationId xmlns:a16="http://schemas.microsoft.com/office/drawing/2014/main" id="{25A5C58D-18D0-4561-8DAB-3E8189A85027}"/>
              </a:ext>
            </a:extLst>
          </p:cNvPr>
          <p:cNvSpPr>
            <a:spLocks xmlns:a="http://schemas.openxmlformats.org/drawingml/2006/main" noGrp="1"/>
          </p:cNvSpPr>
          <p:nvPr/>
        </p:nvSpPr>
        <p:spPr>
          <a:xfrm xmlns:a="http://schemas.openxmlformats.org/drawingml/2006/main">
            <a:off x="762000" y="57531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79"/>
                </a:solidFill>
                <a:latin typeface="Calibri"/>
                <a:ea typeface="Calibri"/>
                <a:cs typeface="Calibri"/>
              </a:defRPr>
            </a:pPr>
            <a:r>
              <a:rPr sz="1800" b="1">
                <a:solidFill>
                  <a:srgbClr val="008579"/>
                </a:solidFill>
                <a:latin typeface="Calibri"/>
                <a:ea typeface="Calibri"/>
                <a:cs typeface="Calibri"/>
              </a:rPr>
              <a:t>We need to prove the advantage through activation, reporting consistency and time saved.</a:t>
            </a:r>
          </a:p>
        </p:txBody>
      </p:sp>
      <p:sp>
        <p:nvSpPr>
          <p:cNvPr id="5" name="">
            <a:extLst xmlns:a="http://schemas.openxmlformats.org/drawingml/2006/main">
              <a:ext uri="{FF2B5EF4-FFF2-40B4-BE49-F238E27FC236}">
                <a16:creationId xmlns:a16="http://schemas.microsoft.com/office/drawing/2014/main" id="{2A162997-DDAC-4734-BE8D-D2937CA16DD5}"/>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11</a:t>
            </a:r>
          </a:p>
        </p:txBody>
      </p:sp>
    </p:spTree>
    <p:extLst>
      <p:ext uri="{BB962C8B-B14F-4D97-AF65-F5344CB8AC3E}">
        <p14:creationId xmlns:p14="http://schemas.microsoft.com/office/powerpoint/2010/main" val="619606636"/>
      </p:ext>
    </p:extLst>
  </p:cSld>
</p:sld>
</file>

<file path=ppt/slides/slide1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46F360-6998-41FD-BEF4-2EF9DB4B52E4}"/>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F35"/>
                </a:solidFill>
                <a:latin typeface="Calibri"/>
                <a:ea typeface="Calibri"/>
                <a:cs typeface="Calibri"/>
              </a:defRPr>
            </a:pPr>
            <a:r>
              <a:rPr sz="3150" b="1">
                <a:solidFill>
                  <a:srgbClr val="142F35"/>
                </a:solidFill>
                <a:latin typeface="Calibri"/>
                <a:ea typeface="Calibri"/>
                <a:cs typeface="Calibri"/>
              </a:rPr>
              <a:t>What one year of outreach has shown</a:t>
            </a:r>
          </a:p>
        </p:txBody>
      </p:sp>
      <p:sp>
        <p:nvSpPr>
          <p:cNvPr id="2" name="">
            <a:extLst xmlns:a="http://schemas.openxmlformats.org/drawingml/2006/main">
              <a:ext uri="{FF2B5EF4-FFF2-40B4-BE49-F238E27FC236}">
                <a16:creationId xmlns:a16="http://schemas.microsoft.com/office/drawing/2014/main" id="{5C4F8EBF-BE18-47D3-AC17-D0BA450EB929}"/>
              </a:ext>
            </a:extLst>
          </p:cNvPr>
          <p:cNvSpPr>
            <a:spLocks xmlns:a="http://schemas.openxmlformats.org/drawingml/2006/main" noGrp="1"/>
          </p:cNvSpPr>
          <p:nvPr/>
        </p:nvSpPr>
        <p:spPr>
          <a:xfrm xmlns:a="http://schemas.openxmlformats.org/drawingml/2006/main">
            <a:off x="723900" y="12763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B70"/>
                </a:solidFill>
                <a:latin typeface="Calibri"/>
                <a:ea typeface="Calibri"/>
                <a:cs typeface="Calibri"/>
              </a:defRPr>
            </a:pPr>
            <a:r>
              <a:rPr sz="2025" b="0">
                <a:solidFill>
                  <a:srgbClr val="536B70"/>
                </a:solidFill>
                <a:latin typeface="Calibri"/>
                <a:ea typeface="Calibri"/>
                <a:cs typeface="Calibri"/>
              </a:rPr>
              <a:t>Approximately 100 companies approached through direct outreach and Facebook advertising.</a:t>
            </a:r>
          </a:p>
        </p:txBody>
      </p:sp>
      <p:sp>
        <p:nvSpPr>
          <p:cNvPr id="3" name="">
            <a:extLst xmlns:a="http://schemas.openxmlformats.org/drawingml/2006/main">
              <a:ext uri="{FF2B5EF4-FFF2-40B4-BE49-F238E27FC236}">
                <a16:creationId xmlns:a16="http://schemas.microsoft.com/office/drawing/2014/main" id="{91AFFBC1-2680-4948-9A99-3FF5483CC1FB}"/>
              </a:ext>
            </a:extLst>
          </p:cNvPr>
          <p:cNvSpPr>
            <a:spLocks xmlns:a="http://schemas.openxmlformats.org/drawingml/2006/main" noGrp="1"/>
          </p:cNvSpPr>
          <p:nvPr/>
        </p:nvSpPr>
        <p:spPr>
          <a:xfrm xmlns:a="http://schemas.openxmlformats.org/drawingml/2006/main">
            <a:off x="723900" y="2238375"/>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008579"/>
                </a:solidFill>
                <a:latin typeface="Calibri"/>
                <a:ea typeface="Calibri"/>
                <a:cs typeface="Calibri"/>
              </a:defRPr>
            </a:pPr>
            <a:r>
              <a:rPr sz="6000" b="1">
                <a:solidFill>
                  <a:srgbClr val="008579"/>
                </a:solidFill>
                <a:latin typeface="Calibri"/>
                <a:ea typeface="Calibri"/>
                <a:cs typeface="Calibri"/>
              </a:rPr>
              <a:t>~100</a:t>
            </a:r>
          </a:p>
        </p:txBody>
      </p:sp>
      <p:sp>
        <p:nvSpPr>
          <p:cNvPr id="4" name="">
            <a:extLst xmlns:a="http://schemas.openxmlformats.org/drawingml/2006/main">
              <a:ext uri="{FF2B5EF4-FFF2-40B4-BE49-F238E27FC236}">
                <a16:creationId xmlns:a16="http://schemas.microsoft.com/office/drawing/2014/main" id="{65C90AC9-029B-4EE4-A8B2-95CBDA0716AB}"/>
              </a:ext>
            </a:extLst>
          </p:cNvPr>
          <p:cNvSpPr>
            <a:spLocks xmlns:a="http://schemas.openxmlformats.org/drawingml/2006/main" noGrp="1"/>
          </p:cNvSpPr>
          <p:nvPr/>
        </p:nvSpPr>
        <p:spPr>
          <a:xfrm xmlns:a="http://schemas.openxmlformats.org/drawingml/2006/main">
            <a:off x="762000" y="328612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F35"/>
                </a:solidFill>
                <a:latin typeface="Calibri"/>
                <a:ea typeface="Calibri"/>
                <a:cs typeface="Calibri"/>
              </a:defRPr>
            </a:pPr>
            <a:r>
              <a:rPr sz="2100" b="0">
                <a:solidFill>
                  <a:srgbClr val="142F35"/>
                </a:solidFill>
                <a:latin typeface="Calibri"/>
                <a:ea typeface="Calibri"/>
                <a:cs typeface="Calibri"/>
              </a:rPr>
              <a:t>companies approached</a:t>
            </a:r>
          </a:p>
        </p:txBody>
      </p:sp>
      <p:sp>
        <p:nvSpPr>
          <p:cNvPr id="5" name="">
            <a:extLst xmlns:a="http://schemas.openxmlformats.org/drawingml/2006/main">
              <a:ext uri="{FF2B5EF4-FFF2-40B4-BE49-F238E27FC236}">
                <a16:creationId xmlns:a16="http://schemas.microsoft.com/office/drawing/2014/main" id="{3DB5FDE8-BE3D-400C-B52D-76B45201C223}"/>
              </a:ext>
            </a:extLst>
          </p:cNvPr>
          <p:cNvSpPr>
            <a:spLocks xmlns:a="http://schemas.openxmlformats.org/drawingml/2006/main" noGrp="1"/>
          </p:cNvSpPr>
          <p:nvPr/>
        </p:nvSpPr>
        <p:spPr>
          <a:xfrm xmlns:a="http://schemas.openxmlformats.org/drawingml/2006/main">
            <a:off x="4762500" y="2238375"/>
            <a:ext cx="285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008579"/>
                </a:solidFill>
                <a:latin typeface="Calibri"/>
                <a:ea typeface="Calibri"/>
                <a:cs typeface="Calibri"/>
              </a:defRPr>
            </a:pPr>
            <a:r>
              <a:rPr sz="6000" b="1">
                <a:solidFill>
                  <a:srgbClr val="008579"/>
                </a:solidFill>
                <a:latin typeface="Calibri"/>
                <a:ea typeface="Calibri"/>
                <a:cs typeface="Calibri"/>
              </a:rPr>
              <a:t>5</a:t>
            </a:r>
          </a:p>
        </p:txBody>
      </p:sp>
      <p:sp>
        <p:nvSpPr>
          <p:cNvPr id="6" name="">
            <a:extLst xmlns:a="http://schemas.openxmlformats.org/drawingml/2006/main">
              <a:ext uri="{FF2B5EF4-FFF2-40B4-BE49-F238E27FC236}">
                <a16:creationId xmlns:a16="http://schemas.microsoft.com/office/drawing/2014/main" id="{9A8040C2-3985-43BC-AB24-DA4E0B9EC590}"/>
              </a:ext>
            </a:extLst>
          </p:cNvPr>
          <p:cNvSpPr>
            <a:spLocks xmlns:a="http://schemas.openxmlformats.org/drawingml/2006/main" noGrp="1"/>
          </p:cNvSpPr>
          <p:nvPr/>
        </p:nvSpPr>
        <p:spPr>
          <a:xfrm xmlns:a="http://schemas.openxmlformats.org/drawingml/2006/main">
            <a:off x="4800600" y="3286125"/>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F35"/>
                </a:solidFill>
                <a:latin typeface="Calibri"/>
                <a:ea typeface="Calibri"/>
                <a:cs typeface="Calibri"/>
              </a:defRPr>
            </a:pPr>
            <a:r>
              <a:rPr sz="2100" b="0">
                <a:solidFill>
                  <a:srgbClr val="142F35"/>
                </a:solidFill>
                <a:latin typeface="Calibri"/>
                <a:ea typeface="Calibri"/>
                <a:cs typeface="Calibri"/>
              </a:rPr>
              <a:t>currently paying</a:t>
            </a:r>
          </a:p>
        </p:txBody>
      </p:sp>
      <p:sp>
        <p:nvSpPr>
          <p:cNvPr id="7" name="">
            <a:extLst xmlns:a="http://schemas.openxmlformats.org/drawingml/2006/main">
              <a:ext uri="{FF2B5EF4-FFF2-40B4-BE49-F238E27FC236}">
                <a16:creationId xmlns:a16="http://schemas.microsoft.com/office/drawing/2014/main" id="{076000FC-BCC2-4C16-A6B0-09DB9C789B06}"/>
              </a:ext>
            </a:extLst>
          </p:cNvPr>
          <p:cNvSpPr>
            <a:spLocks xmlns:a="http://schemas.openxmlformats.org/drawingml/2006/main" noGrp="1"/>
          </p:cNvSpPr>
          <p:nvPr/>
        </p:nvSpPr>
        <p:spPr>
          <a:xfrm xmlns:a="http://schemas.openxmlformats.org/drawingml/2006/main">
            <a:off x="8629650" y="2238375"/>
            <a:ext cx="276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008579"/>
                </a:solidFill>
                <a:latin typeface="Calibri"/>
                <a:ea typeface="Calibri"/>
                <a:cs typeface="Calibri"/>
              </a:defRPr>
            </a:pPr>
            <a:r>
              <a:rPr sz="6000" b="1">
                <a:solidFill>
                  <a:srgbClr val="008579"/>
                </a:solidFill>
                <a:latin typeface="Calibri"/>
                <a:ea typeface="Calibri"/>
                <a:cs typeface="Calibri"/>
              </a:rPr>
              <a:t>1</a:t>
            </a:r>
          </a:p>
        </p:txBody>
      </p:sp>
      <p:sp>
        <p:nvSpPr>
          <p:cNvPr id="8" name="">
            <a:extLst xmlns:a="http://schemas.openxmlformats.org/drawingml/2006/main">
              <a:ext uri="{FF2B5EF4-FFF2-40B4-BE49-F238E27FC236}">
                <a16:creationId xmlns:a16="http://schemas.microsoft.com/office/drawing/2014/main" id="{3C074390-DD9D-4776-87A8-244589A2A673}"/>
              </a:ext>
            </a:extLst>
          </p:cNvPr>
          <p:cNvSpPr>
            <a:spLocks xmlns:a="http://schemas.openxmlformats.org/drawingml/2006/main" noGrp="1"/>
          </p:cNvSpPr>
          <p:nvPr/>
        </p:nvSpPr>
        <p:spPr>
          <a:xfrm xmlns:a="http://schemas.openxmlformats.org/drawingml/2006/main">
            <a:off x="8667750" y="3286125"/>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F35"/>
                </a:solidFill>
                <a:latin typeface="Calibri"/>
                <a:ea typeface="Calibri"/>
                <a:cs typeface="Calibri"/>
              </a:defRPr>
            </a:pPr>
            <a:r>
              <a:rPr sz="2100" b="0">
                <a:solidFill>
                  <a:srgbClr val="142F35"/>
                </a:solidFill>
                <a:latin typeface="Calibri"/>
                <a:ea typeface="Calibri"/>
                <a:cs typeface="Calibri"/>
              </a:rPr>
              <a:t>former payer churned</a:t>
            </a:r>
          </a:p>
        </p:txBody>
      </p:sp>
      <p:sp>
        <p:nvSpPr>
          <p:cNvPr id="9" name="">
            <a:extLst xmlns:a="http://schemas.openxmlformats.org/drawingml/2006/main">
              <a:ext uri="{FF2B5EF4-FFF2-40B4-BE49-F238E27FC236}">
                <a16:creationId xmlns:a16="http://schemas.microsoft.com/office/drawing/2014/main" id="{F444A170-84E2-4BB8-A33C-3277DCC6A8CA}"/>
              </a:ext>
            </a:extLst>
          </p:cNvPr>
          <p:cNvSpPr>
            <a:spLocks xmlns:a="http://schemas.openxmlformats.org/drawingml/2006/main" noGrp="1"/>
          </p:cNvSpPr>
          <p:nvPr/>
        </p:nvSpPr>
        <p:spPr>
          <a:xfrm xmlns:a="http://schemas.openxmlformats.org/drawingml/2006/main">
            <a:off x="762000" y="427672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2F35"/>
                </a:solidFill>
                <a:latin typeface="Calibri"/>
                <a:ea typeface="Calibri"/>
                <a:cs typeface="Calibri"/>
              </a:defRPr>
            </a:pPr>
            <a:r>
              <a:rPr sz="2325" b="1">
                <a:solidFill>
                  <a:srgbClr val="142F35"/>
                </a:solidFill>
                <a:latin typeface="Calibri"/>
                <a:ea typeface="Calibri"/>
                <a:cs typeface="Calibri"/>
              </a:rPr>
              <a:t>Also in progress: one free pilot and one active trial</a:t>
            </a:r>
          </a:p>
        </p:txBody>
      </p:sp>
      <p:sp>
        <p:nvSpPr>
          <p:cNvPr id="10" name="">
            <a:extLst xmlns:a="http://schemas.openxmlformats.org/drawingml/2006/main">
              <a:ext uri="{FF2B5EF4-FFF2-40B4-BE49-F238E27FC236}">
                <a16:creationId xmlns:a16="http://schemas.microsoft.com/office/drawing/2014/main" id="{6DCD413D-F16D-480E-B616-537261583343}"/>
              </a:ext>
            </a:extLst>
          </p:cNvPr>
          <p:cNvSpPr>
            <a:spLocks xmlns:a="http://schemas.openxmlformats.org/drawingml/2006/main" noGrp="1"/>
          </p:cNvSpPr>
          <p:nvPr/>
        </p:nvSpPr>
        <p:spPr>
          <a:xfrm xmlns:a="http://schemas.openxmlformats.org/drawingml/2006/main">
            <a:off x="762000" y="5076825"/>
            <a:ext cx="10572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B70"/>
                </a:solidFill>
                <a:latin typeface="Calibri"/>
                <a:ea typeface="Calibri"/>
                <a:cs typeface="Calibri"/>
              </a:defRPr>
            </a:pPr>
            <a:r>
              <a:rPr sz="1950" b="0">
                <a:solidFill>
                  <a:srgbClr val="536B70"/>
                </a:solidFill>
                <a:latin typeface="Calibri"/>
                <a:ea typeface="Calibri"/>
                <a:cs typeface="Calibri"/>
              </a:rPr>
              <a:t>~5% currently paying / approached. ~6% have paid at some point.</a:t>
            </a:r>
          </a:p>
          <a:p xmlns:a="http://schemas.openxmlformats.org/drawingml/2006/main">
            <a:pPr>
              <a:defRPr sz="1950" b="0">
                <a:solidFill>
                  <a:srgbClr val="536B70"/>
                </a:solidFill>
                <a:latin typeface="Calibri"/>
                <a:ea typeface="Calibri"/>
                <a:cs typeface="Calibri"/>
              </a:defRPr>
            </a:pPr>
            <a:r>
              <a:rPr sz="1950" b="0">
                <a:solidFill>
                  <a:srgbClr val="536B70"/>
                </a:solidFill>
                <a:latin typeface="Calibri"/>
                <a:ea typeface="Calibri"/>
                <a:cs typeface="Calibri"/>
              </a:rPr>
              <a:t>These are approximate cumulative ratios. Reliable channel CAC is not yet available.</a:t>
            </a:r>
          </a:p>
        </p:txBody>
      </p:sp>
      <p:sp>
        <p:nvSpPr>
          <p:cNvPr id="11" name="">
            <a:extLst xmlns:a="http://schemas.openxmlformats.org/drawingml/2006/main">
              <a:ext uri="{FF2B5EF4-FFF2-40B4-BE49-F238E27FC236}">
                <a16:creationId xmlns:a16="http://schemas.microsoft.com/office/drawing/2014/main" id="{7112398C-2D51-47F3-827F-DCF461BFE64E}"/>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12</a:t>
            </a:r>
          </a:p>
        </p:txBody>
      </p:sp>
    </p:spTree>
    <p:extLst>
      <p:ext uri="{BB962C8B-B14F-4D97-AF65-F5344CB8AC3E}">
        <p14:creationId xmlns:p14="http://schemas.microsoft.com/office/powerpoint/2010/main" val="1281979934"/>
      </p:ext>
    </p:extLst>
  </p:cSld>
</p:sld>
</file>

<file path=ppt/slides/slide1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ECE95E-B0E7-433B-BCDE-044062BCD5D3}"/>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The next 90 days: test a repeatable sales process</a:t>
            </a:r>
          </a:p>
        </p:txBody>
      </p:sp>
      <p:sp>
        <p:nvSpPr>
          <p:cNvPr id="2" name="">
            <a:extLst xmlns:a="http://schemas.openxmlformats.org/drawingml/2006/main">
              <a:ext uri="{FF2B5EF4-FFF2-40B4-BE49-F238E27FC236}">
                <a16:creationId xmlns:a16="http://schemas.microsoft.com/office/drawing/2014/main" id="{B5F17BDE-5728-4346-80CA-AA2A1B63D268}"/>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Proposed experiments, with results deciding the next spending step.</a:t>
            </a:r>
          </a:p>
        </p:txBody>
      </p:sp>
      <p:sp>
        <p:nvSpPr>
          <p:cNvPr id="3" name="">
            <a:extLst xmlns:a="http://schemas.openxmlformats.org/drawingml/2006/main">
              <a:ext uri="{FF2B5EF4-FFF2-40B4-BE49-F238E27FC236}">
                <a16:creationId xmlns:a16="http://schemas.microsoft.com/office/drawing/2014/main" id="{798CF8A3-4355-49B6-9B37-1363B737460C}"/>
              </a:ext>
            </a:extLst>
          </p:cNvPr>
          <p:cNvSpPr>
            <a:spLocks xmlns:a="http://schemas.openxmlformats.org/drawingml/2006/main" noGrp="1"/>
          </p:cNvSpPr>
          <p:nvPr/>
        </p:nvSpPr>
        <p:spPr>
          <a:xfrm xmlns:a="http://schemas.openxmlformats.org/drawingml/2006/main">
            <a:off x="762000" y="21336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Latvia: targeted outbound</a:t>
            </a:r>
          </a:p>
        </p:txBody>
      </p:sp>
      <p:sp>
        <p:nvSpPr>
          <p:cNvPr id="4" name="">
            <a:extLst xmlns:a="http://schemas.openxmlformats.org/drawingml/2006/main">
              <a:ext uri="{FF2B5EF4-FFF2-40B4-BE49-F238E27FC236}">
                <a16:creationId xmlns:a16="http://schemas.microsoft.com/office/drawing/2014/main" id="{A71FA044-5D49-4E48-86C5-BF6615928F9C}"/>
              </a:ext>
            </a:extLst>
          </p:cNvPr>
          <p:cNvSpPr>
            <a:spLocks xmlns:a="http://schemas.openxmlformats.org/drawingml/2006/main" noGrp="1"/>
          </p:cNvSpPr>
          <p:nvPr/>
        </p:nvSpPr>
        <p:spPr>
          <a:xfrm xmlns:a="http://schemas.openxmlformats.org/drawingml/2006/main">
            <a:off x="762000" y="260032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Build a list of 10–49 person contractors. Track each contact, demo, trial and payment.</a:t>
            </a:r>
          </a:p>
        </p:txBody>
      </p:sp>
      <p:sp>
        <p:nvSpPr>
          <p:cNvPr id="5" name="">
            <a:extLst xmlns:a="http://schemas.openxmlformats.org/drawingml/2006/main">
              <a:ext uri="{FF2B5EF4-FFF2-40B4-BE49-F238E27FC236}">
                <a16:creationId xmlns:a16="http://schemas.microsoft.com/office/drawing/2014/main" id="{0BA357FD-3CE3-4E88-81B3-A0B445B0EA0E}"/>
              </a:ext>
            </a:extLst>
          </p:cNvPr>
          <p:cNvSpPr>
            <a:spLocks xmlns:a="http://schemas.openxmlformats.org/drawingml/2006/main" noGrp="1"/>
          </p:cNvSpPr>
          <p:nvPr/>
        </p:nvSpPr>
        <p:spPr>
          <a:xfrm xmlns:a="http://schemas.openxmlformats.org/drawingml/2006/main">
            <a:off x="762000" y="34575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Turn demos into live project trials</a:t>
            </a:r>
          </a:p>
        </p:txBody>
      </p:sp>
      <p:sp>
        <p:nvSpPr>
          <p:cNvPr id="6" name="">
            <a:extLst xmlns:a="http://schemas.openxmlformats.org/drawingml/2006/main">
              <a:ext uri="{FF2B5EF4-FFF2-40B4-BE49-F238E27FC236}">
                <a16:creationId xmlns:a16="http://schemas.microsoft.com/office/drawing/2014/main" id="{A94C35E2-5177-4751-863A-558948AD756D}"/>
              </a:ext>
            </a:extLst>
          </p:cNvPr>
          <p:cNvSpPr>
            <a:spLocks xmlns:a="http://schemas.openxmlformats.org/drawingml/2006/main" noGrp="1"/>
          </p:cNvSpPr>
          <p:nvPr/>
        </p:nvSpPr>
        <p:spPr>
          <a:xfrm xmlns:a="http://schemas.openxmlformats.org/drawingml/2006/main">
            <a:off x="762000" y="3924300"/>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Use the contractor’s own project in the demo. Set up the first report together and agree the paid start date.</a:t>
            </a:r>
          </a:p>
        </p:txBody>
      </p:sp>
      <p:sp>
        <p:nvSpPr>
          <p:cNvPr id="7" name="">
            <a:extLst xmlns:a="http://schemas.openxmlformats.org/drawingml/2006/main">
              <a:ext uri="{FF2B5EF4-FFF2-40B4-BE49-F238E27FC236}">
                <a16:creationId xmlns:a16="http://schemas.microsoft.com/office/drawing/2014/main" id="{461BACA2-3C4E-4617-8462-AEA285D5FB5B}"/>
              </a:ext>
            </a:extLst>
          </p:cNvPr>
          <p:cNvSpPr>
            <a:spLocks xmlns:a="http://schemas.openxmlformats.org/drawingml/2006/main" noGrp="1"/>
          </p:cNvSpPr>
          <p:nvPr/>
        </p:nvSpPr>
        <p:spPr>
          <a:xfrm xmlns:a="http://schemas.openxmlformats.org/drawingml/2006/main">
            <a:off x="762000" y="47815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Test one expansion market</a:t>
            </a:r>
          </a:p>
        </p:txBody>
      </p:sp>
      <p:sp>
        <p:nvSpPr>
          <p:cNvPr id="8" name="">
            <a:extLst xmlns:a="http://schemas.openxmlformats.org/drawingml/2006/main">
              <a:ext uri="{FF2B5EF4-FFF2-40B4-BE49-F238E27FC236}">
                <a16:creationId xmlns:a16="http://schemas.microsoft.com/office/drawing/2014/main" id="{7879436E-9935-4CE1-863C-68E07788F929}"/>
              </a:ext>
            </a:extLst>
          </p:cNvPr>
          <p:cNvSpPr>
            <a:spLocks xmlns:a="http://schemas.openxmlformats.org/drawingml/2006/main" noGrp="1"/>
          </p:cNvSpPr>
          <p:nvPr/>
        </p:nvSpPr>
        <p:spPr>
          <a:xfrm xmlns:a="http://schemas.openxmlformats.org/drawingml/2006/main">
            <a:off x="762000" y="524827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Start with a small Swedish pilot cohort. Compare paid conversion and support effort before scaling or adding the UK.</a:t>
            </a:r>
          </a:p>
        </p:txBody>
      </p:sp>
      <p:sp>
        <p:nvSpPr>
          <p:cNvPr id="9" name="">
            <a:extLst xmlns:a="http://schemas.openxmlformats.org/drawingml/2006/main">
              <a:ext uri="{FF2B5EF4-FFF2-40B4-BE49-F238E27FC236}">
                <a16:creationId xmlns:a16="http://schemas.microsoft.com/office/drawing/2014/main" id="{A1E4C12A-0C5A-4E06-829B-ECB7BD9F6B87}"/>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13</a:t>
            </a:r>
          </a:p>
        </p:txBody>
      </p:sp>
    </p:spTree>
    <p:extLst>
      <p:ext uri="{BB962C8B-B14F-4D97-AF65-F5344CB8AC3E}">
        <p14:creationId xmlns:p14="http://schemas.microsoft.com/office/powerpoint/2010/main" val="259193421"/>
      </p:ext>
    </p:extLst>
  </p:cSld>
</p:sld>
</file>

<file path=ppt/slides/slide1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B485CE-993E-4557-A124-AE7E65281CF5}"/>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Acquisition evidence and the next measurements</a:t>
            </a:r>
          </a:p>
        </p:txBody>
      </p:sp>
      <p:sp>
        <p:nvSpPr>
          <p:cNvPr id="2" name="">
            <a:extLst xmlns:a="http://schemas.openxmlformats.org/drawingml/2006/main">
              <a:ext uri="{FF2B5EF4-FFF2-40B4-BE49-F238E27FC236}">
                <a16:creationId xmlns:a16="http://schemas.microsoft.com/office/drawing/2014/main" id="{E699C6B5-3B0F-4627-9DCF-97FB3DEE0721}"/>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Follow each monthly cohort from first contact through payment and renewal.</a:t>
            </a:r>
          </a:p>
        </p:txBody>
      </p:sp>
      <p:graphicFrame>
        <p:nvGraphicFramePr>
          <p:cNvPr id="11" name=""/>
          <p:cNvGraphicFramePr/>
          <p:nvPr/>
        </p:nvGraphicFramePr>
        <p:xfrm>
          <a:off xmlns:a="http://schemas.openxmlformats.org/drawingml/2006/main" x="762000" y="2133600"/>
          <a:ext xmlns:a="http://schemas.openxmlformats.org/drawingml/2006/main" cx="10668000" cy="2667000"/>
        </p:xfrm>
        <a:graphic xmlns:a="http://schemas.openxmlformats.org/drawingml/2006/main">
          <a:graphicData uri="http://schemas.openxmlformats.org/drawingml/2006/table">
            <a:tbl>
              <a:tblPr/>
              <a:tblGrid>
                <a:gridCol w="2857500"/>
                <a:gridCol w="3810000"/>
                <a:gridCol w="4000500"/>
              </a:tblGrid>
              <a:tr h="523875">
                <a:tc>
                  <a:txBody>
                    <a:bodyPr/>
                    <a:lstStyle/>
                    <a:p>
                      <a:r>
                        <a:rPr sz="1800" b="1">
                          <a:solidFill>
                            <a:srgbClr val="FFFFFF"/>
                          </a:solidFill>
                          <a:latin typeface="Calibri"/>
                          <a:ea typeface="Calibri"/>
                          <a:cs typeface="Calibri"/>
                        </a:rPr>
                        <a:t>Evidence / channel</a:t>
                      </a:r>
                    </a:p>
                  </a:txBody>
                  <a:tcPr marL="91440" marR="91440" marT="45720" marB="45720">
                    <a:solidFill>
                      <a:srgbClr val="142F35"/>
                    </a:solidFill>
                  </a:tcPr>
                </a:tc>
                <a:tc>
                  <a:txBody>
                    <a:bodyPr/>
                    <a:lstStyle/>
                    <a:p>
                      <a:r>
                        <a:rPr sz="1800" b="1">
                          <a:solidFill>
                            <a:srgbClr val="FFFFFF"/>
                          </a:solidFill>
                          <a:latin typeface="Calibri"/>
                          <a:ea typeface="Calibri"/>
                          <a:cs typeface="Calibri"/>
                        </a:rPr>
                        <a:t>Observed so far</a:t>
                      </a:r>
                    </a:p>
                  </a:txBody>
                  <a:tcPr marL="91440" marR="91440" marT="45720" marB="45720">
                    <a:solidFill>
                      <a:srgbClr val="142F35"/>
                    </a:solidFill>
                  </a:tcPr>
                </a:tc>
                <a:tc>
                  <a:txBody>
                    <a:bodyPr/>
                    <a:lstStyle/>
                    <a:p>
                      <a:r>
                        <a:rPr sz="1800" b="1">
                          <a:solidFill>
                            <a:srgbClr val="FFFFFF"/>
                          </a:solidFill>
                          <a:latin typeface="Calibri"/>
                          <a:ea typeface="Calibri"/>
                          <a:cs typeface="Calibri"/>
                        </a:rPr>
                        <a:t>Measure next</a:t>
                      </a:r>
                    </a:p>
                  </a:txBody>
                  <a:tcPr marL="91440" marR="91440" marT="45720" marB="45720">
                    <a:solidFill>
                      <a:srgbClr val="142F35"/>
                    </a:solidFill>
                  </a:tcPr>
                </a:tc>
              </a:tr>
              <a:tr h="714375">
                <a:tc>
                  <a:txBody>
                    <a:bodyPr/>
                    <a:lstStyle/>
                    <a:p>
                      <a:r>
                        <a:rPr sz="1800" b="0">
                          <a:solidFill>
                            <a:srgbClr val="142F35"/>
                          </a:solidFill>
                          <a:latin typeface="Calibri"/>
                          <a:ea typeface="Calibri"/>
                          <a:cs typeface="Calibri"/>
                        </a:rPr>
                        <a:t>All outreach, ~1 year</a:t>
                      </a:r>
                    </a:p>
                  </a:txBody>
                  <a:tcPr marL="91440" marR="91440" marT="45720" marB="45720">
                    <a:solidFill>
                      <a:srgbClr val="F6F4EE"/>
                    </a:solidFill>
                  </a:tcPr>
                </a:tc>
                <a:tc>
                  <a:txBody>
                    <a:bodyPr/>
                    <a:lstStyle/>
                    <a:p>
                      <a:r>
                        <a:rPr sz="1800" b="0">
                          <a:solidFill>
                            <a:srgbClr val="142F35"/>
                          </a:solidFill>
                          <a:latin typeface="Calibri"/>
                          <a:ea typeface="Calibri"/>
                          <a:cs typeface="Calibri"/>
                        </a:rPr>
                        <a:t>~100 approached, 6 ever paid</a:t>
                      </a:r>
                    </a:p>
                  </a:txBody>
                  <a:tcPr marL="91440" marR="91440" marT="45720" marB="45720">
                    <a:solidFill>
                      <a:srgbClr val="F6F4EE"/>
                    </a:solidFill>
                  </a:tcPr>
                </a:tc>
                <a:tc>
                  <a:txBody>
                    <a:bodyPr/>
                    <a:lstStyle/>
                    <a:p>
                      <a:r>
                        <a:rPr sz="1800" b="0">
                          <a:solidFill>
                            <a:srgbClr val="142F35"/>
                          </a:solidFill>
                          <a:latin typeface="Calibri"/>
                          <a:ea typeface="Calibri"/>
                          <a:cs typeface="Calibri"/>
                        </a:rPr>
                        <a:t>5 current, 1 churned; cohort retention</a:t>
                      </a:r>
                    </a:p>
                  </a:txBody>
                  <a:tcPr marL="91440" marR="91440" marT="45720" marB="45720">
                    <a:solidFill>
                      <a:srgbClr val="F6F4EE"/>
                    </a:solidFill>
                  </a:tcPr>
                </a:tc>
              </a:tr>
              <a:tr h="714375">
                <a:tc>
                  <a:txBody>
                    <a:bodyPr/>
                    <a:lstStyle/>
                    <a:p>
                      <a:r>
                        <a:rPr sz="1800" b="0">
                          <a:solidFill>
                            <a:srgbClr val="142F35"/>
                          </a:solidFill>
                          <a:latin typeface="Calibri"/>
                          <a:ea typeface="Calibri"/>
                          <a:cs typeface="Calibri"/>
                        </a:rPr>
                        <a:t>Direct outreach sample</a:t>
                      </a:r>
                    </a:p>
                  </a:txBody>
                  <a:tcPr marL="91440" marR="91440" marT="45720" marB="45720">
                    <a:solidFill>
                      <a:srgbClr val="F6F4EE"/>
                    </a:solidFill>
                  </a:tcPr>
                </a:tc>
                <a:tc>
                  <a:txBody>
                    <a:bodyPr/>
                    <a:lstStyle/>
                    <a:p>
                      <a:r>
                        <a:rPr sz="1800" b="0">
                          <a:solidFill>
                            <a:srgbClr val="142F35"/>
                          </a:solidFill>
                          <a:latin typeface="Calibri"/>
                          <a:ea typeface="Calibri"/>
                          <a:cs typeface="Calibri"/>
                        </a:rPr>
                        <a:t>55 calls, 7 demos booked</a:t>
                      </a:r>
                    </a:p>
                  </a:txBody>
                  <a:tcPr marL="91440" marR="91440" marT="45720" marB="45720">
                    <a:solidFill>
                      <a:srgbClr val="F6F4EE"/>
                    </a:solidFill>
                  </a:tcPr>
                </a:tc>
                <a:tc>
                  <a:txBody>
                    <a:bodyPr/>
                    <a:lstStyle/>
                    <a:p>
                      <a:r>
                        <a:rPr sz="1800" b="0">
                          <a:solidFill>
                            <a:srgbClr val="142F35"/>
                          </a:solidFill>
                          <a:latin typeface="Calibri"/>
                          <a:ea typeface="Calibri"/>
                          <a:cs typeface="Calibri"/>
                        </a:rPr>
                        <a:t>Trials and paid conversion by cohort</a:t>
                      </a:r>
                    </a:p>
                  </a:txBody>
                  <a:tcPr marL="91440" marR="91440" marT="45720" marB="45720">
                    <a:solidFill>
                      <a:srgbClr val="F6F4EE"/>
                    </a:solidFill>
                  </a:tcPr>
                </a:tc>
              </a:tr>
              <a:tr h="714375">
                <a:tc>
                  <a:txBody>
                    <a:bodyPr/>
                    <a:lstStyle/>
                    <a:p>
                      <a:r>
                        <a:rPr sz="1800" b="0">
                          <a:solidFill>
                            <a:srgbClr val="142F35"/>
                          </a:solidFill>
                          <a:latin typeface="Calibri"/>
                          <a:ea typeface="Calibri"/>
                          <a:cs typeface="Calibri"/>
                        </a:rPr>
                        <a:t>Facebook advertising</a:t>
                      </a:r>
                    </a:p>
                  </a:txBody>
                  <a:tcPr marL="91440" marR="91440" marT="45720" marB="45720">
                    <a:solidFill>
                      <a:srgbClr val="F6F4EE"/>
                    </a:solidFill>
                  </a:tcPr>
                </a:tc>
                <a:tc>
                  <a:txBody>
                    <a:bodyPr/>
                    <a:lstStyle/>
                    <a:p>
                      <a:r>
                        <a:rPr sz="1800" b="0">
                          <a:solidFill>
                            <a:srgbClr val="142F35"/>
                          </a:solidFill>
                          <a:latin typeface="Calibri"/>
                          <a:ea typeface="Calibri"/>
                          <a:cs typeface="Calibri"/>
                        </a:rPr>
                        <a:t>Paying customers reported</a:t>
                      </a:r>
                    </a:p>
                  </a:txBody>
                  <a:tcPr marL="91440" marR="91440" marT="45720" marB="45720">
                    <a:solidFill>
                      <a:srgbClr val="F6F4EE"/>
                    </a:solidFill>
                  </a:tcPr>
                </a:tc>
                <a:tc>
                  <a:txBody>
                    <a:bodyPr/>
                    <a:lstStyle/>
                    <a:p>
                      <a:r>
                        <a:rPr sz="1800" b="0">
                          <a:solidFill>
                            <a:srgbClr val="142F35"/>
                          </a:solidFill>
                          <a:latin typeface="Calibri"/>
                          <a:ea typeface="Calibri"/>
                          <a:cs typeface="Calibri"/>
                        </a:rPr>
                        <a:t>Attributed spend, new payers and CAC</a:t>
                      </a:r>
                    </a:p>
                  </a:txBody>
                  <a:tcPr marL="91440" marR="91440" marT="45720" marB="45720">
                    <a:solidFill>
                      <a:srgbClr val="F6F4EE"/>
                    </a:solidFill>
                  </a:tcPr>
                </a:tc>
              </a:tr>
            </a:tbl>
          </a:graphicData>
        </a:graphic>
      </p:graphicFrame>
      <p:sp>
        <p:nvSpPr>
          <p:cNvPr id="4" name="">
            <a:extLst xmlns:a="http://schemas.openxmlformats.org/drawingml/2006/main">
              <a:ext uri="{FF2B5EF4-FFF2-40B4-BE49-F238E27FC236}">
                <a16:creationId xmlns:a16="http://schemas.microsoft.com/office/drawing/2014/main" id="{FEB56EF1-AD44-4ED7-9976-6DB3D8E8DA62}"/>
              </a:ext>
            </a:extLst>
          </p:cNvPr>
          <p:cNvSpPr>
            <a:spLocks xmlns:a="http://schemas.openxmlformats.org/drawingml/2006/main" noGrp="1"/>
          </p:cNvSpPr>
          <p:nvPr/>
        </p:nvSpPr>
        <p:spPr>
          <a:xfrm xmlns:a="http://schemas.openxmlformats.org/drawingml/2006/main">
            <a:off x="762000" y="50577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8579"/>
                </a:solidFill>
                <a:latin typeface="Calibri"/>
                <a:ea typeface="Calibri"/>
                <a:cs typeface="Calibri"/>
              </a:defRPr>
            </a:pPr>
            <a:r>
              <a:rPr sz="2100" b="1">
                <a:solidFill>
                  <a:srgbClr val="008579"/>
                </a:solidFill>
                <a:latin typeface="Calibri"/>
                <a:ea typeface="Calibri"/>
                <a:cs typeface="Calibri"/>
              </a:rPr>
              <a:t>Target contract value: €300/month = €3,600/year per company</a:t>
            </a:r>
          </a:p>
        </p:txBody>
      </p:sp>
      <p:sp>
        <p:nvSpPr>
          <p:cNvPr id="5" name="">
            <a:extLst xmlns:a="http://schemas.openxmlformats.org/drawingml/2006/main">
              <a:ext uri="{FF2B5EF4-FFF2-40B4-BE49-F238E27FC236}">
                <a16:creationId xmlns:a16="http://schemas.microsoft.com/office/drawing/2014/main" id="{C388DCC3-3BE3-4163-99F1-3D33675AC5CC}"/>
              </a:ext>
            </a:extLst>
          </p:cNvPr>
          <p:cNvSpPr>
            <a:spLocks xmlns:a="http://schemas.openxmlformats.org/drawingml/2006/main" noGrp="1"/>
          </p:cNvSpPr>
          <p:nvPr/>
        </p:nvSpPr>
        <p:spPr>
          <a:xfrm xmlns:a="http://schemas.openxmlformats.org/drawingml/2006/main">
            <a:off x="762000" y="55530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42F35"/>
                </a:solidFill>
                <a:latin typeface="Calibri"/>
                <a:ea typeface="Calibri"/>
                <a:cs typeface="Calibri"/>
              </a:defRPr>
            </a:pPr>
            <a:r>
              <a:rPr sz="1800" b="0">
                <a:solidFill>
                  <a:srgbClr val="142F35"/>
                </a:solidFill>
                <a:latin typeface="Calibri"/>
                <a:ea typeface="Calibri"/>
                <a:cs typeface="Calibri"/>
              </a:rPr>
              <a:t>Track each monthly cohort by country, channel, price and renewal.</a:t>
            </a:r>
          </a:p>
          <a:p xmlns:a="http://schemas.openxmlformats.org/drawingml/2006/main">
            <a:pPr>
              <a:buNone/>
              <a:defRPr sz="1800" b="0">
                <a:solidFill>
                  <a:srgbClr val="142F35"/>
                </a:solidFill>
                <a:latin typeface="Calibri"/>
                <a:ea typeface="Calibri"/>
                <a:cs typeface="Calibri"/>
              </a:defRPr>
            </a:pPr>
            <a:r>
              <a:rPr sz="1800" b="0">
                <a:solidFill>
                  <a:srgbClr val="142F35"/>
                </a:solidFill>
                <a:latin typeface="Calibri"/>
                <a:ea typeface="Calibri"/>
                <a:cs typeface="Calibri"/>
              </a:rPr>
              <a:t>CAC = (channel spend + allocated sales labour) ÷ new paying customers</a:t>
            </a:r>
          </a:p>
        </p:txBody>
      </p:sp>
      <p:sp>
        <p:nvSpPr>
          <p:cNvPr id="6" name="">
            <a:extLst xmlns:a="http://schemas.openxmlformats.org/drawingml/2006/main">
              <a:ext uri="{FF2B5EF4-FFF2-40B4-BE49-F238E27FC236}">
                <a16:creationId xmlns:a16="http://schemas.microsoft.com/office/drawing/2014/main" id="{88D80AE8-F3DA-4AAF-B344-98ACAC37FE8C}"/>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14</a:t>
            </a:r>
          </a:p>
        </p:txBody>
      </p:sp>
    </p:spTree>
    <p:extLst>
      <p:ext uri="{BB962C8B-B14F-4D97-AF65-F5344CB8AC3E}">
        <p14:creationId xmlns:p14="http://schemas.microsoft.com/office/powerpoint/2010/main" val="1854655625"/>
      </p:ext>
    </p:extLst>
  </p:cSld>
</p:sld>
</file>

<file path=ppt/slides/slide1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88435C8-77CC-492C-9A50-B5E787DE2757}"/>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Delivery costs and capacity</a:t>
            </a:r>
          </a:p>
        </p:txBody>
      </p:sp>
      <p:sp>
        <p:nvSpPr>
          <p:cNvPr id="2" name="">
            <a:extLst xmlns:a="http://schemas.openxmlformats.org/drawingml/2006/main">
              <a:ext uri="{FF2B5EF4-FFF2-40B4-BE49-F238E27FC236}">
                <a16:creationId xmlns:a16="http://schemas.microsoft.com/office/drawing/2014/main" id="{9EBD675A-F49A-431A-9FF1-89FE6C01F81E}"/>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The next test must measure the labour behind each subscription.</a:t>
            </a:r>
          </a:p>
        </p:txBody>
      </p:sp>
      <p:sp>
        <p:nvSpPr>
          <p:cNvPr id="3" name="">
            <a:extLst xmlns:a="http://schemas.openxmlformats.org/drawingml/2006/main">
              <a:ext uri="{FF2B5EF4-FFF2-40B4-BE49-F238E27FC236}">
                <a16:creationId xmlns:a16="http://schemas.microsoft.com/office/drawing/2014/main" id="{F5287D3A-EE14-497D-A6B8-14B4C2621E5E}"/>
              </a:ext>
            </a:extLst>
          </p:cNvPr>
          <p:cNvSpPr>
            <a:spLocks xmlns:a="http://schemas.openxmlformats.org/drawingml/2006/main" noGrp="1"/>
          </p:cNvSpPr>
          <p:nvPr/>
        </p:nvSpPr>
        <p:spPr>
          <a:xfrm xmlns:a="http://schemas.openxmlformats.org/drawingml/2006/main">
            <a:off x="762000" y="21526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Current software spend</a:t>
            </a:r>
          </a:p>
        </p:txBody>
      </p:sp>
      <p:sp>
        <p:nvSpPr>
          <p:cNvPr id="4" name="">
            <a:extLst xmlns:a="http://schemas.openxmlformats.org/drawingml/2006/main">
              <a:ext uri="{FF2B5EF4-FFF2-40B4-BE49-F238E27FC236}">
                <a16:creationId xmlns:a16="http://schemas.microsoft.com/office/drawing/2014/main" id="{A7F8475C-2904-4744-B03E-5E4CDBE33D9C}"/>
              </a:ext>
            </a:extLst>
          </p:cNvPr>
          <p:cNvSpPr>
            <a:spLocks xmlns:a="http://schemas.openxmlformats.org/drawingml/2006/main" noGrp="1"/>
          </p:cNvSpPr>
          <p:nvPr/>
        </p:nvSpPr>
        <p:spPr>
          <a:xfrm xmlns:a="http://schemas.openxmlformats.org/drawingml/2006/main">
            <a:off x="762000" y="27432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About $80 / month</a:t>
            </a:r>
          </a:p>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$40 OpenAI + $40 hosting</a:t>
            </a:r>
          </a:p>
        </p:txBody>
      </p:sp>
      <p:sp>
        <p:nvSpPr>
          <p:cNvPr id="5" name="">
            <a:extLst xmlns:a="http://schemas.openxmlformats.org/drawingml/2006/main">
              <a:ext uri="{FF2B5EF4-FFF2-40B4-BE49-F238E27FC236}">
                <a16:creationId xmlns:a16="http://schemas.microsoft.com/office/drawing/2014/main" id="{3F94CEA4-22D9-4F31-930D-72255E2BE1E5}"/>
              </a:ext>
            </a:extLst>
          </p:cNvPr>
          <p:cNvSpPr>
            <a:spLocks xmlns:a="http://schemas.openxmlformats.org/drawingml/2006/main" noGrp="1"/>
          </p:cNvSpPr>
          <p:nvPr/>
        </p:nvSpPr>
        <p:spPr>
          <a:xfrm xmlns:a="http://schemas.openxmlformats.org/drawingml/2006/main">
            <a:off x="6572250" y="21526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Current delivery effort</a:t>
            </a:r>
          </a:p>
        </p:txBody>
      </p:sp>
      <p:sp>
        <p:nvSpPr>
          <p:cNvPr id="6" name="">
            <a:extLst xmlns:a="http://schemas.openxmlformats.org/drawingml/2006/main">
              <a:ext uri="{FF2B5EF4-FFF2-40B4-BE49-F238E27FC236}">
                <a16:creationId xmlns:a16="http://schemas.microsoft.com/office/drawing/2014/main" id="{313EAE4E-51C7-4D97-80A8-0CB9AE6AB8FC}"/>
              </a:ext>
            </a:extLst>
          </p:cNvPr>
          <p:cNvSpPr>
            <a:spLocks xmlns:a="http://schemas.openxmlformats.org/drawingml/2006/main" noGrp="1"/>
          </p:cNvSpPr>
          <p:nvPr/>
        </p:nvSpPr>
        <p:spPr>
          <a:xfrm xmlns:a="http://schemas.openxmlformats.org/drawingml/2006/main">
            <a:off x="6572250" y="27432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About 3 hours to onboard</a:t>
            </a:r>
          </a:p>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Under 1 hour/week per client</a:t>
            </a:r>
          </a:p>
        </p:txBody>
      </p:sp>
      <p:sp>
        <p:nvSpPr>
          <p:cNvPr id="7" name="">
            <a:extLst xmlns:a="http://schemas.openxmlformats.org/drawingml/2006/main">
              <a:ext uri="{FF2B5EF4-FFF2-40B4-BE49-F238E27FC236}">
                <a16:creationId xmlns:a16="http://schemas.microsoft.com/office/drawing/2014/main" id="{4A20ACE9-1E39-4FB4-9B54-10BF6ACCABF3}"/>
              </a:ext>
            </a:extLst>
          </p:cNvPr>
          <p:cNvSpPr>
            <a:spLocks xmlns:a="http://schemas.openxmlformats.org/drawingml/2006/main" noGrp="1"/>
          </p:cNvSpPr>
          <p:nvPr/>
        </p:nvSpPr>
        <p:spPr>
          <a:xfrm xmlns:a="http://schemas.openxmlformats.org/drawingml/2006/main">
            <a:off x="762000" y="429577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42F35"/>
                </a:solidFill>
                <a:latin typeface="Calibri"/>
                <a:ea typeface="Calibri"/>
                <a:cs typeface="Calibri"/>
              </a:defRPr>
            </a:pPr>
            <a:r>
              <a:rPr sz="2325" b="1">
                <a:solidFill>
                  <a:srgbClr val="142F35"/>
                </a:solidFill>
                <a:latin typeface="Calibri"/>
                <a:ea typeface="Calibri"/>
                <a:cs typeface="Calibri"/>
              </a:rPr>
              <a:t>Measure before scaling</a:t>
            </a:r>
          </a:p>
        </p:txBody>
      </p:sp>
      <p:sp>
        <p:nvSpPr>
          <p:cNvPr id="8" name="">
            <a:extLst xmlns:a="http://schemas.openxmlformats.org/drawingml/2006/main">
              <a:ext uri="{FF2B5EF4-FFF2-40B4-BE49-F238E27FC236}">
                <a16:creationId xmlns:a16="http://schemas.microsoft.com/office/drawing/2014/main" id="{B32B7306-0889-4BC8-AA8B-B902CC7115C2}"/>
              </a:ext>
            </a:extLst>
          </p:cNvPr>
          <p:cNvSpPr>
            <a:spLocks xmlns:a="http://schemas.openxmlformats.org/drawingml/2006/main" noGrp="1"/>
          </p:cNvSpPr>
          <p:nvPr/>
        </p:nvSpPr>
        <p:spPr>
          <a:xfrm xmlns:a="http://schemas.openxmlformats.org/drawingml/2006/main">
            <a:off x="762000" y="4857750"/>
            <a:ext cx="1047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Track founder and developer time, support minutes and advertising spend.</a:t>
            </a:r>
          </a:p>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Calculate contribution after delivery labour and variable software costs.</a:t>
            </a:r>
          </a:p>
        </p:txBody>
      </p:sp>
      <p:sp>
        <p:nvSpPr>
          <p:cNvPr id="9" name="">
            <a:extLst xmlns:a="http://schemas.openxmlformats.org/drawingml/2006/main">
              <a:ext uri="{FF2B5EF4-FFF2-40B4-BE49-F238E27FC236}">
                <a16:creationId xmlns:a16="http://schemas.microsoft.com/office/drawing/2014/main" id="{081A73FD-961C-4DE9-82BE-1D9EC5F966E4}"/>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15</a:t>
            </a:r>
          </a:p>
        </p:txBody>
      </p:sp>
    </p:spTree>
    <p:extLst>
      <p:ext uri="{BB962C8B-B14F-4D97-AF65-F5344CB8AC3E}">
        <p14:creationId xmlns:p14="http://schemas.microsoft.com/office/powerpoint/2010/main" val="236899290"/>
      </p:ext>
    </p:extLst>
  </p:cSld>
</p:sld>
</file>

<file path=ppt/slides/slide1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A35BA4CD-5C4E-4732-A2A9-759D110AA252}"/>
              </a:ext>
            </a:extLst>
          </p:cNvPr>
          <p:cNvSpPr>
            <a:spLocks xmlns:a="http://schemas.openxmlformats.org/drawingml/2006/main" noGrp="1"/>
          </p:cNvSpPr>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Team</a:t>
            </a:r>
          </a:p>
        </p:txBody>
      </p:sp>
      <p:sp>
        <p:nvSpPr>
          <p:cNvPr id="3" name="Rectangle 2">
            <a:extLst xmlns:a="http://schemas.openxmlformats.org/drawingml/2006/main">
              <a:ext uri="{FF2B5EF4-FFF2-40B4-BE49-F238E27FC236}">
                <a16:creationId xmlns:a16="http://schemas.microsoft.com/office/drawing/2014/main" id="{B127BB7F-75C3-4988-BA77-6FEBD1E928D9}"/>
              </a:ext>
            </a:extLst>
          </p:cNvPr>
          <p:cNvSpPr>
            <a:spLocks xmlns:a="http://schemas.openxmlformats.org/drawingml/2006/main" noGrp="1"/>
          </p:cNvSpPr>
          <p:nvPr/>
        </p:nvSpPr>
        <p:spPr>
          <a:xfrm xmlns:a="http://schemas.openxmlformats.org/drawingml/2006/main">
            <a:off x="685800" y="1809750"/>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Vjaceslavs</a:t>
            </a:r>
          </a:p>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Gromatovics</a:t>
            </a:r>
          </a:p>
        </p:txBody>
      </p:sp>
      <p:sp>
        <p:nvSpPr>
          <p:cNvPr id="4" name="Rectangle 3">
            <a:extLst xmlns:a="http://schemas.openxmlformats.org/drawingml/2006/main">
              <a:ext uri="{FF2B5EF4-FFF2-40B4-BE49-F238E27FC236}">
                <a16:creationId xmlns:a16="http://schemas.microsoft.com/office/drawing/2014/main" id="{9A392C90-1DB6-4B05-802B-1CF647FFE0AB}"/>
              </a:ext>
            </a:extLst>
          </p:cNvPr>
          <p:cNvSpPr>
            <a:spLocks xmlns:a="http://schemas.openxmlformats.org/drawingml/2006/main" noGrp="1"/>
          </p:cNvSpPr>
          <p:nvPr/>
        </p:nvSpPr>
        <p:spPr>
          <a:xfrm xmlns:a="http://schemas.openxmlformats.org/drawingml/2006/main">
            <a:off x="685800" y="31908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0787D"/>
                </a:solidFill>
                <a:latin typeface="Bitstream Charter"/>
                <a:ea typeface="Bitstream Charter"/>
                <a:cs typeface="Bitstream Charter"/>
              </a:defRPr>
            </a:pPr>
            <a:r>
              <a:rPr sz="2025" b="0">
                <a:solidFill>
                  <a:srgbClr val="60787D"/>
                </a:solidFill>
                <a:latin typeface="Bitstream Charter"/>
                <a:ea typeface="Bitstream Charter"/>
                <a:cs typeface="Bitstream Charter"/>
              </a:rPr>
              <a:t>BEng in Civil Engineering</a:t>
            </a:r>
          </a:p>
        </p:txBody>
      </p:sp>
      <p:sp>
        <p:nvSpPr>
          <p:cNvPr id="5" name="Rectangle 4">
            <a:extLst xmlns:a="http://schemas.openxmlformats.org/drawingml/2006/main">
              <a:ext uri="{FF2B5EF4-FFF2-40B4-BE49-F238E27FC236}">
                <a16:creationId xmlns:a16="http://schemas.microsoft.com/office/drawing/2014/main" id="{1508F114-2165-43E5-9F7B-FBCFE7D19450}"/>
              </a:ext>
            </a:extLst>
          </p:cNvPr>
          <p:cNvSpPr>
            <a:spLocks xmlns:a="http://schemas.openxmlformats.org/drawingml/2006/main" noGrp="1"/>
          </p:cNvSpPr>
          <p:nvPr/>
        </p:nvSpPr>
        <p:spPr>
          <a:xfrm xmlns:a="http://schemas.openxmlformats.org/drawingml/2006/main">
            <a:off x="685800" y="3924300"/>
            <a:ext cx="5286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5 years as a construction site manager</a:t>
            </a:r>
          </a:p>
          <a:p xmlns:a="http://schemas.openxmlformats.org/drawingml/2006/main">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5 years as a project manager</a:t>
            </a:r>
          </a:p>
        </p:txBody>
      </p:sp>
      <p:sp>
        <p:nvSpPr>
          <p:cNvPr id="6" name="Rectangle 5">
            <a:extLst xmlns:a="http://schemas.openxmlformats.org/drawingml/2006/main">
              <a:ext uri="{FF2B5EF4-FFF2-40B4-BE49-F238E27FC236}">
                <a16:creationId xmlns:a16="http://schemas.microsoft.com/office/drawing/2014/main" id="{DEB1E63E-44C7-41C4-B4A9-57405C400FCF}"/>
              </a:ext>
            </a:extLst>
          </p:cNvPr>
          <p:cNvSpPr>
            <a:spLocks xmlns:a="http://schemas.openxmlformats.org/drawingml/2006/main" noGrp="1"/>
          </p:cNvSpPr>
          <p:nvPr/>
        </p:nvSpPr>
        <p:spPr>
          <a:xfrm xmlns:a="http://schemas.openxmlformats.org/drawingml/2006/main">
            <a:off x="685800" y="5048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Working full-time on WorksRecorded</a:t>
            </a:r>
          </a:p>
        </p:txBody>
      </p:sp>
      <p:sp>
        <p:nvSpPr>
          <p:cNvPr id="7" name="Rectangle 6">
            <a:extLst xmlns:a="http://schemas.openxmlformats.org/drawingml/2006/main">
              <a:ext uri="{FF2B5EF4-FFF2-40B4-BE49-F238E27FC236}">
                <a16:creationId xmlns:a16="http://schemas.microsoft.com/office/drawing/2014/main" id="{80F50FFB-D2AA-4373-8BB3-C8BE5842B85C}"/>
              </a:ext>
            </a:extLst>
          </p:cNvPr>
          <p:cNvSpPr>
            <a:spLocks xmlns:a="http://schemas.openxmlformats.org/drawingml/2006/main" noGrp="1"/>
          </p:cNvSpPr>
          <p:nvPr/>
        </p:nvSpPr>
        <p:spPr>
          <a:xfrm xmlns:a="http://schemas.openxmlformats.org/drawingml/2006/main">
            <a:off x="685800" y="57912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8B80"/>
                </a:solidFill>
                <a:latin typeface="Bitstream Charter"/>
                <a:ea typeface="Bitstream Charter"/>
                <a:cs typeface="Bitstream Charter"/>
              </a:defRPr>
            </a:pPr>
            <a:r>
              <a:rPr sz="2175" b="1">
                <a:solidFill>
                  <a:srgbClr val="008B80"/>
                </a:solidFill>
                <a:latin typeface="Bitstream Charter"/>
                <a:ea typeface="Bitstream Charter"/>
                <a:cs typeface="Bitstream Charter"/>
              </a:rPr>
              <a:t>80% ownership</a:t>
            </a:r>
          </a:p>
        </p:txBody>
      </p:sp>
      <p:sp>
        <p:nvSpPr>
          <p:cNvPr id="8" name="Rectangle 7">
            <a:extLst xmlns:a="http://schemas.openxmlformats.org/drawingml/2006/main">
              <a:ext uri="{FF2B5EF4-FFF2-40B4-BE49-F238E27FC236}">
                <a16:creationId xmlns:a16="http://schemas.microsoft.com/office/drawing/2014/main" id="{D8CED15D-0ACF-4BCF-B8E8-55FFA9754638}"/>
              </a:ext>
            </a:extLst>
          </p:cNvPr>
          <p:cNvSpPr>
            <a:spLocks xmlns:a="http://schemas.openxmlformats.org/drawingml/2006/main" noGrp="1"/>
          </p:cNvSpPr>
          <p:nvPr/>
        </p:nvSpPr>
        <p:spPr>
          <a:xfrm xmlns:a="http://schemas.openxmlformats.org/drawingml/2006/main">
            <a:off x="6762750" y="1809750"/>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Deivids</a:t>
            </a:r>
          </a:p>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Berkolds</a:t>
            </a:r>
          </a:p>
        </p:txBody>
      </p:sp>
      <p:sp>
        <p:nvSpPr>
          <p:cNvPr id="9" name="Rectangle 8">
            <a:extLst xmlns:a="http://schemas.openxmlformats.org/drawingml/2006/main">
              <a:ext uri="{FF2B5EF4-FFF2-40B4-BE49-F238E27FC236}">
                <a16:creationId xmlns:a16="http://schemas.microsoft.com/office/drawing/2014/main" id="{92CC7D36-CA00-490F-80BC-B7215D712883}"/>
              </a:ext>
            </a:extLst>
          </p:cNvPr>
          <p:cNvSpPr>
            <a:spLocks xmlns:a="http://schemas.openxmlformats.org/drawingml/2006/main" noGrp="1"/>
          </p:cNvSpPr>
          <p:nvPr/>
        </p:nvSpPr>
        <p:spPr>
          <a:xfrm xmlns:a="http://schemas.openxmlformats.org/drawingml/2006/main">
            <a:off x="6762750" y="3190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0787D"/>
                </a:solidFill>
                <a:latin typeface="Bitstream Charter"/>
                <a:ea typeface="Bitstream Charter"/>
                <a:cs typeface="Bitstream Charter"/>
              </a:defRPr>
            </a:pPr>
            <a:r>
              <a:rPr sz="2025" b="0">
                <a:solidFill>
                  <a:srgbClr val="60787D"/>
                </a:solidFill>
                <a:latin typeface="Bitstream Charter"/>
                <a:ea typeface="Bitstream Charter"/>
                <a:cs typeface="Bitstream Charter"/>
              </a:rPr>
              <a:t>BEng in Computer Science</a:t>
            </a:r>
          </a:p>
        </p:txBody>
      </p:sp>
      <p:sp>
        <p:nvSpPr>
          <p:cNvPr id="10" name="Rectangle 9">
            <a:extLst xmlns:a="http://schemas.openxmlformats.org/drawingml/2006/main">
              <a:ext uri="{FF2B5EF4-FFF2-40B4-BE49-F238E27FC236}">
                <a16:creationId xmlns:a16="http://schemas.microsoft.com/office/drawing/2014/main" id="{5588DBD3-9DF8-4BB0-901D-8973D3E8DC97}"/>
              </a:ext>
            </a:extLst>
          </p:cNvPr>
          <p:cNvSpPr>
            <a:spLocks xmlns:a="http://schemas.openxmlformats.org/drawingml/2006/main" noGrp="1"/>
          </p:cNvSpPr>
          <p:nvPr/>
        </p:nvSpPr>
        <p:spPr>
          <a:xfrm xmlns:a="http://schemas.openxmlformats.org/drawingml/2006/main">
            <a:off x="6762750" y="39243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3037"/>
                </a:solidFill>
                <a:latin typeface="Bitstream Charter"/>
                <a:ea typeface="Bitstream Charter"/>
                <a:cs typeface="Bitstream Charter"/>
              </a:defRPr>
            </a:pPr>
            <a:r>
              <a:rPr sz="2025" b="0">
                <a:solidFill>
                  <a:srgbClr val="143037"/>
                </a:solidFill>
                <a:latin typeface="Bitstream Charter"/>
                <a:ea typeface="Bitstream Charter"/>
                <a:cs typeface="Bitstream Charter"/>
              </a:rPr>
              <a:t>Senior JavaScript developer</a:t>
            </a:r>
          </a:p>
        </p:txBody>
      </p:sp>
      <p:sp>
        <p:nvSpPr>
          <p:cNvPr id="11" name="Rectangle 10">
            <a:extLst xmlns:a="http://schemas.openxmlformats.org/drawingml/2006/main">
              <a:ext uri="{FF2B5EF4-FFF2-40B4-BE49-F238E27FC236}">
                <a16:creationId xmlns:a16="http://schemas.microsoft.com/office/drawing/2014/main" id="{DA33AE3B-7944-4879-BD3D-AD5DEE002A8F}"/>
              </a:ext>
            </a:extLst>
          </p:cNvPr>
          <p:cNvSpPr>
            <a:spLocks xmlns:a="http://schemas.openxmlformats.org/drawingml/2006/main" noGrp="1"/>
          </p:cNvSpPr>
          <p:nvPr/>
        </p:nvSpPr>
        <p:spPr>
          <a:xfrm xmlns:a="http://schemas.openxmlformats.org/drawingml/2006/main">
            <a:off x="6762750" y="57912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8B80"/>
                </a:solidFill>
                <a:latin typeface="Bitstream Charter"/>
                <a:ea typeface="Bitstream Charter"/>
                <a:cs typeface="Bitstream Charter"/>
              </a:defRPr>
            </a:pPr>
            <a:r>
              <a:rPr sz="2175" b="1">
                <a:solidFill>
                  <a:srgbClr val="008B80"/>
                </a:solidFill>
                <a:latin typeface="Bitstream Charter"/>
                <a:ea typeface="Bitstream Charter"/>
                <a:cs typeface="Bitstream Charter"/>
              </a:rPr>
              <a:t>20% ownership</a:t>
            </a:r>
            <a:endParaRPr sz="1875" b="0">
              <a:solidFill>
                <a:srgbClr val="52686B"/>
              </a:solidFill>
              <a:latin typeface="Bitstream Charter"/>
              <a:ea typeface="Bitstream Charter"/>
              <a:cs typeface="Bitstream Charter"/>
            </a:endParaRPr>
          </a:p>
        </p:txBody>
      </p:sp>
      <p:sp>
        <p:nvSpPr>
          <p:cNvPr id="13" name="">
            <a:extLst xmlns:a="http://schemas.openxmlformats.org/drawingml/2006/main">
              <a:ext uri="{FF2B5EF4-FFF2-40B4-BE49-F238E27FC236}">
                <a16:creationId xmlns:a16="http://schemas.microsoft.com/office/drawing/2014/main" id="{EAD27A24-1A2D-4920-9FD9-B87F06D0E372}"/>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16</a:t>
            </a:r>
          </a:p>
        </p:txBody>
      </p:sp>
    </p:spTree>
    <p:extLst>
      <p:ext uri="{BB962C8B-B14F-4D97-AF65-F5344CB8AC3E}">
        <p14:creationId xmlns:p14="http://schemas.microsoft.com/office/powerpoint/2010/main" val="1732788866"/>
      </p:ext>
    </p:extLst>
  </p:cSld>
</p:sld>
</file>

<file path=ppt/slides/slide1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76843CD-6876-4AFA-AF01-F918D63E22AC}"/>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Funding the next validation stage</a:t>
            </a:r>
          </a:p>
        </p:txBody>
      </p:sp>
      <p:sp>
        <p:nvSpPr>
          <p:cNvPr id="2" name="">
            <a:extLst xmlns:a="http://schemas.openxmlformats.org/drawingml/2006/main">
              <a:ext uri="{FF2B5EF4-FFF2-40B4-BE49-F238E27FC236}">
                <a16:creationId xmlns:a16="http://schemas.microsoft.com/office/drawing/2014/main" id="{E42506A3-140B-4F0D-AF71-025A8E42BB9E}"/>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Draft funding scope: a 90-day test of demand, retention and delivery cost.</a:t>
            </a:r>
          </a:p>
        </p:txBody>
      </p:sp>
      <p:sp>
        <p:nvSpPr>
          <p:cNvPr id="3" name="">
            <a:extLst xmlns:a="http://schemas.openxmlformats.org/drawingml/2006/main">
              <a:ext uri="{FF2B5EF4-FFF2-40B4-BE49-F238E27FC236}">
                <a16:creationId xmlns:a16="http://schemas.microsoft.com/office/drawing/2014/main" id="{99340D67-95D8-4C90-913C-F6201AC57A11}"/>
              </a:ext>
            </a:extLst>
          </p:cNvPr>
          <p:cNvSpPr>
            <a:spLocks xmlns:a="http://schemas.openxmlformats.org/drawingml/2006/main" noGrp="1"/>
          </p:cNvSpPr>
          <p:nvPr/>
        </p:nvSpPr>
        <p:spPr>
          <a:xfrm xmlns:a="http://schemas.openxmlformats.org/drawingml/2006/main">
            <a:off x="762000" y="21336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What funding supports</a:t>
            </a:r>
          </a:p>
        </p:txBody>
      </p:sp>
      <p:sp>
        <p:nvSpPr>
          <p:cNvPr id="4" name="">
            <a:extLst xmlns:a="http://schemas.openxmlformats.org/drawingml/2006/main">
              <a:ext uri="{FF2B5EF4-FFF2-40B4-BE49-F238E27FC236}">
                <a16:creationId xmlns:a16="http://schemas.microsoft.com/office/drawing/2014/main" id="{53A3E292-41C2-4E58-B5C2-A07E8BC79E4D}"/>
              </a:ext>
            </a:extLst>
          </p:cNvPr>
          <p:cNvSpPr>
            <a:spLocks xmlns:a="http://schemas.openxmlformats.org/drawingml/2006/main" noGrp="1"/>
          </p:cNvSpPr>
          <p:nvPr/>
        </p:nvSpPr>
        <p:spPr>
          <a:xfrm xmlns:a="http://schemas.openxmlformats.org/drawingml/2006/main">
            <a:off x="762000" y="2762250"/>
            <a:ext cx="4953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Founder time for sales and onboarding</a:t>
            </a:r>
          </a:p>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Measured outbound and advertising tests</a:t>
            </a:r>
          </a:p>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Product work that reduces servicing effort</a:t>
            </a:r>
          </a:p>
        </p:txBody>
      </p:sp>
      <p:sp>
        <p:nvSpPr>
          <p:cNvPr id="5" name="">
            <a:extLst xmlns:a="http://schemas.openxmlformats.org/drawingml/2006/main">
              <a:ext uri="{FF2B5EF4-FFF2-40B4-BE49-F238E27FC236}">
                <a16:creationId xmlns:a16="http://schemas.microsoft.com/office/drawing/2014/main" id="{4FBA8347-66E3-4CA2-9028-A5626F0721A2}"/>
              </a:ext>
            </a:extLst>
          </p:cNvPr>
          <p:cNvSpPr>
            <a:spLocks xmlns:a="http://schemas.openxmlformats.org/drawingml/2006/main" noGrp="1"/>
          </p:cNvSpPr>
          <p:nvPr/>
        </p:nvSpPr>
        <p:spPr>
          <a:xfrm xmlns:a="http://schemas.openxmlformats.org/drawingml/2006/main">
            <a:off x="6572250" y="213360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Proposed success measures</a:t>
            </a:r>
          </a:p>
        </p:txBody>
      </p:sp>
      <p:sp>
        <p:nvSpPr>
          <p:cNvPr id="6" name="">
            <a:extLst xmlns:a="http://schemas.openxmlformats.org/drawingml/2006/main">
              <a:ext uri="{FF2B5EF4-FFF2-40B4-BE49-F238E27FC236}">
                <a16:creationId xmlns:a16="http://schemas.microsoft.com/office/drawing/2014/main" id="{815D3448-2898-4F15-B5FA-03D4A16EA435}"/>
              </a:ext>
            </a:extLst>
          </p:cNvPr>
          <p:cNvSpPr>
            <a:spLocks xmlns:a="http://schemas.openxmlformats.org/drawingml/2006/main" noGrp="1"/>
          </p:cNvSpPr>
          <p:nvPr/>
        </p:nvSpPr>
        <p:spPr>
          <a:xfrm xmlns:a="http://schemas.openxmlformats.org/drawingml/2006/main">
            <a:off x="6572250" y="2762250"/>
            <a:ext cx="49053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10 additional paying companies</a:t>
            </a:r>
          </a:p>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80% retention after 8 weeks*</a:t>
            </a:r>
          </a:p>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Support ≤30 min/client/week</a:t>
            </a:r>
          </a:p>
        </p:txBody>
      </p:sp>
      <p:sp>
        <p:nvSpPr>
          <p:cNvPr id="7" name="">
            <a:extLst xmlns:a="http://schemas.openxmlformats.org/drawingml/2006/main">
              <a:ext uri="{FF2B5EF4-FFF2-40B4-BE49-F238E27FC236}">
                <a16:creationId xmlns:a16="http://schemas.microsoft.com/office/drawing/2014/main" id="{F2CA8E9B-F574-4F3B-85E6-D5F1A02F8578}"/>
              </a:ext>
            </a:extLst>
          </p:cNvPr>
          <p:cNvSpPr>
            <a:spLocks xmlns:a="http://schemas.openxmlformats.org/drawingml/2006/main" noGrp="1"/>
          </p:cNvSpPr>
          <p:nvPr/>
        </p:nvSpPr>
        <p:spPr>
          <a:xfrm xmlns:a="http://schemas.openxmlformats.org/drawingml/2006/main">
            <a:off x="762000" y="52006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2F35"/>
                </a:solidFill>
                <a:latin typeface="Calibri"/>
                <a:ea typeface="Calibri"/>
                <a:cs typeface="Calibri"/>
              </a:defRPr>
            </a:pPr>
            <a:r>
              <a:rPr sz="2175" b="1">
                <a:solidFill>
                  <a:srgbClr val="142F35"/>
                </a:solidFill>
                <a:latin typeface="Calibri"/>
                <a:ea typeface="Calibri"/>
                <a:cs typeface="Calibri"/>
              </a:rPr>
              <a:t>Budget decision needed: raise amount and funding instrument</a:t>
            </a:r>
          </a:p>
        </p:txBody>
      </p:sp>
      <p:sp>
        <p:nvSpPr>
          <p:cNvPr id="8" name="">
            <a:extLst xmlns:a="http://schemas.openxmlformats.org/drawingml/2006/main">
              <a:ext uri="{FF2B5EF4-FFF2-40B4-BE49-F238E27FC236}">
                <a16:creationId xmlns:a16="http://schemas.microsoft.com/office/drawing/2014/main" id="{666204E1-160F-408F-9E6A-3BB33A4C14D6}"/>
              </a:ext>
            </a:extLst>
          </p:cNvPr>
          <p:cNvSpPr>
            <a:spLocks xmlns:a="http://schemas.openxmlformats.org/drawingml/2006/main" noGrp="1"/>
          </p:cNvSpPr>
          <p:nvPr/>
        </p:nvSpPr>
        <p:spPr>
          <a:xfrm xmlns:a="http://schemas.openxmlformats.org/drawingml/2006/main">
            <a:off x="762000" y="580072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36B70"/>
                </a:solidFill>
                <a:latin typeface="Calibri"/>
                <a:ea typeface="Calibri"/>
                <a:cs typeface="Calibri"/>
              </a:defRPr>
            </a:pPr>
            <a:r>
              <a:rPr sz="1650" b="0">
                <a:solidFill>
                  <a:srgbClr val="536B70"/>
                </a:solidFill>
                <a:latin typeface="Calibri"/>
                <a:ea typeface="Calibri"/>
                <a:cs typeface="Calibri"/>
              </a:rPr>
              <a:t>*Measure only cohorts old enough to reach 8 weeks. Targets are proposed tests.</a:t>
            </a:r>
          </a:p>
          <a:p xmlns:a="http://schemas.openxmlformats.org/drawingml/2006/main">
            <a:pPr>
              <a:buNone/>
              <a:defRPr sz="1650" b="0">
                <a:solidFill>
                  <a:srgbClr val="536B70"/>
                </a:solidFill>
                <a:latin typeface="Calibri"/>
                <a:ea typeface="Calibri"/>
                <a:cs typeface="Calibri"/>
              </a:defRPr>
            </a:pPr>
            <a:r>
              <a:rPr sz="1650" b="0">
                <a:solidFill>
                  <a:srgbClr val="536B70"/>
                </a:solidFill>
                <a:latin typeface="Calibri"/>
                <a:ea typeface="Calibri"/>
                <a:cs typeface="Calibri"/>
              </a:rPr>
              <a:t>Set the ask from founder costs, test spend and development scope.</a:t>
            </a:r>
          </a:p>
        </p:txBody>
      </p:sp>
      <p:sp>
        <p:nvSpPr>
          <p:cNvPr id="9" name="">
            <a:extLst xmlns:a="http://schemas.openxmlformats.org/drawingml/2006/main">
              <a:ext uri="{FF2B5EF4-FFF2-40B4-BE49-F238E27FC236}">
                <a16:creationId xmlns:a16="http://schemas.microsoft.com/office/drawing/2014/main" id="{ABF6D2D6-1756-400E-9F44-1ECC89F9BA7F}"/>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17</a:t>
            </a:r>
          </a:p>
        </p:txBody>
      </p:sp>
    </p:spTree>
    <p:extLst>
      <p:ext uri="{BB962C8B-B14F-4D97-AF65-F5344CB8AC3E}">
        <p14:creationId xmlns:p14="http://schemas.microsoft.com/office/powerpoint/2010/main" val="17205520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2026-09-18T13:20:54.0350000Z</dcterms:created>
  <dcterms:modified xsi:type="dcterms:W3CDTF">2026-09-18T13:20:54.0360000Z</dcterms:modified>
</coreProperties>
</file>