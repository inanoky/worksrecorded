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lv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Pitch deck(1).docx, supplied by founder. Figures are founder-reported unless explicitly identified as calculations or proposed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Pitch deck(1).docx, supplied by founder. Figures are founder-reported unless explicitly identified as calculations or proposed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Pitch deck(1).docx, supplied by founder. Figures are founder-reported unless explicitly identified as calculations or proposed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Pitch deck(1).docx, supplied by founder. Figures are founder-reported unless explicitly identified as calculations or proposed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Illustrative input and output, not a customer case study or product screenshot. Arithmetic: 4 people × 8 hours = 32 labour-hours; 32 / 20 panels = 1.6 labour-hours per panel. No delay cost or cost saving is inferred.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Pitch deck(1).docx, supplied by founder. Figures are founder-reported unless explicitly identified as calculations or proposed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 sizing, retrieved 18 September 2026. The European figure covers the EU-27 only, not all geographic Europe; UK and other non-EU countries are excluded. Latvia is included in the EU total, so do not add these markets together.</a:t>
            </a:r>
          </a:p>
          <a:p xmlns:a="http://schemas.openxmlformats.org/drawingml/2006/main">
            <a:r>
              <a:t>Source: Eurostat SBS_SC_OVW, ENT_NR, F43, size_emp 10-19 and 20-49.</a:t>
            </a:r>
          </a:p>
          <a:p xmlns:a="http://schemas.openxmlformats.org/drawingml/2006/main">
            <a:r>
              <a:t>Latvia 2024: 408 + 208 = 616 enterprises. https://ec.europa.eu/eurostat/api/dissemination/statistics/1.0/data/sbs_sc_ovw?geo=LV&amp;nace_r2=F43&amp;indic_sbs=ENT_NR&amp;time=2024&amp;size_emp=10-19&amp;size_emp=20-49</a:t>
            </a:r>
          </a:p>
          <a:p xmlns:a="http://schemas.openxmlformats.org/drawingml/2006/main">
            <a:r>
              <a:t>EU-27 2023: 101914 + 40000 = 141914 enterprises. Eurostat flags the 40000 observation as estimated. 2023 is the latest available EU aggregate for these filters; 2024 aggregate is unavailable. https://ec.europa.eu/eurostat/api/dissemination/statistics/1.0/data/sbs_sc_ovw?geo=EU27_2020&amp;nace_r2=F43&amp;indic_sbs=ENT_NR&amp;time=2023&amp;size_emp=10-19&amp;size_emp=20-49</a:t>
            </a:r>
          </a:p>
          <a:p xmlns:a="http://schemas.openxmlformats.org/drawingml/2006/main">
            <a:r>
              <a:t>Pricing assumption from the original market slide: EUR150 per company per month, equivalent to EUR1800 annually. Latvia 616*1800 = EUR1108800; EU-27 141914*1800 = EUR255445200. Rounded figures on slide. These describe market opportunity at full penetration, not forecast revenue or expected adoption. No customer acquisition target is asserted.</a:t>
            </a:r>
          </a:p>
          <a:p xmlns:a="http://schemas.openxmlformats.org/drawingml/2006/main">
            <a:r>
              <a:t>Economically active enterprises in the reference year. Persons employed may include working owners and are not strictly payroll employees. Main activity F43; relevant contractors classified outside F43 and adjacent manufacturers are excluded. https://ec.europa.eu/eurostat/cache/metadata/en/sbs_esms.htm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Pitch deck(1).docx. Calculated MRR = 80 + 150 + 120 + 180 + 250 = EUR 780. ARPA = 780 / 5 = EUR 156. Excludes free pilot and churned customer. Source totals of EUR 800 and EUR 810 conflict with these line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Pitch deck(1).docx. DEPROM/DEPRMO spelling differs in source materials, so pilot name omitted. Latvijas Energoceltnieks churned after three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Pitch deck(1).docx. Call-to-demo = 7/55 = 12.7%, rounded to 13%. The source attributes 4 of 6 paying customers to Facebook ads but lists only five active customers. Channel share omitted pending reconciliation.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Software spend and ongoing servicing time come from the existing expenses slide. The founder reports approximately 2 hours of onboarding and 1 hour of AI adjustment per client, presented here as approximately 3 hours of initial setup. Facebook advertising spend has been EUR 150 per month so far. Software spend remains in USD as supplied, and ad spend remains in EUR. No mixed-currency total or labour-cost estimate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Pitch deck(1).docx. Positioning based on described workflow. No verified competitor pricing or measured customer savings are supplied, so no superiority or ROI figures are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Team details supplied by the founder. Vjaceslavs Gromatovics: BEng in Civil Engineering, five years as a construction site manager and five years as a project manager, working full-time on WorksRecorded, 80% ownership. Deivids Berkolds: BEng in Computer Science, senior JavaScript developer, 20% ownership. The supplied abbreviation Bent has been interpreted as BEng.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Pitch deck(1).docx, supplied by founder. Figures are founder-reported unless explicitly identified as calculations or proposed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4B048F-5953-4FDF-B3BF-A4DF57163708}"/>
              </a:ext>
            </a:extLst>
          </p:cNvPr>
          <p:cNvSpPr>
            <a:spLocks noGrp="1"/>
          </p:cNvSpPr>
          <p:nvPr/>
        </p:nvSpPr>
        <p:spPr>
          <a:xfrm>
            <a:off x="11001375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E5FC32-0DEE-4A21-B9C0-577B454F2882}"/>
              </a:ext>
            </a:extLst>
          </p:cNvPr>
          <p:cNvSpPr>
            <a:spLocks noGrp="1"/>
          </p:cNvSpPr>
          <p:nvPr/>
        </p:nvSpPr>
        <p:spPr>
          <a:xfrm>
            <a:off x="685800" y="904875"/>
            <a:ext cx="104775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5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5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WorksRecorded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6033E0-0B5D-472C-810C-0F7D39581D1C}"/>
              </a:ext>
            </a:extLst>
          </p:cNvPr>
          <p:cNvSpPr>
            <a:spLocks noGrp="1"/>
          </p:cNvSpPr>
          <p:nvPr/>
        </p:nvSpPr>
        <p:spPr>
          <a:xfrm>
            <a:off x="685800" y="2619375"/>
            <a:ext cx="10191750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Construction site data analytics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C52780-E57C-4F40-984A-4BD187FD2111}"/>
              </a:ext>
            </a:extLst>
          </p:cNvPr>
          <p:cNvSpPr>
            <a:spLocks noGrp="1"/>
          </p:cNvSpPr>
          <p:nvPr/>
        </p:nvSpPr>
        <p:spPr>
          <a:xfrm>
            <a:off x="723900" y="5095875"/>
            <a:ext cx="9048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For construction contractors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FCABF3-F45B-4F20-8BD7-8C945E0A4605}"/>
              </a:ext>
            </a:extLst>
          </p:cNvPr>
          <p:cNvSpPr>
            <a:spLocks noGrp="1"/>
          </p:cNvSpPr>
          <p:nvPr/>
        </p:nvSpPr>
        <p:spPr>
          <a:xfrm>
            <a:off x="723900" y="6143625"/>
            <a:ext cx="9048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Investor presentation | September 2026</a:t>
            </a:r>
            <a:r>
              <a:rPr sz="135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 |  https://www.worksrecorded.com/</a:t>
            </a:r>
            <a:endParaRPr sz="1350" b="0">
              <a:solidFill>
                <a:srgbClr val="B9DCD5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114856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C0778ED-BCB2-4B42-8D42-E530CCAADE3A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Problem: Construction contractors don’t have the skills to collect and analyze site data.</a:t>
            </a:r>
          </a:p>
          <a:p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endParaRPr sz="3600" b="1">
              <a:solidFill>
                <a:srgbClr val="122C32"/>
              </a:solidFill>
              <a:highlight>
                <a:srgbClr val="FFFF00"/>
              </a:highlight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F22339-34F0-4F30-88D8-18D78361060B}"/>
              </a:ext>
            </a:extLst>
          </p:cNvPr>
          <p:cNvSpPr>
            <a:spLocks noGrp="1"/>
          </p:cNvSpPr>
          <p:nvPr/>
        </p:nvSpPr>
        <p:spPr>
          <a:xfrm>
            <a:off x="11001375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BDDCAD-D72E-4831-A6AD-FC36049E0588}"/>
              </a:ext>
            </a:extLst>
          </p:cNvPr>
          <p:cNvSpPr>
            <a:spLocks noGrp="1"/>
          </p:cNvSpPr>
          <p:nvPr/>
        </p:nvSpPr>
        <p:spPr>
          <a:xfrm>
            <a:off x="685800" y="183832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WorksRecorded will do it for them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9F14C3-3F94-4553-9594-7AE3726B09A3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940AC5-04DA-4D32-80C5-7AAEDD3311FE}"/>
              </a:ext>
            </a:extLst>
          </p:cNvPr>
          <p:cNvSpPr>
            <a:spLocks noGrp="1"/>
          </p:cNvSpPr>
          <p:nvPr/>
        </p:nvSpPr>
        <p:spPr>
          <a:xfrm>
            <a:off x="1524000" y="3143250"/>
            <a:ext cx="9715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Losing money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C495F6-8883-43A7-BE1F-B21C1D694BB7}"/>
              </a:ext>
            </a:extLst>
          </p:cNvPr>
          <p:cNvSpPr>
            <a:spLocks noGrp="1"/>
          </p:cNvSpPr>
          <p:nvPr/>
        </p:nvSpPr>
        <p:spPr>
          <a:xfrm>
            <a:off x="1524000" y="3600450"/>
            <a:ext cx="9429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No data → no visibility → bad decisions → losing money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0EB585-E9C5-402A-A012-3AAF584131CF}"/>
              </a:ext>
            </a:extLst>
          </p:cNvPr>
          <p:cNvSpPr>
            <a:spLocks noGrp="1"/>
          </p:cNvSpPr>
          <p:nvPr/>
        </p:nvSpPr>
        <p:spPr>
          <a:xfrm>
            <a:off x="685800" y="46958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61938E-ED1C-4B79-89A4-1A63F100F5BB}"/>
              </a:ext>
            </a:extLst>
          </p:cNvPr>
          <p:cNvSpPr>
            <a:spLocks noGrp="1"/>
          </p:cNvSpPr>
          <p:nvPr/>
        </p:nvSpPr>
        <p:spPr>
          <a:xfrm>
            <a:off x="1524000" y="4695825"/>
            <a:ext cx="9715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Costs are unpredictable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14D021-5633-4CA7-B7BD-ADD9E092A521}"/>
              </a:ext>
            </a:extLst>
          </p:cNvPr>
          <p:cNvSpPr>
            <a:spLocks noGrp="1"/>
          </p:cNvSpPr>
          <p:nvPr/>
        </p:nvSpPr>
        <p:spPr>
          <a:xfrm>
            <a:off x="1524000" y="5219700"/>
            <a:ext cx="9429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Will the project be profitable? Without data, you can’t answer.</a:t>
            </a:r>
            <a:endParaRPr sz="1875" b="0">
              <a:solidFill>
                <a:srgbClr val="52686B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1464692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F514FA7-0554-4316-91E5-30FDDE89B4EB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Why don’t contractors use data?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5C9D5E-82B4-40A6-A6A5-C7C8CC61F8C2}"/>
              </a:ext>
            </a:extLst>
          </p:cNvPr>
          <p:cNvSpPr>
            <a:spLocks noGrp="1"/>
          </p:cNvSpPr>
          <p:nvPr/>
        </p:nvSpPr>
        <p:spPr>
          <a:xfrm>
            <a:off x="11001375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6CF1E1-1D5C-4E3E-83B0-4C3E4D57E753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A7A93A-5549-496F-A374-F394A6EC4CA1}"/>
              </a:ext>
            </a:extLst>
          </p:cNvPr>
          <p:cNvSpPr>
            <a:spLocks noGrp="1"/>
          </p:cNvSpPr>
          <p:nvPr/>
        </p:nvSpPr>
        <p:spPr>
          <a:xfrm>
            <a:off x="1524000" y="1857375"/>
            <a:ext cx="9715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Hard to collect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BCD30B-329D-4DCC-B4E1-0CE203F80E24}"/>
              </a:ext>
            </a:extLst>
          </p:cNvPr>
          <p:cNvSpPr>
            <a:spLocks noGrp="1"/>
          </p:cNvSpPr>
          <p:nvPr/>
        </p:nvSpPr>
        <p:spPr>
          <a:xfrm>
            <a:off x="1524000" y="2381250"/>
            <a:ext cx="9429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How do you even track what 20 workers do during the day?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C3026F-41DF-4EE6-953C-D66B620F47E0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657F94-172D-49F9-9A94-8B8DEA8B55B7}"/>
              </a:ext>
            </a:extLst>
          </p:cNvPr>
          <p:cNvSpPr>
            <a:spLocks noGrp="1"/>
          </p:cNvSpPr>
          <p:nvPr/>
        </p:nvSpPr>
        <p:spPr>
          <a:xfrm>
            <a:off x="1524000" y="3333750"/>
            <a:ext cx="9715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Hard to structure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E9F297-D90B-4F83-B221-FC09E6E71972}"/>
              </a:ext>
            </a:extLst>
          </p:cNvPr>
          <p:cNvSpPr>
            <a:spLocks noGrp="1"/>
          </p:cNvSpPr>
          <p:nvPr/>
        </p:nvSpPr>
        <p:spPr>
          <a:xfrm>
            <a:off x="1524000" y="3857625"/>
            <a:ext cx="9429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What do you record, and how?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A69771-EE8C-48B2-B62E-7FDE26F9F693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6E4A16-E5C9-48D9-976B-203573C4AE29}"/>
              </a:ext>
            </a:extLst>
          </p:cNvPr>
          <p:cNvSpPr>
            <a:spLocks noGrp="1"/>
          </p:cNvSpPr>
          <p:nvPr/>
        </p:nvSpPr>
        <p:spPr>
          <a:xfrm>
            <a:off x="1524000" y="4810125"/>
            <a:ext cx="9715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Hard to analyze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AE9124-B3BD-463C-8E00-230CE3CFD146}"/>
              </a:ext>
            </a:extLst>
          </p:cNvPr>
          <p:cNvSpPr>
            <a:spLocks noGrp="1"/>
          </p:cNvSpPr>
          <p:nvPr/>
        </p:nvSpPr>
        <p:spPr>
          <a:xfrm>
            <a:off x="1524000" y="5334000"/>
            <a:ext cx="9429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What do you do with 2,000 Excel rows after a year-long construction project?</a:t>
            </a:r>
          </a:p>
        </p:txBody>
      </p:sp>
    </p:spTree>
    <p:extLst>
      <p:ext uri="{BB962C8B-B14F-4D97-AF65-F5344CB8AC3E}">
        <p14:creationId xmlns:p14="http://schemas.microsoft.com/office/powerpoint/2010/main" val="2011982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A645D17-DC3B-CD19-1A56-49C34E0154A6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How we help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D32304-29D5-D063-4810-4FC67988D6FC}"/>
              </a:ext>
            </a:extLst>
          </p:cNvPr>
          <p:cNvSpPr>
            <a:spLocks noGrp="1"/>
          </p:cNvSpPr>
          <p:nvPr/>
        </p:nvSpPr>
        <p:spPr>
          <a:xfrm>
            <a:off x="11001375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D09C23-A343-119D-0640-E09AAE2702C9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D22E2-D781-3AC0-19FC-AF18102F03C4}"/>
              </a:ext>
            </a:extLst>
          </p:cNvPr>
          <p:cNvSpPr>
            <a:spLocks noGrp="1"/>
          </p:cNvSpPr>
          <p:nvPr/>
        </p:nvSpPr>
        <p:spPr>
          <a:xfrm>
            <a:off x="1524000" y="1857375"/>
            <a:ext cx="9715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Provide a data collection tool – WhatsApp automation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F20A53-2AD3-4CA3-6B21-D35FC07ED6D9}"/>
              </a:ext>
            </a:extLst>
          </p:cNvPr>
          <p:cNvSpPr>
            <a:spLocks noGrp="1"/>
          </p:cNvSpPr>
          <p:nvPr/>
        </p:nvSpPr>
        <p:spPr>
          <a:xfrm>
            <a:off x="1524000" y="2381250"/>
            <a:ext cx="9429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875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The site manager sends a voice message to our WhatsApp number describing the day’s work. WhatsApp is the most popular messaging app in construction.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EE6F05-0976-85CC-862D-D4FBA490DFEF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5F904B-50CB-29E8-96FB-0F3139356CF2}"/>
              </a:ext>
            </a:extLst>
          </p:cNvPr>
          <p:cNvSpPr>
            <a:spLocks noGrp="1"/>
          </p:cNvSpPr>
          <p:nvPr/>
        </p:nvSpPr>
        <p:spPr>
          <a:xfrm>
            <a:off x="1524000" y="3333750"/>
            <a:ext cx="9715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WorksRecorded analyzes and structures messages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971A1E-9BC9-44EF-1A19-CBD10E29D59E}"/>
              </a:ext>
            </a:extLst>
          </p:cNvPr>
          <p:cNvSpPr>
            <a:spLocks noGrp="1"/>
          </p:cNvSpPr>
          <p:nvPr/>
        </p:nvSpPr>
        <p:spPr>
          <a:xfrm>
            <a:off x="1524000" y="3857625"/>
            <a:ext cx="9429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AI accurately maps messages and tracks costs against the budget.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388B51-3B61-CACC-AC9B-480F0BB88D15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E9775C-1FDF-9F7C-68A7-1AC278BF4F5C}"/>
              </a:ext>
            </a:extLst>
          </p:cNvPr>
          <p:cNvSpPr>
            <a:spLocks noGrp="1"/>
          </p:cNvSpPr>
          <p:nvPr/>
        </p:nvSpPr>
        <p:spPr>
          <a:xfrm>
            <a:off x="1524000" y="4810125"/>
            <a:ext cx="9715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The project manager or owner receives analytics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E616BF-B03A-854C-AB20-527C08EE5D24}"/>
              </a:ext>
            </a:extLst>
          </p:cNvPr>
          <p:cNvSpPr>
            <a:spLocks noGrp="1"/>
          </p:cNvSpPr>
          <p:nvPr/>
        </p:nvSpPr>
        <p:spPr>
          <a:xfrm>
            <a:off x="1524000" y="5334000"/>
            <a:ext cx="9429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Spending breakdowns, delays, additional work and progress reports – everything needed to make decisions based on data.</a:t>
            </a:r>
          </a:p>
        </p:txBody>
      </p:sp>
    </p:spTree>
    <p:extLst>
      <p:ext uri="{BB962C8B-B14F-4D97-AF65-F5344CB8AC3E}">
        <p14:creationId xmlns:p14="http://schemas.microsoft.com/office/powerpoint/2010/main" val="4206997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A645D17-DC3B-CD19-1A56-49C34E0154A6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StoneAndTree (client) example </a:t>
            </a:r>
            <a:endParaRPr sz="3600" b="1" i="0" u="none" kern="1200" cap="none" spc="0" baseline="0">
              <a:ln>
                <a:noFill/>
              </a:ln>
              <a:solidFill>
                <a:srgbClr val="122C3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D32304-29D5-D063-4810-4FC67988D6FC}"/>
              </a:ext>
            </a:extLst>
          </p:cNvPr>
          <p:cNvSpPr>
            <a:spLocks noGrp="1"/>
          </p:cNvSpPr>
          <p:nvPr/>
        </p:nvSpPr>
        <p:spPr>
          <a:xfrm>
            <a:off x="11001375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 u="none" cap="none" spc="0">
                <a:ln>
                  <a:noFill/>
                </a:ln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D09C23-A343-119D-0640-E09AAE2702C9}"/>
              </a:ext>
            </a:extLst>
          </p:cNvPr>
          <p:cNvSpPr>
            <a:spLocks noGrp="1"/>
          </p:cNvSpPr>
          <p:nvPr/>
        </p:nvSpPr>
        <p:spPr>
          <a:xfrm>
            <a:off x="685800" y="1628013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defRPr>
            </a:pPr>
            <a:endParaRPr sz="1350" b="1" i="0" u="none" cap="none" spc="0">
              <a:ln>
                <a:noFill/>
              </a:ln>
              <a:solidFill>
                <a:srgbClr val="008B80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17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046" y="1628013"/>
            <a:ext cx="8827008" cy="441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699756"/>
      </p:ext>
    </p:extLst>
  </p:cSld>
  <p:clrMapOvr>
    <a:masterClrMapping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78C0D80-D5DE-467F-A114-569B00F5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ICP - specialty trade contractors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B0F191D-6DE8-4B60-9E48-D6294F5A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4E5D290-6F78-4046-A7CE-E38222F8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9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9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10–49</a:t>
            </a:r>
            <a:r>
              <a:rPr sz="79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 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B7BDF1D-5A67-4F36-A377-4F8580A9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Employees in the company 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340E1A3-BC7F-4E71-A39C-55B522DA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4572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Enough operational complexity</a:t>
            </a:r>
          </a:p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to need better records.</a:t>
            </a:r>
          </a:p>
          <a:p xmlns:a="http://schemas.openxmlformats.org/drawingml/2006/main">
            <a:endParaRPr sz="2325" b="0">
              <a:solidFill>
                <a:srgbClr val="122C32"/>
              </a:solidFill>
              <a:latin typeface="Bitstream Charter"/>
              <a:ea typeface="Bitstream Charter"/>
              <a:cs typeface="Bitstream Charter"/>
            </a:endParaRPr>
          </a:p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Limited capacity to build and</a:t>
            </a:r>
          </a:p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maintain an internal system.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A16FE9C-5BF7-4D1C-AB9F-990B61CB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Adjacent opportunity: medium-sized manufacturers, with ZTC as an early customer.</a:t>
            </a:r>
          </a:p>
        </p:txBody>
      </p:sp>
    </p:spTree>
    <p:extLst>
      <p:ext uri="{BB962C8B-B14F-4D97-AF65-F5344CB8AC3E}">
        <p14:creationId xmlns:p14="http://schemas.microsoft.com/office/powerpoint/2010/main" val="11990435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B364AFB-16BF-F4EF-3178-6AEA1954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Market size </a:t>
            </a:r>
            <a:endParaRPr sz="3600" b="1">
              <a:solidFill>
                <a:srgbClr val="122C3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A186907-410E-A87C-6388-2C69B081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BE60FE1-845C-7487-4A26-426E652B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60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6600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616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AB11E46-278C-EBFF-5C4E-458F6ED0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Latvia: initial market</a:t>
            </a:r>
            <a:endParaRPr sz="2250" b="0">
              <a:solidFill>
                <a:srgbClr val="122C3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8A1BE3-7B39-CA6F-4775-D4C9A469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715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Sizing assumption: €150 per company/month. Annual opportunity at full penetration.</a:t>
            </a:r>
          </a:p>
          <a:p xmlns:a="http://schemas.openxmlformats.org/drawingml/2006/main">
            <a:pPr>
              <a:buNone/>
              <a:defRPr sz="142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Eurostat SBS, NACE 43, 10–49 people employed. Latvia: 2024. EU-27: 2023, includes estimates.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E1047-7A69-45E8-968D-5E7CE38E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4777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Specialty construction enterprises with 10–49 people employed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AD83F-7468-490A-A930-8211664F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621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Europe: EU-27 market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65947-32FB-4098-BFA3-759A1FB2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431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6600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~142,000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B9765-8382-445A-BA16-16D453F4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enterprises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0AF8E-71AC-49E1-9AD2-C49556F5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62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enterprises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CA223-3E1A-45B1-94F5-E6903AF3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€1.11M / year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DE4BC-C25F-4124-8528-37900916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671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~€255M / year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14F53-9F2D-400C-B29F-A599DFB9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annual software opportunity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57783-EE91-463F-858F-92B98E83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672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annual software opportunity</a:t>
            </a:r>
          </a:p>
        </p:txBody>
      </p:sp>
    </p:spTree>
    <p:extLst>
      <p:ext uri="{BB962C8B-B14F-4D97-AF65-F5344CB8AC3E}">
        <p14:creationId xmlns:p14="http://schemas.microsoft.com/office/powerpoint/2010/main" val="848191782"/>
      </p:ext>
    </p:extLst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E2CD63-474A-4D05-8791-4CB3A9401BC7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Five active subscriptions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EA92B0-F202-4129-80FE-164C51D0701B}"/>
              </a:ext>
            </a:extLst>
          </p:cNvPr>
          <p:cNvSpPr>
            <a:spLocks noGrp="1"/>
          </p:cNvSpPr>
          <p:nvPr/>
        </p:nvSpPr>
        <p:spPr>
          <a:xfrm>
            <a:off x="11001375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384B42-24A6-4938-ABBF-849F9A0A764B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685800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€780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F1FC68-FB05-41C1-B3AD-5587689647BB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7810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monthly recurring revenue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BDBE97-186D-481C-B712-0D6E406B13B2}"/>
              </a:ext>
            </a:extLst>
          </p:cNvPr>
          <p:cNvSpPr>
            <a:spLocks noGrp="1"/>
          </p:cNvSpPr>
          <p:nvPr/>
        </p:nvSpPr>
        <p:spPr>
          <a:xfrm>
            <a:off x="8143875" y="2362200"/>
            <a:ext cx="333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€156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5E0144-25AA-42AA-BDA4-B2E3C18CE7D1}"/>
              </a:ext>
            </a:extLst>
          </p:cNvPr>
          <p:cNvSpPr>
            <a:spLocks noGrp="1"/>
          </p:cNvSpPr>
          <p:nvPr/>
        </p:nvSpPr>
        <p:spPr>
          <a:xfrm>
            <a:off x="8143875" y="3429000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average monthly revenue</a:t>
            </a:r>
          </a:p>
          <a:p>
            <a:pPr>
              <a:buNone/>
              <a:defRPr sz="202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per company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20956F-9F3C-4BD3-AE98-3C4EC7155A8D}"/>
              </a:ext>
            </a:extLst>
          </p:cNvPr>
          <p:cNvSpPr>
            <a:spLocks noGrp="1"/>
          </p:cNvSpPr>
          <p:nvPr/>
        </p:nvSpPr>
        <p:spPr>
          <a:xfrm>
            <a:off x="742950" y="539115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Early traction: 1–2 months of payment history.</a:t>
            </a:r>
          </a:p>
        </p:txBody>
      </p:sp>
    </p:spTree>
    <p:extLst>
      <p:ext uri="{BB962C8B-B14F-4D97-AF65-F5344CB8AC3E}">
        <p14:creationId xmlns:p14="http://schemas.microsoft.com/office/powerpoint/2010/main" val="1813662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8EDF8BD-E63E-43D5-A36A-2354C150D192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Current customer revenue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FCE96A-ABD4-4662-A1C8-10A8C5DD1783}"/>
              </a:ext>
            </a:extLst>
          </p:cNvPr>
          <p:cNvSpPr>
            <a:spLocks noGrp="1"/>
          </p:cNvSpPr>
          <p:nvPr/>
        </p:nvSpPr>
        <p:spPr>
          <a:xfrm>
            <a:off x="11001375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5E1E9E-8924-44E0-B6FA-FE20ED7744AA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TGEM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35259B-5CA7-49B9-AB23-5C07881DF03A}"/>
              </a:ext>
            </a:extLst>
          </p:cNvPr>
          <p:cNvSpPr>
            <a:spLocks noGrp="1"/>
          </p:cNvSpPr>
          <p:nvPr/>
        </p:nvSpPr>
        <p:spPr>
          <a:xfrm>
            <a:off x="7905750" y="190500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€250 / month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4D18B8-14E2-441A-BE4B-22E964B5ED8D}"/>
              </a:ext>
            </a:extLst>
          </p:cNvPr>
          <p:cNvSpPr>
            <a:spLocks noGrp="1"/>
          </p:cNvSpPr>
          <p:nvPr/>
        </p:nvSpPr>
        <p:spPr>
          <a:xfrm>
            <a:off x="762000" y="2581275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Limeni.lv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C73B40-7A06-4F57-B3FD-4EE294C5913E}"/>
              </a:ext>
            </a:extLst>
          </p:cNvPr>
          <p:cNvSpPr>
            <a:spLocks noGrp="1"/>
          </p:cNvSpPr>
          <p:nvPr/>
        </p:nvSpPr>
        <p:spPr>
          <a:xfrm>
            <a:off x="7905750" y="2581275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€180 / month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CA1260-6304-4A1C-9460-E9221790A96F}"/>
              </a:ext>
            </a:extLst>
          </p:cNvPr>
          <p:cNvSpPr>
            <a:spLocks noGrp="1"/>
          </p:cNvSpPr>
          <p:nvPr/>
        </p:nvSpPr>
        <p:spPr>
          <a:xfrm>
            <a:off x="762000" y="3257550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ZTC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F2BA1E-5CFA-41EF-9053-5A168087E686}"/>
              </a:ext>
            </a:extLst>
          </p:cNvPr>
          <p:cNvSpPr>
            <a:spLocks noGrp="1"/>
          </p:cNvSpPr>
          <p:nvPr/>
        </p:nvSpPr>
        <p:spPr>
          <a:xfrm>
            <a:off x="7905750" y="325755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€150 / month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24057A-317B-4D08-975C-B2CF5F21A23A}"/>
              </a:ext>
            </a:extLst>
          </p:cNvPr>
          <p:cNvSpPr>
            <a:spLocks noGrp="1"/>
          </p:cNvSpPr>
          <p:nvPr/>
        </p:nvSpPr>
        <p:spPr>
          <a:xfrm>
            <a:off x="762000" y="3933825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Stone and Tree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F33BDC-B105-43E4-B07F-D346123128EA}"/>
              </a:ext>
            </a:extLst>
          </p:cNvPr>
          <p:cNvSpPr>
            <a:spLocks noGrp="1"/>
          </p:cNvSpPr>
          <p:nvPr/>
        </p:nvSpPr>
        <p:spPr>
          <a:xfrm>
            <a:off x="7905750" y="3933825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€120 / month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15E4E-9ABF-4A78-BFAE-904108F9C394}"/>
              </a:ext>
            </a:extLst>
          </p:cNvPr>
          <p:cNvSpPr>
            <a:spLocks noGrp="1"/>
          </p:cNvSpPr>
          <p:nvPr/>
        </p:nvSpPr>
        <p:spPr>
          <a:xfrm>
            <a:off x="762000" y="4610100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SIA 1212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8EA2D7-39A3-4FCE-BA45-17026E61D91C}"/>
              </a:ext>
            </a:extLst>
          </p:cNvPr>
          <p:cNvSpPr>
            <a:spLocks noGrp="1"/>
          </p:cNvSpPr>
          <p:nvPr/>
        </p:nvSpPr>
        <p:spPr>
          <a:xfrm>
            <a:off x="7905750" y="461010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€80 / month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0AD922-7A01-4877-8EE9-C53F1F8DF59B}"/>
              </a:ext>
            </a:extLst>
          </p:cNvPr>
          <p:cNvSpPr>
            <a:spLocks noGrp="1"/>
          </p:cNvSpPr>
          <p:nvPr/>
        </p:nvSpPr>
        <p:spPr>
          <a:xfrm>
            <a:off x="762000" y="6011418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72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Separate from active subscriptions: one free pilot and one former €20/month customer.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874276-C8AD-7D00-C92C-338B0347F467}"/>
              </a:ext>
            </a:extLst>
          </p:cNvPr>
          <p:cNvSpPr>
            <a:spLocks noGrp="1"/>
          </p:cNvSpPr>
          <p:nvPr/>
        </p:nvSpPr>
        <p:spPr>
          <a:xfrm>
            <a:off x="762000" y="5286375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SB STOMME (trial ongoing)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FEF6AF-BCD3-47B9-DD7F-3A5362E97F46}"/>
              </a:ext>
            </a:extLst>
          </p:cNvPr>
          <p:cNvSpPr>
            <a:spLocks noGrp="1"/>
          </p:cNvSpPr>
          <p:nvPr/>
        </p:nvSpPr>
        <p:spPr>
          <a:xfrm>
            <a:off x="7905750" y="5286375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€90 / month</a:t>
            </a:r>
          </a:p>
        </p:txBody>
      </p:sp>
    </p:spTree>
    <p:extLst>
      <p:ext uri="{BB962C8B-B14F-4D97-AF65-F5344CB8AC3E}">
        <p14:creationId xmlns:p14="http://schemas.microsoft.com/office/powerpoint/2010/main" val="788635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344888-1F13-4A13-A7A8-748D9BB071D8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Customer acquisition is still taking shape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A6F4C6-723F-4CA7-83C8-CCC073846E0E}"/>
              </a:ext>
            </a:extLst>
          </p:cNvPr>
          <p:cNvSpPr>
            <a:spLocks noGrp="1"/>
          </p:cNvSpPr>
          <p:nvPr/>
        </p:nvSpPr>
        <p:spPr>
          <a:xfrm>
            <a:off x="11001375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08648-4214-46B7-9B36-55F485EF8553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3810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660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60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55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56176C-ADD5-4D76-9013-3B56A5ACC91D}"/>
              </a:ext>
            </a:extLst>
          </p:cNvPr>
          <p:cNvSpPr>
            <a:spLocks noGrp="1"/>
          </p:cNvSpPr>
          <p:nvPr/>
        </p:nvSpPr>
        <p:spPr>
          <a:xfrm>
            <a:off x="723900" y="3000375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cold calls in one month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82837C-EBE9-4A6C-AA32-C323BD11F93E}"/>
              </a:ext>
            </a:extLst>
          </p:cNvPr>
          <p:cNvSpPr>
            <a:spLocks noGrp="1"/>
          </p:cNvSpPr>
          <p:nvPr/>
        </p:nvSpPr>
        <p:spPr>
          <a:xfrm>
            <a:off x="6953250" y="1866900"/>
            <a:ext cx="3810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660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60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83372F-0973-466E-964C-1F91E8E3DB48}"/>
              </a:ext>
            </a:extLst>
          </p:cNvPr>
          <p:cNvSpPr>
            <a:spLocks noGrp="1"/>
          </p:cNvSpPr>
          <p:nvPr/>
        </p:nvSpPr>
        <p:spPr>
          <a:xfrm>
            <a:off x="6991350" y="3000375"/>
            <a:ext cx="4381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demos booked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AC89B7-75B2-46D4-A303-F29609255CC7}"/>
              </a:ext>
            </a:extLst>
          </p:cNvPr>
          <p:cNvSpPr>
            <a:spLocks noGrp="1"/>
          </p:cNvSpPr>
          <p:nvPr/>
        </p:nvSpPr>
        <p:spPr>
          <a:xfrm>
            <a:off x="723900" y="3914775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13% call-to-demo booking rate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7A5825-3A1A-41F8-85A3-E92AC357981C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Facebook ads have brought paying customers.</a:t>
            </a:r>
          </a:p>
          <a:p>
            <a:pPr>
              <a:buNone/>
              <a:defRPr sz="2100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The current bottleneck is converting demos into active trials.</a:t>
            </a:r>
          </a:p>
        </p:txBody>
      </p:sp>
    </p:spTree>
    <p:extLst>
      <p:ext uri="{BB962C8B-B14F-4D97-AF65-F5344CB8AC3E}">
        <p14:creationId xmlns:p14="http://schemas.microsoft.com/office/powerpoint/2010/main" val="1281979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0FA0B1-1E73-4BC6-A3C0-91F46BEF2671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Expenses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F805A5-1960-468F-BF6B-DE0AB7AA10EE}"/>
              </a:ext>
            </a:extLst>
          </p:cNvPr>
          <p:cNvSpPr>
            <a:spLocks noGrp="1"/>
          </p:cNvSpPr>
          <p:nvPr/>
        </p:nvSpPr>
        <p:spPr>
          <a:xfrm>
            <a:off x="11001375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92F7F5-4BFE-49B1-8D31-AC62302E8279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095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rPr>
              <a:t>Monthly cash expenses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865D47-EC74-45E0-998A-F034574BBE87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5095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About $80 / month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C7AE87-9ED4-4F1A-9B85-5C306281D1ED}"/>
              </a:ext>
            </a:extLst>
          </p:cNvPr>
          <p:cNvSpPr>
            <a:spLocks noGrp="1"/>
          </p:cNvSpPr>
          <p:nvPr/>
        </p:nvSpPr>
        <p:spPr>
          <a:xfrm>
            <a:off x="685800" y="33623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950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rPr>
              <a:t>Software: $40 OpenAI + $40 hosting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743898-E739-47DB-8AD3-2BFD6CB793F4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5095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€150 / month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4C7480-94C7-4DE1-802E-7F78119BC9B6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950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rPr>
              <a:t>Facebook advertising spend to date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AC0DBB-ECD4-488C-A373-0168CE427D54}"/>
              </a:ext>
            </a:extLst>
          </p:cNvPr>
          <p:cNvSpPr>
            <a:spLocks noGrp="1"/>
          </p:cNvSpPr>
          <p:nvPr/>
        </p:nvSpPr>
        <p:spPr>
          <a:xfrm>
            <a:off x="6762750" y="1762125"/>
            <a:ext cx="4762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rPr>
              <a:t>Work required per client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080898-B2B2-41C8-8BE5-A2E86A8ED18E}"/>
              </a:ext>
            </a:extLst>
          </p:cNvPr>
          <p:cNvSpPr>
            <a:spLocks noGrp="1"/>
          </p:cNvSpPr>
          <p:nvPr/>
        </p:nvSpPr>
        <p:spPr>
          <a:xfrm>
            <a:off x="6762750" y="2590800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8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About 3 hours initially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FDEB93-DB2E-4D41-A168-7AEE7D73B317}"/>
              </a:ext>
            </a:extLst>
          </p:cNvPr>
          <p:cNvSpPr>
            <a:spLocks noGrp="1"/>
          </p:cNvSpPr>
          <p:nvPr/>
        </p:nvSpPr>
        <p:spPr>
          <a:xfrm>
            <a:off x="6762750" y="3362325"/>
            <a:ext cx="4762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rPr>
              <a:t>2 hours of onboarding</a:t>
            </a:r>
          </a:p>
          <a:p>
            <a:pPr>
              <a:buNone/>
              <a:defRPr sz="2100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rPr>
              <a:t>1 hour of AI adjustment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24940-CDD1-4B5D-ADC5-0577FCD95319}"/>
              </a:ext>
            </a:extLst>
          </p:cNvPr>
          <p:cNvSpPr>
            <a:spLocks noGrp="1"/>
          </p:cNvSpPr>
          <p:nvPr/>
        </p:nvSpPr>
        <p:spPr>
          <a:xfrm>
            <a:off x="6762750" y="4429125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8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Under 1 hour / week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6DC520-3DA5-49C9-A171-1E3713027C95}"/>
              </a:ext>
            </a:extLst>
          </p:cNvPr>
          <p:cNvSpPr>
            <a:spLocks noGrp="1"/>
          </p:cNvSpPr>
          <p:nvPr/>
        </p:nvSpPr>
        <p:spPr>
          <a:xfrm>
            <a:off x="6762750" y="5238750"/>
            <a:ext cx="4762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950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rPr>
              <a:t>Ongoing servicing per client</a:t>
            </a:r>
          </a:p>
        </p:txBody>
      </p:sp>
    </p:spTree>
    <p:extLst>
      <p:ext uri="{BB962C8B-B14F-4D97-AF65-F5344CB8AC3E}">
        <p14:creationId xmlns:p14="http://schemas.microsoft.com/office/powerpoint/2010/main" val="23689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3FABD8F-EC96-43AA-854C-56AA081C76B2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Why customers would choose WorksRecorded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539372-7A70-4C5D-ADF8-02DDD86B7CCA}"/>
              </a:ext>
            </a:extLst>
          </p:cNvPr>
          <p:cNvSpPr>
            <a:spLocks noGrp="1"/>
          </p:cNvSpPr>
          <p:nvPr/>
        </p:nvSpPr>
        <p:spPr>
          <a:xfrm>
            <a:off x="11001375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E788EA-9D12-40BB-BA7A-528706019C57}"/>
              </a:ext>
            </a:extLst>
          </p:cNvPr>
          <p:cNvSpPr>
            <a:spLocks noGrp="1"/>
          </p:cNvSpPr>
          <p:nvPr/>
        </p:nvSpPr>
        <p:spPr>
          <a:xfrm>
            <a:off x="685800" y="18383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021D0A-8ED1-4271-9987-F6BC5CC99F40}"/>
              </a:ext>
            </a:extLst>
          </p:cNvPr>
          <p:cNvSpPr>
            <a:spLocks noGrp="1"/>
          </p:cNvSpPr>
          <p:nvPr/>
        </p:nvSpPr>
        <p:spPr>
          <a:xfrm>
            <a:off x="1524000" y="1838325"/>
            <a:ext cx="9715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A familiar reporting channel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1E294A-ACDD-4EE7-9320-368A69775742}"/>
              </a:ext>
            </a:extLst>
          </p:cNvPr>
          <p:cNvSpPr>
            <a:spLocks noGrp="1"/>
          </p:cNvSpPr>
          <p:nvPr/>
        </p:nvSpPr>
        <p:spPr>
          <a:xfrm>
            <a:off x="1524000" y="2362200"/>
            <a:ext cx="9429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Site teams can send information through WhatsApp.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A2962C-DED0-4CFB-A544-126AAE0BDE55}"/>
              </a:ext>
            </a:extLst>
          </p:cNvPr>
          <p:cNvSpPr>
            <a:spLocks noGrp="1"/>
          </p:cNvSpPr>
          <p:nvPr/>
        </p:nvSpPr>
        <p:spPr>
          <a:xfrm>
            <a:off x="685800" y="334327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435855-A52E-4EA1-804E-9E572E4F9A91}"/>
              </a:ext>
            </a:extLst>
          </p:cNvPr>
          <p:cNvSpPr>
            <a:spLocks noGrp="1"/>
          </p:cNvSpPr>
          <p:nvPr/>
        </p:nvSpPr>
        <p:spPr>
          <a:xfrm>
            <a:off x="1524000" y="3343275"/>
            <a:ext cx="9715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Not a tool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481430-38A5-453F-AE13-1C4997382B8A}"/>
              </a:ext>
            </a:extLst>
          </p:cNvPr>
          <p:cNvSpPr>
            <a:spLocks noGrp="1"/>
          </p:cNvSpPr>
          <p:nvPr/>
        </p:nvSpPr>
        <p:spPr>
          <a:xfrm>
            <a:off x="1524000" y="3867150"/>
            <a:ext cx="9429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We provide a service, not just a tool. There is widespread fatigue with new “tools”.</a:t>
            </a:r>
            <a:endParaRPr sz="1875" b="0">
              <a:solidFill>
                <a:srgbClr val="52686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BF155B-48F5-4944-9D3E-3C0BE3377F6D}"/>
              </a:ext>
            </a:extLst>
          </p:cNvPr>
          <p:cNvSpPr>
            <a:spLocks noGrp="1"/>
          </p:cNvSpPr>
          <p:nvPr/>
        </p:nvSpPr>
        <p:spPr>
          <a:xfrm>
            <a:off x="685800" y="48482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DAD88D-9EB5-492F-8A67-DF7400176FD3}"/>
              </a:ext>
            </a:extLst>
          </p:cNvPr>
          <p:cNvSpPr>
            <a:spLocks noGrp="1"/>
          </p:cNvSpPr>
          <p:nvPr/>
        </p:nvSpPr>
        <p:spPr>
          <a:xfrm>
            <a:off x="1524000" y="4848225"/>
            <a:ext cx="9715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Affordable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4F39A2-883A-4106-8AF0-0269715236F3}"/>
              </a:ext>
            </a:extLst>
          </p:cNvPr>
          <p:cNvSpPr>
            <a:spLocks noGrp="1"/>
          </p:cNvSpPr>
          <p:nvPr/>
        </p:nvSpPr>
        <p:spPr>
          <a:xfrm>
            <a:off x="1524000" y="5372100"/>
            <a:ext cx="9429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Our price is EUR 50 per project. Contractors need 15 hours a week to achieve the same result.</a:t>
            </a:r>
            <a:endParaRPr sz="1875" b="0">
              <a:solidFill>
                <a:srgbClr val="52686B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682954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5BA4CD-5C4E-4732-A2A9-759D110AA252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Team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4DC0EA-0AD7-4A0D-8159-D47BE7FBE110}"/>
              </a:ext>
            </a:extLst>
          </p:cNvPr>
          <p:cNvSpPr>
            <a:spLocks noGrp="1"/>
          </p:cNvSpPr>
          <p:nvPr/>
        </p:nvSpPr>
        <p:spPr>
          <a:xfrm>
            <a:off x="11001375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27BB7F-75C3-4988-BA77-6FEBD1E928D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5095875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Vjaceslavs</a:t>
            </a:r>
          </a:p>
          <a:p>
            <a:pPr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Gromatovics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392C90-1DB6-4B05-802B-1CF647FFE0AB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rPr>
              <a:t>BEng in Civil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08F114-2165-43E5-9F7B-FBCFE7D19450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5286375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5 years as a construction site manager</a:t>
            </a:r>
          </a:p>
          <a:p>
            <a:pPr>
              <a:buNone/>
              <a:defRPr sz="187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5 years as a project manager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B1E63E-44C7-41C4-B4A9-57405C400FCF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5334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Working full-time on WorksRecorded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50FFB-D2AA-4373-8BB3-C8BE5842B85C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50958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rPr>
              <a:t>80% ownership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CED15D-0ACF-4BCF-B8E8-55FFA9754638}"/>
              </a:ext>
            </a:extLst>
          </p:cNvPr>
          <p:cNvSpPr>
            <a:spLocks noGrp="1"/>
          </p:cNvSpPr>
          <p:nvPr/>
        </p:nvSpPr>
        <p:spPr>
          <a:xfrm>
            <a:off x="6762750" y="1809750"/>
            <a:ext cx="47625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Deivids</a:t>
            </a:r>
          </a:p>
          <a:p>
            <a:pPr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Berkolds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CC7D36-CA00-490F-80BC-B7215D712883}"/>
              </a:ext>
            </a:extLst>
          </p:cNvPr>
          <p:cNvSpPr>
            <a:spLocks noGrp="1"/>
          </p:cNvSpPr>
          <p:nvPr/>
        </p:nvSpPr>
        <p:spPr>
          <a:xfrm>
            <a:off x="6762750" y="3190875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rPr>
              <a:t>BEng in Computer Science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88DBD3-9DF8-4BB0-901D-8973D3E8DC97}"/>
              </a:ext>
            </a:extLst>
          </p:cNvPr>
          <p:cNvSpPr>
            <a:spLocks noGrp="1"/>
          </p:cNvSpPr>
          <p:nvPr/>
        </p:nvSpPr>
        <p:spPr>
          <a:xfrm>
            <a:off x="6762750" y="3924300"/>
            <a:ext cx="4762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Senior JavaScript developer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33AE3B-7944-4879-BD3D-AD5DEE002A8F}"/>
              </a:ext>
            </a:extLst>
          </p:cNvPr>
          <p:cNvSpPr>
            <a:spLocks noGrp="1"/>
          </p:cNvSpPr>
          <p:nvPr/>
        </p:nvSpPr>
        <p:spPr>
          <a:xfrm>
            <a:off x="6762750" y="57912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rPr>
              <a:t>20% ownership</a:t>
            </a:r>
            <a:endParaRPr sz="1875" b="0">
              <a:solidFill>
                <a:srgbClr val="52686B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1732788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B9A75C-8D74-4081-9192-AE464D3949B7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Capital and expertise for the next stage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A6315F-78C9-4021-AD5A-EF86C8C66720}"/>
              </a:ext>
            </a:extLst>
          </p:cNvPr>
          <p:cNvSpPr>
            <a:spLocks noGrp="1"/>
          </p:cNvSpPr>
          <p:nvPr/>
        </p:nvSpPr>
        <p:spPr>
          <a:xfrm>
            <a:off x="11001375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6E5EC-F3A6-4328-851A-9034E87201C7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1066800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Advertising investment</a:t>
            </a:r>
          </a:p>
          <a:p>
            <a:pPr>
              <a:buNone/>
              <a:defRPr sz="4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and go-to-market guidance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D75E53-D653-49AC-BFB1-25597B87758A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10191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Support customer acquisition and test demand</a:t>
            </a:r>
          </a:p>
          <a:p>
            <a:pPr>
              <a:buNone/>
              <a:defRPr sz="240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in the UK and Sweden.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AA3D8D-1939-4354-A3CE-58BF1DC4D1AC}"/>
              </a:ext>
            </a:extLst>
          </p:cNvPr>
          <p:cNvSpPr>
            <a:spLocks noGrp="1"/>
          </p:cNvSpPr>
          <p:nvPr/>
        </p:nvSpPr>
        <p:spPr>
          <a:xfrm>
            <a:off x="723900" y="5810250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Funding amount and terms to be agreed</a:t>
            </a:r>
          </a:p>
        </p:txBody>
      </p:sp>
    </p:spTree>
    <p:extLst>
      <p:ext uri="{BB962C8B-B14F-4D97-AF65-F5344CB8AC3E}">
        <p14:creationId xmlns:p14="http://schemas.microsoft.com/office/powerpoint/2010/main" val="17205520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1135</Words>
  <Application>Microsoft Office PowerPoint</Application>
  <DocSecurity>0</DocSecurity>
  <PresentationFormat>Widescreen</PresentationFormat>
  <Paragraphs>144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Bitstream Charter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Vjaceslavs Gromatovics</cp:lastModifiedBy>
  <cp:revision>2</cp:revision>
  <dcterms:created xsi:type="dcterms:W3CDTF">2026-09-18T10:59:03Z</dcterms:created>
  <dcterms:modified xsi:type="dcterms:W3CDTF">2026-09-18T12:54:54Z</dcterms:modified>
</cp:coreProperties>
</file>