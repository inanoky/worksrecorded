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80b9dc42df4e87" /><Relationship Type="http://schemas.openxmlformats.org/officeDocument/2006/relationships/extended-properties" Target="/docProps/app.xml" Id="Rabca2aedb8e74c54" /><Relationship Type="http://schemas.openxmlformats.org/officeDocument/2006/relationships/officeDocument" Target="/ppt/presentation.xml" Id="R2dca7b0f6e7142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a96f9391ff4c2e"/>
  </p:sldMasterIdLst>
  <p:notesMasterIdLst>
    <p:notesMasterId xmlns:r="http://schemas.openxmlformats.org/officeDocument/2006/relationships" r:id="R03da508ba8994989"/>
  </p:notesMasterIdLst>
  <p:sldIdLst>
    <p:sldId xmlns:r="http://schemas.openxmlformats.org/officeDocument/2006/relationships" id="256" r:id="R4e6dbfda148640e0"/>
    <p:sldId xmlns:r="http://schemas.openxmlformats.org/officeDocument/2006/relationships" id="257" r:id="R6b189b6a46b341cc"/>
    <p:sldId xmlns:r="http://schemas.openxmlformats.org/officeDocument/2006/relationships" id="258" r:id="Rbb1e9ff5326a4512"/>
    <p:sldId xmlns:r="http://schemas.openxmlformats.org/officeDocument/2006/relationships" id="259" r:id="Rd524e54e5a544fa6"/>
    <p:sldId xmlns:r="http://schemas.openxmlformats.org/officeDocument/2006/relationships" id="260" r:id="R7fd6eed8e88c4246"/>
    <p:sldId xmlns:r="http://schemas.openxmlformats.org/officeDocument/2006/relationships" id="261" r:id="Rdaa7f2c7b6064f07"/>
    <p:sldId xmlns:r="http://schemas.openxmlformats.org/officeDocument/2006/relationships" id="262" r:id="R656dcf12986c4c1c"/>
    <p:sldId xmlns:r="http://schemas.openxmlformats.org/officeDocument/2006/relationships" id="263" r:id="R07eee4f139c44ab7"/>
    <p:sldId xmlns:r="http://schemas.openxmlformats.org/officeDocument/2006/relationships" id="264" r:id="R8fc721320b824294"/>
    <p:sldId xmlns:r="http://schemas.openxmlformats.org/officeDocument/2006/relationships" id="265" r:id="R5048504b96434736"/>
    <p:sldId xmlns:r="http://schemas.openxmlformats.org/officeDocument/2006/relationships" id="266" r:id="R9bae961048394c23"/>
    <p:sldId xmlns:r="http://schemas.openxmlformats.org/officeDocument/2006/relationships" id="267" r:id="R9b037df52e0049f3"/>
    <p:sldId xmlns:r="http://schemas.openxmlformats.org/officeDocument/2006/relationships" id="268" r:id="R197e1a902bcb4f8f"/>
    <p:sldId xmlns:r="http://schemas.openxmlformats.org/officeDocument/2006/relationships" id="269" r:id="R54e73cb15a4f4740"/>
    <p:sldId xmlns:r="http://schemas.openxmlformats.org/officeDocument/2006/relationships" id="270" r:id="R76dfd0c49dee4e85"/>
    <p:sldId xmlns:r="http://schemas.openxmlformats.org/officeDocument/2006/relationships" id="271" r:id="R25676d3679b94268"/>
    <p:sldId xmlns:r="http://schemas.openxmlformats.org/officeDocument/2006/relationships" id="272" r:id="Rdb21c3e82ed344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9c9ef463de4c23" /><Relationship Type="http://schemas.openxmlformats.org/officeDocument/2006/relationships/slideMaster" Target="/ppt/slideMasters/slideMaster1.xml" Id="R87a96f9391ff4c2e" /><Relationship Type="http://schemas.openxmlformats.org/officeDocument/2006/relationships/notesMaster" Target="/ppt/notesMasters/notesMaster1.xml" Id="R03da508ba8994989" /><Relationship Type="http://schemas.openxmlformats.org/officeDocument/2006/relationships/presProps" Target="/ppt/presProps.xml" Id="R00b57c7cda11482e" /><Relationship Type="http://schemas.openxmlformats.org/officeDocument/2006/relationships/viewProps" Target="/ppt/viewProps.xml" Id="R0bdf235a1e9148a0" /><Relationship Type="http://schemas.openxmlformats.org/officeDocument/2006/relationships/tableStyles" Target="/ppt/tableStyles.xml" Id="Rf62b911500274a75" /><Relationship Type="http://schemas.openxmlformats.org/officeDocument/2006/relationships/slide" Target="/ppt/slides/slide1.xml" Id="R4e6dbfda148640e0" /><Relationship Type="http://schemas.openxmlformats.org/officeDocument/2006/relationships/slide" Target="/ppt/slides/slide2.xml" Id="R6b189b6a46b341cc" /><Relationship Type="http://schemas.openxmlformats.org/officeDocument/2006/relationships/slide" Target="/ppt/slides/slide3.xml" Id="Rbb1e9ff5326a4512" /><Relationship Type="http://schemas.openxmlformats.org/officeDocument/2006/relationships/slide" Target="/ppt/slides/slide4.xml" Id="Rd524e54e5a544fa6" /><Relationship Type="http://schemas.openxmlformats.org/officeDocument/2006/relationships/slide" Target="/ppt/slides/slide5.xml" Id="R7fd6eed8e88c4246" /><Relationship Type="http://schemas.openxmlformats.org/officeDocument/2006/relationships/slide" Target="/ppt/slides/slide6.xml" Id="Rdaa7f2c7b6064f07" /><Relationship Type="http://schemas.openxmlformats.org/officeDocument/2006/relationships/slide" Target="/ppt/slides/slide7.xml" Id="R656dcf12986c4c1c" /><Relationship Type="http://schemas.openxmlformats.org/officeDocument/2006/relationships/slide" Target="/ppt/slides/slide8.xml" Id="R07eee4f139c44ab7" /><Relationship Type="http://schemas.openxmlformats.org/officeDocument/2006/relationships/slide" Target="/ppt/slides/slide9.xml" Id="R8fc721320b824294" /><Relationship Type="http://schemas.openxmlformats.org/officeDocument/2006/relationships/slide" Target="/ppt/slides/slide10.xml" Id="R5048504b96434736" /><Relationship Type="http://schemas.openxmlformats.org/officeDocument/2006/relationships/slide" Target="/ppt/slides/slide11.xml" Id="R9bae961048394c23" /><Relationship Type="http://schemas.openxmlformats.org/officeDocument/2006/relationships/slide" Target="/ppt/slides/slide12.xml" Id="R9b037df52e0049f3" /><Relationship Type="http://schemas.openxmlformats.org/officeDocument/2006/relationships/slide" Target="/ppt/slides/slide13.xml" Id="R197e1a902bcb4f8f" /><Relationship Type="http://schemas.openxmlformats.org/officeDocument/2006/relationships/slide" Target="/ppt/slides/slide14.xml" Id="R54e73cb15a4f4740" /><Relationship Type="http://schemas.openxmlformats.org/officeDocument/2006/relationships/slide" Target="/ppt/slides/slide15.xml" Id="R76dfd0c49dee4e85" /><Relationship Type="http://schemas.openxmlformats.org/officeDocument/2006/relationships/slide" Target="/ppt/slides/slide16.xml" Id="R25676d3679b94268" /><Relationship Type="http://schemas.openxmlformats.org/officeDocument/2006/relationships/slide" Target="/ppt/slides/slide17.xml" Id="Rdb21c3e82ed344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1a3d16b0b546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3850ad9ab94c17" /><Relationship Type="http://schemas.openxmlformats.org/officeDocument/2006/relationships/notesMaster" Target="/ppt/notesMasters/notesMaster1.xml" Id="Ree1798702f1742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38aca924b4297" /><Relationship Type="http://schemas.openxmlformats.org/officeDocument/2006/relationships/notesMaster" Target="/ppt/notesMasters/notesMaster1.xml" Id="Rc861d43b2e014d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ad64ae336f4c15" /><Relationship Type="http://schemas.openxmlformats.org/officeDocument/2006/relationships/notesMaster" Target="/ppt/notesMasters/notesMaster1.xml" Id="R0e811d8f3c9144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e5a55abeb4431b" /><Relationship Type="http://schemas.openxmlformats.org/officeDocument/2006/relationships/notesMaster" Target="/ppt/notesMasters/notesMaster1.xml" Id="R8d5ecb68a27f42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71a52fe23b4966" /><Relationship Type="http://schemas.openxmlformats.org/officeDocument/2006/relationships/notesMaster" Target="/ppt/notesMasters/notesMaster1.xml" Id="R9d1248337ef744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06649728bf4e14" /><Relationship Type="http://schemas.openxmlformats.org/officeDocument/2006/relationships/notesMaster" Target="/ppt/notesMasters/notesMaster1.xml" Id="R801506f9001041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c818c3a2e14d3d" /><Relationship Type="http://schemas.openxmlformats.org/officeDocument/2006/relationships/notesMaster" Target="/ppt/notesMasters/notesMaster1.xml" Id="Rfc2ebc39506746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2b63acfdf3454e" /><Relationship Type="http://schemas.openxmlformats.org/officeDocument/2006/relationships/notesMaster" Target="/ppt/notesMasters/notesMaster1.xml" Id="R2659324fdc5349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e6e2415b2844b8" /><Relationship Type="http://schemas.openxmlformats.org/officeDocument/2006/relationships/notesMaster" Target="/ppt/notesMasters/notesMaster1.xml" Id="R9d96249423b842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ca7ed7dffe436d" /><Relationship Type="http://schemas.openxmlformats.org/officeDocument/2006/relationships/notesMaster" Target="/ppt/notesMasters/notesMaster1.xml" Id="Re91944a851054b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105c11ed5146ad" /><Relationship Type="http://schemas.openxmlformats.org/officeDocument/2006/relationships/notesMaster" Target="/ppt/notesMasters/notesMaster1.xml" Id="Rb7376b1f52f549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515d3e7f5a4b9a" /><Relationship Type="http://schemas.openxmlformats.org/officeDocument/2006/relationships/notesMaster" Target="/ppt/notesMasters/notesMaster1.xml" Id="R41120c13647c48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98495bce1140f4" /><Relationship Type="http://schemas.openxmlformats.org/officeDocument/2006/relationships/notesMaster" Target="/ppt/notesMasters/notesMaster1.xml" Id="R658f1ece9f4949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3db1b96fa74aa6" /><Relationship Type="http://schemas.openxmlformats.org/officeDocument/2006/relationships/notesMaster" Target="/ppt/notesMasters/notesMaster1.xml" Id="Rbe6539227e9e49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702ce5c254453b" /><Relationship Type="http://schemas.openxmlformats.org/officeDocument/2006/relationships/notesMaster" Target="/ppt/notesMasters/notesMaster1.xml" Id="R4226917faf9648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5b02238cc74bbe" /><Relationship Type="http://schemas.openxmlformats.org/officeDocument/2006/relationships/notesMaster" Target="/ppt/notesMasters/notesMaster1.xml" Id="Ra308e12a19fc43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8165e3d0f74b7c" /><Relationship Type="http://schemas.openxmlformats.org/officeDocument/2006/relationships/notesMaster" Target="/ppt/notesMasters/notesMaster1.xml" Id="Rea63b50d4a7746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input and output, not a customer case study or product screenshot. Arithmetic: 4 people × 8 hours = 32 labour-hours; 32 / 20 panels = 1.6 labour-hours per panel. No delay cost or cost saving is inferred.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Eurostat SBS_SC_OVW, ENT_NR, F43, sizes 10-19 and 20-49. Latvia 2024: 408+208=616. EU27 2023: 101914+40000=141914, with 40000 flagged estimated. Latest EU aggregate available is 2023. Latvia included in EU total. EU27 excludes UK and other non-EU countries. Source https://ec.europa.eu/eurostat/api/dissemination/statistics/1.0/data/sbs_sc_ovw?geo=EU27_2020&amp;nace_r2=F43&amp;indic_sbs=ENT_NR&amp;time=2023&amp;size_emp=10-19&amp;size_emp=20-49 ; Latvia https://ec.europa.eu/eurostat/api/dissemination/statistics/1.0/data/sbs_sc_ovw?geo=LV&amp;nace_r2=F43&amp;indic_sbs=ENT_NR&amp;time=2024&amp;size_emp=10-19&amp;size_emp=20-49 . Retrieved 18 September 2026. At 3 paid users times EUR50/month: annual EUR1800/company. Latvia EUR1108800; EU EUR255445200. Full penetration potential, not forecast. Economically active in reference year, persons employed include working owners. </a:t>
            </a:r>
          </a:p>
          <a:p xmlns:a="http://schemas.openxmlformats.org/drawingml/2006/main">
            <a:r>
              <a:t>Pricing clarification from founder: EUR50 per user, with discounts and custom function upsells. Monthly basis follows existing subscriptions. The EUR150 market assumption explicitly means 3 paying users per enterprise, not a flat company plan. Total employees are not all assumed to become paying users. Market opportunity is distinct from sales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deck(1).docx. Calculated MRR = 80 + 150 + 120 + 180 + 250 = EUR 780. ARPA = 780 / 5 = EUR 156. Excludes free pilot and churned customer. Source totals of EUR 800 and EUR 810 conflict with these line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deck(1).docx. DEPROM/DEPRMO spelling differs in source materials, so pilot name omitted. Latvijas Energoceltnieks churned after three months.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 clarification, 18 September 2026: EUR50 per user, sometimes discounts, sometimes upsells for customized functions. Monthly basis follows existing monthly subscription billing. Paid user counts and custom-fee split by customer are not supplied. Do not infer paid seats from invoice values. Existing deck: five subscriptions totalling EUR780, average EUR156; annualised run-rate EUR9360, not annual revenue already collected. Seat examples exclude discounts and custom fees.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competitor sources, 18 September 2026: https://www.fieldwire.com/pricing/ and https://help.fieldwire.com/hc/en-us/articles/360000574203-Introduction-to-Task-Reports-in-Fieldwire ; https://buildertrend.com/pricing/ and https://buildertrend.com/help-article/daily-logs-overview/ . WhatsApp plus Excel is a workflow alternative. Named brands are relevant alternatives, not verified tools used by current customers. WorksRecorded positioning needs validation. No claim that competitors cannot support voice, AI or integrations.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deck. 55 cold calls, 7 demos booked in one month. 7/55=12.727%. Booked demos may differ from held demos. Facebook brought paying customers. Demo-to-trial bottleneck reported. Trials, paid conversion by channel, attribution, churn and CAC are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activities. Latvia initial market. Sweden first expansion test is a sequencing proposal based on the original deck naming UK and Sweden, not evidence of validated demand. Facebook should be a separately measured channel. Allocate budget based on paid conversion and retention.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Measurement model, not forecast. Later-stage conversion, attribution and CAC unavailable. Track monthly cohorts by geography/channel and renewals/cancellations. Starting ARPA EUR156 based on five companies, not a validated long-term average. Expansion possible through seats and recurring custom functions, without assuming an expansion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deck: 2h onboarding +1h AI adjustment, ongoing &lt;1h/week/client, USD80 monthly software. Facebook spend ambiguous: EUR150/month with wording spend to date. Omit until reconciled. Founder/developer compensation and labour cost not supplied. Runway and margin not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details supplied by the founder. Vjaceslavs Gromatovics: BEng in Civil Engineering, five years as a construction site manager and five years as a project manager, working full-time on WorksRecorded, 80% ownership. Deivids Berkolds: BEng in Computer Science, senior JavaScript developer, 20% ownership. The supplied abbreviation Bent has been interpreted as BEng.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Funding amount, valuation and instrument remain undecided. These are proposed validation targets, not revenue forecasts. Proposed validation milestones: 10 additional paying companies, &gt;=80% 8-week retention among eligible cohorts, ongoing servicing &lt;=30min/client/week. Subject to founder acceptance, not promises. Budget actual compensation, channel and development scope before finalising 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c511d02fb40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062a87753d4368" /><Relationship Type="http://schemas.openxmlformats.org/officeDocument/2006/relationships/slideLayout" Target="/ppt/slideLayouts/slideLayout1.xml" Id="R99db25cafe064e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db25cafe064e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7968e6b9b418a" /><Relationship Type="http://schemas.openxmlformats.org/officeDocument/2006/relationships/notesSlide" Target="/ppt/notesSlides/notesSlide1.xml" Id="R5a5825914f6b4e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1b1c607814332" /><Relationship Type="http://schemas.openxmlformats.org/officeDocument/2006/relationships/notesSlide" Target="/ppt/notesSlides/notesSlide2.xml" Id="R04c3d81261684d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0a09a9f1f417b" /><Relationship Type="http://schemas.openxmlformats.org/officeDocument/2006/relationships/notesSlide" Target="/ppt/notesSlides/notesSlide3.xml" Id="R756b80ef241043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c64624d954d4d" /><Relationship Type="http://schemas.openxmlformats.org/officeDocument/2006/relationships/notesSlide" Target="/ppt/notesSlides/notesSlide4.xml" Id="R8a8e64bfbac3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7cb1d5fcd4cce" /><Relationship Type="http://schemas.openxmlformats.org/officeDocument/2006/relationships/image" Target="/ppt/media/image.png" Id="R762fb6abdbe54ee1" /><Relationship Type="http://schemas.openxmlformats.org/officeDocument/2006/relationships/notesSlide" Target="/ppt/notesSlides/notesSlide5.xml" Id="Rcda3c8f648c44a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6339f3bfd4bcf" /><Relationship Type="http://schemas.openxmlformats.org/officeDocument/2006/relationships/notesSlide" Target="/ppt/notesSlides/notesSlide6.xml" Id="Rc3d1588e394b4d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ee7ade40a4eb6" /><Relationship Type="http://schemas.openxmlformats.org/officeDocument/2006/relationships/notesSlide" Target="/ppt/notesSlides/notesSlide7.xml" Id="Rc3af74dc9c2244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318c2028646e4" /><Relationship Type="http://schemas.openxmlformats.org/officeDocument/2006/relationships/notesSlide" Target="/ppt/notesSlides/notesSlide8.xml" Id="R19e7de5fa46546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bfce028d74a9e" /><Relationship Type="http://schemas.openxmlformats.org/officeDocument/2006/relationships/notesSlide" Target="/ppt/notesSlides/notesSlide9.xml" Id="R193fb1b1f2e249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dd3e68d2c4853" /><Relationship Type="http://schemas.openxmlformats.org/officeDocument/2006/relationships/notesSlide" Target="/ppt/notesSlides/notesSlide10.xml" Id="R2480665dad8a49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9778cf6074228" /><Relationship Type="http://schemas.openxmlformats.org/officeDocument/2006/relationships/notesSlide" Target="/ppt/notesSlides/notesSlide11.xml" Id="Rd82285ea27d34a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7778d3faf4ebc" /><Relationship Type="http://schemas.openxmlformats.org/officeDocument/2006/relationships/notesSlide" Target="/ppt/notesSlides/notesSlide12.xml" Id="R640ca482881b4e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8b8cf23b34c64" /><Relationship Type="http://schemas.openxmlformats.org/officeDocument/2006/relationships/notesSlide" Target="/ppt/notesSlides/notesSlide13.xml" Id="R735f80fbf8b545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e2d21c1784491" /><Relationship Type="http://schemas.openxmlformats.org/officeDocument/2006/relationships/notesSlide" Target="/ppt/notesSlides/notesSlide14.xml" Id="Rc8357a966c4b41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2f3a7de8b4421" /><Relationship Type="http://schemas.openxmlformats.org/officeDocument/2006/relationships/notesSlide" Target="/ppt/notesSlides/notesSlide15.xml" Id="R0a999c74bcc041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e96e3d0bd42d8" /><Relationship Type="http://schemas.openxmlformats.org/officeDocument/2006/relationships/notesSlide" Target="/ppt/notesSlides/notesSlide16.xml" Id="R7b5bdd9e6e7a4d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725713e19438c" /><Relationship Type="http://schemas.openxmlformats.org/officeDocument/2006/relationships/notesSlide" Target="/ppt/notesSlides/notesSlide17.xml" Id="R26309c1f366541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E5FC32-0DEE-4A21-B9C0-577B454F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WorksRecorded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C6033E0-0B5D-472C-810C-0F7D3958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Construction site data analytics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C52780-E57C-4F40-984A-4BD187FD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For construction contractors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FCABF3-F45B-4F20-8BD7-8C945E0A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Investor presentation | September 2026</a:t>
            </a:r>
            <a:r>
              <a:rPr sz="135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 |  https://www.worksrecorded.com/</a:t>
            </a:r>
            <a:endParaRPr sz="1350" b="0">
              <a:solidFill>
                <a:srgbClr val="B9DCD5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9B50-45BB-4165-9D52-E87F2BF2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EC2C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AEC2C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8562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C0778ED-BCB2-4B42-8D42-E530CCAA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Problem: Construction contractors don’t have the skills to collect and analyze site data.</a:t>
            </a:r>
          </a:p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endParaRPr sz="3600" b="1">
              <a:solidFill>
                <a:srgbClr val="122C32"/>
              </a:solidFill>
              <a:highlight>
                <a:srgbClr val="FFFF00"/>
              </a:highlight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BDDCAD-D72E-4831-A6AD-FC36049E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WorksRecorded will do it for them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F9F14C3-3F94-4553-9594-7AE3726B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D940AC5-04DA-4D32-80C5-7AAEDD33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Losing money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7C495F6-8883-43A7-BE1F-B21C1D69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No data → no visibility → bad decisions → losing money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E0EB585-E9C5-402A-A012-3AAF5841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61938E-ED1C-4B79-89A4-1A63F10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958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Costs are unpredictable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E14D021-5633-4CA7-B7BD-ADD9E09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Will the project be profitable? Without data, you can’t answer.</a:t>
            </a:r>
            <a:endParaRPr sz="1875" b="0">
              <a:solidFill>
                <a:srgbClr val="5268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D82F2-5E24-46A2-8063-9369D3AB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4692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F514FA7-0554-4316-91E5-30FDDE89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Why don’t contractors use data?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6CF1E1-1D5C-4E3E-83B0-4C3E4D57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2A7A93A-5549-496F-A374-F394A6EC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Hard to collect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3BCD30B-329D-4DCC-B4E1-0CE203F8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How do you even track what 20 workers do during the day? 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0C3026F-41DF-4EE6-953C-D66B620F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657F94-172D-49F9-9A94-8B8DEA8B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Hard to structure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CE9F297-D90B-4F83-B221-FC09E6E7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What do you record, and how?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A69771-EE8C-48B2-B62E-7FDE26F9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66E4A16-E5C9-48D9-976B-203573C4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Hard to analyze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8AE9124-B3BD-463C-8E00-230CE3CF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What do you do with 2,000 Excel rows after a year-long construction project?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EEB29-8E5F-4284-BB51-4C741FE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1982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A645D17-DC3B-CD19-1A56-49C34E0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How we help 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8D09C23-A343-119D-0640-E09AAE27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61D22E2-D781-3AC0-19FC-AF18102F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Provide a data collection tool – WhatsApp automation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F20A53-2AD3-4CA3-6B21-D35FC07E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The site manager sends a WhatsApp voice message describing the day’s work.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EE6F05-0976-85CC-862D-D4FBA490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45F904B-50CB-29E8-96FB-0F31393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WorksRecorded analyzes and structures messages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0971A1E-9BC9-44EF-1A19-CBD10E29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WorksRecorded turns messages into structured records and tracks costs against the budget.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9388B51-3B61-CACC-AC9B-480F0BB8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BE9775C-1FDF-9F7C-68A7-1AC278BF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The project manager or owner receives analytics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E616BF-B03A-854C-AB20-527C08EE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Spending breakdowns, delays, additional work and progress reports – everything needed to make decisions based on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F35EB-7035-4015-BD9F-9D86C825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06997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A645D17-DC3B-CD19-1A56-49C34E0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StoneAndTree (client) example </a:t>
            </a:r>
            <a:endParaRPr sz="3600" b="1" i="0" u="none" kern="1200" cap="none" spc="0" baseline="0">
              <a:ln>
                <a:noFill/>
              </a:ln>
              <a:solidFill>
                <a:srgbClr val="122C3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8D09C23-A343-119D-0640-E09AAE27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013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endParaRPr sz="1350" b="1" i="0" u="none" cap="none" spc="0">
              <a:ln>
                <a:noFill/>
              </a:ln>
              <a:solidFill>
                <a:srgbClr val="008B80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fb6abdbe5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1046" y="1628013"/>
            <a:ext cx="8827008" cy="4413504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786E7-9BD7-49E1-8E00-D7DF88C0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4699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78C0D80-D5DE-467F-A114-569B00F5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ICP - specialty trade contractors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4E5D290-6F78-4046-A7CE-E38222F8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9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9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10–49 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B7BDF1D-5A67-4F36-A377-4F8580A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Employees in the company 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40E1A3-BC7F-4E71-A39C-55B522DA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572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Enough operational complexity</a:t>
            </a:r>
          </a:p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to need better records.</a:t>
            </a:r>
          </a:p>
          <a:p xmlns:a="http://schemas.openxmlformats.org/drawingml/2006/main">
            <a:endParaRPr sz="2325" b="0">
              <a:solidFill>
                <a:srgbClr val="122C32"/>
              </a:solidFill>
              <a:latin typeface="Bitstream Charter"/>
              <a:ea typeface="Bitstream Charter"/>
              <a:cs typeface="Bitstream Charter"/>
            </a:endParaRPr>
          </a:p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Limited capacity to build and</a:t>
            </a:r>
          </a:p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maintain an internal system.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A16FE9C-5BF7-4D1C-AB9F-990B61CB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Adjacent opportunity: medium-sized manufacturers, with ZTC as an early customer.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13C7B-5C67-4031-9A6C-983B9E17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9043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B364AFB-16BF-F4EF-3178-6AEA1954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Market size 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BE60FE1-845C-7487-4A26-426E652B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616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B11E46-278C-EBFF-5C4E-458F6ED0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Latvia: initial market</a:t>
            </a:r>
            <a:endParaRPr sz="2250" b="0">
              <a:solidFill>
                <a:srgbClr val="122C3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8A1BE3-7B39-CA6F-4775-D4C9A469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15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Sizing: 3 paying users/company × €50/month, before discounts or custom fees. Full market potential.</a:t>
            </a:r>
          </a:p>
          <a:p xmlns:a="http://schemas.openxmlformats.org/drawingml/2006/main">
            <a:pPr>
              <a:buNone/>
              <a:defRPr sz="14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Eurostat, NACE 43, 10–49 people employed. Latvia: 2024. EU-27: 2023, includes estimates.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B4E1047-7A69-45E8-968D-5E7CE38E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4777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Specialty construction enterprises with 10–49 people employed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06AD83F-7468-490A-A930-8211664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62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Europe: EU-27 market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AA65947-32FB-4098-BFA3-759A1FB2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431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~142,000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0B9765-8382-445A-BA16-16D453F4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enterprises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3B0AF8E-71AC-49E1-9AD2-C49556F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62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enterprises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D8CA223-3E1A-45B1-94F5-E6903AF3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€1.11M / year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4CDE4BC-C25F-4124-8528-37900916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~€255M / year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BB14F53-9F2D-400C-B29F-A599DFB9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annual software opportunity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E857783-EE91-463F-858F-92B98E8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67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annual software opportunity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22960-3E58-44F0-8275-7975C75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8191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0E2CD63-474A-4D05-8791-4CB3A94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Five active subscriptions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84B42-24A6-4938-ABBF-849F9A0A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€780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2F1FC68-FB05-41C1-B3AD-55876896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monthly recurring revenue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BDBE97-186D-481C-B712-0D6E406B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622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€156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35E0144-25AA-42AA-BDA4-B2E3C18C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average monthly revenue</a:t>
            </a:r>
          </a:p>
          <a:p xmlns:a="http://schemas.openxmlformats.org/drawingml/2006/main">
            <a:pPr>
              <a:buNone/>
              <a:def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per company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20956F-9F3C-4BD3-AE98-3C4EC715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€9,360 annualised recurring revenue. Payment history: 1–2 months.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E6458-941F-4B9F-8AD0-499E257F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EC2C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AEC2C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3662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8EDF8BD-E63E-43D5-A36A-2354C150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Current customer revenue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5E1E9E-8924-44E0-B6FA-FE20ED77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TGEM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35259B-5CA7-49B9-AB23-5C07881D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€250 / month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4D18B8-14E2-441A-BE4B-22E964B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Limeni.lv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7C73B40-7A06-4F57-B3FD-4EE294C5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812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€180 / month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CA1260-6304-4A1C-9460-E9221790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ZTC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FF2BA1E-5CFA-41EF-9053-5A16808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€150 / month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24057A-317B-4D08-975C-B2CF5F21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Stone and Tree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9F33BDC-B105-43E4-B07F-D3461231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338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€120 / month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1415E4E-9ABF-4A78-BFAE-904108F9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SIA 1212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88EA2D7-39A3-4FCE-BA45-17026E6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01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€80 / month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60AD922-7A01-4877-8EE9-C53F1F8D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1418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Trials and former customers are excluded from the €780 MRR total.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C874276-C8AD-7D00-C92C-338B0347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SB STOMME (trial ongoing)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4FEF6AF-BCD3-47B9-DD7F-3A5362E9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863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€90 / month after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EF601-AE91-438F-9B34-1F4B12D2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86354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C1F6D-50F7-43EB-81EA-45E20826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Pricing and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4716D-3CF2-4E33-A036-4E86B437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Monthly company bills reflect paid users, discounts and custom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A5C0A-30B5-4865-9B58-490686C6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€50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3FCC6-23FB-4949-8D7D-686D8D9B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per paying user / month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99F16-4A26-4C69-9D2F-49191BC8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How the bill grows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B0DDD-3FC2-41A4-A276-D990A2B3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More paying users</a:t>
            </a:r>
          </a:p>
          <a:p xmlns:a="http://schemas.openxmlformats.org/drawingml/2006/main">
            <a:pPr>
              <a:defRPr sz="217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Paid custom functionality</a:t>
            </a:r>
          </a:p>
          <a:p xmlns:a="http://schemas.openxmlformats.org/drawingml/2006/main">
            <a:pPr>
              <a:defRPr sz="217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Agreed discounts reduce the bill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62000" y="4400550"/>
          <a:ext xmlns:a="http://schemas.openxmlformats.org/drawingml/2006/main" cx="10668000" cy="102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952750"/>
                <a:gridCol w="295275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Illustration at list price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 paying users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 paying users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Monthly subscription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€150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€300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C5C2D-7BA8-4DF6-AA00-E0BB226B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Current realised average: €156/company/month across five subscriptions.</a:t>
            </a:r>
          </a:p>
          <a:p xmlns:a="http://schemas.openxmlformats.org/drawingml/2006/main">
            <a:pPr>
              <a:defRPr sz="17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Only recurring custom fees belong in MRR. One-off work stays separate.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A1597-5DF9-41E0-99C0-D56FD7C4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2954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C4CDE-1EAC-4166-8622-C9F1E0CA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Alternatives and our focus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986C6-87D8-4983-BA87-1006353D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Our proposed advantage: site teams report through WhatsApp, and owners receive structured analytics.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200275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905250"/>
                <a:gridCol w="457200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Alternative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offers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Our focus for a small contractor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WhatsApp + Excel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Messages and flexible spreadsheets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Convert site updates into structured records and reports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Fieldwire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Plans, tasks, reports and forms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Collect WhatsApp voice updates, with supported setup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Buildertrend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Daily logs plus project and financial tools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Deliver focused reporting without a full platform rollout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5C58D-18D0-4561-8DAB-3E8189A8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We need to prove the advantage through activation, reporting consistency and time saved.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62997-DDAC-4734-BE8D-D2937CA1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19606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9AC06-9BD7-431E-B82C-C7FF7B5A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What customer acquisition has shown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EECB7-4135-47FC-914A-F0C4C79F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Small sample from one month. Conversion after the demo still needs measurement.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7CCE8-C7C9-490F-9935-DA98AE4D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CE639-C115-4212-B050-1A13024E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cold calls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E8A6C-4CD5-4487-9194-94BEB9E0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91132-5B4E-4E88-A765-81DE1C63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956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demos booked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F0912-7794-43AC-B3DA-EA506A45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12.7% call-to-demo booking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0FF6C-AEBC-4C4B-8A52-7E5E0A86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Facebook has also brought paying customers.</a:t>
            </a:r>
          </a:p>
          <a:p xmlns:a="http://schemas.openxmlformats.org/drawingml/2006/main">
            <a:pPr>
              <a:defRPr sz="20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We have not yet established channel CAC or reliable demo-to-paid conversion.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51F48-B3AE-48CB-A343-3227B7AB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19799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CE95E-B0E7-433B-BCDE-044062BC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The next 90 days: test a repeatable sales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17BDE-5728-4346-80CA-AA2A1B63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Proposed experiments, with results deciding the next spending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CF8A3-4355-49B6-9B37-1363B737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Latvia: targeted outbound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FA044-5D49-4E48-86C5-BF66159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Build a list of 10–49 person contractors. Track each contact, demo, trial and payment.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357FD-3CE3-4E88-81B3-A0B445B0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Turn demos into live project trials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C35E2-5177-4751-863A-558948AD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Use the contractor’s own project in the demo. Set up the first report together and agree the paid start 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BACA2-3C4E-4617-8462-AEA285D5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Test one expansion market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9436E-9935-4CE1-863C-68E07788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Start with a small Swedish pilot cohort. Compare paid conversion and support effort before scaling or adding the UK.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4C12A-0C5A-4E06-829B-ECB7BD9F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91934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485CE-993E-4557-A124-AE7E6528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A bottom-up sales model we can measure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9C6B5-3B0F-4627-9DCF-97FB3DEE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Follow each monthly cohort from first contact through payment and renewal.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0668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810000"/>
                <a:gridCol w="400050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Cohort / channel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 today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Measure next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Latvia outbound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55 calls, 7 demos booked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Demos held, trials, paying customers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Latvia Facebook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Paying customers reported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Attributed spend, new payers and CAC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Sweden pilot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No validated funnel yet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Activation, paid conversion and retention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56EF1-AD44-4ED7-9976-6DB3D8E8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New customers = demos held × trial rate × paid conversion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8DCC3-3BE3-4163-99F1-3D33675A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Monthly revenue = paying customers × realised revenue per customer</a:t>
            </a:r>
          </a:p>
          <a:p xmlns:a="http://schemas.openxmlformats.org/drawingml/2006/main">
            <a:pPr>
              <a:defRPr sz="18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CAC = (channel spend + allocated sales labour) ÷ new paying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80AE8-F3DA-4AAF-B344-98ACAC37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546556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435C8-77CC-492C-9A50-B5E787DE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Delivery costs and capacity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D675A-F49A-431A-9FF1-89FE6C01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The next test must measure the labour behind each subscription.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87D3A-EE14-497D-A6B8-14B4C262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Current software spend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8475C-2904-4744-B03E-5E4CDBE3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About $80 / month</a:t>
            </a:r>
          </a:p>
          <a:p xmlns:a="http://schemas.openxmlformats.org/drawingml/2006/main">
            <a:pPr>
              <a:defRPr sz="225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$40 OpenAI + $40 hosting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4CEA4-22D9-4F31-930D-72255E2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Current delivery effort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EAE4E-51C7-4D97-80A8-0CB9AE6A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About 3 hours to onboard</a:t>
            </a:r>
          </a:p>
          <a:p xmlns:a="http://schemas.openxmlformats.org/drawingml/2006/main">
            <a:pPr>
              <a:defRPr sz="225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Under 1 hour/week per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0ACE9-1E39-4FB4-9B54-10BF6AC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Measure before scaling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B7306-0889-4BC8-AA8B-B902CC7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Track founder and developer time, support minutes and advertising spend.</a:t>
            </a:r>
          </a:p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Calculate contribution after delivery labour and variable software costs.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A73FD-961C-4DE9-82BE-1D9EC5F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68992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35BA4CD-5C4E-4732-A2A9-759D110A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Team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27BB7F-75C3-4988-BA77-6FEBD1E9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Vjaceslavs</a:t>
            </a:r>
          </a:p>
          <a:p xmlns:a="http://schemas.openxmlformats.org/drawingml/2006/main"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Gromatovics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392C90-1DB6-4B05-802B-1CF647FF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BEng in Civil Engineering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508F114-2165-43E5-9F7B-FBCFE7D1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286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5 years as a construction site manager</a:t>
            </a:r>
          </a:p>
          <a:p xmlns:a="http://schemas.openxmlformats.org/drawingml/2006/main">
            <a:pPr>
              <a:buNone/>
              <a:def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5 years as a project manager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B1E63E-44C7-41C4-B4A9-57405C40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Working full-time on WorksRecorded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0F50FFB-D2AA-4373-8BB3-C8BE5842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rPr>
              <a:t>80% ownership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8CED15D-0ACF-4BCF-B8E8-55FFA975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Deivids</a:t>
            </a:r>
          </a:p>
          <a:p xmlns:a="http://schemas.openxmlformats.org/drawingml/2006/main"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Berkolds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CC7D36-CA00-490F-80BC-B7215D7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BEng in Computer Science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588DBD3-9DF8-4BB0-901D-8973D3E8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Senior JavaScript developer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33AE3B-7944-4879-BD3D-AD5DEE0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rPr>
              <a:t>20% ownership</a:t>
            </a:r>
            <a:endParaRPr sz="1875" b="0">
              <a:solidFill>
                <a:srgbClr val="5268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27A24-1A2D-4920-9FD9-B87F06D0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327888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843CD-6876-4AFA-AF01-F918D63E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Funding the next validation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506A3-140B-4F0D-AF71-025A8E42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Draft funding scope: a 90-day test of demand, retention and delivery cost.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40D67-95D8-4C90-913C-F6201AC5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What funding supports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3E292-41C2-4E58-B5C2-A07E8BC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Founder time for sales and onboarding</a:t>
            </a:r>
          </a:p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Measured outbound and advertising tests</a:t>
            </a:r>
          </a:p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Product work that reduces servicing effort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A8347-66E3-4CA2-9028-A5626F07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Proposed success measures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D3448-2898-4F15-B5FA-03D4A16E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4905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10 additional paying companies</a:t>
            </a:r>
          </a:p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80% retention after 8 weeks*</a:t>
            </a:r>
          </a:p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Support ≤30 min/client/week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A8E9B-F574-4F3B-85E6-D5F1A02F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Budget decision needed: raise amount and funding instrument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204E1-160F-408F-9E6A-3BB33A4C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07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*Measure only cohorts old enough to reach 8 weeks. Targets are proposed tests.</a:t>
            </a:r>
          </a:p>
          <a:p xmlns:a="http://schemas.openxmlformats.org/drawingml/2006/main">
            <a:pPr>
              <a:defRPr sz="16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Set the ask from founder costs, test spend and development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6D2D6-1756-400E-9F44-1ECC89F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20552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2026-09-18T13:14:24.1120000Z</dcterms:created>
  <dcterms:modified xsi:type="dcterms:W3CDTF">2026-09-18T13:14:24.1120000Z</dcterms:modified>
</coreProperties>
</file>