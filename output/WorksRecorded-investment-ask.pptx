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29c7f8bae24f97" /><Relationship Type="http://schemas.openxmlformats.org/officeDocument/2006/relationships/extended-properties" Target="/docProps/app.xml" Id="Re72dffb79b094fed" /><Relationship Type="http://schemas.openxmlformats.org/officeDocument/2006/relationships/officeDocument" Target="/ppt/presentation.xml" Id="R9ba91f7d93ad4221" /></Relationships>
</file>

<file path=ppt/presentation.xml><?xml version="1.0" encoding="utf-8"?>
<p:presentation xmlns:p="http://schemas.openxmlformats.org/presentationml/2006/main">
  <p:sldMasterIdLst>
    <p:sldMasterId xmlns:r="http://schemas.openxmlformats.org/officeDocument/2006/relationships" id="2147483648" r:id="R4cc9ddc472da4bcf"/>
  </p:sldMasterIdLst>
  <p:notesMasterIdLst>
    <p:notesMasterId xmlns:r="http://schemas.openxmlformats.org/officeDocument/2006/relationships" r:id="R55451d9bfd194b22"/>
  </p:notesMasterIdLst>
  <p:sldIdLst>
    <p:sldId xmlns:r="http://schemas.openxmlformats.org/officeDocument/2006/relationships" id="256" r:id="R6f1be605a3434637"/>
    <p:sldId xmlns:r="http://schemas.openxmlformats.org/officeDocument/2006/relationships" id="257" r:id="Rcef201dbbfc143e3"/>
    <p:sldId xmlns:r="http://schemas.openxmlformats.org/officeDocument/2006/relationships" id="258" r:id="R2f0ef0a496d742ec"/>
    <p:sldId xmlns:r="http://schemas.openxmlformats.org/officeDocument/2006/relationships" id="259" r:id="R9b96f3a85dc04f25"/>
    <p:sldId xmlns:r="http://schemas.openxmlformats.org/officeDocument/2006/relationships" id="260" r:id="R0906ad12e07643d8"/>
    <p:sldId xmlns:r="http://schemas.openxmlformats.org/officeDocument/2006/relationships" id="261" r:id="R27431b5d71e54388"/>
    <p:sldId xmlns:r="http://schemas.openxmlformats.org/officeDocument/2006/relationships" id="262" r:id="R265794a5525d4efb"/>
    <p:sldId xmlns:r="http://schemas.openxmlformats.org/officeDocument/2006/relationships" id="263" r:id="R5d537fa1fa0d4427"/>
    <p:sldId xmlns:r="http://schemas.openxmlformats.org/officeDocument/2006/relationships" id="264" r:id="R9c499209cf934cc9"/>
    <p:sldId xmlns:r="http://schemas.openxmlformats.org/officeDocument/2006/relationships" id="265" r:id="Rdf08c09de3f44854"/>
    <p:sldId xmlns:r="http://schemas.openxmlformats.org/officeDocument/2006/relationships" id="266" r:id="R84dc551b94da49fd"/>
    <p:sldId xmlns:r="http://schemas.openxmlformats.org/officeDocument/2006/relationships" id="267" r:id="R906dfe9915374f36"/>
    <p:sldId xmlns:r="http://schemas.openxmlformats.org/officeDocument/2006/relationships" id="268" r:id="R60ca1974c3b84f55"/>
    <p:sldId xmlns:r="http://schemas.openxmlformats.org/officeDocument/2006/relationships" id="269" r:id="R836c1558b1084d47"/>
    <p:sldId xmlns:r="http://schemas.openxmlformats.org/officeDocument/2006/relationships" id="270" r:id="Re8afd465c0c94bf3"/>
    <p:sldId xmlns:r="http://schemas.openxmlformats.org/officeDocument/2006/relationships" id="271" r:id="R63f6eb1828fe41d5"/>
    <p:sldId xmlns:r="http://schemas.openxmlformats.org/officeDocument/2006/relationships" id="272" r:id="R1798712ebdda4551"/>
    <p:sldId xmlns:r="http://schemas.openxmlformats.org/officeDocument/2006/relationships" id="273" r:id="R565047d3a6354d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bc76115b0fd436c" /><Relationship Type="http://schemas.openxmlformats.org/officeDocument/2006/relationships/slideMaster" Target="/ppt/slideMasters/slideMaster1.xml" Id="R4cc9ddc472da4bcf" /><Relationship Type="http://schemas.openxmlformats.org/officeDocument/2006/relationships/notesMaster" Target="/ppt/notesMasters/notesMaster1.xml" Id="R55451d9bfd194b22" /><Relationship Type="http://schemas.openxmlformats.org/officeDocument/2006/relationships/presProps" Target="/ppt/presProps.xml" Id="R92f80914ac9c4a13" /><Relationship Type="http://schemas.openxmlformats.org/officeDocument/2006/relationships/viewProps" Target="/ppt/viewProps.xml" Id="R35668060fd794d1c" /><Relationship Type="http://schemas.openxmlformats.org/officeDocument/2006/relationships/tableStyles" Target="/ppt/tableStyles.xml" Id="R9e118466685240bb" /><Relationship Type="http://schemas.openxmlformats.org/officeDocument/2006/relationships/slide" Target="/ppt/slides/slide1.xml" Id="R6f1be605a3434637" /><Relationship Type="http://schemas.openxmlformats.org/officeDocument/2006/relationships/slide" Target="/ppt/slides/slide2.xml" Id="Rcef201dbbfc143e3" /><Relationship Type="http://schemas.openxmlformats.org/officeDocument/2006/relationships/slide" Target="/ppt/slides/slide3.xml" Id="R2f0ef0a496d742ec" /><Relationship Type="http://schemas.openxmlformats.org/officeDocument/2006/relationships/slide" Target="/ppt/slides/slide4.xml" Id="R9b96f3a85dc04f25" /><Relationship Type="http://schemas.openxmlformats.org/officeDocument/2006/relationships/slide" Target="/ppt/slides/slide5.xml" Id="R0906ad12e07643d8" /><Relationship Type="http://schemas.openxmlformats.org/officeDocument/2006/relationships/slide" Target="/ppt/slides/slide6.xml" Id="R27431b5d71e54388" /><Relationship Type="http://schemas.openxmlformats.org/officeDocument/2006/relationships/slide" Target="/ppt/slides/slide7.xml" Id="R265794a5525d4efb" /><Relationship Type="http://schemas.openxmlformats.org/officeDocument/2006/relationships/slide" Target="/ppt/slides/slide8.xml" Id="R5d537fa1fa0d4427" /><Relationship Type="http://schemas.openxmlformats.org/officeDocument/2006/relationships/slide" Target="/ppt/slides/slide9.xml" Id="R9c499209cf934cc9" /><Relationship Type="http://schemas.openxmlformats.org/officeDocument/2006/relationships/slide" Target="/ppt/slides/slide10.xml" Id="Rdf08c09de3f44854" /><Relationship Type="http://schemas.openxmlformats.org/officeDocument/2006/relationships/slide" Target="/ppt/slides/slide11.xml" Id="R84dc551b94da49fd" /><Relationship Type="http://schemas.openxmlformats.org/officeDocument/2006/relationships/slide" Target="/ppt/slides/slide12.xml" Id="R906dfe9915374f36" /><Relationship Type="http://schemas.openxmlformats.org/officeDocument/2006/relationships/slide" Target="/ppt/slides/slide13.xml" Id="R60ca1974c3b84f55" /><Relationship Type="http://schemas.openxmlformats.org/officeDocument/2006/relationships/slide" Target="/ppt/slides/slide14.xml" Id="R836c1558b1084d47" /><Relationship Type="http://schemas.openxmlformats.org/officeDocument/2006/relationships/slide" Target="/ppt/slides/slide15.xml" Id="Re8afd465c0c94bf3" /><Relationship Type="http://schemas.openxmlformats.org/officeDocument/2006/relationships/slide" Target="/ppt/slides/slide16.xml" Id="R63f6eb1828fe41d5" /><Relationship Type="http://schemas.openxmlformats.org/officeDocument/2006/relationships/slide" Target="/ppt/slides/slide17.xml" Id="R1798712ebdda4551" /><Relationship Type="http://schemas.openxmlformats.org/officeDocument/2006/relationships/slide" Target="/ppt/slides/slide18.xml" Id="R565047d3a6354d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fbaec5ed8d44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f9bae749904990" /><Relationship Type="http://schemas.openxmlformats.org/officeDocument/2006/relationships/notesMaster" Target="/ppt/notesMasters/notesMaster1.xml" Id="R4a6e8b520b8f4c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53eba53ff945a0" /><Relationship Type="http://schemas.openxmlformats.org/officeDocument/2006/relationships/notesMaster" Target="/ppt/notesMasters/notesMaster1.xml" Id="Rd5edd8f02d3146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45aa286f794fee" /><Relationship Type="http://schemas.openxmlformats.org/officeDocument/2006/relationships/notesMaster" Target="/ppt/notesMasters/notesMaster1.xml" Id="R1d7b6dc6a32049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d5e1024f5d477a" /><Relationship Type="http://schemas.openxmlformats.org/officeDocument/2006/relationships/notesMaster" Target="/ppt/notesMasters/notesMaster1.xml" Id="R4d4798e24b314c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5a6b688f0d4632" /><Relationship Type="http://schemas.openxmlformats.org/officeDocument/2006/relationships/notesMaster" Target="/ppt/notesMasters/notesMaster1.xml" Id="R304cccb0567d4e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ba61954bc448ce" /><Relationship Type="http://schemas.openxmlformats.org/officeDocument/2006/relationships/notesMaster" Target="/ppt/notesMasters/notesMaster1.xml" Id="R02017e19795946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82299e3219491b" /><Relationship Type="http://schemas.openxmlformats.org/officeDocument/2006/relationships/notesMaster" Target="/ppt/notesMasters/notesMaster1.xml" Id="Rba726fc37fcd48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3b3d3550d6402c" /><Relationship Type="http://schemas.openxmlformats.org/officeDocument/2006/relationships/notesMaster" Target="/ppt/notesMasters/notesMaster1.xml" Id="R70f992642e6f40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78d8b29da84249" /><Relationship Type="http://schemas.openxmlformats.org/officeDocument/2006/relationships/notesMaster" Target="/ppt/notesMasters/notesMaster1.xml" Id="Rb772e3cf91d54c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fd30c2be514f1a" /><Relationship Type="http://schemas.openxmlformats.org/officeDocument/2006/relationships/notesMaster" Target="/ppt/notesMasters/notesMaster1.xml" Id="R5aadb7ffe7094a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7bb71818864a48" /><Relationship Type="http://schemas.openxmlformats.org/officeDocument/2006/relationships/notesMaster" Target="/ppt/notesMasters/notesMaster1.xml" Id="Re4fe45838c024e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965245a4164b69" /><Relationship Type="http://schemas.openxmlformats.org/officeDocument/2006/relationships/notesMaster" Target="/ppt/notesMasters/notesMaster1.xml" Id="R8fda0ef842e940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db3fc2595d482f" /><Relationship Type="http://schemas.openxmlformats.org/officeDocument/2006/relationships/notesMaster" Target="/ppt/notesMasters/notesMaster1.xml" Id="R467b3e76451247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d070c914034772" /><Relationship Type="http://schemas.openxmlformats.org/officeDocument/2006/relationships/notesMaster" Target="/ppt/notesMasters/notesMaster1.xml" Id="R205fc5dd610a46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2d0b5612be401c" /><Relationship Type="http://schemas.openxmlformats.org/officeDocument/2006/relationships/notesMaster" Target="/ppt/notesMasters/notesMaster1.xml" Id="Re4d7bf89d14940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3bb06541b64a56" /><Relationship Type="http://schemas.openxmlformats.org/officeDocument/2006/relationships/notesMaster" Target="/ppt/notesMasters/notesMaster1.xml" Id="R4e64b8a2418641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95da612b284f16" /><Relationship Type="http://schemas.openxmlformats.org/officeDocument/2006/relationships/notesMaster" Target="/ppt/notesMasters/notesMaster1.xml" Id="R2e86eea0518747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e32cb5345242be" /><Relationship Type="http://schemas.openxmlformats.org/officeDocument/2006/relationships/notesMaster" Target="/ppt/notesMasters/notesMaster1.xml" Id="R73d9a79fe38a4d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Eurostat SBS_SC_OVW, ENT_NR, F43, size_emp 10-19 and 20-49. Latvia 2024: 408+208=616. EU27 2023: 101914+40000=141914, with 40000 flagged estimated. EU 2024 aggregate unavailable at retrieval on 18 September 2026. Sources: https://ec.europa.eu/eurostat/api/dissemination/statistics/1.0/data/sbs_sc_ovw?geo=LV&amp;nace_r2=F43&amp;indic_sbs=ENT_NR&amp;time=2024&amp;size_emp=10-19&amp;size_emp=20-49 and https://ec.europa.eu/eurostat/api/dissemination/statistics/1.0/data/sbs_sc_ovw?geo=EU27_2020&amp;nace_r2=F43&amp;indic_sbs=ENT_NR&amp;time=2023&amp;size_emp=10-19&amp;size_emp=20-49 . Founder target price EUR300/company/month, annual EUR3600. Latvia=EUR2217600; EU=EUR510890400. Full penetration market potential, not expected revenue. At current rounded EUR150/company/month the corresponding benchmarks are EUR1108800 and EUR255445200. Latvia is included in EU. UK and non-EU Europe excluded. Persons employed may include owners.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Target EUR300/company/month is not yet achieved.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DEPROM/DEPRMO spelling differs in source materials, so pilot name omitted. Latvijas Energoceltnieks churned after three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update: approximately EUR150 current monthly revenue per company, intended EUR300 per company monthly. Exact current average from source subscriptions EUR156. Previously founder confirmed EUR50/user with discounts and custom-function upsells. Present current billing and planned company subscription separately. Do not claim EUR300 is current achieved ARPA or that every customer will upgrade. Package scope and recurring versus one-off custom charges remain to define. Target ACV=300*12=3600. Current rounded ACV=150*12=1800, exact current=1872.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founder history: approximately80 approached;7 signed overall including1 free pilot and1 former paying customer who left after3months. Thus6 ever paying and5 currently paying. Existing active trial remains outside signed/paying totals. 6/80=7.5%;5/80=6.25%. Approximate denominator. These are cumulative snapshot ratios, not cohort churn rates. Channel CAC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Founder-revised history: around80 companies approached,7 signed including1 free pilot and1 payer churned after3months;5 currently paying. Ever-paid6/80=7.5%. Current paying5/80=6.25%. Scenario uses EUR150/company/month and EUR1800 annual value, not target EUR300. Observed sample scenario5*150*12=9000 annualised; actual previously documented MRR remains EUR780, exact ARPA EUR156. Latvia616*.0625=38.5;MRR5775;annual69300. EU141914*.0625=8869.625;MRR1330443.75;annual15965325, rounded EUR15.97M. No rounding of intermediate customers. Not a time-based forecast, cohort model or market-size estimate. Assumes every prospect reached and early cumulative ratio transferable; international applicability, time-to-reach, CAC, retention and cohort age unvalidated. One churn after3months cannot establish monthly churn. Latvia included in EU; do not add. Source market populations: Eurostat SBS_SC_OVW, F43, ENT_NR, sizes10-19 and20-49: Latvia2024 408+208=616;EU27 2023 101914+40000=141914, latter band estimated. https://ec.europa.eu/eurostat/databrowser/view/sbs_sc_ovw/default/table?lang=en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activities. Latvia initial market. Sweden first expansion test is a sequencing proposal based on the original deck naming UK and Sweden, not evidence of validated demand. Facebook should be a separately measured channel. Allocate budget based on paid conversion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history: ~100 companies approached over ~one year, six ever paid, five remain paying, one former payer churned, free pilot and active trial. Previous one-month direct outreach sample:55 calls,7 demos booked=12.7%. Relationship of this sample to annual total not fully documented; do not sum the two. Target company subscription EUR300/month=EUR3600 ACV; current ~EUR150. Track monthly cohorts by geography and channel to establish comparable conversion and retention. Do not extrapolate the cumulative ~5% ratio as a stable forecast. Channel costs unavailable, so CAC remains uncalculated.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investor ask, not agreed transaction terms or independent valuation. Raise EUR30000 through a new equity investment for10% post-money ownership. Implied post-money EUR300000 and pre-money EUR270000. Budget six months: founder/company cost EUR3000/month=18000; product/onboarding EUR1000/month=6000; acquisition EUR500/month=3000; software/admin EUR250/month=1500;contingency EUR1500. Total EUR30000. These are planning allocations, not confirmed compensation or vendor quotes. Founder cost is total company cost, not a promised net salary. Revenue not deducted from funding requirement or assumed guaranteed; actual continued revenue provides additional buffer. Targets:15 total paying companies from current5, including&gt;=5 at proposed EUR300/month;&gt;=80%8-week retention among new paid cohorts old enough to measure;average ongoing support&lt;=30min per paying client per week. Neither targets nor acquisition rates guaranteed. Existing80-contact sample supports5current paying and6ever-paid;at6.25% snapshot ratio10extra payers could require roughly160additional comparable contacts before future churn. This is a workload illustration, not a validated forecast. Valuation and investment terms are an opening proposal, subject to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379265c4df4f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b9876c1c254ea6" /><Relationship Type="http://schemas.openxmlformats.org/officeDocument/2006/relationships/slideLayout" Target="/ppt/slideLayouts/slideLayout1.xml" Id="Ra98b8430360849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8b8430360849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27ab1fd7214f6f" /><Relationship Type="http://schemas.openxmlformats.org/officeDocument/2006/relationships/notesSlide" Target="/ppt/notesSlides/notesSlide1.xml" Id="R3c3a876fdb6c4e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683e6248c7478e" /><Relationship Type="http://schemas.openxmlformats.org/officeDocument/2006/relationships/notesSlide" Target="/ppt/notesSlides/notesSlide2.xml" Id="R0f808161421f47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8255fe76b24455" /><Relationship Type="http://schemas.openxmlformats.org/officeDocument/2006/relationships/notesSlide" Target="/ppt/notesSlides/notesSlide3.xml" Id="R8b76bd4400f845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27a096f3724351" /><Relationship Type="http://schemas.openxmlformats.org/officeDocument/2006/relationships/notesSlide" Target="/ppt/notesSlides/notesSlide4.xml" Id="R1ec81c4be7d045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792289d92f47b1" /><Relationship Type="http://schemas.openxmlformats.org/officeDocument/2006/relationships/image" Target="/ppt/media/image.png" Id="Ra8c5442956804dba" /><Relationship Type="http://schemas.openxmlformats.org/officeDocument/2006/relationships/notesSlide" Target="/ppt/notesSlides/notesSlide5.xml" Id="Rec04c8929b3740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02f916e1a14c16" /><Relationship Type="http://schemas.openxmlformats.org/officeDocument/2006/relationships/notesSlide" Target="/ppt/notesSlides/notesSlide6.xml" Id="R2aa5d7da50be41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b15949dfb846f6" /><Relationship Type="http://schemas.openxmlformats.org/officeDocument/2006/relationships/notesSlide" Target="/ppt/notesSlides/notesSlide7.xml" Id="R873fcddb8b0241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a7a4253f2b41a8" /><Relationship Type="http://schemas.openxmlformats.org/officeDocument/2006/relationships/notesSlide" Target="/ppt/notesSlides/notesSlide8.xml" Id="R390683123f9c4a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e2594780e84df5" /><Relationship Type="http://schemas.openxmlformats.org/officeDocument/2006/relationships/notesSlide" Target="/ppt/notesSlides/notesSlide9.xml" Id="R05848d498c0e42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68676c3ff94f2b" /><Relationship Type="http://schemas.openxmlformats.org/officeDocument/2006/relationships/notesSlide" Target="/ppt/notesSlides/notesSlide10.xml" Id="Rd07a96a894f74c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ba06de8061425a" /><Relationship Type="http://schemas.openxmlformats.org/officeDocument/2006/relationships/notesSlide" Target="/ppt/notesSlides/notesSlide11.xml" Id="R69d68a1979874b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f14002a7fb415b" /><Relationship Type="http://schemas.openxmlformats.org/officeDocument/2006/relationships/notesSlide" Target="/ppt/notesSlides/notesSlide12.xml" Id="R21df638bb31447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df64fd27914a0e" /><Relationship Type="http://schemas.openxmlformats.org/officeDocument/2006/relationships/notesSlide" Target="/ppt/notesSlides/notesSlide13.xml" Id="Rb574b3d0346447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b36aad6e8b44ec" /><Relationship Type="http://schemas.openxmlformats.org/officeDocument/2006/relationships/notesSlide" Target="/ppt/notesSlides/notesSlide14.xml" Id="R3c96452208a146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3280d4d6b24795" /><Relationship Type="http://schemas.openxmlformats.org/officeDocument/2006/relationships/notesSlide" Target="/ppt/notesSlides/notesSlide15.xml" Id="Rfeefbaeec20348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c1ca69ce4614505" /><Relationship Type="http://schemas.openxmlformats.org/officeDocument/2006/relationships/notesSlide" Target="/ppt/notesSlides/notesSlide16.xml" Id="R1ec081eb9784498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fde1c4184dc4b37" /><Relationship Type="http://schemas.openxmlformats.org/officeDocument/2006/relationships/notesSlide" Target="/ppt/notesSlides/notesSlide17.xml" Id="Rb7081305643a489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ca7daf28b1494f" /><Relationship Type="http://schemas.openxmlformats.org/officeDocument/2006/relationships/notesSlide" Target="/ppt/notesSlides/notesSlide18.xml" Id="R2927d4c50d0d4cf2" /></Relationships>
</file>

<file path=ppt/slides/slide1.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E5FC32-0DEE-4A21-B9C0-577B454F2882}"/>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xmlns:a="http://schemas.openxmlformats.org/drawingml/2006/main">
              <a:ext uri="{FF2B5EF4-FFF2-40B4-BE49-F238E27FC236}">
                <a16:creationId xmlns:a16="http://schemas.microsoft.com/office/drawing/2014/main" id="{3C6033E0-0B5D-472C-810C-0F7D39581D1C}"/>
              </a:ext>
            </a:extLst>
          </p:cNvPr>
          <p:cNvSpPr>
            <a:spLocks xmlns:a="http://schemas.openxmlformats.org/drawingml/2006/main" noGrp="1"/>
          </p:cNvSpPr>
          <p:nvPr/>
        </p:nvSpPr>
        <p:spPr>
          <a:xfrm xmlns:a="http://schemas.openxmlformats.org/drawingml/2006/main">
            <a:off x="685800" y="2619375"/>
            <a:ext cx="10191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xmlns:a="http://schemas.openxmlformats.org/drawingml/2006/main">
              <a:ext uri="{FF2B5EF4-FFF2-40B4-BE49-F238E27FC236}">
                <a16:creationId xmlns:a16="http://schemas.microsoft.com/office/drawing/2014/main" id="{C5C52780-E57C-4F40-984A-4BD187FD2111}"/>
              </a:ext>
            </a:extLst>
          </p:cNvPr>
          <p:cNvSpPr>
            <a:spLocks xmlns:a="http://schemas.openxmlformats.org/drawingml/2006/main" noGrp="1"/>
          </p:cNvSpPr>
          <p:nvPr/>
        </p:nvSpPr>
        <p:spPr>
          <a:xfrm xmlns:a="http://schemas.openxmlformats.org/drawingml/2006/main">
            <a:off x="723900" y="50958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xmlns:a="http://schemas.openxmlformats.org/drawingml/2006/main">
              <a:ext uri="{FF2B5EF4-FFF2-40B4-BE49-F238E27FC236}">
                <a16:creationId xmlns:a16="http://schemas.microsoft.com/office/drawing/2014/main" id="{C2FCABF3-F45B-4F20-8BD7-8C945E0A4605}"/>
              </a:ext>
            </a:extLst>
          </p:cNvPr>
          <p:cNvSpPr>
            <a:spLocks xmlns:a="http://schemas.openxmlformats.org/drawingml/2006/main" noGrp="1"/>
          </p:cNvSpPr>
          <p:nvPr/>
        </p:nvSpPr>
        <p:spPr>
          <a:xfrm xmlns:a="http://schemas.openxmlformats.org/drawingml/2006/main">
            <a:off x="723900" y="614362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
            <a:extLst xmlns:a="http://schemas.openxmlformats.org/drawingml/2006/main">
              <a:ext uri="{FF2B5EF4-FFF2-40B4-BE49-F238E27FC236}">
                <a16:creationId xmlns:a16="http://schemas.microsoft.com/office/drawing/2014/main" id="{2E56F58E-8BB3-4428-9CD9-1EABEA645CA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C0778ED-BCB2-4B42-8D42-E530CCAADE3A}"/>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Problem: Construction contractors don’t have the skills to collect and analyze site data.</a:t>
            </a:r>
          </a:p>
          <a:p xmlns:a="http://schemas.openxmlformats.org/drawingml/2006/main">
            <a:pPr>
              <a:buNone/>
              <a:defRPr sz="3600" b="1">
                <a:solidFill>
                  <a:srgbClr val="122C32"/>
                </a:solidFill>
                <a:latin typeface="Bitstream Charter"/>
                <a:ea typeface="Bitstream Charter"/>
                <a:cs typeface="Bitstream Charter"/>
              </a:defRPr>
            </a:pPr>
            <a:endParaRPr sz="3600" b="1">
              <a:solidFill>
                <a:srgbClr val="122C32"/>
              </a:solidFill>
              <a:highlight>
                <a:srgbClr val="FFFF00"/>
              </a:highlight>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B0BDDCAD-D72E-4831-A6AD-FC36049E0588}"/>
              </a:ext>
            </a:extLst>
          </p:cNvPr>
          <p:cNvSpPr>
            <a:spLocks xmlns:a="http://schemas.openxmlformats.org/drawingml/2006/main" noGrp="1"/>
          </p:cNvSpPr>
          <p:nvPr/>
        </p:nvSpPr>
        <p:spPr>
          <a:xfrm xmlns:a="http://schemas.openxmlformats.org/drawingml/2006/main">
            <a:off x="685800" y="1838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22C32"/>
                </a:solidFill>
                <a:latin typeface="Bitstream Charter"/>
                <a:ea typeface="Bitstream Charter"/>
                <a:cs typeface="Bitstream Charter"/>
              </a:defRPr>
            </a:pPr>
            <a:r>
              <a:rPr sz="2400" b="0">
                <a:solidFill>
                  <a:srgbClr val="122C32"/>
                </a:solidFill>
                <a:latin typeface="Bitstream Charter"/>
                <a:ea typeface="Bitstream Charter"/>
                <a:cs typeface="Bitstream Charter"/>
              </a:rPr>
              <a:t>WorksRecorded will do it for them</a:t>
            </a:r>
          </a:p>
        </p:txBody>
      </p:sp>
      <p:sp>
        <p:nvSpPr>
          <p:cNvPr id="4" name="Rectangle 3">
            <a:extLst xmlns:a="http://schemas.openxmlformats.org/drawingml/2006/main">
              <a:ext uri="{FF2B5EF4-FFF2-40B4-BE49-F238E27FC236}">
                <a16:creationId xmlns:a16="http://schemas.microsoft.com/office/drawing/2014/main" id="{DF9F14C3-3F94-4553-9594-7AE3726B09A3}"/>
              </a:ext>
            </a:extLst>
          </p:cNvPr>
          <p:cNvSpPr>
            <a:spLocks xmlns:a="http://schemas.openxmlformats.org/drawingml/2006/main" noGrp="1"/>
          </p:cNvSpPr>
          <p:nvPr/>
        </p:nvSpPr>
        <p:spPr>
          <a:xfrm xmlns:a="http://schemas.openxmlformats.org/drawingml/2006/main">
            <a:off x="685800"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xmlns:a="http://schemas.openxmlformats.org/drawingml/2006/main">
              <a:ext uri="{FF2B5EF4-FFF2-40B4-BE49-F238E27FC236}">
                <a16:creationId xmlns:a16="http://schemas.microsoft.com/office/drawing/2014/main" id="{4D940AC5-04DA-4D32-80C5-7AAEDD3311FE}"/>
              </a:ext>
            </a:extLst>
          </p:cNvPr>
          <p:cNvSpPr>
            <a:spLocks xmlns:a="http://schemas.openxmlformats.org/drawingml/2006/main" noGrp="1"/>
          </p:cNvSpPr>
          <p:nvPr/>
        </p:nvSpPr>
        <p:spPr>
          <a:xfrm xmlns:a="http://schemas.openxmlformats.org/drawingml/2006/main">
            <a:off x="1524000" y="31432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Losing money</a:t>
            </a:r>
          </a:p>
        </p:txBody>
      </p:sp>
      <p:sp>
        <p:nvSpPr>
          <p:cNvPr id="6" name="Rectangle 5">
            <a:extLst xmlns:a="http://schemas.openxmlformats.org/drawingml/2006/main">
              <a:ext uri="{FF2B5EF4-FFF2-40B4-BE49-F238E27FC236}">
                <a16:creationId xmlns:a16="http://schemas.microsoft.com/office/drawing/2014/main" id="{77C495F6-8883-43A7-BE1F-B21C1D694BB7}"/>
              </a:ext>
            </a:extLst>
          </p:cNvPr>
          <p:cNvSpPr>
            <a:spLocks xmlns:a="http://schemas.openxmlformats.org/drawingml/2006/main" noGrp="1"/>
          </p:cNvSpPr>
          <p:nvPr/>
        </p:nvSpPr>
        <p:spPr>
          <a:xfrm xmlns:a="http://schemas.openxmlformats.org/drawingml/2006/main">
            <a:off x="1524000" y="36004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No data → no visibility → bad decisions → losing money</a:t>
            </a:r>
          </a:p>
        </p:txBody>
      </p:sp>
      <p:sp>
        <p:nvSpPr>
          <p:cNvPr id="7" name="Rectangle 6">
            <a:extLst xmlns:a="http://schemas.openxmlformats.org/drawingml/2006/main">
              <a:ext uri="{FF2B5EF4-FFF2-40B4-BE49-F238E27FC236}">
                <a16:creationId xmlns:a16="http://schemas.microsoft.com/office/drawing/2014/main" id="{2E0EB585-E9C5-402A-A012-3AAF584131CF}"/>
              </a:ext>
            </a:extLst>
          </p:cNvPr>
          <p:cNvSpPr>
            <a:spLocks xmlns:a="http://schemas.openxmlformats.org/drawingml/2006/main" noGrp="1"/>
          </p:cNvSpPr>
          <p:nvPr/>
        </p:nvSpPr>
        <p:spPr>
          <a:xfrm xmlns:a="http://schemas.openxmlformats.org/drawingml/2006/main">
            <a:off x="685800" y="46958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xmlns:a="http://schemas.openxmlformats.org/drawingml/2006/main">
              <a:ext uri="{FF2B5EF4-FFF2-40B4-BE49-F238E27FC236}">
                <a16:creationId xmlns:a16="http://schemas.microsoft.com/office/drawing/2014/main" id="{5461938E-ED1C-4B79-89A4-1A63F100F5BB}"/>
              </a:ext>
            </a:extLst>
          </p:cNvPr>
          <p:cNvSpPr>
            <a:spLocks xmlns:a="http://schemas.openxmlformats.org/drawingml/2006/main" noGrp="1"/>
          </p:cNvSpPr>
          <p:nvPr/>
        </p:nvSpPr>
        <p:spPr>
          <a:xfrm xmlns:a="http://schemas.openxmlformats.org/drawingml/2006/main">
            <a:off x="1524000" y="46958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Costs are unpredictable</a:t>
            </a:r>
          </a:p>
        </p:txBody>
      </p:sp>
      <p:sp>
        <p:nvSpPr>
          <p:cNvPr id="9" name="Rectangle 8">
            <a:extLst xmlns:a="http://schemas.openxmlformats.org/drawingml/2006/main">
              <a:ext uri="{FF2B5EF4-FFF2-40B4-BE49-F238E27FC236}">
                <a16:creationId xmlns:a16="http://schemas.microsoft.com/office/drawing/2014/main" id="{AE14D021-5633-4CA7-B7BD-ADD9E092A521}"/>
              </a:ext>
            </a:extLst>
          </p:cNvPr>
          <p:cNvSpPr>
            <a:spLocks xmlns:a="http://schemas.openxmlformats.org/drawingml/2006/main" noGrp="1"/>
          </p:cNvSpPr>
          <p:nvPr/>
        </p:nvSpPr>
        <p:spPr>
          <a:xfrm xmlns:a="http://schemas.openxmlformats.org/drawingml/2006/main">
            <a:off x="1524000" y="52197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Will the project be profitable? Without data, you can’t answer.</a:t>
            </a:r>
            <a:endParaRPr sz="1875" b="0">
              <a:solidFill>
                <a:srgbClr val="52686B"/>
              </a:solidFill>
              <a:latin typeface="Bitstream Charter"/>
              <a:ea typeface="Bitstream Charter"/>
              <a:cs typeface="Bitstream Charter"/>
            </a:endParaRPr>
          </a:p>
        </p:txBody>
      </p:sp>
      <p:sp>
        <p:nvSpPr>
          <p:cNvPr id="11" name="">
            <a:extLst xmlns:a="http://schemas.openxmlformats.org/drawingml/2006/main">
              <a:ext uri="{FF2B5EF4-FFF2-40B4-BE49-F238E27FC236}">
                <a16:creationId xmlns:a16="http://schemas.microsoft.com/office/drawing/2014/main" id="{04A86FD4-73D2-45C3-9411-7197FA762CE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F514FA7-0554-4316-91E5-30FDDE89B4EB}"/>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xmlns:a="http://schemas.openxmlformats.org/drawingml/2006/main">
              <a:ext uri="{FF2B5EF4-FFF2-40B4-BE49-F238E27FC236}">
                <a16:creationId xmlns:a16="http://schemas.microsoft.com/office/drawing/2014/main" id="{766CF1E1-1D5C-4E3E-83B0-4C3E4D57E753}"/>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A2A7A93A-5549-496F-A374-F394A6EC4CA1}"/>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xmlns:a="http://schemas.openxmlformats.org/drawingml/2006/main">
              <a:ext uri="{FF2B5EF4-FFF2-40B4-BE49-F238E27FC236}">
                <a16:creationId xmlns:a16="http://schemas.microsoft.com/office/drawing/2014/main" id="{33BCD30B-329D-4DCC-B4E1-0CE203F80E24}"/>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xmlns:a="http://schemas.openxmlformats.org/drawingml/2006/main">
              <a:ext uri="{FF2B5EF4-FFF2-40B4-BE49-F238E27FC236}">
                <a16:creationId xmlns:a16="http://schemas.microsoft.com/office/drawing/2014/main" id="{A0C3026F-41DF-4EE6-953C-D66B620F47E0}"/>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72657F94-172D-49F9-9A94-8B8DEA8B55B7}"/>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xmlns:a="http://schemas.openxmlformats.org/drawingml/2006/main">
              <a:ext uri="{FF2B5EF4-FFF2-40B4-BE49-F238E27FC236}">
                <a16:creationId xmlns:a16="http://schemas.microsoft.com/office/drawing/2014/main" id="{5CE9F297-D90B-4F83-B221-FC09E6E71972}"/>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xmlns:a="http://schemas.openxmlformats.org/drawingml/2006/main">
              <a:ext uri="{FF2B5EF4-FFF2-40B4-BE49-F238E27FC236}">
                <a16:creationId xmlns:a16="http://schemas.microsoft.com/office/drawing/2014/main" id="{94A69771-EE8C-48B2-B62E-7FDE26F9F693}"/>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466E4A16-E5C9-48D9-976B-203573C4AE29}"/>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xmlns:a="http://schemas.openxmlformats.org/drawingml/2006/main">
              <a:ext uri="{FF2B5EF4-FFF2-40B4-BE49-F238E27FC236}">
                <a16:creationId xmlns:a16="http://schemas.microsoft.com/office/drawing/2014/main" id="{A8AE9124-B3BD-463C-8E00-230CE3CFD146}"/>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
            <a:extLst xmlns:a="http://schemas.openxmlformats.org/drawingml/2006/main">
              <a:ext uri="{FF2B5EF4-FFF2-40B4-BE49-F238E27FC236}">
                <a16:creationId xmlns:a16="http://schemas.microsoft.com/office/drawing/2014/main" id="{666B0608-E962-470D-A0BD-FAEF954E9B4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361D22E2-D781-3AC0-19FC-AF18102F03C4}"/>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xmlns:a="http://schemas.openxmlformats.org/drawingml/2006/main">
              <a:ext uri="{FF2B5EF4-FFF2-40B4-BE49-F238E27FC236}">
                <a16:creationId xmlns:a16="http://schemas.microsoft.com/office/drawing/2014/main" id="{ADF20A53-2AD3-4CA3-6B21-D35FC07ED6D9}"/>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xmlns:a="http://schemas.openxmlformats.org/drawingml/2006/main">
              <a:ext uri="{FF2B5EF4-FFF2-40B4-BE49-F238E27FC236}">
                <a16:creationId xmlns:a16="http://schemas.microsoft.com/office/drawing/2014/main" id="{65EE6F05-0976-85CC-862D-D4FBA490DFEF}"/>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345F904B-50CB-29E8-96FB-0F3139356CF2}"/>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xmlns:a="http://schemas.openxmlformats.org/drawingml/2006/main">
              <a:ext uri="{FF2B5EF4-FFF2-40B4-BE49-F238E27FC236}">
                <a16:creationId xmlns:a16="http://schemas.microsoft.com/office/drawing/2014/main" id="{00971A1E-9BC9-44EF-1A19-CBD10E29D59E}"/>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xmlns:a="http://schemas.openxmlformats.org/drawingml/2006/main">
              <a:ext uri="{FF2B5EF4-FFF2-40B4-BE49-F238E27FC236}">
                <a16:creationId xmlns:a16="http://schemas.microsoft.com/office/drawing/2014/main" id="{49388B51-3B61-CACC-AC9B-480F0BB88D15}"/>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9BE9775C-1FDF-9F7C-68A7-1AC278BF4F5C}"/>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xmlns:a="http://schemas.openxmlformats.org/drawingml/2006/main">
              <a:ext uri="{FF2B5EF4-FFF2-40B4-BE49-F238E27FC236}">
                <a16:creationId xmlns:a16="http://schemas.microsoft.com/office/drawing/2014/main" id="{21E616BF-B03A-854C-AB20-527C08EE5D24}"/>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
            <a:extLst xmlns:a="http://schemas.openxmlformats.org/drawingml/2006/main">
              <a:ext uri="{FF2B5EF4-FFF2-40B4-BE49-F238E27FC236}">
                <a16:creationId xmlns:a16="http://schemas.microsoft.com/office/drawing/2014/main" id="{BFB79EB3-CD2F-486D-9198-AE99E7D6CF2A}"/>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628013"/>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20" name="Picture 9"/>
          <p:cNvPicPr>
            <a:picLocks xmlns:a="http://schemas.openxmlformats.org/drawingml/2006/main" noChangeAspect="1"/>
          </p:cNvPicPr>
          <p:nvPr/>
        </p:nvPicPr>
        <p:blipFill>
          <a:blip xmlns:r="http://schemas.openxmlformats.org/officeDocument/2006/relationships" xmlns:a="http://schemas.openxmlformats.org/drawingml/2006/main" r:embed="Ra8c5442956804dba"/>
          <a:stretch xmlns:a="http://schemas.openxmlformats.org/drawingml/2006/main">
            <a:fillRect l="0" t="0" r="0" b="0"/>
          </a:stretch>
        </p:blipFill>
        <p:spPr>
          <a:xfrm xmlns:a="http://schemas.openxmlformats.org/drawingml/2006/main">
            <a:off x="1511046" y="1628013"/>
            <a:ext cx="8827008" cy="4413504"/>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7A9501A-9E23-4441-8495-95BC172248B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8C0D80-D5DE-467F-A114-569B00F5990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xmlns:a="http://schemas.openxmlformats.org/drawingml/2006/main">
              <a:ext uri="{FF2B5EF4-FFF2-40B4-BE49-F238E27FC236}">
                <a16:creationId xmlns:a16="http://schemas.microsoft.com/office/drawing/2014/main" id="{64E5D290-6F78-4046-A7CE-E38222F86C5D}"/>
              </a:ext>
            </a:extLst>
          </p:cNvPr>
          <p:cNvSpPr>
            <a:spLocks xmlns:a="http://schemas.openxmlformats.org/drawingml/2006/main" noGrp="1"/>
          </p:cNvSpPr>
          <p:nvPr/>
        </p:nvSpPr>
        <p:spPr>
          <a:xfrm xmlns:a="http://schemas.openxmlformats.org/drawingml/2006/main">
            <a:off x="685800" y="1952625"/>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xmlns:a="http://schemas.openxmlformats.org/drawingml/2006/main">
              <a:ext uri="{FF2B5EF4-FFF2-40B4-BE49-F238E27FC236}">
                <a16:creationId xmlns:a16="http://schemas.microsoft.com/office/drawing/2014/main" id="{BB7BDF1D-5A67-4F36-A377-4F8580A99F95}"/>
              </a:ext>
            </a:extLst>
          </p:cNvPr>
          <p:cNvSpPr>
            <a:spLocks xmlns:a="http://schemas.openxmlformats.org/drawingml/2006/main" noGrp="1"/>
          </p:cNvSpPr>
          <p:nvPr/>
        </p:nvSpPr>
        <p:spPr>
          <a:xfrm xmlns:a="http://schemas.openxmlformats.org/drawingml/2006/main">
            <a:off x="723900" y="33623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xmlns:a="http://schemas.openxmlformats.org/drawingml/2006/main">
              <a:ext uri="{FF2B5EF4-FFF2-40B4-BE49-F238E27FC236}">
                <a16:creationId xmlns:a16="http://schemas.microsoft.com/office/drawing/2014/main" id="{4340E1A3-BC7F-4E71-A39C-55B522DA4B04}"/>
              </a:ext>
            </a:extLst>
          </p:cNvPr>
          <p:cNvSpPr>
            <a:spLocks xmlns:a="http://schemas.openxmlformats.org/drawingml/2006/main" noGrp="1"/>
          </p:cNvSpPr>
          <p:nvPr/>
        </p:nvSpPr>
        <p:spPr>
          <a:xfrm xmlns:a="http://schemas.openxmlformats.org/drawingml/2006/main">
            <a:off x="6858000" y="2076450"/>
            <a:ext cx="4572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xmlns:a="http://schemas.openxmlformats.org/drawingml/2006/main">
            <a:endParaRPr sz="2325" b="0">
              <a:solidFill>
                <a:srgbClr val="122C32"/>
              </a:solidFill>
              <a:latin typeface="Bitstream Charter"/>
              <a:ea typeface="Bitstream Charter"/>
              <a:cs typeface="Bitstream Charter"/>
            </a:endParaRP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xmlns:a="http://schemas.openxmlformats.org/drawingml/2006/main">
              <a:ext uri="{FF2B5EF4-FFF2-40B4-BE49-F238E27FC236}">
                <a16:creationId xmlns:a16="http://schemas.microsoft.com/office/drawing/2014/main" id="{8A16FE9C-5BF7-4D1C-AB9F-990B61CBF628}"/>
              </a:ext>
            </a:extLst>
          </p:cNvPr>
          <p:cNvSpPr>
            <a:spLocks xmlns:a="http://schemas.openxmlformats.org/drawingml/2006/main" noGrp="1"/>
          </p:cNvSpPr>
          <p:nvPr/>
        </p:nvSpPr>
        <p:spPr>
          <a:xfrm xmlns:a="http://schemas.openxmlformats.org/drawingml/2006/main">
            <a:off x="723900" y="5381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
            <a:extLst xmlns:a="http://schemas.openxmlformats.org/drawingml/2006/main">
              <a:ext uri="{FF2B5EF4-FFF2-40B4-BE49-F238E27FC236}">
                <a16:creationId xmlns:a16="http://schemas.microsoft.com/office/drawing/2014/main" id="{C3BB3BC9-0101-4A7C-A4E4-BDCE5E13154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3B364AFB-16BF-F4EF-3178-6AEA19547355}"/>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Market size </a:t>
            </a:r>
          </a:p>
        </p:txBody>
      </p:sp>
      <p:sp>
        <p:nvSpPr>
          <p:cNvPr id="3" name="Rectangle 2">
            <a:extLst xmlns:a="http://schemas.openxmlformats.org/drawingml/2006/main">
              <a:ext uri="{FF2B5EF4-FFF2-40B4-BE49-F238E27FC236}">
                <a16:creationId xmlns:a16="http://schemas.microsoft.com/office/drawing/2014/main" id="{0BE60FE1-845C-7487-4A26-426E652B8CD9}"/>
              </a:ext>
            </a:extLst>
          </p:cNvPr>
          <p:cNvSpPr>
            <a:spLocks xmlns:a="http://schemas.openxmlformats.org/drawingml/2006/main" noGrp="1"/>
          </p:cNvSpPr>
          <p:nvPr/>
        </p:nvSpPr>
        <p:spPr>
          <a:xfrm xmlns:a="http://schemas.openxmlformats.org/drawingml/2006/main">
            <a:off x="685800" y="214312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616</a:t>
            </a:r>
          </a:p>
        </p:txBody>
      </p:sp>
      <p:sp>
        <p:nvSpPr>
          <p:cNvPr id="4" name="Rectangle 3">
            <a:extLst xmlns:a="http://schemas.openxmlformats.org/drawingml/2006/main">
              <a:ext uri="{FF2B5EF4-FFF2-40B4-BE49-F238E27FC236}">
                <a16:creationId xmlns:a16="http://schemas.microsoft.com/office/drawing/2014/main" id="{9AB11E46-278C-EBFF-5C4E-458F6ED0551D}"/>
              </a:ext>
            </a:extLst>
          </p:cNvPr>
          <p:cNvSpPr>
            <a:spLocks xmlns:a="http://schemas.openxmlformats.org/drawingml/2006/main" noGrp="1"/>
          </p:cNvSpPr>
          <p:nvPr/>
        </p:nvSpPr>
        <p:spPr>
          <a:xfrm xmlns:a="http://schemas.openxmlformats.org/drawingml/2006/main">
            <a:off x="723900"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Latvia: initial market</a:t>
            </a:r>
            <a:endParaRPr sz="2250" b="0">
              <a:solidFill>
                <a:srgbClr val="122C32"/>
              </a:solidFill>
              <a:latin typeface="Bitstream Charter"/>
              <a:ea typeface="Bitstream Charter"/>
              <a:cs typeface="Bitstream Charter"/>
            </a:endParaRPr>
          </a:p>
        </p:txBody>
      </p:sp>
      <p:sp>
        <p:nvSpPr>
          <p:cNvPr id="6" name="Rectangle 5">
            <a:extLst xmlns:a="http://schemas.openxmlformats.org/drawingml/2006/main">
              <a:ext uri="{FF2B5EF4-FFF2-40B4-BE49-F238E27FC236}">
                <a16:creationId xmlns:a16="http://schemas.microsoft.com/office/drawing/2014/main" id="{718A1BE3-7B39-CA6F-4775-D4C9A4690FC5}"/>
              </a:ext>
            </a:extLst>
          </p:cNvPr>
          <p:cNvSpPr>
            <a:spLocks xmlns:a="http://schemas.openxmlformats.org/drawingml/2006/main" noGrp="1"/>
          </p:cNvSpPr>
          <p:nvPr/>
        </p:nvSpPr>
        <p:spPr>
          <a:xfrm xmlns:a="http://schemas.openxmlformats.org/drawingml/2006/main">
            <a:off x="723900" y="528637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Sizing at target price: €300/company/month. Annual potential at full penetration.</a:t>
            </a:r>
          </a:p>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Eurostat, NACE 43, 10–49 people employed. Latvia: 2024. EU-27: 2023, includes estimates.</a:t>
            </a:r>
          </a:p>
        </p:txBody>
      </p:sp>
      <p:sp>
        <p:nvSpPr>
          <p:cNvPr id="8" name="Rectangle 7">
            <a:extLst xmlns:a="http://schemas.openxmlformats.org/drawingml/2006/main">
              <a:ext uri="{FF2B5EF4-FFF2-40B4-BE49-F238E27FC236}">
                <a16:creationId xmlns:a16="http://schemas.microsoft.com/office/drawing/2014/main" id="{9B4E1047-7A69-45E8-968D-5E7CE38EB8AC}"/>
              </a:ext>
            </a:extLst>
          </p:cNvPr>
          <p:cNvSpPr>
            <a:spLocks xmlns:a="http://schemas.openxmlformats.org/drawingml/2006/main" noGrp="1"/>
          </p:cNvSpPr>
          <p:nvPr/>
        </p:nvSpPr>
        <p:spPr>
          <a:xfrm xmlns:a="http://schemas.openxmlformats.org/drawingml/2006/main">
            <a:off x="723900" y="12477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Specialty construction enterprises with 10–49 people employed</a:t>
            </a:r>
          </a:p>
        </p:txBody>
      </p:sp>
      <p:sp>
        <p:nvSpPr>
          <p:cNvPr id="9" name="Rectangle 8">
            <a:extLst xmlns:a="http://schemas.openxmlformats.org/drawingml/2006/main">
              <a:ext uri="{FF2B5EF4-FFF2-40B4-BE49-F238E27FC236}">
                <a16:creationId xmlns:a16="http://schemas.microsoft.com/office/drawing/2014/main" id="{A06AD83F-7468-490A-A930-8211664FA294}"/>
              </a:ext>
            </a:extLst>
          </p:cNvPr>
          <p:cNvSpPr>
            <a:spLocks xmlns:a="http://schemas.openxmlformats.org/drawingml/2006/main" noGrp="1"/>
          </p:cNvSpPr>
          <p:nvPr/>
        </p:nvSpPr>
        <p:spPr>
          <a:xfrm xmlns:a="http://schemas.openxmlformats.org/drawingml/2006/main">
            <a:off x="6619875"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Europe: EU-27 market</a:t>
            </a:r>
          </a:p>
        </p:txBody>
      </p:sp>
      <p:sp>
        <p:nvSpPr>
          <p:cNvPr id="10" name="Rectangle 9">
            <a:extLst xmlns:a="http://schemas.openxmlformats.org/drawingml/2006/main">
              <a:ext uri="{FF2B5EF4-FFF2-40B4-BE49-F238E27FC236}">
                <a16:creationId xmlns:a16="http://schemas.microsoft.com/office/drawing/2014/main" id="{EAA65947-32FB-4098-BFA3-759A1FB234BD}"/>
              </a:ext>
            </a:extLst>
          </p:cNvPr>
          <p:cNvSpPr>
            <a:spLocks xmlns:a="http://schemas.openxmlformats.org/drawingml/2006/main" noGrp="1"/>
          </p:cNvSpPr>
          <p:nvPr/>
        </p:nvSpPr>
        <p:spPr>
          <a:xfrm xmlns:a="http://schemas.openxmlformats.org/drawingml/2006/main">
            <a:off x="6581775" y="21431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~142,000</a:t>
            </a:r>
          </a:p>
        </p:txBody>
      </p:sp>
      <p:sp>
        <p:nvSpPr>
          <p:cNvPr id="11" name="Rectangle 10">
            <a:extLst xmlns:a="http://schemas.openxmlformats.org/drawingml/2006/main">
              <a:ext uri="{FF2B5EF4-FFF2-40B4-BE49-F238E27FC236}">
                <a16:creationId xmlns:a16="http://schemas.microsoft.com/office/drawing/2014/main" id="{9C0B9765-8382-445A-BA16-16D453F48D5F}"/>
              </a:ext>
            </a:extLst>
          </p:cNvPr>
          <p:cNvSpPr>
            <a:spLocks xmlns:a="http://schemas.openxmlformats.org/drawingml/2006/main" noGrp="1"/>
          </p:cNvSpPr>
          <p:nvPr/>
        </p:nvSpPr>
        <p:spPr>
          <a:xfrm xmlns:a="http://schemas.openxmlformats.org/drawingml/2006/main">
            <a:off x="723900"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2" name="Rectangle 11">
            <a:extLst xmlns:a="http://schemas.openxmlformats.org/drawingml/2006/main">
              <a:ext uri="{FF2B5EF4-FFF2-40B4-BE49-F238E27FC236}">
                <a16:creationId xmlns:a16="http://schemas.microsoft.com/office/drawing/2014/main" id="{73B0AF8E-71AC-49E1-9AD2-C49556F525A2}"/>
              </a:ext>
            </a:extLst>
          </p:cNvPr>
          <p:cNvSpPr>
            <a:spLocks xmlns:a="http://schemas.openxmlformats.org/drawingml/2006/main" noGrp="1"/>
          </p:cNvSpPr>
          <p:nvPr/>
        </p:nvSpPr>
        <p:spPr>
          <a:xfrm xmlns:a="http://schemas.openxmlformats.org/drawingml/2006/main">
            <a:off x="6619875"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3" name="Rectangle 12">
            <a:extLst xmlns:a="http://schemas.openxmlformats.org/drawingml/2006/main">
              <a:ext uri="{FF2B5EF4-FFF2-40B4-BE49-F238E27FC236}">
                <a16:creationId xmlns:a16="http://schemas.microsoft.com/office/drawing/2014/main" id="{AD8CA223-3E1A-45B1-94F5-E6903AF3BD36}"/>
              </a:ext>
            </a:extLst>
          </p:cNvPr>
          <p:cNvSpPr>
            <a:spLocks xmlns:a="http://schemas.openxmlformats.org/drawingml/2006/main" noGrp="1"/>
          </p:cNvSpPr>
          <p:nvPr/>
        </p:nvSpPr>
        <p:spPr>
          <a:xfrm xmlns:a="http://schemas.openxmlformats.org/drawingml/2006/main">
            <a:off x="723900"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€2.22M / year</a:t>
            </a:r>
          </a:p>
        </p:txBody>
      </p:sp>
      <p:sp>
        <p:nvSpPr>
          <p:cNvPr id="14" name="Rectangle 13">
            <a:extLst xmlns:a="http://schemas.openxmlformats.org/drawingml/2006/main">
              <a:ext uri="{FF2B5EF4-FFF2-40B4-BE49-F238E27FC236}">
                <a16:creationId xmlns:a16="http://schemas.microsoft.com/office/drawing/2014/main" id="{24CDE4BC-C25F-4124-8528-379009162667}"/>
              </a:ext>
            </a:extLst>
          </p:cNvPr>
          <p:cNvSpPr>
            <a:spLocks xmlns:a="http://schemas.openxmlformats.org/drawingml/2006/main" noGrp="1"/>
          </p:cNvSpPr>
          <p:nvPr/>
        </p:nvSpPr>
        <p:spPr>
          <a:xfrm xmlns:a="http://schemas.openxmlformats.org/drawingml/2006/main">
            <a:off x="6619875"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~€511M / year</a:t>
            </a:r>
          </a:p>
        </p:txBody>
      </p:sp>
      <p:sp>
        <p:nvSpPr>
          <p:cNvPr id="15" name="Rectangle 14">
            <a:extLst xmlns:a="http://schemas.openxmlformats.org/drawingml/2006/main">
              <a:ext uri="{FF2B5EF4-FFF2-40B4-BE49-F238E27FC236}">
                <a16:creationId xmlns:a16="http://schemas.microsoft.com/office/drawing/2014/main" id="{4BB14F53-9F2D-400C-B29F-A599DFB9C285}"/>
              </a:ext>
            </a:extLst>
          </p:cNvPr>
          <p:cNvSpPr>
            <a:spLocks xmlns:a="http://schemas.openxmlformats.org/drawingml/2006/main" noGrp="1"/>
          </p:cNvSpPr>
          <p:nvPr/>
        </p:nvSpPr>
        <p:spPr>
          <a:xfrm xmlns:a="http://schemas.openxmlformats.org/drawingml/2006/main">
            <a:off x="723900"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6" name="Rectangle 15">
            <a:extLst xmlns:a="http://schemas.openxmlformats.org/drawingml/2006/main">
              <a:ext uri="{FF2B5EF4-FFF2-40B4-BE49-F238E27FC236}">
                <a16:creationId xmlns:a16="http://schemas.microsoft.com/office/drawing/2014/main" id="{2E857783-EE91-463F-858F-92B98E83F6A8}"/>
              </a:ext>
            </a:extLst>
          </p:cNvPr>
          <p:cNvSpPr>
            <a:spLocks xmlns:a="http://schemas.openxmlformats.org/drawingml/2006/main" noGrp="1"/>
          </p:cNvSpPr>
          <p:nvPr/>
        </p:nvSpPr>
        <p:spPr>
          <a:xfrm xmlns:a="http://schemas.openxmlformats.org/drawingml/2006/main">
            <a:off x="6619875"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7" name="">
            <a:extLst xmlns:a="http://schemas.openxmlformats.org/drawingml/2006/main">
              <a:ext uri="{FF2B5EF4-FFF2-40B4-BE49-F238E27FC236}">
                <a16:creationId xmlns:a16="http://schemas.microsoft.com/office/drawing/2014/main" id="{BE0E4EAA-BB03-46B8-BC94-AE6CAA7D932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sld>
</file>

<file path=ppt/slides/slide8.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0E2CD63-474A-4D05-8791-4CB3A9401BC7}"/>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xmlns:a="http://schemas.openxmlformats.org/drawingml/2006/main">
              <a:ext uri="{FF2B5EF4-FFF2-40B4-BE49-F238E27FC236}">
                <a16:creationId xmlns:a16="http://schemas.microsoft.com/office/drawing/2014/main" id="{B5384B42-24A6-4938-ABBF-849F9A0A764B}"/>
              </a:ext>
            </a:extLst>
          </p:cNvPr>
          <p:cNvSpPr>
            <a:spLocks xmlns:a="http://schemas.openxmlformats.org/drawingml/2006/main" noGrp="1"/>
          </p:cNvSpPr>
          <p:nvPr/>
        </p:nvSpPr>
        <p:spPr>
          <a:xfrm xmlns:a="http://schemas.openxmlformats.org/drawingml/2006/main">
            <a:off x="6858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xmlns:a="http://schemas.openxmlformats.org/drawingml/2006/main">
              <a:ext uri="{FF2B5EF4-FFF2-40B4-BE49-F238E27FC236}">
                <a16:creationId xmlns:a16="http://schemas.microsoft.com/office/drawing/2014/main" id="{F2F1FC68-FB05-41C1-B3AD-5587689647BB}"/>
              </a:ext>
            </a:extLst>
          </p:cNvPr>
          <p:cNvSpPr>
            <a:spLocks xmlns:a="http://schemas.openxmlformats.org/drawingml/2006/main" noGrp="1"/>
          </p:cNvSpPr>
          <p:nvPr/>
        </p:nvSpPr>
        <p:spPr>
          <a:xfrm xmlns:a="http://schemas.openxmlformats.org/drawingml/2006/main">
            <a:off x="742950" y="3667125"/>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xmlns:a="http://schemas.openxmlformats.org/drawingml/2006/main">
              <a:ext uri="{FF2B5EF4-FFF2-40B4-BE49-F238E27FC236}">
                <a16:creationId xmlns:a16="http://schemas.microsoft.com/office/drawing/2014/main" id="{79BDBE97-186D-481C-B712-0D6E406B13B2}"/>
              </a:ext>
            </a:extLst>
          </p:cNvPr>
          <p:cNvSpPr>
            <a:spLocks xmlns:a="http://schemas.openxmlformats.org/drawingml/2006/main" noGrp="1"/>
          </p:cNvSpPr>
          <p:nvPr/>
        </p:nvSpPr>
        <p:spPr>
          <a:xfrm xmlns:a="http://schemas.openxmlformats.org/drawingml/2006/main">
            <a:off x="8143875" y="23622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xmlns:a="http://schemas.openxmlformats.org/drawingml/2006/main">
              <a:ext uri="{FF2B5EF4-FFF2-40B4-BE49-F238E27FC236}">
                <a16:creationId xmlns:a16="http://schemas.microsoft.com/office/drawing/2014/main" id="{235E0144-25AA-42AA-BDA4-B2E3C18CE7D1}"/>
              </a:ext>
            </a:extLst>
          </p:cNvPr>
          <p:cNvSpPr>
            <a:spLocks xmlns:a="http://schemas.openxmlformats.org/drawingml/2006/main" noGrp="1"/>
          </p:cNvSpPr>
          <p:nvPr/>
        </p:nvSpPr>
        <p:spPr>
          <a:xfrm xmlns:a="http://schemas.openxmlformats.org/drawingml/2006/main">
            <a:off x="8143875" y="34290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xmlns:a="http://schemas.openxmlformats.org/drawingml/2006/main">
              <a:ext uri="{FF2B5EF4-FFF2-40B4-BE49-F238E27FC236}">
                <a16:creationId xmlns:a16="http://schemas.microsoft.com/office/drawing/2014/main" id="{1720956F-9F3C-4BD3-AE98-3C4EC7155A8D}"/>
              </a:ext>
            </a:extLst>
          </p:cNvPr>
          <p:cNvSpPr>
            <a:spLocks xmlns:a="http://schemas.openxmlformats.org/drawingml/2006/main" noGrp="1"/>
          </p:cNvSpPr>
          <p:nvPr/>
        </p:nvSpPr>
        <p:spPr>
          <a:xfrm xmlns:a="http://schemas.openxmlformats.org/drawingml/2006/main">
            <a:off x="742950" y="5391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
            <a:extLst xmlns:a="http://schemas.openxmlformats.org/drawingml/2006/main">
              <a:ext uri="{FF2B5EF4-FFF2-40B4-BE49-F238E27FC236}">
                <a16:creationId xmlns:a16="http://schemas.microsoft.com/office/drawing/2014/main" id="{A22DDCD3-B3E8-4048-AE0E-72C7790BBDC8}"/>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08EDF8BD-E63E-43D5-A36A-2354C150D192}"/>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xmlns:a="http://schemas.openxmlformats.org/drawingml/2006/main">
              <a:ext uri="{FF2B5EF4-FFF2-40B4-BE49-F238E27FC236}">
                <a16:creationId xmlns:a16="http://schemas.microsoft.com/office/drawing/2014/main" id="{455E1E9E-8924-44E0-B6FA-FE20ED7744AA}"/>
              </a:ext>
            </a:extLst>
          </p:cNvPr>
          <p:cNvSpPr>
            <a:spLocks xmlns:a="http://schemas.openxmlformats.org/drawingml/2006/main" noGrp="1"/>
          </p:cNvSpPr>
          <p:nvPr/>
        </p:nvSpPr>
        <p:spPr>
          <a:xfrm xmlns:a="http://schemas.openxmlformats.org/drawingml/2006/main">
            <a:off x="762000" y="19050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xmlns:a="http://schemas.openxmlformats.org/drawingml/2006/main">
              <a:ext uri="{FF2B5EF4-FFF2-40B4-BE49-F238E27FC236}">
                <a16:creationId xmlns:a16="http://schemas.microsoft.com/office/drawing/2014/main" id="{4635259B-5CA7-49B9-AB23-5C07881DF03A}"/>
              </a:ext>
            </a:extLst>
          </p:cNvPr>
          <p:cNvSpPr>
            <a:spLocks xmlns:a="http://schemas.openxmlformats.org/drawingml/2006/main" noGrp="1"/>
          </p:cNvSpPr>
          <p:nvPr/>
        </p:nvSpPr>
        <p:spPr>
          <a:xfrm xmlns:a="http://schemas.openxmlformats.org/drawingml/2006/main">
            <a:off x="7905750" y="19050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xmlns:a="http://schemas.openxmlformats.org/drawingml/2006/main">
              <a:ext uri="{FF2B5EF4-FFF2-40B4-BE49-F238E27FC236}">
                <a16:creationId xmlns:a16="http://schemas.microsoft.com/office/drawing/2014/main" id="{4E4D18B8-14E2-441A-BE4B-22E964B5ED8D}"/>
              </a:ext>
            </a:extLst>
          </p:cNvPr>
          <p:cNvSpPr>
            <a:spLocks xmlns:a="http://schemas.openxmlformats.org/drawingml/2006/main" noGrp="1"/>
          </p:cNvSpPr>
          <p:nvPr/>
        </p:nvSpPr>
        <p:spPr>
          <a:xfrm xmlns:a="http://schemas.openxmlformats.org/drawingml/2006/main">
            <a:off x="762000" y="25812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xmlns:a="http://schemas.openxmlformats.org/drawingml/2006/main">
              <a:ext uri="{FF2B5EF4-FFF2-40B4-BE49-F238E27FC236}">
                <a16:creationId xmlns:a16="http://schemas.microsoft.com/office/drawing/2014/main" id="{47C73B40-7A06-4F57-B3FD-4EE294C5913E}"/>
              </a:ext>
            </a:extLst>
          </p:cNvPr>
          <p:cNvSpPr>
            <a:spLocks xmlns:a="http://schemas.openxmlformats.org/drawingml/2006/main" noGrp="1"/>
          </p:cNvSpPr>
          <p:nvPr/>
        </p:nvSpPr>
        <p:spPr>
          <a:xfrm xmlns:a="http://schemas.openxmlformats.org/drawingml/2006/main">
            <a:off x="7905750" y="2581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xmlns:a="http://schemas.openxmlformats.org/drawingml/2006/main">
              <a:ext uri="{FF2B5EF4-FFF2-40B4-BE49-F238E27FC236}">
                <a16:creationId xmlns:a16="http://schemas.microsoft.com/office/drawing/2014/main" id="{71CA1260-6304-4A1C-9460-E9221790A96F}"/>
              </a:ext>
            </a:extLst>
          </p:cNvPr>
          <p:cNvSpPr>
            <a:spLocks xmlns:a="http://schemas.openxmlformats.org/drawingml/2006/main" noGrp="1"/>
          </p:cNvSpPr>
          <p:nvPr/>
        </p:nvSpPr>
        <p:spPr>
          <a:xfrm xmlns:a="http://schemas.openxmlformats.org/drawingml/2006/main">
            <a:off x="762000" y="32575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xmlns:a="http://schemas.openxmlformats.org/drawingml/2006/main">
              <a:ext uri="{FF2B5EF4-FFF2-40B4-BE49-F238E27FC236}">
                <a16:creationId xmlns:a16="http://schemas.microsoft.com/office/drawing/2014/main" id="{CFF2BA1E-5CFA-41EF-9053-5A168087E686}"/>
              </a:ext>
            </a:extLst>
          </p:cNvPr>
          <p:cNvSpPr>
            <a:spLocks xmlns:a="http://schemas.openxmlformats.org/drawingml/2006/main" noGrp="1"/>
          </p:cNvSpPr>
          <p:nvPr/>
        </p:nvSpPr>
        <p:spPr>
          <a:xfrm xmlns:a="http://schemas.openxmlformats.org/drawingml/2006/main">
            <a:off x="7905750" y="3257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xmlns:a="http://schemas.openxmlformats.org/drawingml/2006/main">
              <a:ext uri="{FF2B5EF4-FFF2-40B4-BE49-F238E27FC236}">
                <a16:creationId xmlns:a16="http://schemas.microsoft.com/office/drawing/2014/main" id="{4024057A-317B-4D08-975C-B2CF5F21A23A}"/>
              </a:ext>
            </a:extLst>
          </p:cNvPr>
          <p:cNvSpPr>
            <a:spLocks xmlns:a="http://schemas.openxmlformats.org/drawingml/2006/main" noGrp="1"/>
          </p:cNvSpPr>
          <p:nvPr/>
        </p:nvSpPr>
        <p:spPr>
          <a:xfrm xmlns:a="http://schemas.openxmlformats.org/drawingml/2006/main">
            <a:off x="762000" y="39338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xmlns:a="http://schemas.openxmlformats.org/drawingml/2006/main">
              <a:ext uri="{FF2B5EF4-FFF2-40B4-BE49-F238E27FC236}">
                <a16:creationId xmlns:a16="http://schemas.microsoft.com/office/drawing/2014/main" id="{C9F33BDC-B105-43E4-B07F-D346123128EA}"/>
              </a:ext>
            </a:extLst>
          </p:cNvPr>
          <p:cNvSpPr>
            <a:spLocks xmlns:a="http://schemas.openxmlformats.org/drawingml/2006/main" noGrp="1"/>
          </p:cNvSpPr>
          <p:nvPr/>
        </p:nvSpPr>
        <p:spPr>
          <a:xfrm xmlns:a="http://schemas.openxmlformats.org/drawingml/2006/main">
            <a:off x="7905750" y="39338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xmlns:a="http://schemas.openxmlformats.org/drawingml/2006/main">
              <a:ext uri="{FF2B5EF4-FFF2-40B4-BE49-F238E27FC236}">
                <a16:creationId xmlns:a16="http://schemas.microsoft.com/office/drawing/2014/main" id="{D1415E4E-9ABF-4A78-BFAE-904108F9C394}"/>
              </a:ext>
            </a:extLst>
          </p:cNvPr>
          <p:cNvSpPr>
            <a:spLocks xmlns:a="http://schemas.openxmlformats.org/drawingml/2006/main" noGrp="1"/>
          </p:cNvSpPr>
          <p:nvPr/>
        </p:nvSpPr>
        <p:spPr>
          <a:xfrm xmlns:a="http://schemas.openxmlformats.org/drawingml/2006/main">
            <a:off x="762000" y="46101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xmlns:a="http://schemas.openxmlformats.org/drawingml/2006/main">
              <a:ext uri="{FF2B5EF4-FFF2-40B4-BE49-F238E27FC236}">
                <a16:creationId xmlns:a16="http://schemas.microsoft.com/office/drawing/2014/main" id="{E88EA2D7-39A3-4FCE-BA45-17026E61D91C}"/>
              </a:ext>
            </a:extLst>
          </p:cNvPr>
          <p:cNvSpPr>
            <a:spLocks xmlns:a="http://schemas.openxmlformats.org/drawingml/2006/main" noGrp="1"/>
          </p:cNvSpPr>
          <p:nvPr/>
        </p:nvSpPr>
        <p:spPr>
          <a:xfrm xmlns:a="http://schemas.openxmlformats.org/drawingml/2006/main">
            <a:off x="7905750" y="46101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xmlns:a="http://schemas.openxmlformats.org/drawingml/2006/main">
              <a:ext uri="{FF2B5EF4-FFF2-40B4-BE49-F238E27FC236}">
                <a16:creationId xmlns:a16="http://schemas.microsoft.com/office/drawing/2014/main" id="{D60AD922-7A01-4877-8EE9-C53F1F8DF59B}"/>
              </a:ext>
            </a:extLst>
          </p:cNvPr>
          <p:cNvSpPr>
            <a:spLocks xmlns:a="http://schemas.openxmlformats.org/drawingml/2006/main" noGrp="1"/>
          </p:cNvSpPr>
          <p:nvPr/>
        </p:nvSpPr>
        <p:spPr>
          <a:xfrm xmlns:a="http://schemas.openxmlformats.org/drawingml/2006/main">
            <a:off x="762000" y="6011418"/>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xmlns:a="http://schemas.openxmlformats.org/drawingml/2006/main">
              <a:ext uri="{FF2B5EF4-FFF2-40B4-BE49-F238E27FC236}">
                <a16:creationId xmlns:a16="http://schemas.microsoft.com/office/drawing/2014/main" id="{2C874276-C8AD-7D00-C92C-338B0347F467}"/>
              </a:ext>
            </a:extLst>
          </p:cNvPr>
          <p:cNvSpPr>
            <a:spLocks xmlns:a="http://schemas.openxmlformats.org/drawingml/2006/main" noGrp="1"/>
          </p:cNvSpPr>
          <p:nvPr/>
        </p:nvSpPr>
        <p:spPr>
          <a:xfrm xmlns:a="http://schemas.openxmlformats.org/drawingml/2006/main">
            <a:off x="762000" y="52863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xmlns:a="http://schemas.openxmlformats.org/drawingml/2006/main">
              <a:ext uri="{FF2B5EF4-FFF2-40B4-BE49-F238E27FC236}">
                <a16:creationId xmlns:a16="http://schemas.microsoft.com/office/drawing/2014/main" id="{D4FEF6AF-BCD3-47B9-DD7F-3A5362E97F46}"/>
              </a:ext>
            </a:extLst>
          </p:cNvPr>
          <p:cNvSpPr>
            <a:spLocks xmlns:a="http://schemas.openxmlformats.org/drawingml/2006/main" noGrp="1"/>
          </p:cNvSpPr>
          <p:nvPr/>
        </p:nvSpPr>
        <p:spPr>
          <a:xfrm xmlns:a="http://schemas.openxmlformats.org/drawingml/2006/main">
            <a:off x="7905750" y="5286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
            <a:extLst xmlns:a="http://schemas.openxmlformats.org/drawingml/2006/main">
              <a:ext uri="{FF2B5EF4-FFF2-40B4-BE49-F238E27FC236}">
                <a16:creationId xmlns:a16="http://schemas.microsoft.com/office/drawing/2014/main" id="{B13D32E6-AFA2-458A-8661-584504F39E2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1C1F6D-50F7-43EB-81EA-45E208266C3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Current pricing and target pricing</a:t>
            </a:r>
          </a:p>
        </p:txBody>
      </p:sp>
      <p:sp>
        <p:nvSpPr>
          <p:cNvPr id="2" name="">
            <a:extLst xmlns:a="http://schemas.openxmlformats.org/drawingml/2006/main">
              <a:ext uri="{FF2B5EF4-FFF2-40B4-BE49-F238E27FC236}">
                <a16:creationId xmlns:a16="http://schemas.microsoft.com/office/drawing/2014/main" id="{A634716D-3CF2-4E33-A036-4E86B4376F9F}"/>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Current average revenue is about €150/company/month. Target: €300/company/month.</a:t>
            </a:r>
          </a:p>
        </p:txBody>
      </p:sp>
      <p:sp>
        <p:nvSpPr>
          <p:cNvPr id="3" name="">
            <a:extLst xmlns:a="http://schemas.openxmlformats.org/drawingml/2006/main">
              <a:ext uri="{FF2B5EF4-FFF2-40B4-BE49-F238E27FC236}">
                <a16:creationId xmlns:a16="http://schemas.microsoft.com/office/drawing/2014/main" id="{2A5A5C0A-30B5-4865-9B58-490686C672E0}"/>
              </a:ext>
            </a:extLst>
          </p:cNvPr>
          <p:cNvSpPr>
            <a:spLocks xmlns:a="http://schemas.openxmlformats.org/drawingml/2006/main" noGrp="1"/>
          </p:cNvSpPr>
          <p:nvPr/>
        </p:nvSpPr>
        <p:spPr>
          <a:xfrm xmlns:a="http://schemas.openxmlformats.org/drawingml/2006/main">
            <a:off x="7239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
            <a:extLst xmlns:a="http://schemas.openxmlformats.org/drawingml/2006/main">
              <a:ext uri="{FF2B5EF4-FFF2-40B4-BE49-F238E27FC236}">
                <a16:creationId xmlns:a16="http://schemas.microsoft.com/office/drawing/2014/main" id="{4C43FCC6-23FB-4949-8D7D-686D8D9B1CAC}"/>
              </a:ext>
            </a:extLst>
          </p:cNvPr>
          <p:cNvSpPr>
            <a:spLocks xmlns:a="http://schemas.openxmlformats.org/drawingml/2006/main" noGrp="1"/>
          </p:cNvSpPr>
          <p:nvPr/>
        </p:nvSpPr>
        <p:spPr>
          <a:xfrm xmlns:a="http://schemas.openxmlformats.org/drawingml/2006/main">
            <a:off x="762000" y="3219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
            <a:extLst xmlns:a="http://schemas.openxmlformats.org/drawingml/2006/main">
              <a:ext uri="{FF2B5EF4-FFF2-40B4-BE49-F238E27FC236}">
                <a16:creationId xmlns:a16="http://schemas.microsoft.com/office/drawing/2014/main" id="{BE599F16-4A26-4C69-9D2F-49191BC86578}"/>
              </a:ext>
            </a:extLst>
          </p:cNvPr>
          <p:cNvSpPr>
            <a:spLocks xmlns:a="http://schemas.openxmlformats.org/drawingml/2006/main" noGrp="1"/>
          </p:cNvSpPr>
          <p:nvPr/>
        </p:nvSpPr>
        <p:spPr>
          <a:xfrm xmlns:a="http://schemas.openxmlformats.org/drawingml/2006/main">
            <a:off x="6572250" y="2209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€300 target / company / month</a:t>
            </a:r>
          </a:p>
        </p:txBody>
      </p:sp>
      <p:sp>
        <p:nvSpPr>
          <p:cNvPr id="6" name="">
            <a:extLst xmlns:a="http://schemas.openxmlformats.org/drawingml/2006/main">
              <a:ext uri="{FF2B5EF4-FFF2-40B4-BE49-F238E27FC236}">
                <a16:creationId xmlns:a16="http://schemas.microsoft.com/office/drawing/2014/main" id="{1C4B0DDD-3FC2-41A4-A276-D990A2B30725}"/>
              </a:ext>
            </a:extLst>
          </p:cNvPr>
          <p:cNvSpPr>
            <a:spLocks xmlns:a="http://schemas.openxmlformats.org/drawingml/2006/main" noGrp="1"/>
          </p:cNvSpPr>
          <p:nvPr/>
        </p:nvSpPr>
        <p:spPr>
          <a:xfrm xmlns:a="http://schemas.openxmlformats.org/drawingml/2006/main">
            <a:off x="6572250" y="28194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Test a company subscription</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Define included users and features</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Validate upgrades with paying clients</a:t>
            </a:r>
          </a:p>
        </p:txBody>
      </p:sp>
      <p:graphicFrame>
        <p:nvGraphicFramePr>
          <p:cNvPr id="20" name=""/>
          <p:cNvGraphicFramePr/>
          <p:nvPr/>
        </p:nvGraphicFramePr>
        <p:xfrm>
          <a:off xmlns:a="http://schemas.openxmlformats.org/drawingml/2006/main" x="762000" y="4400550"/>
          <a:ext xmlns:a="http://schemas.openxmlformats.org/drawingml/2006/main" cx="10668000" cy="1028700"/>
        </p:xfrm>
        <a:graphic xmlns:a="http://schemas.openxmlformats.org/drawingml/2006/main">
          <a:graphicData uri="http://schemas.openxmlformats.org/drawingml/2006/table">
            <a:tbl>
              <a:tblPr/>
              <a:tblGrid>
                <a:gridCol w="4762500"/>
                <a:gridCol w="2952750"/>
                <a:gridCol w="2952750"/>
              </a:tblGrid>
              <a:tr h="466725">
                <a:tc>
                  <a:txBody>
                    <a:bodyPr/>
                    <a:lstStyle/>
                    <a:p>
                      <a:r>
                        <a:rPr sz="1875" b="1">
                          <a:solidFill>
                            <a:srgbClr val="FFFFFF"/>
                          </a:solidFill>
                          <a:latin typeface="Calibri"/>
                          <a:ea typeface="Calibri"/>
                          <a:cs typeface="Calibri"/>
                        </a:rPr>
                        <a:t>Company subscription</a:t>
                      </a:r>
                    </a:p>
                  </a:txBody>
                  <a:tcPr marL="91440" marR="91440" marT="45720" marB="45720">
                    <a:solidFill>
                      <a:srgbClr val="142F35"/>
                    </a:solidFill>
                  </a:tcPr>
                </a:tc>
                <a:tc>
                  <a:txBody>
                    <a:bodyPr/>
                    <a:lstStyle/>
                    <a:p>
                      <a:r>
                        <a:rPr sz="1875" b="1">
                          <a:solidFill>
                            <a:srgbClr val="FFFFFF"/>
                          </a:solidFill>
                          <a:latin typeface="Calibri"/>
                          <a:ea typeface="Calibri"/>
                          <a:cs typeface="Calibri"/>
                        </a:rPr>
                        <a:t>Current average</a:t>
                      </a:r>
                    </a:p>
                  </a:txBody>
                  <a:tcPr marL="91440" marR="91440" marT="45720" marB="45720">
                    <a:solidFill>
                      <a:srgbClr val="142F35"/>
                    </a:solidFill>
                  </a:tcPr>
                </a:tc>
                <a:tc>
                  <a:txBody>
                    <a:bodyPr/>
                    <a:lstStyle/>
                    <a:p>
                      <a:r>
                        <a:rPr sz="1875" b="1">
                          <a:solidFill>
                            <a:srgbClr val="FFFFFF"/>
                          </a:solidFill>
                          <a:latin typeface="Calibri"/>
                          <a:ea typeface="Calibri"/>
                          <a:cs typeface="Calibri"/>
                        </a:rPr>
                        <a:t>Target price</a:t>
                      </a:r>
                    </a:p>
                  </a:txBody>
                  <a:tcPr marL="91440" marR="91440" marT="45720" marB="45720">
                    <a:solidFill>
                      <a:srgbClr val="142F35"/>
                    </a:solidFill>
                  </a:tcPr>
                </a:tc>
              </a:tr>
              <a:tr h="561975">
                <a:tc>
                  <a:txBody>
                    <a:bodyPr/>
                    <a:lstStyle/>
                    <a:p>
                      <a:r>
                        <a:rPr sz="1875" b="0">
                          <a:solidFill>
                            <a:srgbClr val="142F35"/>
                          </a:solidFill>
                          <a:latin typeface="Calibri"/>
                          <a:ea typeface="Calibri"/>
                          <a:cs typeface="Calibri"/>
                        </a:rPr>
                        <a:t>Annual revenue per company</a:t>
                      </a:r>
                    </a:p>
                  </a:txBody>
                  <a:tcPr marL="91440" marR="91440" marT="45720" marB="45720">
                    <a:solidFill>
                      <a:srgbClr val="F6F4EE"/>
                    </a:solidFill>
                  </a:tcPr>
                </a:tc>
                <a:tc>
                  <a:txBody>
                    <a:bodyPr/>
                    <a:lstStyle/>
                    <a:p>
                      <a:r>
                        <a:rPr sz="1875" b="0">
                          <a:solidFill>
                            <a:srgbClr val="142F35"/>
                          </a:solidFill>
                          <a:latin typeface="Calibri"/>
                          <a:ea typeface="Calibri"/>
                          <a:cs typeface="Calibri"/>
                        </a:rPr>
                        <a:t>~€1,800</a:t>
                      </a:r>
                    </a:p>
                  </a:txBody>
                  <a:tcPr marL="91440" marR="91440" marT="45720" marB="45720">
                    <a:solidFill>
                      <a:srgbClr val="F6F4EE"/>
                    </a:solidFill>
                  </a:tcPr>
                </a:tc>
                <a:tc>
                  <a:txBody>
                    <a:bodyPr/>
                    <a:lstStyle/>
                    <a:p>
                      <a:r>
                        <a:rPr sz="1875" b="0">
                          <a:solidFill>
                            <a:srgbClr val="142F35"/>
                          </a:solidFill>
                          <a:latin typeface="Calibri"/>
                          <a:ea typeface="Calibri"/>
                          <a:cs typeface="Calibri"/>
                        </a:rPr>
                        <a:t>€3,600</a:t>
                      </a:r>
                    </a:p>
                  </a:txBody>
                  <a:tcPr marL="91440" marR="91440" marT="45720" marB="45720">
                    <a:solidFill>
                      <a:srgbClr val="F6F4EE"/>
                    </a:solidFill>
                  </a:tcPr>
                </a:tc>
              </a:tr>
            </a:tbl>
          </a:graphicData>
        </a:graphic>
      </p:graphicFrame>
      <p:sp>
        <p:nvSpPr>
          <p:cNvPr id="8" name="">
            <a:extLst xmlns:a="http://schemas.openxmlformats.org/drawingml/2006/main">
              <a:ext uri="{FF2B5EF4-FFF2-40B4-BE49-F238E27FC236}">
                <a16:creationId xmlns:a16="http://schemas.microsoft.com/office/drawing/2014/main" id="{2D1C5C2D-7BA8-4DF6-AA00-E0BB226B2F40}"/>
              </a:ext>
            </a:extLst>
          </p:cNvPr>
          <p:cNvSpPr>
            <a:spLocks xmlns:a="http://schemas.openxmlformats.org/drawingml/2006/main" noGrp="1"/>
          </p:cNvSpPr>
          <p:nvPr/>
        </p:nvSpPr>
        <p:spPr>
          <a:xfrm xmlns:a="http://schemas.openxmlformats.org/drawingml/2006/main">
            <a:off x="762000" y="55721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Current billing: €50/user/month, adjusted for discounts and custom features.</a:t>
            </a:r>
          </a:p>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The €300 company price is a target. Included scope and adoption remain to be tested.</a:t>
            </a:r>
          </a:p>
        </p:txBody>
      </p:sp>
      <p:sp>
        <p:nvSpPr>
          <p:cNvPr id="12" name="">
            <a:extLst xmlns:a="http://schemas.openxmlformats.org/drawingml/2006/main">
              <a:ext uri="{FF2B5EF4-FFF2-40B4-BE49-F238E27FC236}">
                <a16:creationId xmlns:a16="http://schemas.microsoft.com/office/drawing/2014/main" id="{394FC422-C52E-4934-BD9F-F09F0B5FD2D0}"/>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2C4CDE-1EAC-4166-8622-C9F1E0CAD3CA}"/>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
            <a:extLst xmlns:a="http://schemas.openxmlformats.org/drawingml/2006/main">
              <a:ext uri="{FF2B5EF4-FFF2-40B4-BE49-F238E27FC236}">
                <a16:creationId xmlns:a16="http://schemas.microsoft.com/office/drawing/2014/main" id="{3CB986C6-87D8-4983-BA87-1006353DCF1B}"/>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2" name=""/>
          <p:cNvGraphicFramePr/>
          <p:nvPr/>
        </p:nvGraphicFramePr>
        <p:xfrm>
          <a:off xmlns:a="http://schemas.openxmlformats.org/drawingml/2006/main" x="762000" y="2200275"/>
          <a:ext xmlns:a="http://schemas.openxmlformats.org/drawingml/2006/main" cx="10668000" cy="3181350"/>
        </p:xfrm>
        <a:graphic xmlns:a="http://schemas.openxmlformats.org/drawingml/2006/main">
          <a:graphicData uri="http://schemas.openxmlformats.org/drawingml/2006/table">
            <a:tbl>
              <a:tblPr/>
              <a:tblGrid>
                <a:gridCol w="2190750"/>
                <a:gridCol w="3905250"/>
                <a:gridCol w="4572000"/>
              </a:tblGrid>
              <a:tr h="523875">
                <a:tc>
                  <a:txBody>
                    <a:bodyPr/>
                    <a:lstStyle/>
                    <a:p>
                      <a:r>
                        <a:rPr sz="1800" b="1">
                          <a:solidFill>
                            <a:srgbClr val="FFFFFF"/>
                          </a:solidFill>
                          <a:latin typeface="Calibri"/>
                          <a:ea typeface="Calibri"/>
                          <a:cs typeface="Calibri"/>
                        </a:rPr>
                        <a:t>Alternative</a:t>
                      </a:r>
                    </a:p>
                  </a:txBody>
                  <a:tcPr marL="91440" marR="91440" marT="45720" marB="45720">
                    <a:solidFill>
                      <a:srgbClr val="142F35"/>
                    </a:solidFill>
                  </a:tcPr>
                </a:tc>
                <a:tc>
                  <a:txBody>
                    <a:bodyPr/>
                    <a:lstStyle/>
                    <a:p>
                      <a:r>
                        <a:rPr sz="1800" b="1">
                          <a:solidFill>
                            <a:srgbClr val="FFFFFF"/>
                          </a:solidFill>
                          <a:latin typeface="Calibri"/>
                          <a:ea typeface="Calibri"/>
                          <a:cs typeface="Calibri"/>
                        </a:rPr>
                        <a:t>What it offers</a:t>
                      </a:r>
                    </a:p>
                  </a:txBody>
                  <a:tcPr marL="91440" marR="91440" marT="45720" marB="45720">
                    <a:solidFill>
                      <a:srgbClr val="142F35"/>
                    </a:solidFill>
                  </a:tcPr>
                </a:tc>
                <a:tc>
                  <a:txBody>
                    <a:bodyPr/>
                    <a:lstStyle/>
                    <a:p>
                      <a:r>
                        <a:rPr sz="1800" b="1">
                          <a:solidFill>
                            <a:srgbClr val="FFFFFF"/>
                          </a:solidFill>
                          <a:latin typeface="Calibri"/>
                          <a:ea typeface="Calibri"/>
                          <a:cs typeface="Calibri"/>
                        </a:rPr>
                        <a:t>Our focus for a small contractor</a:t>
                      </a:r>
                    </a:p>
                  </a:txBody>
                  <a:tcPr marL="91440" marR="91440" marT="45720" marB="45720">
                    <a:solidFill>
                      <a:srgbClr val="142F35"/>
                    </a:solidFill>
                  </a:tcPr>
                </a:tc>
              </a:tr>
              <a:tr h="885825">
                <a:tc>
                  <a:txBody>
                    <a:bodyPr/>
                    <a:lstStyle/>
                    <a:p>
                      <a:r>
                        <a:rPr sz="1800" b="0">
                          <a:solidFill>
                            <a:srgbClr val="142F35"/>
                          </a:solidFill>
                          <a:latin typeface="Calibri"/>
                          <a:ea typeface="Calibri"/>
                          <a:cs typeface="Calibri"/>
                        </a:rPr>
                        <a:t>WhatsApp + Excel</a:t>
                      </a:r>
                    </a:p>
                  </a:txBody>
                  <a:tcPr marL="91440" marR="91440" marT="45720" marB="45720">
                    <a:solidFill>
                      <a:srgbClr val="F6F4EE"/>
                    </a:solidFill>
                  </a:tcPr>
                </a:tc>
                <a:tc>
                  <a:txBody>
                    <a:bodyPr/>
                    <a:lstStyle/>
                    <a:p>
                      <a:r>
                        <a:rPr sz="1800" b="0">
                          <a:solidFill>
                            <a:srgbClr val="142F35"/>
                          </a:solidFill>
                          <a:latin typeface="Calibri"/>
                          <a:ea typeface="Calibri"/>
                          <a:cs typeface="Calibri"/>
                        </a:rPr>
                        <a:t>Messages and flexible spreadsheets</a:t>
                      </a:r>
                    </a:p>
                  </a:txBody>
                  <a:tcPr marL="91440" marR="91440" marT="45720" marB="45720">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Fieldwire</a:t>
                      </a:r>
                    </a:p>
                  </a:txBody>
                  <a:tcPr marL="91440" marR="91440" marT="45720" marB="45720">
                    <a:solidFill>
                      <a:srgbClr val="F6F4EE"/>
                    </a:solidFill>
                  </a:tcPr>
                </a:tc>
                <a:tc>
                  <a:txBody>
                    <a:bodyPr/>
                    <a:lstStyle/>
                    <a:p>
                      <a:r>
                        <a:rPr sz="1800" b="0">
                          <a:solidFill>
                            <a:srgbClr val="142F35"/>
                          </a:solidFill>
                          <a:latin typeface="Calibri"/>
                          <a:ea typeface="Calibri"/>
                          <a:cs typeface="Calibri"/>
                        </a:rPr>
                        <a:t>Plans, tasks, reports and forms</a:t>
                      </a:r>
                    </a:p>
                  </a:txBody>
                  <a:tcPr marL="91440" marR="91440" marT="45720" marB="45720">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Buildertrend</a:t>
                      </a:r>
                    </a:p>
                  </a:txBody>
                  <a:tcPr marL="91440" marR="91440" marT="45720" marB="45720">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marL="91440" marR="91440" marT="45720" marB="45720">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25A5C58D-18D0-4561-8DAB-3E8189A85027}"/>
              </a:ext>
            </a:extLst>
          </p:cNvPr>
          <p:cNvSpPr>
            <a:spLocks xmlns:a="http://schemas.openxmlformats.org/drawingml/2006/main" noGrp="1"/>
          </p:cNvSpPr>
          <p:nvPr/>
        </p:nvSpPr>
        <p:spPr>
          <a:xfrm xmlns:a="http://schemas.openxmlformats.org/drawingml/2006/main">
            <a:off x="76200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8" name="">
            <a:extLst xmlns:a="http://schemas.openxmlformats.org/drawingml/2006/main">
              <a:ext uri="{FF2B5EF4-FFF2-40B4-BE49-F238E27FC236}">
                <a16:creationId xmlns:a16="http://schemas.microsoft.com/office/drawing/2014/main" id="{B3A9179F-11B2-44FE-9459-C8D3ACFD1BC5}"/>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46F360-6998-41FD-BEF4-2EF9DB4B52E4}"/>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What one year of outreach has shown</a:t>
            </a:r>
          </a:p>
        </p:txBody>
      </p:sp>
      <p:sp>
        <p:nvSpPr>
          <p:cNvPr id="2" name="">
            <a:extLst xmlns:a="http://schemas.openxmlformats.org/drawingml/2006/main">
              <a:ext uri="{FF2B5EF4-FFF2-40B4-BE49-F238E27FC236}">
                <a16:creationId xmlns:a16="http://schemas.microsoft.com/office/drawing/2014/main" id="{5C4F8EBF-BE18-47D3-AC17-D0BA450EB929}"/>
              </a:ext>
            </a:extLst>
          </p:cNvPr>
          <p:cNvSpPr>
            <a:spLocks xmlns:a="http://schemas.openxmlformats.org/drawingml/2006/main" noGrp="1"/>
          </p:cNvSpPr>
          <p:nvPr/>
        </p:nvSpPr>
        <p:spPr>
          <a:xfrm xmlns:a="http://schemas.openxmlformats.org/drawingml/2006/main">
            <a:off x="723900" y="1276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36B70"/>
                </a:solidFill>
                <a:latin typeface="Calibri"/>
                <a:ea typeface="Calibri"/>
                <a:cs typeface="Calibri"/>
              </a:defRPr>
            </a:pPr>
            <a:r>
              <a:rPr sz="2025" b="0">
                <a:solidFill>
                  <a:srgbClr val="536B70"/>
                </a:solidFill>
                <a:latin typeface="Calibri"/>
                <a:ea typeface="Calibri"/>
                <a:cs typeface="Calibri"/>
              </a:rPr>
              <a:t>Approximately 80 companies approached over about one year through outreach and Facebook.</a:t>
            </a:r>
          </a:p>
        </p:txBody>
      </p:sp>
      <p:sp>
        <p:nvSpPr>
          <p:cNvPr id="3" name="">
            <a:extLst xmlns:a="http://schemas.openxmlformats.org/drawingml/2006/main">
              <a:ext uri="{FF2B5EF4-FFF2-40B4-BE49-F238E27FC236}">
                <a16:creationId xmlns:a16="http://schemas.microsoft.com/office/drawing/2014/main" id="{91AFFBC1-2680-4948-9A99-3FF5483CC1FB}"/>
              </a:ext>
            </a:extLst>
          </p:cNvPr>
          <p:cNvSpPr>
            <a:spLocks xmlns:a="http://schemas.openxmlformats.org/drawingml/2006/main" noGrp="1"/>
          </p:cNvSpPr>
          <p:nvPr/>
        </p:nvSpPr>
        <p:spPr>
          <a:xfrm xmlns:a="http://schemas.openxmlformats.org/drawingml/2006/main">
            <a:off x="7239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~80</a:t>
            </a:r>
          </a:p>
        </p:txBody>
      </p:sp>
      <p:sp>
        <p:nvSpPr>
          <p:cNvPr id="4" name="">
            <a:extLst xmlns:a="http://schemas.openxmlformats.org/drawingml/2006/main">
              <a:ext uri="{FF2B5EF4-FFF2-40B4-BE49-F238E27FC236}">
                <a16:creationId xmlns:a16="http://schemas.microsoft.com/office/drawing/2014/main" id="{65C90AC9-029B-4EE4-A8B2-95CBDA0716AB}"/>
              </a:ext>
            </a:extLst>
          </p:cNvPr>
          <p:cNvSpPr>
            <a:spLocks xmlns:a="http://schemas.openxmlformats.org/drawingml/2006/main" noGrp="1"/>
          </p:cNvSpPr>
          <p:nvPr/>
        </p:nvSpPr>
        <p:spPr>
          <a:xfrm xmlns:a="http://schemas.openxmlformats.org/drawingml/2006/main">
            <a:off x="762000" y="32861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
            <a:extLst xmlns:a="http://schemas.openxmlformats.org/drawingml/2006/main">
              <a:ext uri="{FF2B5EF4-FFF2-40B4-BE49-F238E27FC236}">
                <a16:creationId xmlns:a16="http://schemas.microsoft.com/office/drawing/2014/main" id="{3DB5FDE8-BE3D-400C-B52D-76B45201C223}"/>
              </a:ext>
            </a:extLst>
          </p:cNvPr>
          <p:cNvSpPr>
            <a:spLocks xmlns:a="http://schemas.openxmlformats.org/drawingml/2006/main" noGrp="1"/>
          </p:cNvSpPr>
          <p:nvPr/>
        </p:nvSpPr>
        <p:spPr>
          <a:xfrm xmlns:a="http://schemas.openxmlformats.org/drawingml/2006/main">
            <a:off x="4762500" y="2238375"/>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9A8040C2-3985-43BC-AB24-DA4E0B9EC590}"/>
              </a:ext>
            </a:extLst>
          </p:cNvPr>
          <p:cNvSpPr>
            <a:spLocks xmlns:a="http://schemas.openxmlformats.org/drawingml/2006/main" noGrp="1"/>
          </p:cNvSpPr>
          <p:nvPr/>
        </p:nvSpPr>
        <p:spPr>
          <a:xfrm xmlns:a="http://schemas.openxmlformats.org/drawingml/2006/main">
            <a:off x="4800600" y="3286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
            <a:extLst xmlns:a="http://schemas.openxmlformats.org/drawingml/2006/main">
              <a:ext uri="{FF2B5EF4-FFF2-40B4-BE49-F238E27FC236}">
                <a16:creationId xmlns:a16="http://schemas.microsoft.com/office/drawing/2014/main" id="{076000FC-BCC2-4C16-A6B0-09DB9C789B06}"/>
              </a:ext>
            </a:extLst>
          </p:cNvPr>
          <p:cNvSpPr>
            <a:spLocks xmlns:a="http://schemas.openxmlformats.org/drawingml/2006/main" noGrp="1"/>
          </p:cNvSpPr>
          <p:nvPr/>
        </p:nvSpPr>
        <p:spPr>
          <a:xfrm xmlns:a="http://schemas.openxmlformats.org/drawingml/2006/main">
            <a:off x="8629650" y="223837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3C074390-DD9D-4776-87A8-244589A2A673}"/>
              </a:ext>
            </a:extLst>
          </p:cNvPr>
          <p:cNvSpPr>
            <a:spLocks xmlns:a="http://schemas.openxmlformats.org/drawingml/2006/main" noGrp="1"/>
          </p:cNvSpPr>
          <p:nvPr/>
        </p:nvSpPr>
        <p:spPr>
          <a:xfrm xmlns:a="http://schemas.openxmlformats.org/drawingml/2006/main">
            <a:off x="8667750" y="3286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former payer churned</a:t>
            </a:r>
          </a:p>
        </p:txBody>
      </p:sp>
      <p:sp>
        <p:nvSpPr>
          <p:cNvPr id="9" name="">
            <a:extLst xmlns:a="http://schemas.openxmlformats.org/drawingml/2006/main">
              <a:ext uri="{FF2B5EF4-FFF2-40B4-BE49-F238E27FC236}">
                <a16:creationId xmlns:a16="http://schemas.microsoft.com/office/drawing/2014/main" id="{F444A170-84E2-4BB8-A33C-3277DCC6A8CA}"/>
              </a:ext>
            </a:extLst>
          </p:cNvPr>
          <p:cNvSpPr>
            <a:spLocks xmlns:a="http://schemas.openxmlformats.org/drawingml/2006/main" noGrp="1"/>
          </p:cNvSpPr>
          <p:nvPr/>
        </p:nvSpPr>
        <p:spPr>
          <a:xfrm xmlns:a="http://schemas.openxmlformats.org/drawingml/2006/main">
            <a:off x="762000" y="42767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
            <a:extLst xmlns:a="http://schemas.openxmlformats.org/drawingml/2006/main">
              <a:ext uri="{FF2B5EF4-FFF2-40B4-BE49-F238E27FC236}">
                <a16:creationId xmlns:a16="http://schemas.microsoft.com/office/drawing/2014/main" id="{6DCD413D-F16D-480E-B616-537261583343}"/>
              </a:ext>
            </a:extLst>
          </p:cNvPr>
          <p:cNvSpPr>
            <a:spLocks xmlns:a="http://schemas.openxmlformats.org/drawingml/2006/main" noGrp="1"/>
          </p:cNvSpPr>
          <p:nvPr/>
        </p:nvSpPr>
        <p:spPr>
          <a:xfrm xmlns:a="http://schemas.openxmlformats.org/drawingml/2006/main">
            <a:off x="762000" y="50768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6.25% currently paying / approached. 7.5% became paying customers.</a:t>
            </a:r>
          </a:p>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Seven signed in total, including one free pilot. One paying customer left after 3 months.</a:t>
            </a:r>
          </a:p>
        </p:txBody>
      </p:sp>
      <p:sp>
        <p:nvSpPr>
          <p:cNvPr id="13" name="">
            <a:extLst xmlns:a="http://schemas.openxmlformats.org/drawingml/2006/main">
              <a:ext uri="{FF2B5EF4-FFF2-40B4-BE49-F238E27FC236}">
                <a16:creationId xmlns:a16="http://schemas.microsoft.com/office/drawing/2014/main" id="{465F9A23-3F0E-4EA9-B3A6-FFCE6127554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3668A3-D7E2-4E4F-9229-BD49406876CE}"/>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75" b="1">
                <a:solidFill>
                  <a:srgbClr val="142F35"/>
                </a:solidFill>
                <a:latin typeface="Calibri"/>
                <a:ea typeface="Calibri"/>
                <a:cs typeface="Calibri"/>
              </a:defRPr>
            </a:pPr>
            <a:r>
              <a:rPr sz="3075" b="1">
                <a:solidFill>
                  <a:srgbClr val="142F35"/>
                </a:solidFill>
                <a:latin typeface="Calibri"/>
                <a:ea typeface="Calibri"/>
                <a:cs typeface="Calibri"/>
              </a:rPr>
              <a:t>Revenue scenarios from early acquisition results</a:t>
            </a:r>
          </a:p>
        </p:txBody>
      </p:sp>
      <p:sp>
        <p:nvSpPr>
          <p:cNvPr id="2" name="">
            <a:extLst xmlns:a="http://schemas.openxmlformats.org/drawingml/2006/main">
              <a:ext uri="{FF2B5EF4-FFF2-40B4-BE49-F238E27FC236}">
                <a16:creationId xmlns:a16="http://schemas.microsoft.com/office/drawing/2014/main" id="{C0DA8213-C8E7-435F-9C90-8F8AFCFC79C4}"/>
              </a:ext>
            </a:extLst>
          </p:cNvPr>
          <p:cNvSpPr>
            <a:spLocks xmlns:a="http://schemas.openxmlformats.org/drawingml/2006/main" noGrp="1"/>
          </p:cNvSpPr>
          <p:nvPr/>
        </p:nvSpPr>
        <p:spPr>
          <a:xfrm xmlns:a="http://schemas.openxmlformats.org/drawingml/2006/main">
            <a:off x="762000" y="13430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~80 approached: 7 signed, including 1 free pilot and 1 payer who left after 3 months.</a:t>
            </a:r>
          </a:p>
        </p:txBody>
      </p:sp>
      <p:sp>
        <p:nvSpPr>
          <p:cNvPr id="3" name="">
            <a:extLst xmlns:a="http://schemas.openxmlformats.org/drawingml/2006/main">
              <a:ext uri="{FF2B5EF4-FFF2-40B4-BE49-F238E27FC236}">
                <a16:creationId xmlns:a16="http://schemas.microsoft.com/office/drawing/2014/main" id="{2128E1B4-493C-48CA-BF56-FE213D789F52}"/>
              </a:ext>
            </a:extLst>
          </p:cNvPr>
          <p:cNvSpPr>
            <a:spLocks xmlns:a="http://schemas.openxmlformats.org/drawingml/2006/main" noGrp="1"/>
          </p:cNvSpPr>
          <p:nvPr/>
        </p:nvSpPr>
        <p:spPr>
          <a:xfrm xmlns:a="http://schemas.openxmlformats.org/drawingml/2006/main">
            <a:off x="762000" y="2085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8579"/>
                </a:solidFill>
                <a:latin typeface="Calibri"/>
                <a:ea typeface="Calibri"/>
                <a:cs typeface="Calibri"/>
              </a:defRPr>
            </a:pPr>
            <a:r>
              <a:rPr sz="2625" b="1">
                <a:solidFill>
                  <a:srgbClr val="008579"/>
                </a:solidFill>
                <a:latin typeface="Calibri"/>
                <a:ea typeface="Calibri"/>
                <a:cs typeface="Calibri"/>
              </a:rPr>
              <a:t>5 current payers ÷ 80 approached = 6.25%</a:t>
            </a:r>
          </a:p>
        </p:txBody>
      </p:sp>
      <p:sp>
        <p:nvSpPr>
          <p:cNvPr id="4" name="">
            <a:extLst xmlns:a="http://schemas.openxmlformats.org/drawingml/2006/main">
              <a:ext uri="{FF2B5EF4-FFF2-40B4-BE49-F238E27FC236}">
                <a16:creationId xmlns:a16="http://schemas.microsoft.com/office/drawing/2014/main" id="{48963C9F-7B1F-4561-9BC5-F0084CBC501A}"/>
              </a:ext>
            </a:extLst>
          </p:cNvPr>
          <p:cNvSpPr>
            <a:spLocks xmlns:a="http://schemas.openxmlformats.org/drawingml/2006/main" noGrp="1"/>
          </p:cNvSpPr>
          <p:nvPr/>
        </p:nvSpPr>
        <p:spPr>
          <a:xfrm xmlns:a="http://schemas.openxmlformats.org/drawingml/2006/main">
            <a:off x="762000" y="26765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Companies reached × 6.25% × €150/month × 12</a:t>
            </a:r>
          </a:p>
        </p:txBody>
      </p:sp>
      <p:graphicFrame>
        <p:nvGraphicFramePr>
          <p:cNvPr id="14" name=""/>
          <p:cNvGraphicFramePr/>
          <p:nvPr/>
        </p:nvGraphicFramePr>
        <p:xfrm>
          <a:off xmlns:a="http://schemas.openxmlformats.org/drawingml/2006/main" x="762000" y="3314700"/>
          <a:ext xmlns:a="http://schemas.openxmlformats.org/drawingml/2006/main" cx="10668000" cy="2114550"/>
        </p:xfrm>
        <a:graphic xmlns:a="http://schemas.openxmlformats.org/drawingml/2006/main">
          <a:graphicData uri="http://schemas.openxmlformats.org/drawingml/2006/table">
            <a:tbl>
              <a:tblPr/>
              <a:tblGrid>
                <a:gridCol w="5286375"/>
                <a:gridCol w="2524125"/>
                <a:gridCol w="2857500"/>
              </a:tblGrid>
              <a:tr h="457200">
                <a:tc>
                  <a:txBody>
                    <a:bodyPr/>
                    <a:lstStyle/>
                    <a:p>
                      <a:r>
                        <a:rPr sz="1875" b="1">
                          <a:solidFill>
                            <a:srgbClr val="FFFFFF"/>
                          </a:solidFill>
                          <a:latin typeface="Calibri"/>
                          <a:ea typeface="Calibri"/>
                          <a:cs typeface="Calibri"/>
                        </a:rPr>
                        <a:t>Reach scenario</a:t>
                      </a:r>
                    </a:p>
                  </a:txBody>
                  <a:tcPr marL="91440" marR="91440" marT="45720" marB="45720">
                    <a:solidFill>
                      <a:srgbClr val="142F35"/>
                    </a:solidFill>
                  </a:tcPr>
                </a:tc>
                <a:tc>
                  <a:txBody>
                    <a:bodyPr/>
                    <a:lstStyle/>
                    <a:p>
                      <a:r>
                        <a:rPr sz="1875" b="1">
                          <a:solidFill>
                            <a:srgbClr val="FFFFFF"/>
                          </a:solidFill>
                          <a:latin typeface="Calibri"/>
                          <a:ea typeface="Calibri"/>
                          <a:cs typeface="Calibri"/>
                        </a:rPr>
                        <a:t>Paying companies</a:t>
                      </a:r>
                    </a:p>
                  </a:txBody>
                  <a:tcPr marL="91440" marR="91440" marT="45720" marB="45720">
                    <a:solidFill>
                      <a:srgbClr val="142F35"/>
                    </a:solidFill>
                  </a:tcPr>
                </a:tc>
                <a:tc>
                  <a:txBody>
                    <a:bodyPr/>
                    <a:lstStyle/>
                    <a:p>
                      <a:r>
                        <a:rPr sz="1875" b="1">
                          <a:solidFill>
                            <a:srgbClr val="FFFFFF"/>
                          </a:solidFill>
                          <a:latin typeface="Calibri"/>
                          <a:ea typeface="Calibri"/>
                          <a:cs typeface="Calibri"/>
                        </a:rPr>
                        <a:t>Annualised revenue</a:t>
                      </a:r>
                    </a:p>
                  </a:txBody>
                  <a:tcPr marL="91440" marR="91440" marT="45720" marB="45720">
                    <a:solidFill>
                      <a:srgbClr val="142F35"/>
                    </a:solidFill>
                  </a:tcPr>
                </a:tc>
              </a:tr>
              <a:tr h="552450">
                <a:tc>
                  <a:txBody>
                    <a:bodyPr/>
                    <a:lstStyle/>
                    <a:p>
                      <a:r>
                        <a:rPr sz="1875" b="0">
                          <a:solidFill>
                            <a:srgbClr val="142F35"/>
                          </a:solidFill>
                          <a:latin typeface="Calibri"/>
                          <a:ea typeface="Calibri"/>
                          <a:cs typeface="Calibri"/>
                        </a:rPr>
                        <a:t>80 companies (observed sample)</a:t>
                      </a:r>
                    </a:p>
                  </a:txBody>
                  <a:tcPr marL="91440" marR="91440" marT="45720" marB="45720">
                    <a:solidFill>
                      <a:srgbClr val="F6F4EE"/>
                    </a:solidFill>
                  </a:tcPr>
                </a:tc>
                <a:tc>
                  <a:txBody>
                    <a:bodyPr/>
                    <a:lstStyle/>
                    <a:p>
                      <a:r>
                        <a:rPr sz="1875" b="0">
                          <a:solidFill>
                            <a:srgbClr val="142F35"/>
                          </a:solidFill>
                          <a:latin typeface="Calibri"/>
                          <a:ea typeface="Calibri"/>
                          <a:cs typeface="Calibri"/>
                        </a:rPr>
                        <a:t>5</a:t>
                      </a:r>
                    </a:p>
                  </a:txBody>
                  <a:tcPr marL="91440" marR="91440" marT="45720" marB="45720">
                    <a:solidFill>
                      <a:srgbClr val="F6F4EE"/>
                    </a:solidFill>
                  </a:tcPr>
                </a:tc>
                <a:tc>
                  <a:txBody>
                    <a:bodyPr/>
                    <a:lstStyle/>
                    <a:p>
                      <a:r>
                        <a:rPr sz="1875" b="0">
                          <a:solidFill>
                            <a:srgbClr val="142F35"/>
                          </a:solidFill>
                          <a:latin typeface="Calibri"/>
                          <a:ea typeface="Calibri"/>
                          <a:cs typeface="Calibri"/>
                        </a:rPr>
                        <a:t>€9,000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616 companies (all Latvia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~39</a:t>
                      </a:r>
                    </a:p>
                  </a:txBody>
                  <a:tcPr marL="91440" marR="91440" marT="45720" marB="45720">
                    <a:solidFill>
                      <a:srgbClr val="F6F4EE"/>
                    </a:solidFill>
                  </a:tcPr>
                </a:tc>
                <a:tc>
                  <a:txBody>
                    <a:bodyPr/>
                    <a:lstStyle/>
                    <a:p>
                      <a:r>
                        <a:rPr sz="1875" b="0">
                          <a:solidFill>
                            <a:srgbClr val="142F35"/>
                          </a:solidFill>
                          <a:latin typeface="Calibri"/>
                          <a:ea typeface="Calibri"/>
                          <a:cs typeface="Calibri"/>
                        </a:rPr>
                        <a:t>~€69,300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141,914 companies (all EU-27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~8,870</a:t>
                      </a:r>
                    </a:p>
                  </a:txBody>
                  <a:tcPr marL="91440" marR="91440" marT="45720" marB="45720">
                    <a:solidFill>
                      <a:srgbClr val="F6F4EE"/>
                    </a:solidFill>
                  </a:tcPr>
                </a:tc>
                <a:tc>
                  <a:txBody>
                    <a:bodyPr/>
                    <a:lstStyle/>
                    <a:p>
                      <a:r>
                        <a:rPr sz="1875" b="0">
                          <a:solidFill>
                            <a:srgbClr val="142F35"/>
                          </a:solidFill>
                          <a:latin typeface="Calibri"/>
                          <a:ea typeface="Calibri"/>
                          <a:cs typeface="Calibri"/>
                        </a:rPr>
                        <a:t>~€15.97M</a:t>
                      </a:r>
                    </a:p>
                  </a:txBody>
                  <a:tcPr marL="91440" marR="91440" marT="45720" marB="45720">
                    <a:solidFill>
                      <a:srgbClr val="F6F4EE"/>
                    </a:solidFill>
                  </a:tcPr>
                </a:tc>
              </a:tr>
            </a:tbl>
          </a:graphicData>
        </a:graphic>
      </p:graphicFrame>
      <p:sp>
        <p:nvSpPr>
          <p:cNvPr id="6" name="">
            <a:extLst xmlns:a="http://schemas.openxmlformats.org/drawingml/2006/main">
              <a:ext uri="{FF2B5EF4-FFF2-40B4-BE49-F238E27FC236}">
                <a16:creationId xmlns:a16="http://schemas.microsoft.com/office/drawing/2014/main" id="{B379D7DD-AA56-49B2-9504-19F35DF40A5F}"/>
              </a:ext>
            </a:extLst>
          </p:cNvPr>
          <p:cNvSpPr>
            <a:spLocks xmlns:a="http://schemas.openxmlformats.org/drawingml/2006/main" noGrp="1"/>
          </p:cNvSpPr>
          <p:nvPr/>
        </p:nvSpPr>
        <p:spPr>
          <a:xfrm xmlns:a="http://schemas.openxmlformats.org/drawingml/2006/main">
            <a:off x="762000" y="5676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Conditional scenarios assume the same ratio after reaching every company shown.</a:t>
            </a:r>
          </a:p>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€150 is a modelling average. Results use unrounded counts and are not a sales forecast.</a:t>
            </a:r>
          </a:p>
        </p:txBody>
      </p:sp>
      <p:sp>
        <p:nvSpPr>
          <p:cNvPr id="7" name="">
            <a:extLst xmlns:a="http://schemas.openxmlformats.org/drawingml/2006/main">
              <a:ext uri="{FF2B5EF4-FFF2-40B4-BE49-F238E27FC236}">
                <a16:creationId xmlns:a16="http://schemas.microsoft.com/office/drawing/2014/main" id="{E14E9AB7-147D-4E29-876D-889A9346476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846852963"/>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ECE95E-B0E7-433B-BCDE-044062BCD5D3}"/>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
            <a:extLst xmlns:a="http://schemas.openxmlformats.org/drawingml/2006/main">
              <a:ext uri="{FF2B5EF4-FFF2-40B4-BE49-F238E27FC236}">
                <a16:creationId xmlns:a16="http://schemas.microsoft.com/office/drawing/2014/main" id="{B5F17BDE-5728-4346-80CA-AA2A1B63D268}"/>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
            <a:extLst xmlns:a="http://schemas.openxmlformats.org/drawingml/2006/main">
              <a:ext uri="{FF2B5EF4-FFF2-40B4-BE49-F238E27FC236}">
                <a16:creationId xmlns:a16="http://schemas.microsoft.com/office/drawing/2014/main" id="{798CF8A3-4355-49B6-9B37-1363B737460C}"/>
              </a:ext>
            </a:extLst>
          </p:cNvPr>
          <p:cNvSpPr>
            <a:spLocks xmlns:a="http://schemas.openxmlformats.org/drawingml/2006/main" noGrp="1"/>
          </p:cNvSpPr>
          <p:nvPr/>
        </p:nvSpPr>
        <p:spPr>
          <a:xfrm xmlns:a="http://schemas.openxmlformats.org/drawingml/2006/main">
            <a:off x="762000" y="2133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
            <a:extLst xmlns:a="http://schemas.openxmlformats.org/drawingml/2006/main">
              <a:ext uri="{FF2B5EF4-FFF2-40B4-BE49-F238E27FC236}">
                <a16:creationId xmlns:a16="http://schemas.microsoft.com/office/drawing/2014/main" id="{A71FA044-5D49-4E48-86C5-BF6615928F9C}"/>
              </a:ext>
            </a:extLst>
          </p:cNvPr>
          <p:cNvSpPr>
            <a:spLocks xmlns:a="http://schemas.openxmlformats.org/drawingml/2006/main" noGrp="1"/>
          </p:cNvSpPr>
          <p:nvPr/>
        </p:nvSpPr>
        <p:spPr>
          <a:xfrm xmlns:a="http://schemas.openxmlformats.org/drawingml/2006/main">
            <a:off x="762000" y="26003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
            <a:extLst xmlns:a="http://schemas.openxmlformats.org/drawingml/2006/main">
              <a:ext uri="{FF2B5EF4-FFF2-40B4-BE49-F238E27FC236}">
                <a16:creationId xmlns:a16="http://schemas.microsoft.com/office/drawing/2014/main" id="{0BA357FD-3CE3-4E88-81B3-A0B445B0EA0E}"/>
              </a:ext>
            </a:extLst>
          </p:cNvPr>
          <p:cNvSpPr>
            <a:spLocks xmlns:a="http://schemas.openxmlformats.org/drawingml/2006/main" noGrp="1"/>
          </p:cNvSpPr>
          <p:nvPr/>
        </p:nvSpPr>
        <p:spPr>
          <a:xfrm xmlns:a="http://schemas.openxmlformats.org/drawingml/2006/main">
            <a:off x="762000" y="3457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
            <a:extLst xmlns:a="http://schemas.openxmlformats.org/drawingml/2006/main">
              <a:ext uri="{FF2B5EF4-FFF2-40B4-BE49-F238E27FC236}">
                <a16:creationId xmlns:a16="http://schemas.microsoft.com/office/drawing/2014/main" id="{A94C35E2-5177-4751-863A-558948AD756D}"/>
              </a:ext>
            </a:extLst>
          </p:cNvPr>
          <p:cNvSpPr>
            <a:spLocks xmlns:a="http://schemas.openxmlformats.org/drawingml/2006/main" noGrp="1"/>
          </p:cNvSpPr>
          <p:nvPr/>
        </p:nvSpPr>
        <p:spPr>
          <a:xfrm xmlns:a="http://schemas.openxmlformats.org/drawingml/2006/main">
            <a:off x="762000" y="39243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
            <a:extLst xmlns:a="http://schemas.openxmlformats.org/drawingml/2006/main">
              <a:ext uri="{FF2B5EF4-FFF2-40B4-BE49-F238E27FC236}">
                <a16:creationId xmlns:a16="http://schemas.microsoft.com/office/drawing/2014/main" id="{461BACA2-3C4E-4617-8462-AEA285D5FB5B}"/>
              </a:ext>
            </a:extLst>
          </p:cNvPr>
          <p:cNvSpPr>
            <a:spLocks xmlns:a="http://schemas.openxmlformats.org/drawingml/2006/main" noGrp="1"/>
          </p:cNvSpPr>
          <p:nvPr/>
        </p:nvSpPr>
        <p:spPr>
          <a:xfrm xmlns:a="http://schemas.openxmlformats.org/drawingml/2006/main">
            <a:off x="762000" y="47815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Test one expansion market</a:t>
            </a:r>
          </a:p>
        </p:txBody>
      </p:sp>
      <p:sp>
        <p:nvSpPr>
          <p:cNvPr id="8" name="">
            <a:extLst xmlns:a="http://schemas.openxmlformats.org/drawingml/2006/main">
              <a:ext uri="{FF2B5EF4-FFF2-40B4-BE49-F238E27FC236}">
                <a16:creationId xmlns:a16="http://schemas.microsoft.com/office/drawing/2014/main" id="{7879436E-9935-4CE1-863C-68E07788F929}"/>
              </a:ext>
            </a:extLst>
          </p:cNvPr>
          <p:cNvSpPr>
            <a:spLocks xmlns:a="http://schemas.openxmlformats.org/drawingml/2006/main" noGrp="1"/>
          </p:cNvSpPr>
          <p:nvPr/>
        </p:nvSpPr>
        <p:spPr>
          <a:xfrm xmlns:a="http://schemas.openxmlformats.org/drawingml/2006/main">
            <a:off x="762000" y="524827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Start with a small Swedish pilot cohort. Compare paid conversion and support effort before scaling or adding the UK.</a:t>
            </a:r>
          </a:p>
        </p:txBody>
      </p:sp>
      <p:sp>
        <p:nvSpPr>
          <p:cNvPr id="11" name="">
            <a:extLst xmlns:a="http://schemas.openxmlformats.org/drawingml/2006/main">
              <a:ext uri="{FF2B5EF4-FFF2-40B4-BE49-F238E27FC236}">
                <a16:creationId xmlns:a16="http://schemas.microsoft.com/office/drawing/2014/main" id="{BE26C493-393E-47DD-8491-7331A3980B9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259193421"/>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485CE-993E-4557-A124-AE7E65281CF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
            <a:extLst xmlns:a="http://schemas.openxmlformats.org/drawingml/2006/main">
              <a:ext uri="{FF2B5EF4-FFF2-40B4-BE49-F238E27FC236}">
                <a16:creationId xmlns:a16="http://schemas.microsoft.com/office/drawing/2014/main" id="{E699C6B5-3B0F-4627-9DCF-97FB3DEE0721}"/>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3" name=""/>
          <p:cNvGraphicFramePr/>
          <p:nvPr/>
        </p:nvGraphicFramePr>
        <p:xfrm>
          <a:off xmlns:a="http://schemas.openxmlformats.org/drawingml/2006/main" x="762000" y="2133600"/>
          <a:ext xmlns:a="http://schemas.openxmlformats.org/drawingml/2006/main" cx="10668000" cy="2667000"/>
        </p:xfrm>
        <a:graphic xmlns:a="http://schemas.openxmlformats.org/drawingml/2006/main">
          <a:graphicData uri="http://schemas.openxmlformats.org/drawingml/2006/table">
            <a:tbl>
              <a:tblPr/>
              <a:tblGrid>
                <a:gridCol w="2857500"/>
                <a:gridCol w="3810000"/>
                <a:gridCol w="4000500"/>
              </a:tblGrid>
              <a:tr h="523875">
                <a:tc>
                  <a:txBody>
                    <a:bodyPr/>
                    <a:lstStyle/>
                    <a:p>
                      <a:r>
                        <a:rPr sz="1800" b="1">
                          <a:solidFill>
                            <a:srgbClr val="FFFFFF"/>
                          </a:solidFill>
                          <a:latin typeface="Calibri"/>
                          <a:ea typeface="Calibri"/>
                          <a:cs typeface="Calibri"/>
                        </a:rPr>
                        <a:t>Evidence / channel</a:t>
                      </a:r>
                    </a:p>
                  </a:txBody>
                  <a:tcPr marL="91440" marR="91440" marT="45720" marB="45720">
                    <a:solidFill>
                      <a:srgbClr val="142F35"/>
                    </a:solidFill>
                  </a:tcPr>
                </a:tc>
                <a:tc>
                  <a:txBody>
                    <a:bodyPr/>
                    <a:lstStyle/>
                    <a:p>
                      <a:r>
                        <a:rPr sz="1800" b="1">
                          <a:solidFill>
                            <a:srgbClr val="FFFFFF"/>
                          </a:solidFill>
                          <a:latin typeface="Calibri"/>
                          <a:ea typeface="Calibri"/>
                          <a:cs typeface="Calibri"/>
                        </a:rPr>
                        <a:t>Observed so far</a:t>
                      </a:r>
                    </a:p>
                  </a:txBody>
                  <a:tcPr marL="91440" marR="91440" marT="45720" marB="45720">
                    <a:solidFill>
                      <a:srgbClr val="142F35"/>
                    </a:solidFill>
                  </a:tcPr>
                </a:tc>
                <a:tc>
                  <a:txBody>
                    <a:bodyPr/>
                    <a:lstStyle/>
                    <a:p>
                      <a:r>
                        <a:rPr sz="1800" b="1">
                          <a:solidFill>
                            <a:srgbClr val="FFFFFF"/>
                          </a:solidFill>
                          <a:latin typeface="Calibri"/>
                          <a:ea typeface="Calibri"/>
                          <a:cs typeface="Calibri"/>
                        </a:rPr>
                        <a:t>Measure next</a:t>
                      </a:r>
                    </a:p>
                  </a:txBody>
                  <a:tcPr marL="91440" marR="91440" marT="45720" marB="45720">
                    <a:solidFill>
                      <a:srgbClr val="142F35"/>
                    </a:solidFill>
                  </a:tcPr>
                </a:tc>
              </a:tr>
              <a:tr h="714375">
                <a:tc>
                  <a:txBody>
                    <a:bodyPr/>
                    <a:lstStyle/>
                    <a:p>
                      <a:r>
                        <a:rPr sz="1800" b="0">
                          <a:solidFill>
                            <a:srgbClr val="142F35"/>
                          </a:solidFill>
                          <a:latin typeface="Calibri"/>
                          <a:ea typeface="Calibri"/>
                          <a:cs typeface="Calibri"/>
                        </a:rPr>
                        <a:t>All outreach, ~1 year</a:t>
                      </a:r>
                    </a:p>
                  </a:txBody>
                  <a:tcPr marL="91440" marR="91440" marT="45720" marB="45720">
                    <a:solidFill>
                      <a:srgbClr val="F6F4EE"/>
                    </a:solidFill>
                  </a:tcPr>
                </a:tc>
                <a:tc>
                  <a:txBody>
                    <a:bodyPr/>
                    <a:lstStyle/>
                    <a:p>
                      <a:r>
                        <a:rPr sz="1800" b="0">
                          <a:solidFill>
                            <a:srgbClr val="142F35"/>
                          </a:solidFill>
                          <a:latin typeface="Calibri"/>
                          <a:ea typeface="Calibri"/>
                          <a:cs typeface="Calibri"/>
                        </a:rPr>
                        <a:t>~80 approached, 6 ever paid</a:t>
                      </a:r>
                    </a:p>
                  </a:txBody>
                  <a:tcPr marL="91440" marR="91440" marT="45720" marB="45720">
                    <a:solidFill>
                      <a:srgbClr val="F6F4EE"/>
                    </a:solidFill>
                  </a:tcPr>
                </a:tc>
                <a:tc>
                  <a:txBody>
                    <a:bodyPr/>
                    <a:lstStyle/>
                    <a:p>
                      <a:r>
                        <a:rPr sz="1800" b="0">
                          <a:solidFill>
                            <a:srgbClr val="142F35"/>
                          </a:solidFill>
                          <a:latin typeface="Calibri"/>
                          <a:ea typeface="Calibri"/>
                          <a:cs typeface="Calibri"/>
                        </a:rPr>
                        <a:t>5 current, 1 churned; cohort retention</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Direct outreach sample</a:t>
                      </a:r>
                    </a:p>
                  </a:txBody>
                  <a:tcPr marL="91440" marR="91440" marT="45720" marB="45720">
                    <a:solidFill>
                      <a:srgbClr val="F6F4EE"/>
                    </a:solidFill>
                  </a:tcPr>
                </a:tc>
                <a:tc>
                  <a:txBody>
                    <a:bodyPr/>
                    <a:lstStyle/>
                    <a:p>
                      <a:r>
                        <a:rPr sz="1800" b="0">
                          <a:solidFill>
                            <a:srgbClr val="142F35"/>
                          </a:solidFill>
                          <a:latin typeface="Calibri"/>
                          <a:ea typeface="Calibri"/>
                          <a:cs typeface="Calibri"/>
                        </a:rPr>
                        <a:t>55 calls, 7 demos booked</a:t>
                      </a:r>
                    </a:p>
                  </a:txBody>
                  <a:tcPr marL="91440" marR="91440" marT="45720" marB="45720">
                    <a:solidFill>
                      <a:srgbClr val="F6F4EE"/>
                    </a:solidFill>
                  </a:tcPr>
                </a:tc>
                <a:tc>
                  <a:txBody>
                    <a:bodyPr/>
                    <a:lstStyle/>
                    <a:p>
                      <a:r>
                        <a:rPr sz="1800" b="0">
                          <a:solidFill>
                            <a:srgbClr val="142F35"/>
                          </a:solidFill>
                          <a:latin typeface="Calibri"/>
                          <a:ea typeface="Calibri"/>
                          <a:cs typeface="Calibri"/>
                        </a:rPr>
                        <a:t>Trials and paid conversion by cohort</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Facebook advertising</a:t>
                      </a:r>
                    </a:p>
                  </a:txBody>
                  <a:tcPr marL="91440" marR="91440" marT="45720" marB="45720">
                    <a:solidFill>
                      <a:srgbClr val="F6F4EE"/>
                    </a:solidFill>
                  </a:tcPr>
                </a:tc>
                <a:tc>
                  <a:txBody>
                    <a:bodyPr/>
                    <a:lstStyle/>
                    <a:p>
                      <a:r>
                        <a:rPr sz="1800" b="0">
                          <a:solidFill>
                            <a:srgbClr val="142F35"/>
                          </a:solidFill>
                          <a:latin typeface="Calibri"/>
                          <a:ea typeface="Calibri"/>
                          <a:cs typeface="Calibri"/>
                        </a:rPr>
                        <a:t>Paying customers reported</a:t>
                      </a:r>
                    </a:p>
                  </a:txBody>
                  <a:tcPr marL="91440" marR="91440" marT="45720" marB="45720">
                    <a:solidFill>
                      <a:srgbClr val="F6F4EE"/>
                    </a:solidFill>
                  </a:tcPr>
                </a:tc>
                <a:tc>
                  <a:txBody>
                    <a:bodyPr/>
                    <a:lstStyle/>
                    <a:p>
                      <a:r>
                        <a:rPr sz="1800" b="0">
                          <a:solidFill>
                            <a:srgbClr val="142F35"/>
                          </a:solidFill>
                          <a:latin typeface="Calibri"/>
                          <a:ea typeface="Calibri"/>
                          <a:cs typeface="Calibri"/>
                        </a:rPr>
                        <a:t>Attributed spend, new payers and CAC</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FEB56EF1-AD44-4ED7-9976-6DB3D8E8DA62}"/>
              </a:ext>
            </a:extLst>
          </p:cNvPr>
          <p:cNvSpPr>
            <a:spLocks xmlns:a="http://schemas.openxmlformats.org/drawingml/2006/main" noGrp="1"/>
          </p:cNvSpPr>
          <p:nvPr/>
        </p:nvSpPr>
        <p:spPr>
          <a:xfrm xmlns:a="http://schemas.openxmlformats.org/drawingml/2006/main">
            <a:off x="762000" y="5057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8579"/>
                </a:solidFill>
                <a:latin typeface="Calibri"/>
                <a:ea typeface="Calibri"/>
                <a:cs typeface="Calibri"/>
              </a:defRPr>
            </a:pPr>
            <a:r>
              <a:rPr sz="2100" b="1">
                <a:solidFill>
                  <a:srgbClr val="008579"/>
                </a:solidFill>
                <a:latin typeface="Calibri"/>
                <a:ea typeface="Calibri"/>
                <a:cs typeface="Calibri"/>
              </a:rPr>
              <a:t>Target contract value: €300/month = €3,600/year per company</a:t>
            </a:r>
          </a:p>
        </p:txBody>
      </p:sp>
      <p:sp>
        <p:nvSpPr>
          <p:cNvPr id="5" name="">
            <a:extLst xmlns:a="http://schemas.openxmlformats.org/drawingml/2006/main">
              <a:ext uri="{FF2B5EF4-FFF2-40B4-BE49-F238E27FC236}">
                <a16:creationId xmlns:a16="http://schemas.microsoft.com/office/drawing/2014/main" id="{C388DCC3-3BE3-4163-99F1-3D33675AC5CC}"/>
              </a:ext>
            </a:extLst>
          </p:cNvPr>
          <p:cNvSpPr>
            <a:spLocks xmlns:a="http://schemas.openxmlformats.org/drawingml/2006/main" noGrp="1"/>
          </p:cNvSpPr>
          <p:nvPr/>
        </p:nvSpPr>
        <p:spPr>
          <a:xfrm xmlns:a="http://schemas.openxmlformats.org/drawingml/2006/main">
            <a:off x="762000" y="5553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9" name="">
            <a:extLst xmlns:a="http://schemas.openxmlformats.org/drawingml/2006/main">
              <a:ext uri="{FF2B5EF4-FFF2-40B4-BE49-F238E27FC236}">
                <a16:creationId xmlns:a16="http://schemas.microsoft.com/office/drawing/2014/main" id="{CD647DF6-52CC-4563-AB46-A2A1ED6618C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1854655625"/>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8435C8-77CC-492C-9A50-B5E787DE2757}"/>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
            <a:extLst xmlns:a="http://schemas.openxmlformats.org/drawingml/2006/main">
              <a:ext uri="{FF2B5EF4-FFF2-40B4-BE49-F238E27FC236}">
                <a16:creationId xmlns:a16="http://schemas.microsoft.com/office/drawing/2014/main" id="{9EBD675A-F49A-431A-9FF1-89FE6C01F81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
            <a:extLst xmlns:a="http://schemas.openxmlformats.org/drawingml/2006/main">
              <a:ext uri="{FF2B5EF4-FFF2-40B4-BE49-F238E27FC236}">
                <a16:creationId xmlns:a16="http://schemas.microsoft.com/office/drawing/2014/main" id="{F5287D3A-EE14-497D-A6B8-14B4C2621E5E}"/>
              </a:ext>
            </a:extLst>
          </p:cNvPr>
          <p:cNvSpPr>
            <a:spLocks xmlns:a="http://schemas.openxmlformats.org/drawingml/2006/main" noGrp="1"/>
          </p:cNvSpPr>
          <p:nvPr/>
        </p:nvSpPr>
        <p:spPr>
          <a:xfrm xmlns:a="http://schemas.openxmlformats.org/drawingml/2006/main">
            <a:off x="762000" y="2152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
            <a:extLst xmlns:a="http://schemas.openxmlformats.org/drawingml/2006/main">
              <a:ext uri="{FF2B5EF4-FFF2-40B4-BE49-F238E27FC236}">
                <a16:creationId xmlns:a16="http://schemas.microsoft.com/office/drawing/2014/main" id="{A7F8475C-2904-4744-B03E-5E4CDBE33D9C}"/>
              </a:ext>
            </a:extLst>
          </p:cNvPr>
          <p:cNvSpPr>
            <a:spLocks xmlns:a="http://schemas.openxmlformats.org/drawingml/2006/main" noGrp="1"/>
          </p:cNvSpPr>
          <p:nvPr/>
        </p:nvSpPr>
        <p:spPr>
          <a:xfrm xmlns:a="http://schemas.openxmlformats.org/drawingml/2006/main">
            <a:off x="762000" y="27432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
            <a:extLst xmlns:a="http://schemas.openxmlformats.org/drawingml/2006/main">
              <a:ext uri="{FF2B5EF4-FFF2-40B4-BE49-F238E27FC236}">
                <a16:creationId xmlns:a16="http://schemas.microsoft.com/office/drawing/2014/main" id="{3F94CEA4-22D9-4F31-930D-72255E2BE1E5}"/>
              </a:ext>
            </a:extLst>
          </p:cNvPr>
          <p:cNvSpPr>
            <a:spLocks xmlns:a="http://schemas.openxmlformats.org/drawingml/2006/main" noGrp="1"/>
          </p:cNvSpPr>
          <p:nvPr/>
        </p:nvSpPr>
        <p:spPr>
          <a:xfrm xmlns:a="http://schemas.openxmlformats.org/drawingml/2006/main">
            <a:off x="6572250" y="2152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
            <a:extLst xmlns:a="http://schemas.openxmlformats.org/drawingml/2006/main">
              <a:ext uri="{FF2B5EF4-FFF2-40B4-BE49-F238E27FC236}">
                <a16:creationId xmlns:a16="http://schemas.microsoft.com/office/drawing/2014/main" id="{313EAE4E-51C7-4D97-80A8-0CB9AE6AB8FC}"/>
              </a:ext>
            </a:extLst>
          </p:cNvPr>
          <p:cNvSpPr>
            <a:spLocks xmlns:a="http://schemas.openxmlformats.org/drawingml/2006/main" noGrp="1"/>
          </p:cNvSpPr>
          <p:nvPr/>
        </p:nvSpPr>
        <p:spPr>
          <a:xfrm xmlns:a="http://schemas.openxmlformats.org/drawingml/2006/main">
            <a:off x="6572250" y="2743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
            <a:extLst xmlns:a="http://schemas.openxmlformats.org/drawingml/2006/main">
              <a:ext uri="{FF2B5EF4-FFF2-40B4-BE49-F238E27FC236}">
                <a16:creationId xmlns:a16="http://schemas.microsoft.com/office/drawing/2014/main" id="{4A20ACE9-1E39-4FB4-9B54-10BF6ACCABF3}"/>
              </a:ext>
            </a:extLst>
          </p:cNvPr>
          <p:cNvSpPr>
            <a:spLocks xmlns:a="http://schemas.openxmlformats.org/drawingml/2006/main" noGrp="1"/>
          </p:cNvSpPr>
          <p:nvPr/>
        </p:nvSpPr>
        <p:spPr>
          <a:xfrm xmlns:a="http://schemas.openxmlformats.org/drawingml/2006/main">
            <a:off x="762000" y="4295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
            <a:extLst xmlns:a="http://schemas.openxmlformats.org/drawingml/2006/main">
              <a:ext uri="{FF2B5EF4-FFF2-40B4-BE49-F238E27FC236}">
                <a16:creationId xmlns:a16="http://schemas.microsoft.com/office/drawing/2014/main" id="{B32B7306-0889-4BC8-AA8B-B902CC7115C2}"/>
              </a:ext>
            </a:extLst>
          </p:cNvPr>
          <p:cNvSpPr>
            <a:spLocks xmlns:a="http://schemas.openxmlformats.org/drawingml/2006/main" noGrp="1"/>
          </p:cNvSpPr>
          <p:nvPr/>
        </p:nvSpPr>
        <p:spPr>
          <a:xfrm xmlns:a="http://schemas.openxmlformats.org/drawingml/2006/main">
            <a:off x="762000" y="4857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11" name="">
            <a:extLst xmlns:a="http://schemas.openxmlformats.org/drawingml/2006/main">
              <a:ext uri="{FF2B5EF4-FFF2-40B4-BE49-F238E27FC236}">
                <a16:creationId xmlns:a16="http://schemas.microsoft.com/office/drawing/2014/main" id="{FB37D982-C657-4701-8627-A5957CC3C9C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Tree>
    <p:extLst>
      <p:ext uri="{BB962C8B-B14F-4D97-AF65-F5344CB8AC3E}">
        <p14:creationId xmlns:p14="http://schemas.microsoft.com/office/powerpoint/2010/main" val="236899290"/>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A35BA4CD-5C4E-4732-A2A9-759D110AA252}"/>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xmlns:a="http://schemas.openxmlformats.org/drawingml/2006/main">
              <a:ext uri="{FF2B5EF4-FFF2-40B4-BE49-F238E27FC236}">
                <a16:creationId xmlns:a16="http://schemas.microsoft.com/office/drawing/2014/main" id="{B127BB7F-75C3-4988-BA77-6FEBD1E928D9}"/>
              </a:ext>
            </a:extLst>
          </p:cNvPr>
          <p:cNvSpPr>
            <a:spLocks xmlns:a="http://schemas.openxmlformats.org/drawingml/2006/main" noGrp="1"/>
          </p:cNvSpPr>
          <p:nvPr/>
        </p:nvSpPr>
        <p:spPr>
          <a:xfrm xmlns:a="http://schemas.openxmlformats.org/drawingml/2006/main">
            <a:off x="685800" y="18097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xmlns:a="http://schemas.openxmlformats.org/drawingml/2006/main">
              <a:ext uri="{FF2B5EF4-FFF2-40B4-BE49-F238E27FC236}">
                <a16:creationId xmlns:a16="http://schemas.microsoft.com/office/drawing/2014/main" id="{9A392C90-1DB6-4B05-802B-1CF647FFE0AB}"/>
              </a:ext>
            </a:extLst>
          </p:cNvPr>
          <p:cNvSpPr>
            <a:spLocks xmlns:a="http://schemas.openxmlformats.org/drawingml/2006/main" noGrp="1"/>
          </p:cNvSpPr>
          <p:nvPr/>
        </p:nvSpPr>
        <p:spPr>
          <a:xfrm xmlns:a="http://schemas.openxmlformats.org/drawingml/2006/main">
            <a:off x="685800" y="31908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xmlns:a="http://schemas.openxmlformats.org/drawingml/2006/main">
              <a:ext uri="{FF2B5EF4-FFF2-40B4-BE49-F238E27FC236}">
                <a16:creationId xmlns:a16="http://schemas.microsoft.com/office/drawing/2014/main" id="{1508F114-2165-43E5-9F7B-FBCFE7D19450}"/>
              </a:ext>
            </a:extLst>
          </p:cNvPr>
          <p:cNvSpPr>
            <a:spLocks xmlns:a="http://schemas.openxmlformats.org/drawingml/2006/main" noGrp="1"/>
          </p:cNvSpPr>
          <p:nvPr/>
        </p:nvSpPr>
        <p:spPr>
          <a:xfrm xmlns:a="http://schemas.openxmlformats.org/drawingml/2006/main">
            <a:off x="685800" y="3924300"/>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xmlns:a="http://schemas.openxmlformats.org/drawingml/2006/main">
              <a:ext uri="{FF2B5EF4-FFF2-40B4-BE49-F238E27FC236}">
                <a16:creationId xmlns:a16="http://schemas.microsoft.com/office/drawing/2014/main" id="{DEB1E63E-44C7-41C4-B4A9-57405C400FCF}"/>
              </a:ext>
            </a:extLst>
          </p:cNvPr>
          <p:cNvSpPr>
            <a:spLocks xmlns:a="http://schemas.openxmlformats.org/drawingml/2006/main" noGrp="1"/>
          </p:cNvSpPr>
          <p:nvPr/>
        </p:nvSpPr>
        <p:spPr>
          <a:xfrm xmlns:a="http://schemas.openxmlformats.org/drawingml/2006/main">
            <a:off x="685800" y="5048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xmlns:a="http://schemas.openxmlformats.org/drawingml/2006/main">
              <a:ext uri="{FF2B5EF4-FFF2-40B4-BE49-F238E27FC236}">
                <a16:creationId xmlns:a16="http://schemas.microsoft.com/office/drawing/2014/main" id="{80F50FFB-D2AA-4373-8BB3-C8BE5842B85C}"/>
              </a:ext>
            </a:extLst>
          </p:cNvPr>
          <p:cNvSpPr>
            <a:spLocks xmlns:a="http://schemas.openxmlformats.org/drawingml/2006/main" noGrp="1"/>
          </p:cNvSpPr>
          <p:nvPr/>
        </p:nvSpPr>
        <p:spPr>
          <a:xfrm xmlns:a="http://schemas.openxmlformats.org/drawingml/2006/main">
            <a:off x="685800" y="57912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xmlns:a="http://schemas.openxmlformats.org/drawingml/2006/main">
              <a:ext uri="{FF2B5EF4-FFF2-40B4-BE49-F238E27FC236}">
                <a16:creationId xmlns:a16="http://schemas.microsoft.com/office/drawing/2014/main" id="{D8CED15D-0ACF-4BCF-B8E8-55FFA9754638}"/>
              </a:ext>
            </a:extLst>
          </p:cNvPr>
          <p:cNvSpPr>
            <a:spLocks xmlns:a="http://schemas.openxmlformats.org/drawingml/2006/main" noGrp="1"/>
          </p:cNvSpPr>
          <p:nvPr/>
        </p:nvSpPr>
        <p:spPr>
          <a:xfrm xmlns:a="http://schemas.openxmlformats.org/drawingml/2006/main">
            <a:off x="6762750" y="1809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xmlns:a="http://schemas.openxmlformats.org/drawingml/2006/main">
              <a:ext uri="{FF2B5EF4-FFF2-40B4-BE49-F238E27FC236}">
                <a16:creationId xmlns:a16="http://schemas.microsoft.com/office/drawing/2014/main" id="{92CC7D36-CA00-490F-80BC-B7215D712883}"/>
              </a:ext>
            </a:extLst>
          </p:cNvPr>
          <p:cNvSpPr>
            <a:spLocks xmlns:a="http://schemas.openxmlformats.org/drawingml/2006/main" noGrp="1"/>
          </p:cNvSpPr>
          <p:nvPr/>
        </p:nvSpPr>
        <p:spPr>
          <a:xfrm xmlns:a="http://schemas.openxmlformats.org/drawingml/2006/main">
            <a:off x="6762750" y="3190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xmlns:a="http://schemas.openxmlformats.org/drawingml/2006/main">
              <a:ext uri="{FF2B5EF4-FFF2-40B4-BE49-F238E27FC236}">
                <a16:creationId xmlns:a16="http://schemas.microsoft.com/office/drawing/2014/main" id="{5588DBD3-9DF8-4BB0-901D-8973D3E8DC97}"/>
              </a:ext>
            </a:extLst>
          </p:cNvPr>
          <p:cNvSpPr>
            <a:spLocks xmlns:a="http://schemas.openxmlformats.org/drawingml/2006/main" noGrp="1"/>
          </p:cNvSpPr>
          <p:nvPr/>
        </p:nvSpPr>
        <p:spPr>
          <a:xfrm xmlns:a="http://schemas.openxmlformats.org/drawingml/2006/main">
            <a:off x="6762750" y="39243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3037"/>
                </a:solidFill>
                <a:latin typeface="Bitstream Charter"/>
                <a:ea typeface="Bitstream Charter"/>
                <a:cs typeface="Bitstream Charter"/>
              </a:defRPr>
            </a:pPr>
            <a:r>
              <a:rPr sz="2025" b="0">
                <a:solidFill>
                  <a:srgbClr val="143037"/>
                </a:solidFill>
                <a:latin typeface="Bitstream Charter"/>
                <a:ea typeface="Bitstream Charter"/>
                <a:cs typeface="Bitstream Charter"/>
              </a:rPr>
              <a:t>Senior JavaScript developer</a:t>
            </a:r>
          </a:p>
        </p:txBody>
      </p:sp>
      <p:sp>
        <p:nvSpPr>
          <p:cNvPr id="11" name="Rectangle 10">
            <a:extLst xmlns:a="http://schemas.openxmlformats.org/drawingml/2006/main">
              <a:ext uri="{FF2B5EF4-FFF2-40B4-BE49-F238E27FC236}">
                <a16:creationId xmlns:a16="http://schemas.microsoft.com/office/drawing/2014/main" id="{DA33AE3B-7944-4879-BD3D-AD5DEE002A8F}"/>
              </a:ext>
            </a:extLst>
          </p:cNvPr>
          <p:cNvSpPr>
            <a:spLocks xmlns:a="http://schemas.openxmlformats.org/drawingml/2006/main" noGrp="1"/>
          </p:cNvSpPr>
          <p:nvPr/>
        </p:nvSpPr>
        <p:spPr>
          <a:xfrm xmlns:a="http://schemas.openxmlformats.org/drawingml/2006/main">
            <a:off x="6762750" y="5791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
            <a:extLst xmlns:a="http://schemas.openxmlformats.org/drawingml/2006/main">
              <a:ext uri="{FF2B5EF4-FFF2-40B4-BE49-F238E27FC236}">
                <a16:creationId xmlns:a16="http://schemas.microsoft.com/office/drawing/2014/main" id="{01215526-A494-4F73-905C-77BA36B359A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17</a:t>
            </a:r>
          </a:p>
        </p:txBody>
      </p:sp>
    </p:spTree>
    <p:extLst>
      <p:ext uri="{BB962C8B-B14F-4D97-AF65-F5344CB8AC3E}">
        <p14:creationId xmlns:p14="http://schemas.microsoft.com/office/powerpoint/2010/main" val="1732788866"/>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38C983-CC17-4EDB-A96A-1BDB484FF158}"/>
              </a:ext>
            </a:extLst>
          </p:cNvPr>
          <p:cNvSpPr>
            <a:spLocks xmlns:a="http://schemas.openxmlformats.org/drawingml/2006/main" noGrp="1"/>
          </p:cNvSpPr>
          <p:nvPr/>
        </p:nvSpPr>
        <p:spPr>
          <a:xfrm xmlns:a="http://schemas.openxmlformats.org/drawingml/2006/main">
            <a:off x="685800" y="523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F35"/>
                </a:solidFill>
                <a:latin typeface="Calibri"/>
                <a:ea typeface="Calibri"/>
                <a:cs typeface="Calibri"/>
              </a:defRPr>
            </a:pPr>
            <a:r>
              <a:rPr sz="3150" b="1">
                <a:solidFill>
                  <a:srgbClr val="142F35"/>
                </a:solidFill>
                <a:latin typeface="Calibri"/>
                <a:ea typeface="Calibri"/>
                <a:cs typeface="Calibri"/>
              </a:rPr>
              <a:t>Investment ask</a:t>
            </a:r>
          </a:p>
        </p:txBody>
      </p:sp>
      <p:sp>
        <p:nvSpPr>
          <p:cNvPr id="2" name="">
            <a:extLst xmlns:a="http://schemas.openxmlformats.org/drawingml/2006/main">
              <a:ext uri="{FF2B5EF4-FFF2-40B4-BE49-F238E27FC236}">
                <a16:creationId xmlns:a16="http://schemas.microsoft.com/office/drawing/2014/main" id="{6ED44287-5D49-43F7-A8B3-59DEED943E6E}"/>
              </a:ext>
            </a:extLst>
          </p:cNvPr>
          <p:cNvSpPr>
            <a:spLocks xmlns:a="http://schemas.openxmlformats.org/drawingml/2006/main" noGrp="1"/>
          </p:cNvSpPr>
          <p:nvPr/>
        </p:nvSpPr>
        <p:spPr>
          <a:xfrm xmlns:a="http://schemas.openxmlformats.org/drawingml/2006/main">
            <a:off x="723900" y="12573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008579"/>
                </a:solidFill>
                <a:latin typeface="Calibri"/>
                <a:ea typeface="Calibri"/>
                <a:cs typeface="Calibri"/>
              </a:defRPr>
            </a:pPr>
            <a:r>
              <a:rPr sz="4500" b="1">
                <a:solidFill>
                  <a:srgbClr val="008579"/>
                </a:solidFill>
                <a:latin typeface="Calibri"/>
                <a:ea typeface="Calibri"/>
                <a:cs typeface="Calibri"/>
              </a:rPr>
              <a:t>€30,000 for 10% equity</a:t>
            </a:r>
          </a:p>
        </p:txBody>
      </p:sp>
      <p:sp>
        <p:nvSpPr>
          <p:cNvPr id="3" name="">
            <a:extLst xmlns:a="http://schemas.openxmlformats.org/drawingml/2006/main">
              <a:ext uri="{FF2B5EF4-FFF2-40B4-BE49-F238E27FC236}">
                <a16:creationId xmlns:a16="http://schemas.microsoft.com/office/drawing/2014/main" id="{F4A7EFCA-4705-4D22-9B23-90115F0D1511}"/>
              </a:ext>
            </a:extLst>
          </p:cNvPr>
          <p:cNvSpPr>
            <a:spLocks xmlns:a="http://schemas.openxmlformats.org/drawingml/2006/main" noGrp="1"/>
          </p:cNvSpPr>
          <p:nvPr/>
        </p:nvSpPr>
        <p:spPr>
          <a:xfrm xmlns:a="http://schemas.openxmlformats.org/drawingml/2006/main">
            <a:off x="762000" y="21145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B70"/>
                </a:solidFill>
                <a:latin typeface="Calibri"/>
                <a:ea typeface="Calibri"/>
                <a:cs typeface="Calibri"/>
              </a:defRPr>
            </a:pPr>
            <a:r>
              <a:rPr sz="1950" b="0">
                <a:solidFill>
                  <a:srgbClr val="536B70"/>
                </a:solidFill>
                <a:latin typeface="Calibri"/>
                <a:ea typeface="Calibri"/>
                <a:cs typeface="Calibri"/>
              </a:rPr>
              <a:t>Proposed terms: €270,000 pre-money valuation. Six-month validation budget.</a:t>
            </a:r>
          </a:p>
        </p:txBody>
      </p:sp>
      <p:sp>
        <p:nvSpPr>
          <p:cNvPr id="4" name="">
            <a:extLst xmlns:a="http://schemas.openxmlformats.org/drawingml/2006/main">
              <a:ext uri="{FF2B5EF4-FFF2-40B4-BE49-F238E27FC236}">
                <a16:creationId xmlns:a16="http://schemas.microsoft.com/office/drawing/2014/main" id="{554B6378-9CEB-4304-85FA-D1EA22A5B71B}"/>
              </a:ext>
            </a:extLst>
          </p:cNvPr>
          <p:cNvSpPr>
            <a:spLocks xmlns:a="http://schemas.openxmlformats.org/drawingml/2006/main" noGrp="1"/>
          </p:cNvSpPr>
          <p:nvPr/>
        </p:nvSpPr>
        <p:spPr>
          <a:xfrm xmlns:a="http://schemas.openxmlformats.org/drawingml/2006/main">
            <a:off x="762000" y="2838450"/>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5"/>
                </a:solidFill>
                <a:latin typeface="Calibri"/>
                <a:ea typeface="Calibri"/>
                <a:cs typeface="Calibri"/>
              </a:defRPr>
            </a:pPr>
            <a:r>
              <a:rPr sz="2250" b="1">
                <a:solidFill>
                  <a:srgbClr val="142F35"/>
                </a:solidFill>
                <a:latin typeface="Calibri"/>
                <a:ea typeface="Calibri"/>
                <a:cs typeface="Calibri"/>
              </a:rPr>
              <a:t>Use of funds</a:t>
            </a:r>
          </a:p>
        </p:txBody>
      </p:sp>
      <p:sp>
        <p:nvSpPr>
          <p:cNvPr id="5" name="">
            <a:extLst xmlns:a="http://schemas.openxmlformats.org/drawingml/2006/main">
              <a:ext uri="{FF2B5EF4-FFF2-40B4-BE49-F238E27FC236}">
                <a16:creationId xmlns:a16="http://schemas.microsoft.com/office/drawing/2014/main" id="{02042D68-73D3-4864-9E60-1F14854E7BAC}"/>
              </a:ext>
            </a:extLst>
          </p:cNvPr>
          <p:cNvSpPr>
            <a:spLocks xmlns:a="http://schemas.openxmlformats.org/drawingml/2006/main" noGrp="1"/>
          </p:cNvSpPr>
          <p:nvPr/>
        </p:nvSpPr>
        <p:spPr>
          <a:xfrm xmlns:a="http://schemas.openxmlformats.org/drawingml/2006/main">
            <a:off x="762000" y="33623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Founder time</a:t>
            </a:r>
          </a:p>
        </p:txBody>
      </p:sp>
      <p:sp>
        <p:nvSpPr>
          <p:cNvPr id="6" name="">
            <a:extLst xmlns:a="http://schemas.openxmlformats.org/drawingml/2006/main">
              <a:ext uri="{FF2B5EF4-FFF2-40B4-BE49-F238E27FC236}">
                <a16:creationId xmlns:a16="http://schemas.microsoft.com/office/drawing/2014/main" id="{3C1D0AFE-10BA-49A5-B417-96D4E157145C}"/>
              </a:ext>
            </a:extLst>
          </p:cNvPr>
          <p:cNvSpPr>
            <a:spLocks xmlns:a="http://schemas.openxmlformats.org/drawingml/2006/main" noGrp="1"/>
          </p:cNvSpPr>
          <p:nvPr/>
        </p:nvSpPr>
        <p:spPr>
          <a:xfrm xmlns:a="http://schemas.openxmlformats.org/drawingml/2006/main">
            <a:off x="4429125" y="33623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€18,000</a:t>
            </a:r>
          </a:p>
        </p:txBody>
      </p:sp>
      <p:sp>
        <p:nvSpPr>
          <p:cNvPr id="7" name="">
            <a:extLst xmlns:a="http://schemas.openxmlformats.org/drawingml/2006/main">
              <a:ext uri="{FF2B5EF4-FFF2-40B4-BE49-F238E27FC236}">
                <a16:creationId xmlns:a16="http://schemas.microsoft.com/office/drawing/2014/main" id="{5682D533-9443-41CA-9DAB-1E88EE141779}"/>
              </a:ext>
            </a:extLst>
          </p:cNvPr>
          <p:cNvSpPr>
            <a:spLocks xmlns:a="http://schemas.openxmlformats.org/drawingml/2006/main" noGrp="1"/>
          </p:cNvSpPr>
          <p:nvPr/>
        </p:nvSpPr>
        <p:spPr>
          <a:xfrm xmlns:a="http://schemas.openxmlformats.org/drawingml/2006/main">
            <a:off x="762000" y="37052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Product and onboarding</a:t>
            </a:r>
          </a:p>
        </p:txBody>
      </p:sp>
      <p:sp>
        <p:nvSpPr>
          <p:cNvPr id="8" name="">
            <a:extLst xmlns:a="http://schemas.openxmlformats.org/drawingml/2006/main">
              <a:ext uri="{FF2B5EF4-FFF2-40B4-BE49-F238E27FC236}">
                <a16:creationId xmlns:a16="http://schemas.microsoft.com/office/drawing/2014/main" id="{02495F71-861D-4371-A5B9-40DD7C1ED927}"/>
              </a:ext>
            </a:extLst>
          </p:cNvPr>
          <p:cNvSpPr>
            <a:spLocks xmlns:a="http://schemas.openxmlformats.org/drawingml/2006/main" noGrp="1"/>
          </p:cNvSpPr>
          <p:nvPr/>
        </p:nvSpPr>
        <p:spPr>
          <a:xfrm xmlns:a="http://schemas.openxmlformats.org/drawingml/2006/main">
            <a:off x="4429125" y="37052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€6,000</a:t>
            </a:r>
          </a:p>
        </p:txBody>
      </p:sp>
      <p:sp>
        <p:nvSpPr>
          <p:cNvPr id="9" name="">
            <a:extLst xmlns:a="http://schemas.openxmlformats.org/drawingml/2006/main">
              <a:ext uri="{FF2B5EF4-FFF2-40B4-BE49-F238E27FC236}">
                <a16:creationId xmlns:a16="http://schemas.microsoft.com/office/drawing/2014/main" id="{E6C092B1-39AC-4513-837F-229F54F2CB99}"/>
              </a:ext>
            </a:extLst>
          </p:cNvPr>
          <p:cNvSpPr>
            <a:spLocks xmlns:a="http://schemas.openxmlformats.org/drawingml/2006/main" noGrp="1"/>
          </p:cNvSpPr>
          <p:nvPr/>
        </p:nvSpPr>
        <p:spPr>
          <a:xfrm xmlns:a="http://schemas.openxmlformats.org/drawingml/2006/main">
            <a:off x="762000" y="40481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Acquisition tests</a:t>
            </a:r>
          </a:p>
        </p:txBody>
      </p:sp>
      <p:sp>
        <p:nvSpPr>
          <p:cNvPr id="10" name="">
            <a:extLst xmlns:a="http://schemas.openxmlformats.org/drawingml/2006/main">
              <a:ext uri="{FF2B5EF4-FFF2-40B4-BE49-F238E27FC236}">
                <a16:creationId xmlns:a16="http://schemas.microsoft.com/office/drawing/2014/main" id="{2388459B-3D44-4407-979C-4739841355C9}"/>
              </a:ext>
            </a:extLst>
          </p:cNvPr>
          <p:cNvSpPr>
            <a:spLocks xmlns:a="http://schemas.openxmlformats.org/drawingml/2006/main" noGrp="1"/>
          </p:cNvSpPr>
          <p:nvPr/>
        </p:nvSpPr>
        <p:spPr>
          <a:xfrm xmlns:a="http://schemas.openxmlformats.org/drawingml/2006/main">
            <a:off x="4429125" y="40481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€3,000</a:t>
            </a:r>
          </a:p>
        </p:txBody>
      </p:sp>
      <p:sp>
        <p:nvSpPr>
          <p:cNvPr id="11" name="">
            <a:extLst xmlns:a="http://schemas.openxmlformats.org/drawingml/2006/main">
              <a:ext uri="{FF2B5EF4-FFF2-40B4-BE49-F238E27FC236}">
                <a16:creationId xmlns:a16="http://schemas.microsoft.com/office/drawing/2014/main" id="{E6EFF58F-41C0-40E8-A399-6CC51506ED99}"/>
              </a:ext>
            </a:extLst>
          </p:cNvPr>
          <p:cNvSpPr>
            <a:spLocks xmlns:a="http://schemas.openxmlformats.org/drawingml/2006/main" noGrp="1"/>
          </p:cNvSpPr>
          <p:nvPr/>
        </p:nvSpPr>
        <p:spPr>
          <a:xfrm xmlns:a="http://schemas.openxmlformats.org/drawingml/2006/main">
            <a:off x="762000" y="43910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Software and administration</a:t>
            </a:r>
          </a:p>
        </p:txBody>
      </p:sp>
      <p:sp>
        <p:nvSpPr>
          <p:cNvPr id="12" name="">
            <a:extLst xmlns:a="http://schemas.openxmlformats.org/drawingml/2006/main">
              <a:ext uri="{FF2B5EF4-FFF2-40B4-BE49-F238E27FC236}">
                <a16:creationId xmlns:a16="http://schemas.microsoft.com/office/drawing/2014/main" id="{883B0505-929C-44C2-B89B-8688E21F82BD}"/>
              </a:ext>
            </a:extLst>
          </p:cNvPr>
          <p:cNvSpPr>
            <a:spLocks xmlns:a="http://schemas.openxmlformats.org/drawingml/2006/main" noGrp="1"/>
          </p:cNvSpPr>
          <p:nvPr/>
        </p:nvSpPr>
        <p:spPr>
          <a:xfrm xmlns:a="http://schemas.openxmlformats.org/drawingml/2006/main">
            <a:off x="4429125" y="43910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3" name="">
            <a:extLst xmlns:a="http://schemas.openxmlformats.org/drawingml/2006/main">
              <a:ext uri="{FF2B5EF4-FFF2-40B4-BE49-F238E27FC236}">
                <a16:creationId xmlns:a16="http://schemas.microsoft.com/office/drawing/2014/main" id="{C01CEE1A-22DA-4270-9B81-97A18D4BF7D0}"/>
              </a:ext>
            </a:extLst>
          </p:cNvPr>
          <p:cNvSpPr>
            <a:spLocks xmlns:a="http://schemas.openxmlformats.org/drawingml/2006/main" noGrp="1"/>
          </p:cNvSpPr>
          <p:nvPr/>
        </p:nvSpPr>
        <p:spPr>
          <a:xfrm xmlns:a="http://schemas.openxmlformats.org/drawingml/2006/main">
            <a:off x="762000" y="47339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Contingency</a:t>
            </a:r>
          </a:p>
        </p:txBody>
      </p:sp>
      <p:sp>
        <p:nvSpPr>
          <p:cNvPr id="14" name="">
            <a:extLst xmlns:a="http://schemas.openxmlformats.org/drawingml/2006/main">
              <a:ext uri="{FF2B5EF4-FFF2-40B4-BE49-F238E27FC236}">
                <a16:creationId xmlns:a16="http://schemas.microsoft.com/office/drawing/2014/main" id="{4F8E492B-D3CD-459E-A1FF-BE4AFB73B990}"/>
              </a:ext>
            </a:extLst>
          </p:cNvPr>
          <p:cNvSpPr>
            <a:spLocks xmlns:a="http://schemas.openxmlformats.org/drawingml/2006/main" noGrp="1"/>
          </p:cNvSpPr>
          <p:nvPr/>
        </p:nvSpPr>
        <p:spPr>
          <a:xfrm xmlns:a="http://schemas.openxmlformats.org/drawingml/2006/main">
            <a:off x="4429125" y="47339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5" name="">
            <a:extLst xmlns:a="http://schemas.openxmlformats.org/drawingml/2006/main">
              <a:ext uri="{FF2B5EF4-FFF2-40B4-BE49-F238E27FC236}">
                <a16:creationId xmlns:a16="http://schemas.microsoft.com/office/drawing/2014/main" id="{757E543A-6655-4B73-AEE6-6E62E3FABBA8}"/>
              </a:ext>
            </a:extLst>
          </p:cNvPr>
          <p:cNvSpPr>
            <a:spLocks xmlns:a="http://schemas.openxmlformats.org/drawingml/2006/main" noGrp="1"/>
          </p:cNvSpPr>
          <p:nvPr/>
        </p:nvSpPr>
        <p:spPr>
          <a:xfrm xmlns:a="http://schemas.openxmlformats.org/drawingml/2006/main">
            <a:off x="6572250" y="2838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5"/>
                </a:solidFill>
                <a:latin typeface="Calibri"/>
                <a:ea typeface="Calibri"/>
                <a:cs typeface="Calibri"/>
              </a:defRPr>
            </a:pPr>
            <a:r>
              <a:rPr sz="2250" b="1">
                <a:solidFill>
                  <a:srgbClr val="142F35"/>
                </a:solidFill>
                <a:latin typeface="Calibri"/>
                <a:ea typeface="Calibri"/>
                <a:cs typeface="Calibri"/>
              </a:rPr>
              <a:t>Six-month milestones</a:t>
            </a:r>
          </a:p>
        </p:txBody>
      </p:sp>
      <p:sp>
        <p:nvSpPr>
          <p:cNvPr id="16" name="">
            <a:extLst xmlns:a="http://schemas.openxmlformats.org/drawingml/2006/main">
              <a:ext uri="{FF2B5EF4-FFF2-40B4-BE49-F238E27FC236}">
                <a16:creationId xmlns:a16="http://schemas.microsoft.com/office/drawing/2014/main" id="{BF4F5E3D-93E7-45CF-B2F0-5EEE218F8A35}"/>
              </a:ext>
            </a:extLst>
          </p:cNvPr>
          <p:cNvSpPr>
            <a:spLocks xmlns:a="http://schemas.openxmlformats.org/drawingml/2006/main" noGrp="1"/>
          </p:cNvSpPr>
          <p:nvPr/>
        </p:nvSpPr>
        <p:spPr>
          <a:xfrm xmlns:a="http://schemas.openxmlformats.org/drawingml/2006/main">
            <a:off x="6572250" y="33623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8579"/>
                </a:solidFill>
                <a:latin typeface="Calibri"/>
                <a:ea typeface="Calibri"/>
                <a:cs typeface="Calibri"/>
              </a:defRPr>
            </a:pPr>
            <a:r>
              <a:rPr sz="2025" b="1">
                <a:solidFill>
                  <a:srgbClr val="008579"/>
                </a:solidFill>
                <a:latin typeface="Calibri"/>
                <a:ea typeface="Calibri"/>
                <a:cs typeface="Calibri"/>
              </a:rPr>
              <a:t>15 paying companies in total</a:t>
            </a:r>
          </a:p>
          <a:p xmlns:a="http://schemas.openxmlformats.org/drawingml/2006/main">
            <a:pPr>
              <a:defRPr sz="2025" b="1">
                <a:solidFill>
                  <a:srgbClr val="008579"/>
                </a:solidFill>
                <a:latin typeface="Calibri"/>
                <a:ea typeface="Calibri"/>
                <a:cs typeface="Calibri"/>
              </a:defRPr>
            </a:pPr>
            <a:r>
              <a:rPr sz="2025" b="1">
                <a:solidFill>
                  <a:srgbClr val="008579"/>
                </a:solidFill>
                <a:latin typeface="Calibri"/>
                <a:ea typeface="Calibri"/>
                <a:cs typeface="Calibri"/>
              </a:rPr>
              <a:t>At least 5 paying €300/month</a:t>
            </a:r>
          </a:p>
        </p:txBody>
      </p:sp>
      <p:sp>
        <p:nvSpPr>
          <p:cNvPr id="17" name="">
            <a:extLst xmlns:a="http://schemas.openxmlformats.org/drawingml/2006/main">
              <a:ext uri="{FF2B5EF4-FFF2-40B4-BE49-F238E27FC236}">
                <a16:creationId xmlns:a16="http://schemas.microsoft.com/office/drawing/2014/main" id="{E425EE4B-7304-40E9-A7A9-4E8F46EF2754}"/>
              </a:ext>
            </a:extLst>
          </p:cNvPr>
          <p:cNvSpPr>
            <a:spLocks xmlns:a="http://schemas.openxmlformats.org/drawingml/2006/main" noGrp="1"/>
          </p:cNvSpPr>
          <p:nvPr/>
        </p:nvSpPr>
        <p:spPr>
          <a:xfrm xmlns:a="http://schemas.openxmlformats.org/drawingml/2006/main">
            <a:off x="6572250" y="41814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80% retention after 8 weeks</a:t>
            </a:r>
          </a:p>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Across eligible new paying customers</a:t>
            </a:r>
          </a:p>
        </p:txBody>
      </p:sp>
      <p:sp>
        <p:nvSpPr>
          <p:cNvPr id="18" name="">
            <a:extLst xmlns:a="http://schemas.openxmlformats.org/drawingml/2006/main">
              <a:ext uri="{FF2B5EF4-FFF2-40B4-BE49-F238E27FC236}">
                <a16:creationId xmlns:a16="http://schemas.microsoft.com/office/drawing/2014/main" id="{34F434AF-88A4-4BC5-9680-34D212B49864}"/>
              </a:ext>
            </a:extLst>
          </p:cNvPr>
          <p:cNvSpPr>
            <a:spLocks xmlns:a="http://schemas.openxmlformats.org/drawingml/2006/main" noGrp="1"/>
          </p:cNvSpPr>
          <p:nvPr/>
        </p:nvSpPr>
        <p:spPr>
          <a:xfrm xmlns:a="http://schemas.openxmlformats.org/drawingml/2006/main">
            <a:off x="6572250" y="49911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Support ≤30 min/client/week</a:t>
            </a:r>
          </a:p>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Measured across paying customers</a:t>
            </a:r>
          </a:p>
        </p:txBody>
      </p:sp>
      <p:sp>
        <p:nvSpPr>
          <p:cNvPr id="19" name="">
            <a:extLst xmlns:a="http://schemas.openxmlformats.org/drawingml/2006/main">
              <a:ext uri="{FF2B5EF4-FFF2-40B4-BE49-F238E27FC236}">
                <a16:creationId xmlns:a16="http://schemas.microsoft.com/office/drawing/2014/main" id="{96E4007B-964B-4451-BF33-2C267B854825}"/>
              </a:ext>
            </a:extLst>
          </p:cNvPr>
          <p:cNvSpPr>
            <a:spLocks xmlns:a="http://schemas.openxmlformats.org/drawingml/2006/main" noGrp="1"/>
          </p:cNvSpPr>
          <p:nvPr/>
        </p:nvSpPr>
        <p:spPr>
          <a:xfrm xmlns:a="http://schemas.openxmlformats.org/drawingml/2006/main">
            <a:off x="762000" y="59436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B70"/>
                </a:solidFill>
                <a:latin typeface="Calibri"/>
                <a:ea typeface="Calibri"/>
                <a:cs typeface="Calibri"/>
              </a:defRPr>
            </a:pPr>
            <a:r>
              <a:rPr sz="1500" b="0">
                <a:solidFill>
                  <a:srgbClr val="536B70"/>
                </a:solidFill>
                <a:latin typeface="Calibri"/>
                <a:ea typeface="Calibri"/>
                <a:cs typeface="Calibri"/>
              </a:rPr>
              <a:t>Planning assumptions: €3,000/month founder cost and €1,000/month product budget.</a:t>
            </a:r>
          </a:p>
          <a:p xmlns:a="http://schemas.openxmlformats.org/drawingml/2006/main">
            <a:pPr>
              <a:defRPr sz="1500" b="0">
                <a:solidFill>
                  <a:srgbClr val="536B70"/>
                </a:solidFill>
                <a:latin typeface="Calibri"/>
                <a:ea typeface="Calibri"/>
                <a:cs typeface="Calibri"/>
              </a:defRPr>
            </a:pPr>
            <a:r>
              <a:rPr sz="1500" b="0">
                <a:solidFill>
                  <a:srgbClr val="536B70"/>
                </a:solidFill>
                <a:latin typeface="Calibri"/>
                <a:ea typeface="Calibri"/>
                <a:cs typeface="Calibri"/>
              </a:rPr>
              <a:t>Milestones are targets. Existing revenue is additional buffer. Terms are negotiable.</a:t>
            </a:r>
          </a:p>
        </p:txBody>
      </p:sp>
      <p:sp>
        <p:nvSpPr>
          <p:cNvPr id="20" name="">
            <a:extLst xmlns:a="http://schemas.openxmlformats.org/drawingml/2006/main">
              <a:ext uri="{FF2B5EF4-FFF2-40B4-BE49-F238E27FC236}">
                <a16:creationId xmlns:a16="http://schemas.microsoft.com/office/drawing/2014/main" id="{B9E601F6-C23E-47E1-9483-EB83969D5DDB}"/>
              </a:ext>
            </a:extLst>
          </p:cNvPr>
          <p:cNvSpPr>
            <a:spLocks xmlns:a="http://schemas.openxmlformats.org/drawingml/2006/main" noGrp="1"/>
          </p:cNvSpPr>
          <p:nvPr/>
        </p:nvSpPr>
        <p:spPr>
          <a:xfrm xmlns:a="http://schemas.openxmlformats.org/drawingml/2006/main">
            <a:off x="11001375" y="65246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18</a:t>
            </a:r>
          </a:p>
        </p:txBody>
      </p:sp>
    </p:spTree>
    <p:extLst>
      <p:ext uri="{BB962C8B-B14F-4D97-AF65-F5344CB8AC3E}">
        <p14:creationId xmlns:p14="http://schemas.microsoft.com/office/powerpoint/2010/main" val="1720552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2026-09-18T13:43:24.9360000Z</dcterms:created>
  <dcterms:modified xsi:type="dcterms:W3CDTF">2026-09-18T13:43:24.9360000Z</dcterms:modified>
</coreProperties>
</file>